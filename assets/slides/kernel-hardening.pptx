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3.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8" d="100"/>
          <a:sy n="128" d="100"/>
        </p:scale>
        <p:origin x="48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μSwitch</c:v>
                </c:pt>
              </c:strCache>
            </c:strRef>
          </c:tx>
          <c:spPr>
            <a:solidFill>
              <a:srgbClr val="7C3AED"/>
            </a:solidFill>
            <a:effectLst/>
          </c:spPr>
          <c:invertIfNegative val="0"/>
          <c:dLbls>
            <c:numFmt formatCode="#,##0" sourceLinked="0"/>
            <c:spPr>
              <a:noFill/>
              <a:ln>
                <a:noFill/>
              </a:ln>
              <a:effectLst/>
            </c:spPr>
            <c:txPr>
              <a:bodyPr/>
              <a:lstStyle/>
              <a:p>
                <a:pPr>
                  <a:defRPr sz="1000" b="0" i="0" u="none" strike="noStrike">
                    <a:solidFill>
                      <a:srgbClr val="0F172A"/>
                    </a:solidFill>
                    <a:latin typeface="Vazirmatn"/>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Firefox</c:v>
                </c:pt>
                <c:pt idx="1">
                  <c:v>HTTP server</c:v>
                </c:pt>
              </c:strCache>
            </c:strRef>
          </c:cat>
          <c:val>
            <c:numRef>
              <c:f>Sheet1!$B$2:$B$3</c:f>
              <c:numCache>
                <c:formatCode>General</c:formatCode>
                <c:ptCount val="2"/>
                <c:pt idx="0">
                  <c:v>1.5</c:v>
                </c:pt>
                <c:pt idx="1">
                  <c:v>5.8</c:v>
                </c:pt>
              </c:numCache>
            </c:numRef>
          </c:val>
          <c:extLst>
            <c:ext xmlns:c16="http://schemas.microsoft.com/office/drawing/2014/chart" uri="{C3380CC4-5D6E-409C-BE32-E72D297353CC}">
              <c16:uniqueId val="{00000000-781F-EA4E-A7AF-93A30B5A72C0}"/>
            </c:ext>
          </c:extLst>
        </c:ser>
        <c:ser>
          <c:idx val="1"/>
          <c:order val="1"/>
          <c:tx>
            <c:strRef>
              <c:f>Sheet1!$C$1</c:f>
              <c:strCache>
                <c:ptCount val="1"/>
                <c:pt idx="0">
                  <c:v>lwC</c:v>
                </c:pt>
              </c:strCache>
            </c:strRef>
          </c:tx>
          <c:spPr>
            <a:solidFill>
              <a:srgbClr val="A78BFA"/>
            </a:solidFill>
            <a:effectLst/>
          </c:spPr>
          <c:invertIfNegative val="0"/>
          <c:dLbls>
            <c:numFmt formatCode="#,##0" sourceLinked="0"/>
            <c:spPr>
              <a:noFill/>
              <a:ln>
                <a:noFill/>
              </a:ln>
              <a:effectLst/>
            </c:spPr>
            <c:txPr>
              <a:bodyPr/>
              <a:lstStyle/>
              <a:p>
                <a:pPr>
                  <a:defRPr sz="1000" b="0" i="0" u="none" strike="noStrike">
                    <a:solidFill>
                      <a:srgbClr val="0F172A"/>
                    </a:solidFill>
                    <a:latin typeface="Vazirmatn"/>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Firefox</c:v>
                </c:pt>
                <c:pt idx="1">
                  <c:v>HTTP server</c:v>
                </c:pt>
              </c:strCache>
            </c:strRef>
          </c:cat>
          <c:val>
            <c:numRef>
              <c:f>Sheet1!$C$2:$C$3</c:f>
              <c:numCache>
                <c:formatCode>General</c:formatCode>
                <c:ptCount val="2"/>
                <c:pt idx="0">
                  <c:v>3.8</c:v>
                </c:pt>
                <c:pt idx="1">
                  <c:v>19.399999999999999</c:v>
                </c:pt>
              </c:numCache>
            </c:numRef>
          </c:val>
          <c:extLst>
            <c:ext xmlns:c16="http://schemas.microsoft.com/office/drawing/2014/chart" uri="{C3380CC4-5D6E-409C-BE32-E72D297353CC}">
              <c16:uniqueId val="{00000001-781F-EA4E-A7AF-93A30B5A72C0}"/>
            </c:ext>
          </c:extLst>
        </c:ser>
        <c:ser>
          <c:idx val="2"/>
          <c:order val="2"/>
          <c:tx>
            <c:strRef>
              <c:f>Sheet1!$D$1</c:f>
              <c:strCache>
                <c:ptCount val="1"/>
                <c:pt idx="0">
                  <c:v>Wasm / Process</c:v>
                </c:pt>
              </c:strCache>
            </c:strRef>
          </c:tx>
          <c:spPr>
            <a:solidFill>
              <a:srgbClr val="CBD5E1"/>
            </a:solidFill>
            <a:effectLst/>
          </c:spPr>
          <c:invertIfNegative val="0"/>
          <c:dLbls>
            <c:numFmt formatCode="#,##0" sourceLinked="0"/>
            <c:spPr>
              <a:noFill/>
              <a:ln>
                <a:noFill/>
              </a:ln>
              <a:effectLst/>
            </c:spPr>
            <c:txPr>
              <a:bodyPr/>
              <a:lstStyle/>
              <a:p>
                <a:pPr>
                  <a:defRPr sz="1000" b="0" i="0" u="none" strike="noStrike">
                    <a:solidFill>
                      <a:srgbClr val="0F172A"/>
                    </a:solidFill>
                    <a:latin typeface="Vazirmatn"/>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Firefox</c:v>
                </c:pt>
                <c:pt idx="1">
                  <c:v>HTTP server</c:v>
                </c:pt>
              </c:strCache>
            </c:strRef>
          </c:cat>
          <c:val>
            <c:numRef>
              <c:f>Sheet1!$D$2:$D$3</c:f>
              <c:numCache>
                <c:formatCode>General</c:formatCode>
                <c:ptCount val="2"/>
                <c:pt idx="0">
                  <c:v>23.2</c:v>
                </c:pt>
                <c:pt idx="1">
                  <c:v>63.3</c:v>
                </c:pt>
              </c:numCache>
            </c:numRef>
          </c:val>
          <c:extLst>
            <c:ext xmlns:c16="http://schemas.microsoft.com/office/drawing/2014/chart" uri="{C3380CC4-5D6E-409C-BE32-E72D297353CC}">
              <c16:uniqueId val="{00000002-781F-EA4E-A7AF-93A30B5A72C0}"/>
            </c:ext>
          </c:extLst>
        </c:ser>
        <c:dLbls>
          <c:showLegendKey val="0"/>
          <c:showVal val="1"/>
          <c:showCatName val="0"/>
          <c:showSerName val="0"/>
          <c:showPercent val="0"/>
          <c:showBubbleSize val="0"/>
        </c:dLbls>
        <c:gapWidth val="60"/>
        <c:axId val="2094734554"/>
        <c:axId val="2094734552"/>
      </c:barChart>
      <c:catAx>
        <c:axId val="2094734554"/>
        <c:scaling>
          <c:orientation val="maxMin"/>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Vazirmatn"/>
              </a:defRPr>
            </a:pPr>
            <a:endParaRPr lang="en-US"/>
          </a:p>
        </c:txPr>
        <c:crossAx val="2094734552"/>
        <c:crosses val="autoZero"/>
        <c:auto val="1"/>
        <c:lblAlgn val="ctr"/>
        <c:lblOffset val="100"/>
        <c:noMultiLvlLbl val="1"/>
      </c:catAx>
      <c:valAx>
        <c:axId val="2094734552"/>
        <c:scaling>
          <c:orientation val="minMax"/>
        </c:scaling>
        <c:delete val="1"/>
        <c:axPos val="r"/>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100">
              <a:solidFill>
                <a:srgbClr val="475569"/>
              </a:solidFill>
              <a:latin typeface="Vazirmatn"/>
              <a:cs typeface="Vazirmatn"/>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CVE</c:v>
                </c:pt>
              </c:strCache>
            </c:strRef>
          </c:tx>
          <c:spPr>
            <a:solidFill>
              <a:schemeClr val="accent1"/>
            </a:solidFill>
            <a:ln w="9525" cap="flat">
              <a:solidFill>
                <a:srgbClr val="F9F9F9"/>
              </a:solidFill>
              <a:prstDash val="solid"/>
              <a:round/>
            </a:ln>
            <a:effectLst/>
          </c:spPr>
          <c:dPt>
            <c:idx val="0"/>
            <c:bubble3D val="0"/>
            <c:spPr>
              <a:solidFill>
                <a:srgbClr val="0D9488"/>
              </a:solidFill>
              <a:effectLst/>
            </c:spPr>
            <c:extLst>
              <c:ext xmlns:c16="http://schemas.microsoft.com/office/drawing/2014/chart" uri="{C3380CC4-5D6E-409C-BE32-E72D297353CC}">
                <c16:uniqueId val="{00000001-FD5C-854E-A85D-09B76D361B1B}"/>
              </c:ext>
            </c:extLst>
          </c:dPt>
          <c:dPt>
            <c:idx val="1"/>
            <c:bubble3D val="0"/>
            <c:spPr>
              <a:solidFill>
                <a:srgbClr val="EA580C"/>
              </a:solidFill>
              <a:effectLst/>
            </c:spPr>
            <c:extLst>
              <c:ext xmlns:c16="http://schemas.microsoft.com/office/drawing/2014/chart" uri="{C3380CC4-5D6E-409C-BE32-E72D297353CC}">
                <c16:uniqueId val="{00000003-FD5C-854E-A85D-09B76D361B1B}"/>
              </c:ext>
            </c:extLst>
          </c:dPt>
          <c:dPt>
            <c:idx val="2"/>
            <c:bubble3D val="0"/>
            <c:spPr>
              <a:solidFill>
                <a:srgbClr val="94A3B8"/>
              </a:solidFill>
              <a:effectLst/>
            </c:spPr>
            <c:extLst>
              <c:ext xmlns:c16="http://schemas.microsoft.com/office/drawing/2014/chart" uri="{C3380CC4-5D6E-409C-BE32-E72D297353CC}">
                <c16:uniqueId val="{00000005-FD5C-854E-A85D-09B76D361B1B}"/>
              </c:ext>
            </c:extLst>
          </c:dPt>
          <c:dLbls>
            <c:dLbl>
              <c:idx val="0"/>
              <c:numFmt formatCode="General" sourceLinked="0"/>
              <c:spPr/>
              <c:txPr>
                <a:bodyPr/>
                <a:lstStyle/>
                <a:p>
                  <a:pPr>
                    <a:defRPr sz="1400" b="1" i="0" u="none" strike="noStrike">
                      <a:solidFill>
                        <a:srgbClr val="FFFFFF"/>
                      </a:solidFill>
                      <a:latin typeface="Vazirmatn"/>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D5C-854E-A85D-09B76D361B1B}"/>
                </c:ext>
              </c:extLst>
            </c:dLbl>
            <c:dLbl>
              <c:idx val="1"/>
              <c:numFmt formatCode="General" sourceLinked="0"/>
              <c:spPr/>
              <c:txPr>
                <a:bodyPr/>
                <a:lstStyle/>
                <a:p>
                  <a:pPr>
                    <a:defRPr sz="1400" b="1" i="0" u="none" strike="noStrike">
                      <a:solidFill>
                        <a:srgbClr val="FFFFFF"/>
                      </a:solidFill>
                      <a:latin typeface="Vazirmatn"/>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D5C-854E-A85D-09B76D361B1B}"/>
                </c:ext>
              </c:extLst>
            </c:dLbl>
            <c:dLbl>
              <c:idx val="2"/>
              <c:numFmt formatCode="General" sourceLinked="0"/>
              <c:spPr/>
              <c:txPr>
                <a:bodyPr/>
                <a:lstStyle/>
                <a:p>
                  <a:pPr>
                    <a:defRPr sz="1400" b="1" i="0" u="none" strike="noStrike">
                      <a:solidFill>
                        <a:srgbClr val="FFFFFF"/>
                      </a:solidFill>
                      <a:latin typeface="Vazirmatn"/>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FD5C-854E-A85D-09B76D361B1B}"/>
                </c:ext>
              </c:extLst>
            </c:dLbl>
            <c:numFmt formatCode="General"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حذف خودکار</c:v>
                </c:pt>
                <c:pt idx="1">
                  <c:v>نیازمند الگوی درست</c:v>
                </c:pt>
                <c:pt idx="2">
                  <c:v>بی‌تأثیر</c:v>
                </c:pt>
              </c:strCache>
            </c:strRef>
          </c:cat>
          <c:val>
            <c:numRef>
              <c:f>Sheet1!$B$2:$B$4</c:f>
              <c:numCache>
                <c:formatCode>General</c:formatCode>
                <c:ptCount val="3"/>
                <c:pt idx="0">
                  <c:v>82</c:v>
                </c:pt>
                <c:pt idx="1">
                  <c:v>113</c:v>
                </c:pt>
                <c:pt idx="2">
                  <c:v>45</c:v>
                </c:pt>
              </c:numCache>
            </c:numRef>
          </c:val>
          <c:extLst>
            <c:ext xmlns:c16="http://schemas.microsoft.com/office/drawing/2014/chart" uri="{C3380CC4-5D6E-409C-BE32-E72D297353CC}">
              <c16:uniqueId val="{00000006-FD5C-854E-A85D-09B76D361B1B}"/>
            </c:ext>
          </c:extLst>
        </c:ser>
        <c:dLbls>
          <c:showLegendKey val="0"/>
          <c:showVal val="0"/>
          <c:showCatName val="0"/>
          <c:showSerName val="0"/>
          <c:showPercent val="0"/>
          <c:showBubbleSize val="0"/>
          <c:showLeaderLines val="0"/>
        </c:dLbls>
        <c:firstSliceAng val="0"/>
        <c:holeSize val="58"/>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سربار (٪)</c:v>
                </c:pt>
              </c:strCache>
            </c:strRef>
          </c:tx>
          <c:spPr>
            <a:solidFill>
              <a:srgbClr val="EA580C"/>
            </a:solidFill>
            <a:effectLst/>
          </c:spPr>
          <c:invertIfNegative val="0"/>
          <c:dPt>
            <c:idx val="0"/>
            <c:invertIfNegative val="0"/>
            <c:bubble3D val="0"/>
            <c:extLst>
              <c:ext xmlns:c16="http://schemas.microsoft.com/office/drawing/2014/chart" uri="{C3380CC4-5D6E-409C-BE32-E72D297353CC}">
                <c16:uniqueId val="{00000001-2529-C64D-83B0-2F91E5225B6F}"/>
              </c:ext>
            </c:extLst>
          </c:dPt>
          <c:dPt>
            <c:idx val="1"/>
            <c:invertIfNegative val="0"/>
            <c:bubble3D val="0"/>
            <c:spPr>
              <a:solidFill>
                <a:srgbClr val="E11D48"/>
              </a:solidFill>
              <a:effectLst/>
            </c:spPr>
            <c:extLst>
              <c:ext xmlns:c16="http://schemas.microsoft.com/office/drawing/2014/chart" uri="{C3380CC4-5D6E-409C-BE32-E72D297353CC}">
                <c16:uniqueId val="{00000003-2529-C64D-83B0-2F91E5225B6F}"/>
              </c:ext>
            </c:extLst>
          </c:dPt>
          <c:dPt>
            <c:idx val="2"/>
            <c:invertIfNegative val="0"/>
            <c:bubble3D val="0"/>
            <c:spPr>
              <a:solidFill>
                <a:srgbClr val="0D9488"/>
              </a:solidFill>
              <a:effectLst/>
            </c:spPr>
            <c:extLst>
              <c:ext xmlns:c16="http://schemas.microsoft.com/office/drawing/2014/chart" uri="{C3380CC4-5D6E-409C-BE32-E72D297353CC}">
                <c16:uniqueId val="{00000005-2529-C64D-83B0-2F91E5225B6F}"/>
              </c:ext>
            </c:extLst>
          </c:dPt>
          <c:dPt>
            <c:idx val="3"/>
            <c:invertIfNegative val="0"/>
            <c:bubble3D val="0"/>
            <c:spPr>
              <a:solidFill>
                <a:srgbClr val="7C3AED"/>
              </a:solidFill>
              <a:effectLst/>
            </c:spPr>
            <c:extLst>
              <c:ext xmlns:c16="http://schemas.microsoft.com/office/drawing/2014/chart" uri="{C3380CC4-5D6E-409C-BE32-E72D297353CC}">
                <c16:uniqueId val="{00000007-2529-C64D-83B0-2F91E5225B6F}"/>
              </c:ext>
            </c:extLst>
          </c:dPt>
          <c:dPt>
            <c:idx val="4"/>
            <c:invertIfNegative val="0"/>
            <c:bubble3D val="0"/>
            <c:spPr>
              <a:solidFill>
                <a:srgbClr val="7C3AED"/>
              </a:solidFill>
              <a:effectLst/>
            </c:spPr>
            <c:extLst>
              <c:ext xmlns:c16="http://schemas.microsoft.com/office/drawing/2014/chart" uri="{C3380CC4-5D6E-409C-BE32-E72D297353CC}">
                <c16:uniqueId val="{00000009-2529-C64D-83B0-2F91E5225B6F}"/>
              </c:ext>
            </c:extLst>
          </c:dPt>
          <c:dPt>
            <c:idx val="5"/>
            <c:invertIfNegative val="0"/>
            <c:bubble3D val="0"/>
            <c:spPr>
              <a:solidFill>
                <a:srgbClr val="7C3AED"/>
              </a:solidFill>
              <a:effectLst/>
            </c:spPr>
            <c:extLst>
              <c:ext xmlns:c16="http://schemas.microsoft.com/office/drawing/2014/chart" uri="{C3380CC4-5D6E-409C-BE32-E72D297353CC}">
                <c16:uniqueId val="{0000000B-2529-C64D-83B0-2F91E5225B6F}"/>
              </c:ext>
            </c:extLst>
          </c:dPt>
          <c:dPt>
            <c:idx val="6"/>
            <c:invertIfNegative val="0"/>
            <c:bubble3D val="0"/>
            <c:spPr>
              <a:solidFill>
                <a:srgbClr val="0D9488"/>
              </a:solidFill>
              <a:effectLst/>
            </c:spPr>
            <c:extLst>
              <c:ext xmlns:c16="http://schemas.microsoft.com/office/drawing/2014/chart" uri="{C3380CC4-5D6E-409C-BE32-E72D297353CC}">
                <c16:uniqueId val="{0000000D-2529-C64D-83B0-2F91E5225B6F}"/>
              </c:ext>
            </c:extLst>
          </c:dPt>
          <c:dLbls>
            <c:numFmt formatCode="0.0#" sourceLinked="0"/>
            <c:spPr>
              <a:noFill/>
              <a:ln>
                <a:noFill/>
              </a:ln>
              <a:effectLst/>
            </c:spPr>
            <c:txPr>
              <a:bodyPr/>
              <a:lstStyle/>
              <a:p>
                <a:pPr>
                  <a:defRPr sz="1200" b="0" i="0" u="none" strike="noStrike">
                    <a:solidFill>
                      <a:srgbClr val="0F172A"/>
                    </a:solidFill>
                    <a:latin typeface="Vazirmatn"/>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Rust</c:v>
                </c:pt>
                <c:pt idx="1">
                  <c:v>RetSpill-defense</c:v>
                </c:pt>
                <c:pt idx="2">
                  <c:v>ISLAB (PTS)</c:v>
                </c:pt>
                <c:pt idx="3">
                  <c:v>μSwitch (Firefox)</c:v>
                </c:pt>
                <c:pt idx="4">
                  <c:v>Safeslab</c:v>
                </c:pt>
                <c:pt idx="5">
                  <c:v>μSwitch (HTTP)</c:v>
                </c:pt>
                <c:pt idx="6">
                  <c:v>ISLAB (worst)</c:v>
                </c:pt>
              </c:strCache>
            </c:strRef>
          </c:cat>
          <c:val>
            <c:numRef>
              <c:f>Sheet1!$B$2:$B$8</c:f>
              <c:numCache>
                <c:formatCode>General</c:formatCode>
                <c:ptCount val="7"/>
                <c:pt idx="0">
                  <c:v>0</c:v>
                </c:pt>
                <c:pt idx="1">
                  <c:v>0.61</c:v>
                </c:pt>
                <c:pt idx="2">
                  <c:v>1</c:v>
                </c:pt>
                <c:pt idx="3">
                  <c:v>1.5</c:v>
                </c:pt>
                <c:pt idx="4">
                  <c:v>4</c:v>
                </c:pt>
                <c:pt idx="5">
                  <c:v>5.8</c:v>
                </c:pt>
                <c:pt idx="6">
                  <c:v>7</c:v>
                </c:pt>
              </c:numCache>
            </c:numRef>
          </c:val>
          <c:extLst>
            <c:ext xmlns:c16="http://schemas.microsoft.com/office/drawing/2014/chart" uri="{C3380CC4-5D6E-409C-BE32-E72D297353CC}">
              <c16:uniqueId val="{0000000E-2529-C64D-83B0-2F91E5225B6F}"/>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r"/>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F172A"/>
                </a:solidFill>
                <a:latin typeface="Vazirmatn"/>
              </a:defRPr>
            </a:pPr>
            <a:endParaRPr lang="en-US"/>
          </a:p>
        </c:txPr>
        <c:crossAx val="2094734552"/>
        <c:crosses val="autoZero"/>
        <c:auto val="1"/>
        <c:lblAlgn val="ctr"/>
        <c:lblOffset val="100"/>
        <c:noMultiLvlLbl val="1"/>
      </c:catAx>
      <c:valAx>
        <c:axId val="2094734552"/>
        <c:scaling>
          <c:orientation val="maxMin"/>
          <c:max val="8.5"/>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84144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[پارسا · حدود 30 ثانیه]
سلام و وقت بخیر خدمت استاد گرامی، جناب آقای دکتر روانمهر، و دوستان عزیز. من سید پارسا بنی‌طبا هستم و به همراه همکارم امین آذرپی، امروز مرور انتقادی‌مان را درباره‌ی مقاوم‌سازی هسته‌ی لینوکس در برابر حملات خرابی حافظه ارائه می‌کنیم. این کار در قالب سناریوی یک، یعنی مرور و تحلیل انتقادی مقالات، انجام شده و پنج مقاله‌ی منتشرشده بین سال‌های ۲۰۲۳ تا ۲۰۲۴ در کنفرانس‌های معتبر امنیت را بررسی کرده‌ایم.</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[پارسا · حدود 40 ثانیه]
اول بگویم چه کار کرده‌ایم. ما سه خانواده‌ی دفاعی را کنار هم گذاشتیم: دفاع‌های مبتنی بر سخت‌افزار، سخت‌سازی تخصیص‌دهنده‌ی حافظه‌ی هسته، و استفاده از زبان امن Rust. هر رویکرد را با سه معیار ثابت سنجیده‌ایم: میزان امنیت، سربار عملکرد و قابلیت استقرار در دنیای واقعی. ترتیب ارائه هم این است: من مسئله، سمت حمله و دفاع‌های سخت‌افزاری را می‌گویم؛ بعد امین تخصیص‌دهنده‌ی امن، Rust، مقایسه‌ی نهایی و نقد را ارائه می‌دهد.</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[پارسا · حدود 60 ثانیه]
چرا این موضوع مهم است؟ هسته‌ی لینوکس به زبان C نوشته شده و C هیچ تضمینی برای ایمنی حافظه نمی‌دهد. مطالعات نشان می‌دهد حدود هفتاد درصد مشکلات امنیتی کدهای سطح پایین به ایمنی حافظه برمی‌گردد. فقط درایورها بین شانزده تا پنجاه‌ونه درصد آسیب‌پذیری‌های هسته را در ده سال اخیر تشکیل داده‌اند. زنجیره‌ی حمله معمولاً این است: یک باگ حافظه مثل Use-After-Free یا نوشتن خارج از محدوده، تبدیل می‌شود به یک قابلیت یا primitive، مثلاً خواندن و نوشتن دلخواه یا ربودن جریان اجرا، و در نهایت مهاجم دسترسی root می‌گیرد. هر مقاله‌ای که بررسی کردیم، یکی از حلقه‌های همین زنجیره را هدف گرفته است.</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[پارسا · حدود 60 ثانیه]
این نقشه‌ی کلی مرور ماست. ستون اول سمت حمله است: مقاله‌ی RetSpill از CCS ۲۰۲۳ که نشان می‌دهد دفاع‌های فعلی چقدر شکننده‌اند و در واقع مدل تهدید ما را تعریف می‌کند. ستون دوم دفاع سخت‌افزاری با Intel MPK است: Safeslab از CCS ۲۰۲۴ و μSwitch از IEEE S&amp;P ۲۰۲۳. ستون سوم سطح تخصیص‌دهنده است: ISLAB از AsiaCCS ۲۰۲۴؛ البته Safeslab هم در اصل یک تخصیص‌دهنده‌ی سخت‌شده است و بین دو ستون قرار می‌گیرد. ستون آخر زبان امن است: مقاله‌ی Rust for Linux از ACSAC ۲۰۲۴.</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[پارسا · حدود 90 ثانیه]
با حمله شروع می‌کنیم، چون بدون فهم حمله نمی‌شود دفاع را نقد کرد. ایده‌ی RetSpill ساده ولی خطرناک است: وقتی برنامه‌ی کاربر یک فراخوان سیستمی انجام می‌دهد، هسته مقادیر ثبات‌های کاربر را موقتاً روی پشته‌ی هسته ذخیره می‌کند. این داده‌ها تحت کنترل مهاجم‌اند. نویسندگان چهار منبع برای این نشت داده پیدا کردند: ثبات‌های ذخیره‌شده در ساختار pt_regs، داده‌های معتبری که فراخوان‌ها روی پشته می‌گذارند، ثبات‌هایی که قرارداد فراخوانی ذخیره می‌کند، و حافظه‌ی مقداردهی‌نشده. اگر مهاجم یک آسیب‌پذیری ربودن جریان اجرا داشته باشد، می‌تواند همین داده‌ها را مستقیماً به‌عنوان زنجیره‌ی ROP استفاده کند. ابزار نیمه‌خودکار آن‌ها برای بیست مورد از بیست‌ودو آسیب‌پذیری واقعی، exploit کامل ارتقای دسترسی ساخت و دفاع‌هایی مثل SMEP، SMAP، KPTI و حتی تصادفی‌سازی پشته را دور زد. دفاع پیشنهادی‌شان، یعنی تصادفی‌سازی فاصله در هر قاب پشته، فقط شش‌دهم درصد سربار دارد. پیام این مقاله برای بقیه‌ی ارائه این است: دفاع خوب باید فرض کند مهاجم دیر یا زود جریان اجرا را می‌رباید.</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[پارسا · حدود 50 ثانیه]
دو مقاله‌ی بعدی بر پایه‌ی فناوری Memory Protection Keys یا MPK اینتل ساخته شده‌اند، پس یک دقیقه توضیحش می‌دهم. در MPK هر صفحه‌ی حافظه یک برچسب چهاربیتی دارد، یعنی شانزده کلید. یک ثبات مخصوص به نام PKRU برای هر کلید مشخص می‌کند که خواندن یا نوشتن مجاز است یا نه. نکته‌ی کلیدی این است که تغییر دسترسی فقط با یک دستور WRPKRU انجام می‌شود، بدون تغییر جدول صفحه و بدون پاک‌کردن TLB؛ پس بسیار سریع است. نسخه‌ی کاربری آن PKU و نسخه‌ی مخصوص هسته PKS نام دارد. ضعف مهمش هم این است که اگر مهاجم بتواند خودش دستور WRPKRU را اجرا کند، کل ایزوله‌سازی از بین می‌رود.</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[پارسا · حدود 90 ثانیه]
Safeslab تخصیص‌دهنده‌ی پیش‌فرض هسته، یعنی SLUB، را جایگزین می‌کند تا Use-After-Free را خنثی کند. ایده‌ی اصلی، نام‌های مستعار آدرس است: هر صفحه‌ی فیزیکی از طریق شانزده نگاشت مجازی قابل دسترسی است که به آن‌ها دامنه‌ی مستعار زمانی یا TAD می‌گویند و هرکدام کلید MPK خودش را دارد. در هر لحظه فقط یک دامنه فعال است. وقتی شیئی آزاد می‌شود، دیگر در همان دامنه دوباره استفاده نمی‌شود؛ بنابراین اشاره‌گر معلقی که به آدرس قدیمی اشاره دارد، با خطای دسترسی متوقف می‌شود. یک پویشگر اشاره‌گر هم در پس‌زمینه صفحه‌های ناامن را علامت می‌زند. همچنین هیچ فراداده‌ای داخل اسلب‌ها ذخیره نمی‌شود. نتیجه: میانگین هندسی سربار حدود چهار درصد در LMbench و هدررفت حافظه‌ی متوسط. نقد ما: PKS هنوز در دسترس نبود و نویسندگان مجبور شدند PKU را در حالت هسته فعال کنند؛ و چون اشیای آزادشده دوباره استفاده نمی‌شوند، مصرف حافظه بالاتر می‌رود.</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[پارسا · حدود 80 ثانیه]
μSwitch مسئله‌ی متفاوتی را حل می‌کند ولی از همان ابزار MPK استفاده می‌کند. ایزوله‌سازی حافظه به‌تنهایی کافی نیست؛ اگر یک کتابخانه‌ی آسیب‌پذیر در مرورگر بتواند فایل‌های بخش دیگر را بخواند، ایزوله‌سازی بی‌فایده است. μSwitch منابع هسته مثل جدول فایل‌ها را هم بین دامنه‌ها جدا می‌کند و با ایده‌ی تعویض ضمنی، تعویض منابع هسته را تا فراخوان سیستمی بعدی به تعویق می‌اندازد. نتیجه در فایرفاکس: یک‌ونیم درصد افزایش زمان بارگذاری صفحه، در مقابل سه‌وهشت‌دهم درصد برای lwC و بیست‌وسه درصد برای WebAssembly. در سرور HTTP هم پنج‌وهشت‌دهم درصد در مقابل شصت‌وسه درصد برای ایزوله‌سازی مبتنی بر فرایند. نقد ما: امنیتش به حذف دستورهای WRPKRU و XRSTOR خطرناک از کد و بستن فراخوان‌های سیستمی حساس وابسته است، و از خود هسته محافظت نمی‌کند بلکه از برنامه. خب، از اینجا به بعد را امین ادامه می‌دهد.</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[امین · حدود 80 ثانیه]
ممنون پارسا. من امین آذرپی هستم و از سطح تخصیص‌دهنده ادامه می‌دهم. مشکلی که ISLAB حل می‌کند این است که SLUB اشاره‌گر لیست آزاد را داخل خود اشیا نگه می‌دارد؛ یعنی دقیقاً جایی که سرریز بافر به آن می‌رسد. لینوکس این اشاره‌گر را با XOR رمز می‌کند، اما نویسندگان نشان دادند که با خراب‌کردن فقط دوازده بیت پایینی هنوز می‌شود آدرس معتبری داخل همان صفحه ساخت. راه‌حل ISLAB ساده است: فراداده را از داخل اشیا به حافظه‌ی سایه‌ی جداگانه منتقل می‌کند. برای مهاجم قوی‌تر هم چارچوب kSMAP را معرفی می‌کند که از قابلیت SMAP، که تقریباً در همه‌ی پردازنده‌های x86 هست، برای ایزوله‌کردن داده‌های حساس هسته مثل struct cred استفاده می‌کند. نتایج: در بنچمارک‌های واقعی صفر درصد سربار، با kSMAP حدود یک درصد، و در بدترین آزمون فشار هفت درصد. نقد ما: kSMAP به KPTI نیاز دارد و نویسندگان خودشان می‌پذیرند که حمله‌ی استفاده‌ی مجدد از کد می‌تواند آن را دور بزند؛ یعنی دقیقاً همان کاری که RetSpill انجام می‌دهد.</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[امین · حدود 80 ثانیه]
رویکرد سوم ریشه‌ای‌تر است: به‌جای مهار باگ، اصلاً اجازه ندهیم باگ نوشته شود. Rust از نسخه‌ی ۶٫۱ وارد هسته‌ی لینوکس شده است. نویسندگان این مقاله ۲۴۰ آسیب‌پذیری واقعی درایورها در چهار سال اخیر را بررسی کردند و پرسیدند اگر این درایورها به Rust نوشته شده بودند چه می‌شد. نتیجه این نمودار است: ۸۲ مورد به‌صورت خودکار با Rust حذف می‌شود؛ ۱۱۳ مورد فقط اگر برنامه‌نویس الگوهای درستی مثل بررسی سرریز عدد صحیح، پیاده‌سازی درست Drop و شمارش ارجاع را رعایت کند؛ و ۴۵ مورد، یعنی خطاهای منطقی و نقض پروتکل، اصلاً تحت تأثیر Rust نیست. نکته‌ی مهم دیگر این است که در درایورهایی مثل Binder و NVMe، مرز با کد C پر از کد unsafe است و امنیت کل سیستم به همین مرز وابسته است. مزیت بزرگ Rust: تقریباً بدون سربار اجرایی. هزینه‌ی اصلی‌اش بازنویسی و یادگیری است.</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[امین · حدود 70 ثانیه]
حالا همه را کنار هم می‌گذاریم. این جدول ارزیابی کیفی ما از هر رویکرد در سه معیار است. از نظر امنیت، Rust و Safeslab قوی‌ترین‌اند چون کل یک دسته از باگ‌ها را هدف می‌گیرند، ولی Rust فقط برای کد جدید. از نظر سربار، دفاع RetSpill و ISLAB تقریباً رایگان‌اند. از نظر استقرار، ISLAB برنده است چون روی تقریباً هر پردازنده‌ی x86 کار می‌کند، در حالی که Safeslab و μSwitch به MPK اینتل وابسته‌اند. هیچ رویکردی در هر سه معیار کامل نیست، و این مهم‌ترین نتیجه‌ی مقایسه است.</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[امین · حدود 40 ثانیه]
این نمودار سربار عملکردی است که خود نویسندگان گزارش کرده‌اند. همه زیر هشت درصدند، که نشان می‌دهد سخت‌سازی هسته دیگر لزوماً گران نیست. اما یک هشدار مهم: این اعداد مستقیماً قابل مقایسه نیستند. هر مقاله بنچمارک، سخت‌افزار و نسخه‌ی هسته‌ی متفاوتی استفاده کرده است. مثلاً μSwitch روی فایرفاکس اندازه‌گیری شده و ISLAB روی Phoronix. نبود یک محک یکسان، خودش یکی از نقدهای ما به این حوزه است.</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[امین · حدود 70 ثانیه]
نقدهای اصلی ما چهار مورد است. اول، وابستگی سخت‌افزاری: MPK فقط روی پردازنده‌های اینتل جدید هست و نسخه‌ی هسته‌ی آن هنگام انتشار مقاله در دسترس نبود. دوم، ناسازگاری مدل تهدید: بیشتر دفاع‌ها فرض می‌کنند مهاجم جریان اجرا را در اختیار ندارد، در حالی که RetSpill نشان داد این فرض در عمل نقض می‌شود. سوم، ارزیابی ناهمگون که الان گفتم. و چهارم، فاصله با هسته‌ی اصلی: به‌جز زیرساخت Rust، هیچ‌کدام از این دفاع‌ها در نسخه‌ی رسمی لینوکس ادغام نشده‌اند. در مقابل، نقطه‌ی قوت مشترک همه‌ی این مقالات، پیاده‌سازی واقعی روی هسته‌ی لینوکس و آزمایش با exploitهای واقعی است.</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[امین · حدود 50 ثانیه]
جمع‌بندی تحلیلی ما این است که این رویکردها رقیب هم نیستند، بلکه لایه‌های مکمل‌اند. Rust جلوی نوشته‌شدن باگ را می‌گیرد؛ تخصیص‌دهنده‌ی سخت‌شده از تبدیل باگ به primitive جلوگیری می‌کند؛ ایزوله‌سازی سخت‌افزاری دسترسی را محدود می‌کند؛ و سخت‌سازی پشته، مرحله‌ی آخر یعنی ارتقای دسترسی را می‌بندد. شکاف‌های پژوهشی باز هم شامل پشتیبانی از ARM با فناوری‌هایی مثل MTE، یک محک یکسان برای مقایسه، و راستی‌آزمایی صوری مرز unsafe در Rust است.</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[امین · حدود 40 ثانیه]
سه پیام اصلی: یک، سخت‌سازی هسته امروز با سربار کمتر از هشت درصد ممکن است. دو، هیچ دفاع منفردی کافی نیست، چون مهاجم مثل RetSpill از شکاف بین آن‌ها استفاده می‌کند. سه، آینده‌ی بلندمدت با زبان امن است، ولی تا وقتی میلیون‌ها خط کد C در هسته هست، به دفاع‌های تخصیص‌دهنده و سخت‌افزاری نیاز داریم.</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[امین · حدود 20 ثانیه]
از توجه شما ممنونیم. فهرست کامل منابع روی همین اسلاید است. خوشحال می‌شویم به پرسش‌ها پاسخ بدهیم.</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156655" y="6400800"/>
            <a:ext cx="5486400" cy="274320"/>
          </a:xfrm>
          <a:prstGeom prst="rect">
            <a:avLst/>
          </a:prstGeom>
          <a:noFill/>
          <a:ln/>
        </p:spPr>
        <p:txBody>
          <a:bodyPr wrap="square" lIns="0" tIns="0" rIns="0" bIns="0" rtlCol="0" anchor="ctr"/>
          <a:lstStyle/>
          <a:p>
            <a:pPr marL="0" indent="0" algn="r">
              <a:buNone/>
            </a:pPr>
            <a:r>
              <a:rPr lang="en-US" sz="1000" dirty="0">
                <a:solidFill>
                  <a:srgbClr val="94A3B8"/>
                </a:solidFill>
                <a:latin typeface="Vazirmatn" pitchFamily="34" charset="0"/>
                <a:ea typeface="Vazirmatn" pitchFamily="34" charset="-122"/>
                <a:cs typeface="Vazirmatn" pitchFamily="34" charset="-120"/>
              </a:rPr>
              <a:t>سید پارسا بنی‌طبا و امین آذرپی · مقاوم‌سازی هسته‌ی لینوکس</a:t>
            </a:r>
            <a:endParaRPr lang="en-US" sz="10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4A3B8"/>
                </a:solidFill>
                <a:latin typeface="Vazirmatn"/>
                <a:ea typeface="Vazirmatn"/>
                <a:cs typeface="Vazirmatn"/>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1220"/>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4A3B8"/>
                </a:solidFill>
                <a:latin typeface="Vazirmatn"/>
                <a:ea typeface="Vazirmatn"/>
                <a:cs typeface="Vazirmatn"/>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chart" Target="../charts/chart1.xml"/><Relationship Id="rId5" Type="http://schemas.openxmlformats.org/officeDocument/2006/relationships/image" Target="../media/image16.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18.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6213A"/>
          </a:solidFill>
          <a:ln w="12700">
            <a:solidFill>
              <a:srgbClr val="16213A"/>
            </a:solidFill>
            <a:prstDash val="solid"/>
          </a:ln>
        </p:spPr>
      </p:sp>
      <p:pic>
        <p:nvPicPr>
          <p:cNvPr id="3" name="Image 0" descr="preencoded.png"/>
          <p:cNvPicPr>
            <a:picLocks noChangeAspect="1"/>
          </p:cNvPicPr>
          <p:nvPr/>
        </p:nvPicPr>
        <p:blipFill>
          <a:blip r:embed="rId3"/>
          <a:stretch>
            <a:fillRect/>
          </a:stretch>
        </p:blipFill>
        <p:spPr>
          <a:xfrm>
            <a:off x="1234440" y="914400"/>
            <a:ext cx="1554480" cy="1554480"/>
          </a:xfrm>
          <a:prstGeom prst="rect">
            <a:avLst/>
          </a:prstGeom>
        </p:spPr>
      </p:pic>
      <p:sp>
        <p:nvSpPr>
          <p:cNvPr id="4" name="Shape 1"/>
          <p:cNvSpPr/>
          <p:nvPr/>
        </p:nvSpPr>
        <p:spPr>
          <a:xfrm>
            <a:off x="640080" y="3017520"/>
            <a:ext cx="2743200" cy="475488"/>
          </a:xfrm>
          <a:prstGeom prst="roundRect">
            <a:avLst>
              <a:gd name="adj" fmla="val 50000"/>
            </a:avLst>
          </a:prstGeom>
          <a:solidFill>
            <a:srgbClr val="E11D48"/>
          </a:solidFill>
          <a:ln w="12700">
            <a:solidFill>
              <a:srgbClr val="E11D48"/>
            </a:solidFill>
            <a:prstDash val="solid"/>
          </a:ln>
        </p:spPr>
      </p:sp>
      <p:sp>
        <p:nvSpPr>
          <p:cNvPr id="5" name="Text 2"/>
          <p:cNvSpPr txBox="1"/>
          <p:nvPr/>
        </p:nvSpPr>
        <p:spPr>
          <a:xfrm>
            <a:off x="640080" y="3017520"/>
            <a:ext cx="2743200" cy="475488"/>
          </a:xfrm>
          <a:prstGeom prst="rect">
            <a:avLst/>
          </a:prstGeom>
          <a:noFill/>
          <a:ln/>
        </p:spPr>
        <p:txBody>
          <a:bodyPr wrap="square" lIns="0" tIns="0" rIns="0" bIns="0" rtlCol="0" anchor="ctr"/>
          <a:lstStyle/>
          <a:p>
            <a:pPr marL="0" indent="0" algn="ctr" rtl="1">
              <a:buNone/>
            </a:pPr>
            <a:r>
              <a:rPr lang="fa-IR" altLang="en-US" sz="1400" b="1" dirty="0">
                <a:solidFill>
                  <a:srgbClr val="FFFFFF"/>
                </a:solidFill>
                <a:latin typeface="Vazirmatn" pitchFamily="34" charset="0"/>
                <a:ea typeface="Vazirmatn" pitchFamily="34" charset="-122"/>
                <a:cs typeface="Vazirmatn" pitchFamily="34" charset="-120"/>
              </a:rPr>
              <a:t>حمله</a:t>
            </a:r>
            <a:endParaRPr lang="fa-IR" sz="1400" dirty="0"/>
          </a:p>
        </p:txBody>
      </p:sp>
      <p:sp>
        <p:nvSpPr>
          <p:cNvPr id="6" name="Shape 3"/>
          <p:cNvSpPr/>
          <p:nvPr/>
        </p:nvSpPr>
        <p:spPr>
          <a:xfrm>
            <a:off x="640080" y="3675888"/>
            <a:ext cx="2743200" cy="475488"/>
          </a:xfrm>
          <a:prstGeom prst="roundRect">
            <a:avLst>
              <a:gd name="adj" fmla="val 50000"/>
            </a:avLst>
          </a:prstGeom>
          <a:solidFill>
            <a:srgbClr val="7C3AED"/>
          </a:solidFill>
          <a:ln w="12700">
            <a:solidFill>
              <a:srgbClr val="7C3AED"/>
            </a:solidFill>
            <a:prstDash val="solid"/>
          </a:ln>
        </p:spPr>
      </p:sp>
      <p:sp>
        <p:nvSpPr>
          <p:cNvPr id="7" name="Text 4"/>
          <p:cNvSpPr txBox="1"/>
          <p:nvPr/>
        </p:nvSpPr>
        <p:spPr>
          <a:xfrm>
            <a:off x="640080" y="3675888"/>
            <a:ext cx="2743200" cy="475488"/>
          </a:xfrm>
          <a:prstGeom prst="rect">
            <a:avLst/>
          </a:prstGeom>
          <a:noFill/>
          <a:ln/>
        </p:spPr>
        <p:txBody>
          <a:bodyPr wrap="square" lIns="0" tIns="0" rIns="0" bIns="0" rtlCol="0" anchor="ctr"/>
          <a:lstStyle/>
          <a:p>
            <a:pPr marL="0" indent="0" algn="ctr" rtl="1">
              <a:buNone/>
            </a:pPr>
            <a:r>
              <a:rPr lang="fa-IR" altLang="en-US" sz="1400" b="1" dirty="0">
                <a:solidFill>
                  <a:srgbClr val="FFFFFF"/>
                </a:solidFill>
                <a:latin typeface="Vazirmatn" pitchFamily="34" charset="0"/>
                <a:ea typeface="Vazirmatn" pitchFamily="34" charset="-122"/>
                <a:cs typeface="Vazirmatn" pitchFamily="34" charset="-120"/>
              </a:rPr>
              <a:t>سخت‌افزار (MPK)</a:t>
            </a:r>
            <a:endParaRPr lang="fa-IR" sz="1400" dirty="0"/>
          </a:p>
        </p:txBody>
      </p:sp>
      <p:sp>
        <p:nvSpPr>
          <p:cNvPr id="8" name="Shape 5"/>
          <p:cNvSpPr/>
          <p:nvPr/>
        </p:nvSpPr>
        <p:spPr>
          <a:xfrm>
            <a:off x="640080" y="4334256"/>
            <a:ext cx="2743200" cy="475488"/>
          </a:xfrm>
          <a:prstGeom prst="roundRect">
            <a:avLst>
              <a:gd name="adj" fmla="val 50000"/>
            </a:avLst>
          </a:prstGeom>
          <a:solidFill>
            <a:srgbClr val="0D9488"/>
          </a:solidFill>
          <a:ln w="12700">
            <a:solidFill>
              <a:srgbClr val="0D9488"/>
            </a:solidFill>
            <a:prstDash val="solid"/>
          </a:ln>
        </p:spPr>
      </p:sp>
      <p:sp>
        <p:nvSpPr>
          <p:cNvPr id="9" name="Text 6"/>
          <p:cNvSpPr txBox="1"/>
          <p:nvPr/>
        </p:nvSpPr>
        <p:spPr>
          <a:xfrm>
            <a:off x="640080" y="4334256"/>
            <a:ext cx="2743200" cy="475488"/>
          </a:xfrm>
          <a:prstGeom prst="rect">
            <a:avLst/>
          </a:prstGeom>
          <a:noFill/>
          <a:ln/>
        </p:spPr>
        <p:txBody>
          <a:bodyPr wrap="square" lIns="0" tIns="0" rIns="0" bIns="0" rtlCol="0" anchor="ctr"/>
          <a:lstStyle/>
          <a:p>
            <a:pPr marL="0" indent="0" algn="ctr" rtl="1">
              <a:buNone/>
            </a:pPr>
            <a:r>
              <a:rPr lang="fa-IR" altLang="en-US" sz="1400" b="1" dirty="0">
                <a:solidFill>
                  <a:srgbClr val="FFFFFF"/>
                </a:solidFill>
                <a:latin typeface="Vazirmatn" pitchFamily="34" charset="0"/>
                <a:ea typeface="Vazirmatn" pitchFamily="34" charset="-122"/>
                <a:cs typeface="Vazirmatn" pitchFamily="34" charset="-120"/>
              </a:rPr>
              <a:t>تخصیص‌دهنده‌ی حافظه</a:t>
            </a:r>
            <a:endParaRPr lang="fa-IR" sz="1400" dirty="0"/>
          </a:p>
        </p:txBody>
      </p:sp>
      <p:sp>
        <p:nvSpPr>
          <p:cNvPr id="10" name="Shape 7"/>
          <p:cNvSpPr/>
          <p:nvPr/>
        </p:nvSpPr>
        <p:spPr>
          <a:xfrm>
            <a:off x="640080" y="4992624"/>
            <a:ext cx="2743200" cy="475488"/>
          </a:xfrm>
          <a:prstGeom prst="roundRect">
            <a:avLst>
              <a:gd name="adj" fmla="val 50000"/>
            </a:avLst>
          </a:prstGeom>
          <a:solidFill>
            <a:srgbClr val="EA580C"/>
          </a:solidFill>
          <a:ln w="12700">
            <a:solidFill>
              <a:srgbClr val="EA580C"/>
            </a:solidFill>
            <a:prstDash val="solid"/>
          </a:ln>
        </p:spPr>
      </p:sp>
      <p:sp>
        <p:nvSpPr>
          <p:cNvPr id="11" name="Text 8"/>
          <p:cNvSpPr txBox="1"/>
          <p:nvPr/>
        </p:nvSpPr>
        <p:spPr>
          <a:xfrm>
            <a:off x="640080" y="4992624"/>
            <a:ext cx="2743200" cy="475488"/>
          </a:xfrm>
          <a:prstGeom prst="rect">
            <a:avLst/>
          </a:prstGeom>
          <a:noFill/>
          <a:ln/>
        </p:spPr>
        <p:txBody>
          <a:bodyPr wrap="square" lIns="0" tIns="0" rIns="0" bIns="0" rtlCol="0" anchor="ctr"/>
          <a:lstStyle/>
          <a:p>
            <a:pPr marL="0" indent="0" algn="ctr" rtl="1">
              <a:buNone/>
            </a:pPr>
            <a:r>
              <a:rPr lang="fa-IR" altLang="en-US" sz="1400" b="1" dirty="0">
                <a:solidFill>
                  <a:srgbClr val="FFFFFF"/>
                </a:solidFill>
                <a:latin typeface="Vazirmatn" pitchFamily="34" charset="0"/>
                <a:ea typeface="Vazirmatn" pitchFamily="34" charset="-122"/>
                <a:cs typeface="Vazirmatn" pitchFamily="34" charset="-120"/>
              </a:rPr>
              <a:t>زبان امن (Rust)</a:t>
            </a:r>
            <a:endParaRPr lang="fa-IR" sz="1400" dirty="0"/>
          </a:p>
        </p:txBody>
      </p:sp>
      <p:sp>
        <p:nvSpPr>
          <p:cNvPr id="12" name="Text 9"/>
          <p:cNvSpPr txBox="1"/>
          <p:nvPr/>
        </p:nvSpPr>
        <p:spPr>
          <a:xfrm>
            <a:off x="457200" y="5806440"/>
            <a:ext cx="3108960" cy="365760"/>
          </a:xfrm>
          <a:prstGeom prst="rect">
            <a:avLst/>
          </a:prstGeom>
          <a:noFill/>
          <a:ln/>
        </p:spPr>
        <p:txBody>
          <a:bodyPr wrap="square" lIns="0" tIns="0" rIns="0" bIns="0" rtlCol="0" anchor="t"/>
          <a:lstStyle/>
          <a:p>
            <a:pPr marL="0" indent="0" algn="ctr" rtl="1">
              <a:buNone/>
            </a:pPr>
            <a:r>
              <a:rPr lang="fa-IR" altLang="en-US" sz="1300" dirty="0">
                <a:solidFill>
                  <a:srgbClr val="94A3B8"/>
                </a:solidFill>
                <a:latin typeface="Vazirmatn" pitchFamily="34" charset="0"/>
                <a:ea typeface="Vazirmatn" pitchFamily="34" charset="-122"/>
                <a:cs typeface="Vazirmatn" pitchFamily="34" charset="-120"/>
              </a:rPr>
              <a:t>۵ مقاله · ۴ رویکرد · ۳ معیار</a:t>
            </a:r>
            <a:endParaRPr lang="fa-IR" sz="1300" dirty="0"/>
          </a:p>
        </p:txBody>
      </p:sp>
      <p:pic>
        <p:nvPicPr>
          <p:cNvPr id="13" name="Image 1" descr="preencoded.png"/>
          <p:cNvPicPr>
            <a:picLocks noChangeAspect="1"/>
          </p:cNvPicPr>
          <p:nvPr/>
        </p:nvPicPr>
        <p:blipFill>
          <a:blip r:embed="rId4"/>
          <a:stretch>
            <a:fillRect/>
          </a:stretch>
        </p:blipFill>
        <p:spPr>
          <a:xfrm>
            <a:off x="11076127" y="457200"/>
            <a:ext cx="566928" cy="1060704"/>
          </a:xfrm>
          <a:prstGeom prst="rect">
            <a:avLst/>
          </a:prstGeom>
        </p:spPr>
      </p:pic>
      <p:sp>
        <p:nvSpPr>
          <p:cNvPr id="14" name="Text 10"/>
          <p:cNvSpPr txBox="1"/>
          <p:nvPr/>
        </p:nvSpPr>
        <p:spPr>
          <a:xfrm>
            <a:off x="8076895" y="621792"/>
            <a:ext cx="2834640" cy="731520"/>
          </a:xfrm>
          <a:prstGeom prst="rect">
            <a:avLst/>
          </a:prstGeom>
          <a:noFill/>
          <a:ln/>
        </p:spPr>
        <p:txBody>
          <a:bodyPr wrap="square" lIns="0" tIns="0" rIns="0" bIns="0" rtlCol="0" anchor="ctr"/>
          <a:lstStyle/>
          <a:p>
            <a:pPr marL="0" indent="0" algn="r" rtl="1">
              <a:buNone/>
            </a:pPr>
            <a:r>
              <a:rPr lang="fa-IR" altLang="en-US" sz="1300" dirty="0">
                <a:solidFill>
                  <a:srgbClr val="94A3B8"/>
                </a:solidFill>
                <a:latin typeface="Vazirmatn" pitchFamily="34" charset="0"/>
                <a:ea typeface="Vazirmatn" pitchFamily="34" charset="-122"/>
                <a:cs typeface="Vazirmatn" pitchFamily="34" charset="-120"/>
              </a:rPr>
              <a:t>دانشگاه آزاد اسلامی</a:t>
            </a:r>
            <a:endParaRPr lang="fa-IR" sz="1300" dirty="0"/>
          </a:p>
          <a:p>
            <a:pPr marL="0" indent="0" algn="r" rtl="1">
              <a:buNone/>
            </a:pPr>
            <a:r>
              <a:rPr lang="fa-IR" altLang="en-US" sz="1300" dirty="0">
                <a:solidFill>
                  <a:srgbClr val="94A3B8"/>
                </a:solidFill>
                <a:latin typeface="Vazirmatn" pitchFamily="34" charset="0"/>
                <a:ea typeface="Vazirmatn" pitchFamily="34" charset="-122"/>
                <a:cs typeface="Vazirmatn" pitchFamily="34" charset="-120"/>
              </a:rPr>
              <a:t>واحد تهران مرکزی</a:t>
            </a:r>
            <a:endParaRPr lang="fa-IR" sz="1300" dirty="0"/>
          </a:p>
        </p:txBody>
      </p:sp>
      <p:sp>
        <p:nvSpPr>
          <p:cNvPr id="15" name="Text 11"/>
          <p:cNvSpPr txBox="1"/>
          <p:nvPr/>
        </p:nvSpPr>
        <p:spPr>
          <a:xfrm>
            <a:off x="4572000" y="1828800"/>
            <a:ext cx="7071055" cy="1371600"/>
          </a:xfrm>
          <a:prstGeom prst="rect">
            <a:avLst/>
          </a:prstGeom>
          <a:noFill/>
          <a:ln/>
        </p:spPr>
        <p:txBody>
          <a:bodyPr wrap="square" lIns="0" tIns="0" rIns="0" bIns="0" rtlCol="0" anchor="b"/>
          <a:lstStyle/>
          <a:p>
            <a:pPr marL="0" indent="0" algn="r" rtl="1">
              <a:buNone/>
            </a:pPr>
            <a:r>
              <a:rPr lang="fa-IR" altLang="en-US" sz="3600" b="1" dirty="0">
                <a:solidFill>
                  <a:srgbClr val="FFFFFF"/>
                </a:solidFill>
                <a:latin typeface="Vazirmatn" pitchFamily="34" charset="0"/>
                <a:ea typeface="Vazirmatn" pitchFamily="34" charset="-122"/>
                <a:cs typeface="Vazirmatn" pitchFamily="34" charset="-120"/>
              </a:rPr>
              <a:t>مقاوم‌سازی هسته‌ی لینوکس در برابر حملات خرابی حافظه</a:t>
            </a:r>
            <a:endParaRPr lang="fa-IR" sz="3600" dirty="0"/>
          </a:p>
        </p:txBody>
      </p:sp>
      <p:sp>
        <p:nvSpPr>
          <p:cNvPr id="16" name="Text 12"/>
          <p:cNvSpPr txBox="1"/>
          <p:nvPr/>
        </p:nvSpPr>
        <p:spPr>
          <a:xfrm>
            <a:off x="4572000" y="3291840"/>
            <a:ext cx="7071055" cy="457200"/>
          </a:xfrm>
          <a:prstGeom prst="rect">
            <a:avLst/>
          </a:prstGeom>
          <a:noFill/>
          <a:ln/>
        </p:spPr>
        <p:txBody>
          <a:bodyPr wrap="square" lIns="0" tIns="0" rIns="0" bIns="0" rtlCol="0" anchor="t"/>
          <a:lstStyle/>
          <a:p>
            <a:pPr marL="0" indent="0" algn="r" rtl="1">
              <a:buNone/>
            </a:pPr>
            <a:r>
              <a:rPr lang="fa-IR" altLang="en-US" sz="1800" dirty="0">
                <a:solidFill>
                  <a:srgbClr val="22D3EE"/>
                </a:solidFill>
                <a:latin typeface="Vazirmatn" pitchFamily="34" charset="0"/>
                <a:ea typeface="Vazirmatn" pitchFamily="34" charset="-122"/>
                <a:cs typeface="Vazirmatn" pitchFamily="34" charset="-120"/>
              </a:rPr>
              <a:t>مرور انتقادی رویکردهای سخت‌افزاری، سطح تخصیص‌دهنده و زبان‌های امن</a:t>
            </a:r>
            <a:endParaRPr lang="fa-IR" sz="1800" dirty="0"/>
          </a:p>
        </p:txBody>
      </p:sp>
      <p:sp>
        <p:nvSpPr>
          <p:cNvPr id="17" name="Text 13"/>
          <p:cNvSpPr txBox="1"/>
          <p:nvPr/>
        </p:nvSpPr>
        <p:spPr>
          <a:xfrm>
            <a:off x="4572000" y="3749040"/>
            <a:ext cx="7071055" cy="365760"/>
          </a:xfrm>
          <a:prstGeom prst="rect">
            <a:avLst/>
          </a:prstGeom>
          <a:noFill/>
          <a:ln/>
        </p:spPr>
        <p:txBody>
          <a:bodyPr wrap="square" lIns="0" tIns="0" rIns="0" bIns="0" rtlCol="0" anchor="t"/>
          <a:lstStyle/>
          <a:p>
            <a:pPr marL="0" indent="0" algn="r">
              <a:buNone/>
            </a:pPr>
            <a:r>
              <a:rPr lang="en-US" altLang="en-US" sz="1200" dirty="0">
                <a:solidFill>
                  <a:srgbClr val="94A3B8"/>
                </a:solidFill>
                <a:latin typeface="Vazirmatn" pitchFamily="34" charset="0"/>
                <a:ea typeface="Vazirmatn" pitchFamily="34" charset="-122"/>
                <a:cs typeface="Vazirmatn" pitchFamily="34" charset="-120"/>
              </a:rPr>
              <a:t>Hardening the Linux Kernel Against Memory-Corruption Attacks: A Critical Survey</a:t>
            </a:r>
            <a:endParaRPr lang="en-US" sz="1200" dirty="0"/>
          </a:p>
        </p:txBody>
      </p:sp>
      <p:sp>
        <p:nvSpPr>
          <p:cNvPr id="18" name="Shape 14"/>
          <p:cNvSpPr/>
          <p:nvPr/>
        </p:nvSpPr>
        <p:spPr>
          <a:xfrm>
            <a:off x="7498080" y="4389120"/>
            <a:ext cx="4144975" cy="0"/>
          </a:xfrm>
          <a:prstGeom prst="line">
            <a:avLst/>
          </a:prstGeom>
          <a:noFill/>
          <a:ln w="12700">
            <a:solidFill>
              <a:srgbClr val="334155"/>
            </a:solidFill>
            <a:prstDash val="solid"/>
          </a:ln>
        </p:spPr>
      </p:sp>
      <p:sp>
        <p:nvSpPr>
          <p:cNvPr id="19" name="Text 15"/>
          <p:cNvSpPr txBox="1"/>
          <p:nvPr/>
        </p:nvSpPr>
        <p:spPr>
          <a:xfrm>
            <a:off x="4572000" y="4572000"/>
            <a:ext cx="7071055" cy="1280160"/>
          </a:xfrm>
          <a:prstGeom prst="rect">
            <a:avLst/>
          </a:prstGeom>
          <a:noFill/>
          <a:ln/>
        </p:spPr>
        <p:txBody>
          <a:bodyPr wrap="square" lIns="0" tIns="0" rIns="0" bIns="0" rtlCol="0" anchor="t"/>
          <a:lstStyle/>
          <a:p>
            <a:pPr marL="0" indent="0" algn="r">
              <a:spcAft>
                <a:spcPts val="600"/>
              </a:spcAft>
              <a:buNone/>
            </a:pPr>
            <a:r>
              <a:rPr lang="fa-IR" altLang="en-US" sz="1600" dirty="0">
                <a:solidFill>
                  <a:srgbClr val="E2E8F0"/>
                </a:solidFill>
                <a:latin typeface="Vazirmatn" pitchFamily="34" charset="0"/>
                <a:ea typeface="Vazirmatn" pitchFamily="34" charset="-122"/>
                <a:cs typeface="Vazirmatn" pitchFamily="34" charset="-120"/>
              </a:rPr>
              <a:t>ارائه‌دهندگان: سید پارسا </a:t>
            </a:r>
            <a:r>
              <a:rPr lang="fa-IR" altLang="en-US" sz="1600">
                <a:solidFill>
                  <a:srgbClr val="E2E8F0"/>
                </a:solidFill>
                <a:latin typeface="Vazirmatn" pitchFamily="34" charset="0"/>
                <a:ea typeface="Vazirmatn" pitchFamily="34" charset="-122"/>
                <a:cs typeface="Vazirmatn" pitchFamily="34" charset="-120"/>
              </a:rPr>
              <a:t>بنی‌طبا - امین </a:t>
            </a:r>
            <a:r>
              <a:rPr lang="fa-IR" altLang="en-US" sz="1600" dirty="0">
                <a:solidFill>
                  <a:srgbClr val="E2E8F0"/>
                </a:solidFill>
                <a:latin typeface="Vazirmatn" pitchFamily="34" charset="0"/>
                <a:ea typeface="Vazirmatn" pitchFamily="34" charset="-122"/>
                <a:cs typeface="Vazirmatn" pitchFamily="34" charset="-120"/>
              </a:rPr>
              <a:t>آذرپی</a:t>
            </a:r>
            <a:endParaRPr lang="fa-IR" sz="1600" dirty="0"/>
          </a:p>
          <a:p>
            <a:pPr marL="0" indent="0" algn="r">
              <a:spcAft>
                <a:spcPts val="600"/>
              </a:spcAft>
              <a:buNone/>
            </a:pPr>
            <a:r>
              <a:rPr lang="fa-IR" altLang="en-US" sz="1600" dirty="0">
                <a:solidFill>
                  <a:srgbClr val="E2E8F0"/>
                </a:solidFill>
                <a:latin typeface="Vazirmatn" pitchFamily="34" charset="0"/>
                <a:ea typeface="Vazirmatn" pitchFamily="34" charset="-122"/>
                <a:cs typeface="Vazirmatn" pitchFamily="34" charset="-120"/>
              </a:rPr>
              <a:t>استاد: </a:t>
            </a:r>
            <a:r>
              <a:rPr lang="fa-IR" altLang="en-US" sz="1600">
                <a:solidFill>
                  <a:srgbClr val="E2E8F0"/>
                </a:solidFill>
                <a:latin typeface="Vazirmatn" pitchFamily="34" charset="0"/>
                <a:ea typeface="Vazirmatn" pitchFamily="34" charset="-122"/>
                <a:cs typeface="Vazirmatn" pitchFamily="34" charset="-120"/>
              </a:rPr>
              <a:t>جناب دکتر </a:t>
            </a:r>
            <a:r>
              <a:rPr lang="fa-IR" altLang="en-US" sz="1600" dirty="0">
                <a:solidFill>
                  <a:srgbClr val="E2E8F0"/>
                </a:solidFill>
                <a:latin typeface="Vazirmatn" pitchFamily="34" charset="0"/>
                <a:ea typeface="Vazirmatn" pitchFamily="34" charset="-122"/>
                <a:cs typeface="Vazirmatn" pitchFamily="34" charset="-120"/>
              </a:rPr>
              <a:t>روانمهر</a:t>
            </a:r>
            <a:endParaRPr lang="fa-IR" sz="1600" dirty="0"/>
          </a:p>
          <a:p>
            <a:pPr marL="0" indent="0" algn="r">
              <a:spcAft>
                <a:spcPts val="600"/>
              </a:spcAft>
              <a:buNone/>
            </a:pPr>
            <a:r>
              <a:rPr lang="fa-IR" altLang="en-US" sz="1600" dirty="0">
                <a:solidFill>
                  <a:srgbClr val="E2E8F0"/>
                </a:solidFill>
                <a:latin typeface="Vazirmatn" pitchFamily="34" charset="0"/>
                <a:ea typeface="Vazirmatn" pitchFamily="34" charset="-122"/>
                <a:cs typeface="Vazirmatn" pitchFamily="34" charset="-120"/>
              </a:rPr>
              <a:t>سناریو ۱: مرور و تحلیل انتقادی </a:t>
            </a:r>
            <a:r>
              <a:rPr lang="fa-IR" altLang="en-US" sz="1600">
                <a:solidFill>
                  <a:srgbClr val="E2E8F0"/>
                </a:solidFill>
                <a:latin typeface="Vazirmatn" pitchFamily="34" charset="0"/>
                <a:ea typeface="Vazirmatn" pitchFamily="34" charset="-122"/>
                <a:cs typeface="Vazirmatn" pitchFamily="34" charset="-120"/>
              </a:rPr>
              <a:t>مقالات </a:t>
            </a:r>
            <a:br>
              <a:rPr lang="fa-IR" altLang="en-US" sz="1600">
                <a:solidFill>
                  <a:srgbClr val="E2E8F0"/>
                </a:solidFill>
                <a:latin typeface="Vazirmatn" pitchFamily="34" charset="0"/>
                <a:ea typeface="Vazirmatn" pitchFamily="34" charset="-122"/>
                <a:cs typeface="Vazirmatn" pitchFamily="34" charset="-120"/>
              </a:rPr>
            </a:br>
            <a:r>
              <a:rPr lang="fa-IR" altLang="en-US" sz="1600">
                <a:solidFill>
                  <a:srgbClr val="E2E8F0"/>
                </a:solidFill>
                <a:latin typeface="Vazirmatn" pitchFamily="34" charset="0"/>
                <a:ea typeface="Vazirmatn" pitchFamily="34" charset="-122"/>
                <a:cs typeface="Vazirmatn" pitchFamily="34" charset="-120"/>
              </a:rPr>
              <a:t>مهر </a:t>
            </a:r>
            <a:r>
              <a:rPr lang="fa-IR" altLang="en-US" sz="1600" dirty="0">
                <a:solidFill>
                  <a:srgbClr val="E2E8F0"/>
                </a:solidFill>
                <a:latin typeface="Vazirmatn" pitchFamily="34" charset="0"/>
                <a:ea typeface="Vazirmatn" pitchFamily="34" charset="-122"/>
                <a:cs typeface="Vazirmatn" pitchFamily="34" charset="-120"/>
              </a:rPr>
              <a:t>۱۴۰۵</a:t>
            </a:r>
            <a:endParaRPr lang="fa-IR"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47472"/>
            <a:ext cx="11094415" cy="640080"/>
          </a:xfrm>
          <a:prstGeom prst="rect">
            <a:avLst/>
          </a:prstGeom>
          <a:noFill/>
          <a:ln/>
        </p:spPr>
        <p:txBody>
          <a:bodyPr wrap="square" lIns="0" tIns="0" rIns="0" bIns="0" rtlCol="0" anchor="ctr"/>
          <a:lstStyle/>
          <a:p>
            <a:pPr marL="0" indent="0" algn="r" rtl="1">
              <a:buNone/>
            </a:pPr>
            <a:r>
              <a:rPr lang="fa-IR" altLang="en-US" sz="3000" b="1" dirty="0">
                <a:solidFill>
                  <a:srgbClr val="0F172A"/>
                </a:solidFill>
                <a:latin typeface="Vazirmatn" pitchFamily="34" charset="0"/>
                <a:ea typeface="Vazirmatn" pitchFamily="34" charset="-122"/>
                <a:cs typeface="Vazirmatn" pitchFamily="34" charset="-120"/>
              </a:rPr>
              <a:t>سناریو و نقشه‌ی راه ارائه</a:t>
            </a:r>
            <a:endParaRPr lang="fa-IR" sz="3000" dirty="0"/>
          </a:p>
        </p:txBody>
      </p:sp>
      <p:sp>
        <p:nvSpPr>
          <p:cNvPr id="3" name="Text 1"/>
          <p:cNvSpPr txBox="1"/>
          <p:nvPr/>
        </p:nvSpPr>
        <p:spPr>
          <a:xfrm>
            <a:off x="548640" y="969264"/>
            <a:ext cx="8168335" cy="365760"/>
          </a:xfrm>
          <a:prstGeom prst="rect">
            <a:avLst/>
          </a:prstGeom>
          <a:noFill/>
          <a:ln/>
        </p:spPr>
        <p:txBody>
          <a:bodyPr wrap="square" lIns="0" tIns="0" rIns="0" bIns="0" rtlCol="0" anchor="ctr"/>
          <a:lstStyle/>
          <a:p>
            <a:pPr marL="0" indent="0" algn="r" rtl="1">
              <a:buNone/>
            </a:pPr>
            <a:r>
              <a:rPr lang="fa-IR" altLang="en-US" sz="1500" dirty="0">
                <a:solidFill>
                  <a:srgbClr val="475569"/>
                </a:solidFill>
                <a:latin typeface="Vazirmatn" pitchFamily="34" charset="0"/>
                <a:ea typeface="Vazirmatn" pitchFamily="34" charset="-122"/>
                <a:cs typeface="Vazirmatn" pitchFamily="34" charset="-120"/>
              </a:rPr>
              <a:t>مرور و تحلیل انتقادی مقالات (Critical Survey) · حوزه‌ی امنیت و مقاوم‌سازی سیستم‌عامل</a:t>
            </a:r>
            <a:endParaRPr lang="fa-IR" sz="1500" dirty="0"/>
          </a:p>
        </p:txBody>
      </p:sp>
      <p:sp>
        <p:nvSpPr>
          <p:cNvPr id="4" name="Shape 2"/>
          <p:cNvSpPr/>
          <p:nvPr/>
        </p:nvSpPr>
        <p:spPr>
          <a:xfrm>
            <a:off x="5486400" y="1600200"/>
            <a:ext cx="6156655" cy="603504"/>
          </a:xfrm>
          <a:prstGeom prst="roundRect">
            <a:avLst>
              <a:gd name="adj" fmla="val 18182"/>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5" name="Shape 3"/>
          <p:cNvSpPr/>
          <p:nvPr/>
        </p:nvSpPr>
        <p:spPr>
          <a:xfrm>
            <a:off x="11130991" y="1709928"/>
            <a:ext cx="384048" cy="384048"/>
          </a:xfrm>
          <a:prstGeom prst="ellipse">
            <a:avLst/>
          </a:prstGeom>
          <a:solidFill>
            <a:srgbClr val="0F172A"/>
          </a:solidFill>
          <a:ln w="12700">
            <a:solidFill>
              <a:srgbClr val="0F172A"/>
            </a:solidFill>
            <a:prstDash val="solid"/>
          </a:ln>
        </p:spPr>
      </p:sp>
      <p:sp>
        <p:nvSpPr>
          <p:cNvPr id="6" name="Text 4"/>
          <p:cNvSpPr txBox="1"/>
          <p:nvPr/>
        </p:nvSpPr>
        <p:spPr>
          <a:xfrm>
            <a:off x="11130991" y="1709928"/>
            <a:ext cx="384048" cy="384048"/>
          </a:xfrm>
          <a:prstGeom prst="rect">
            <a:avLst/>
          </a:prstGeom>
          <a:noFill/>
          <a:ln/>
        </p:spPr>
        <p:txBody>
          <a:bodyPr wrap="square" lIns="0" tIns="0" rIns="0" bIns="0" rtlCol="0" anchor="ctr"/>
          <a:lstStyle/>
          <a:p>
            <a:pPr marL="0" indent="0" algn="ctr" rtl="1">
              <a:buNone/>
            </a:pPr>
            <a:r>
              <a:rPr lang="fa-IR" altLang="en-US" sz="1500" b="1" dirty="0">
                <a:solidFill>
                  <a:srgbClr val="FFFFFF"/>
                </a:solidFill>
                <a:latin typeface="Vazirmatn" pitchFamily="34" charset="0"/>
                <a:ea typeface="Vazirmatn" pitchFamily="34" charset="-122"/>
                <a:cs typeface="Vazirmatn" pitchFamily="34" charset="-120"/>
              </a:rPr>
              <a:t>۱</a:t>
            </a:r>
            <a:endParaRPr lang="fa-IR" sz="1500" dirty="0"/>
          </a:p>
        </p:txBody>
      </p:sp>
      <p:sp>
        <p:nvSpPr>
          <p:cNvPr id="7" name="Text 5"/>
          <p:cNvSpPr txBox="1"/>
          <p:nvPr/>
        </p:nvSpPr>
        <p:spPr>
          <a:xfrm>
            <a:off x="6858000" y="1600200"/>
            <a:ext cx="4099255" cy="603504"/>
          </a:xfrm>
          <a:prstGeom prst="rect">
            <a:avLst/>
          </a:prstGeom>
          <a:noFill/>
          <a:ln/>
        </p:spPr>
        <p:txBody>
          <a:bodyPr wrap="square" lIns="0" tIns="0" rIns="0" bIns="0" rtlCol="0" anchor="ctr"/>
          <a:lstStyle/>
          <a:p>
            <a:pPr marL="0" indent="0" algn="r" rtl="1">
              <a:buNone/>
            </a:pPr>
            <a:r>
              <a:rPr lang="fa-IR" altLang="en-US" sz="1700" b="1" dirty="0">
                <a:solidFill>
                  <a:srgbClr val="0F172A"/>
                </a:solidFill>
                <a:latin typeface="Vazirmatn" pitchFamily="34" charset="0"/>
                <a:ea typeface="Vazirmatn" pitchFamily="34" charset="-122"/>
                <a:cs typeface="Vazirmatn" pitchFamily="34" charset="-120"/>
              </a:rPr>
              <a:t>مسئله: خرابی حافظه در هسته</a:t>
            </a:r>
            <a:endParaRPr lang="fa-IR" sz="1700" dirty="0"/>
          </a:p>
        </p:txBody>
      </p:sp>
      <p:sp>
        <p:nvSpPr>
          <p:cNvPr id="8" name="Shape 6"/>
          <p:cNvSpPr/>
          <p:nvPr/>
        </p:nvSpPr>
        <p:spPr>
          <a:xfrm>
            <a:off x="5650992" y="1737360"/>
            <a:ext cx="1005840" cy="329184"/>
          </a:xfrm>
          <a:prstGeom prst="roundRect">
            <a:avLst>
              <a:gd name="adj" fmla="val 50000"/>
            </a:avLst>
          </a:prstGeom>
          <a:solidFill>
            <a:srgbClr val="EDE9FE"/>
          </a:solidFill>
          <a:ln w="12700">
            <a:solidFill>
              <a:srgbClr val="EDE9FE"/>
            </a:solidFill>
            <a:prstDash val="solid"/>
          </a:ln>
        </p:spPr>
      </p:sp>
      <p:sp>
        <p:nvSpPr>
          <p:cNvPr id="9" name="Text 7"/>
          <p:cNvSpPr txBox="1"/>
          <p:nvPr/>
        </p:nvSpPr>
        <p:spPr>
          <a:xfrm>
            <a:off x="5650992" y="1737360"/>
            <a:ext cx="1005840" cy="329184"/>
          </a:xfrm>
          <a:prstGeom prst="rect">
            <a:avLst/>
          </a:prstGeom>
          <a:noFill/>
          <a:ln/>
        </p:spPr>
        <p:txBody>
          <a:bodyPr wrap="square" lIns="0" tIns="0" rIns="0" bIns="0" rtlCol="0" anchor="ctr"/>
          <a:lstStyle/>
          <a:p>
            <a:pPr marL="0" indent="0" algn="ctr" rtl="1">
              <a:buNone/>
            </a:pPr>
            <a:r>
              <a:rPr lang="fa-IR" altLang="en-US" sz="1200" b="1" dirty="0">
                <a:solidFill>
                  <a:srgbClr val="7C3AED"/>
                </a:solidFill>
                <a:latin typeface="Vazirmatn" pitchFamily="34" charset="0"/>
                <a:ea typeface="Vazirmatn" pitchFamily="34" charset="-122"/>
                <a:cs typeface="Vazirmatn" pitchFamily="34" charset="-120"/>
              </a:rPr>
              <a:t>پارسا</a:t>
            </a:r>
            <a:endParaRPr lang="fa-IR" sz="1200" dirty="0"/>
          </a:p>
        </p:txBody>
      </p:sp>
      <p:sp>
        <p:nvSpPr>
          <p:cNvPr id="10" name="Shape 8"/>
          <p:cNvSpPr/>
          <p:nvPr/>
        </p:nvSpPr>
        <p:spPr>
          <a:xfrm>
            <a:off x="5486400" y="2350008"/>
            <a:ext cx="6156655" cy="603504"/>
          </a:xfrm>
          <a:prstGeom prst="roundRect">
            <a:avLst>
              <a:gd name="adj" fmla="val 18182"/>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11" name="Shape 9"/>
          <p:cNvSpPr/>
          <p:nvPr/>
        </p:nvSpPr>
        <p:spPr>
          <a:xfrm>
            <a:off x="11130991" y="2459736"/>
            <a:ext cx="384048" cy="384048"/>
          </a:xfrm>
          <a:prstGeom prst="ellipse">
            <a:avLst/>
          </a:prstGeom>
          <a:solidFill>
            <a:srgbClr val="E11D48"/>
          </a:solidFill>
          <a:ln w="12700">
            <a:solidFill>
              <a:srgbClr val="E11D48"/>
            </a:solidFill>
            <a:prstDash val="solid"/>
          </a:ln>
        </p:spPr>
      </p:sp>
      <p:sp>
        <p:nvSpPr>
          <p:cNvPr id="12" name="Text 10"/>
          <p:cNvSpPr txBox="1"/>
          <p:nvPr/>
        </p:nvSpPr>
        <p:spPr>
          <a:xfrm>
            <a:off x="11130991" y="2459736"/>
            <a:ext cx="384048" cy="384048"/>
          </a:xfrm>
          <a:prstGeom prst="rect">
            <a:avLst/>
          </a:prstGeom>
          <a:noFill/>
          <a:ln/>
        </p:spPr>
        <p:txBody>
          <a:bodyPr wrap="square" lIns="0" tIns="0" rIns="0" bIns="0" rtlCol="0" anchor="ctr"/>
          <a:lstStyle/>
          <a:p>
            <a:pPr marL="0" indent="0" algn="ctr" rtl="1">
              <a:buNone/>
            </a:pPr>
            <a:r>
              <a:rPr lang="fa-IR" altLang="en-US" sz="1500" b="1" dirty="0">
                <a:solidFill>
                  <a:srgbClr val="FFFFFF"/>
                </a:solidFill>
                <a:latin typeface="Vazirmatn" pitchFamily="34" charset="0"/>
                <a:ea typeface="Vazirmatn" pitchFamily="34" charset="-122"/>
                <a:cs typeface="Vazirmatn" pitchFamily="34" charset="-120"/>
              </a:rPr>
              <a:t>۲</a:t>
            </a:r>
            <a:endParaRPr lang="fa-IR" sz="1500" dirty="0"/>
          </a:p>
        </p:txBody>
      </p:sp>
      <p:sp>
        <p:nvSpPr>
          <p:cNvPr id="13" name="Text 11"/>
          <p:cNvSpPr txBox="1"/>
          <p:nvPr/>
        </p:nvSpPr>
        <p:spPr>
          <a:xfrm>
            <a:off x="6858000" y="2350008"/>
            <a:ext cx="4099255" cy="603504"/>
          </a:xfrm>
          <a:prstGeom prst="rect">
            <a:avLst/>
          </a:prstGeom>
          <a:noFill/>
          <a:ln/>
        </p:spPr>
        <p:txBody>
          <a:bodyPr wrap="square" lIns="0" tIns="0" rIns="0" bIns="0" rtlCol="0" anchor="ctr"/>
          <a:lstStyle/>
          <a:p>
            <a:pPr marL="0" indent="0" algn="r" rtl="1">
              <a:buNone/>
            </a:pPr>
            <a:r>
              <a:rPr lang="fa-IR" altLang="en-US" sz="1700" b="1" dirty="0">
                <a:solidFill>
                  <a:srgbClr val="0F172A"/>
                </a:solidFill>
                <a:latin typeface="Vazirmatn" pitchFamily="34" charset="0"/>
                <a:ea typeface="Vazirmatn" pitchFamily="34" charset="-122"/>
                <a:cs typeface="Vazirmatn" pitchFamily="34" charset="-120"/>
              </a:rPr>
              <a:t>سمت حمله: RetSpill</a:t>
            </a:r>
            <a:endParaRPr lang="fa-IR" sz="1700" dirty="0"/>
          </a:p>
        </p:txBody>
      </p:sp>
      <p:sp>
        <p:nvSpPr>
          <p:cNvPr id="14" name="Shape 12"/>
          <p:cNvSpPr/>
          <p:nvPr/>
        </p:nvSpPr>
        <p:spPr>
          <a:xfrm>
            <a:off x="5650992" y="2487168"/>
            <a:ext cx="1005840" cy="329184"/>
          </a:xfrm>
          <a:prstGeom prst="roundRect">
            <a:avLst>
              <a:gd name="adj" fmla="val 50000"/>
            </a:avLst>
          </a:prstGeom>
          <a:solidFill>
            <a:srgbClr val="EDE9FE"/>
          </a:solidFill>
          <a:ln w="12700">
            <a:solidFill>
              <a:srgbClr val="EDE9FE"/>
            </a:solidFill>
            <a:prstDash val="solid"/>
          </a:ln>
        </p:spPr>
      </p:sp>
      <p:sp>
        <p:nvSpPr>
          <p:cNvPr id="15" name="Text 13"/>
          <p:cNvSpPr txBox="1"/>
          <p:nvPr/>
        </p:nvSpPr>
        <p:spPr>
          <a:xfrm>
            <a:off x="5650992" y="2487168"/>
            <a:ext cx="1005840" cy="329184"/>
          </a:xfrm>
          <a:prstGeom prst="rect">
            <a:avLst/>
          </a:prstGeom>
          <a:noFill/>
          <a:ln/>
        </p:spPr>
        <p:txBody>
          <a:bodyPr wrap="square" lIns="0" tIns="0" rIns="0" bIns="0" rtlCol="0" anchor="ctr"/>
          <a:lstStyle/>
          <a:p>
            <a:pPr marL="0" indent="0" algn="ctr" rtl="1">
              <a:buNone/>
            </a:pPr>
            <a:r>
              <a:rPr lang="fa-IR" altLang="en-US" sz="1200" b="1" dirty="0">
                <a:solidFill>
                  <a:srgbClr val="7C3AED"/>
                </a:solidFill>
                <a:latin typeface="Vazirmatn" pitchFamily="34" charset="0"/>
                <a:ea typeface="Vazirmatn" pitchFamily="34" charset="-122"/>
                <a:cs typeface="Vazirmatn" pitchFamily="34" charset="-120"/>
              </a:rPr>
              <a:t>پارسا</a:t>
            </a:r>
            <a:endParaRPr lang="fa-IR" sz="1200" dirty="0"/>
          </a:p>
        </p:txBody>
      </p:sp>
      <p:sp>
        <p:nvSpPr>
          <p:cNvPr id="16" name="Shape 14"/>
          <p:cNvSpPr/>
          <p:nvPr/>
        </p:nvSpPr>
        <p:spPr>
          <a:xfrm>
            <a:off x="5486400" y="3099816"/>
            <a:ext cx="6156655" cy="603504"/>
          </a:xfrm>
          <a:prstGeom prst="roundRect">
            <a:avLst>
              <a:gd name="adj" fmla="val 18182"/>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17" name="Shape 15"/>
          <p:cNvSpPr/>
          <p:nvPr/>
        </p:nvSpPr>
        <p:spPr>
          <a:xfrm>
            <a:off x="11130991" y="3209544"/>
            <a:ext cx="384048" cy="384048"/>
          </a:xfrm>
          <a:prstGeom prst="ellipse">
            <a:avLst/>
          </a:prstGeom>
          <a:solidFill>
            <a:srgbClr val="7C3AED"/>
          </a:solidFill>
          <a:ln w="12700">
            <a:solidFill>
              <a:srgbClr val="7C3AED"/>
            </a:solidFill>
            <a:prstDash val="solid"/>
          </a:ln>
        </p:spPr>
      </p:sp>
      <p:sp>
        <p:nvSpPr>
          <p:cNvPr id="18" name="Text 16"/>
          <p:cNvSpPr txBox="1"/>
          <p:nvPr/>
        </p:nvSpPr>
        <p:spPr>
          <a:xfrm>
            <a:off x="11130991" y="3209544"/>
            <a:ext cx="384048" cy="384048"/>
          </a:xfrm>
          <a:prstGeom prst="rect">
            <a:avLst/>
          </a:prstGeom>
          <a:noFill/>
          <a:ln/>
        </p:spPr>
        <p:txBody>
          <a:bodyPr wrap="square" lIns="0" tIns="0" rIns="0" bIns="0" rtlCol="0" anchor="ctr"/>
          <a:lstStyle/>
          <a:p>
            <a:pPr marL="0" indent="0" algn="ctr" rtl="1">
              <a:buNone/>
            </a:pPr>
            <a:r>
              <a:rPr lang="fa-IR" altLang="en-US" sz="1500" b="1" dirty="0">
                <a:solidFill>
                  <a:srgbClr val="FFFFFF"/>
                </a:solidFill>
                <a:latin typeface="Vazirmatn" pitchFamily="34" charset="0"/>
                <a:ea typeface="Vazirmatn" pitchFamily="34" charset="-122"/>
                <a:cs typeface="Vazirmatn" pitchFamily="34" charset="-120"/>
              </a:rPr>
              <a:t>۳</a:t>
            </a:r>
            <a:endParaRPr lang="fa-IR" sz="1500" dirty="0"/>
          </a:p>
        </p:txBody>
      </p:sp>
      <p:sp>
        <p:nvSpPr>
          <p:cNvPr id="19" name="Text 17"/>
          <p:cNvSpPr txBox="1"/>
          <p:nvPr/>
        </p:nvSpPr>
        <p:spPr>
          <a:xfrm>
            <a:off x="6858000" y="3099816"/>
            <a:ext cx="4099255" cy="603504"/>
          </a:xfrm>
          <a:prstGeom prst="rect">
            <a:avLst/>
          </a:prstGeom>
          <a:noFill/>
          <a:ln/>
        </p:spPr>
        <p:txBody>
          <a:bodyPr wrap="square" lIns="0" tIns="0" rIns="0" bIns="0" rtlCol="0" anchor="ctr"/>
          <a:lstStyle/>
          <a:p>
            <a:pPr marL="0" indent="0" algn="r" rtl="1">
              <a:buNone/>
            </a:pPr>
            <a:r>
              <a:rPr lang="fa-IR" altLang="en-US" sz="1700" b="1" dirty="0">
                <a:solidFill>
                  <a:srgbClr val="0F172A"/>
                </a:solidFill>
                <a:latin typeface="Vazirmatn" pitchFamily="34" charset="0"/>
                <a:ea typeface="Vazirmatn" pitchFamily="34" charset="-122"/>
                <a:cs typeface="Vazirmatn" pitchFamily="34" charset="-120"/>
              </a:rPr>
              <a:t>دفاع سخت‌افزاری: Safeslab و μSwitch</a:t>
            </a:r>
            <a:endParaRPr lang="fa-IR" sz="1700" dirty="0"/>
          </a:p>
        </p:txBody>
      </p:sp>
      <p:sp>
        <p:nvSpPr>
          <p:cNvPr id="20" name="Shape 18"/>
          <p:cNvSpPr/>
          <p:nvPr/>
        </p:nvSpPr>
        <p:spPr>
          <a:xfrm>
            <a:off x="5650992" y="3236976"/>
            <a:ext cx="1005840" cy="329184"/>
          </a:xfrm>
          <a:prstGeom prst="roundRect">
            <a:avLst>
              <a:gd name="adj" fmla="val 50000"/>
            </a:avLst>
          </a:prstGeom>
          <a:solidFill>
            <a:srgbClr val="EDE9FE"/>
          </a:solidFill>
          <a:ln w="12700">
            <a:solidFill>
              <a:srgbClr val="EDE9FE"/>
            </a:solidFill>
            <a:prstDash val="solid"/>
          </a:ln>
        </p:spPr>
      </p:sp>
      <p:sp>
        <p:nvSpPr>
          <p:cNvPr id="21" name="Text 19"/>
          <p:cNvSpPr txBox="1"/>
          <p:nvPr/>
        </p:nvSpPr>
        <p:spPr>
          <a:xfrm>
            <a:off x="5650992" y="3236976"/>
            <a:ext cx="1005840" cy="329184"/>
          </a:xfrm>
          <a:prstGeom prst="rect">
            <a:avLst/>
          </a:prstGeom>
          <a:noFill/>
          <a:ln/>
        </p:spPr>
        <p:txBody>
          <a:bodyPr wrap="square" lIns="0" tIns="0" rIns="0" bIns="0" rtlCol="0" anchor="ctr"/>
          <a:lstStyle/>
          <a:p>
            <a:pPr marL="0" indent="0" algn="ctr" rtl="1">
              <a:buNone/>
            </a:pPr>
            <a:r>
              <a:rPr lang="fa-IR" altLang="en-US" sz="1200" b="1" dirty="0">
                <a:solidFill>
                  <a:srgbClr val="7C3AED"/>
                </a:solidFill>
                <a:latin typeface="Vazirmatn" pitchFamily="34" charset="0"/>
                <a:ea typeface="Vazirmatn" pitchFamily="34" charset="-122"/>
                <a:cs typeface="Vazirmatn" pitchFamily="34" charset="-120"/>
              </a:rPr>
              <a:t>پارسا</a:t>
            </a:r>
            <a:endParaRPr lang="fa-IR" sz="1200" dirty="0"/>
          </a:p>
        </p:txBody>
      </p:sp>
      <p:sp>
        <p:nvSpPr>
          <p:cNvPr id="22" name="Shape 20"/>
          <p:cNvSpPr/>
          <p:nvPr/>
        </p:nvSpPr>
        <p:spPr>
          <a:xfrm>
            <a:off x="5486400" y="3849624"/>
            <a:ext cx="6156655" cy="603504"/>
          </a:xfrm>
          <a:prstGeom prst="roundRect">
            <a:avLst>
              <a:gd name="adj" fmla="val 18182"/>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23" name="Shape 21"/>
          <p:cNvSpPr/>
          <p:nvPr/>
        </p:nvSpPr>
        <p:spPr>
          <a:xfrm>
            <a:off x="11130991" y="3959352"/>
            <a:ext cx="384048" cy="384048"/>
          </a:xfrm>
          <a:prstGeom prst="ellipse">
            <a:avLst/>
          </a:prstGeom>
          <a:solidFill>
            <a:srgbClr val="0D9488"/>
          </a:solidFill>
          <a:ln w="12700">
            <a:solidFill>
              <a:srgbClr val="0D9488"/>
            </a:solidFill>
            <a:prstDash val="solid"/>
          </a:ln>
        </p:spPr>
      </p:sp>
      <p:sp>
        <p:nvSpPr>
          <p:cNvPr id="24" name="Text 22"/>
          <p:cNvSpPr txBox="1"/>
          <p:nvPr/>
        </p:nvSpPr>
        <p:spPr>
          <a:xfrm>
            <a:off x="11130991" y="3959352"/>
            <a:ext cx="384048" cy="384048"/>
          </a:xfrm>
          <a:prstGeom prst="rect">
            <a:avLst/>
          </a:prstGeom>
          <a:noFill/>
          <a:ln/>
        </p:spPr>
        <p:txBody>
          <a:bodyPr wrap="square" lIns="0" tIns="0" rIns="0" bIns="0" rtlCol="0" anchor="ctr"/>
          <a:lstStyle/>
          <a:p>
            <a:pPr marL="0" indent="0" algn="ctr" rtl="1">
              <a:buNone/>
            </a:pPr>
            <a:r>
              <a:rPr lang="fa-IR" altLang="en-US" sz="1500" b="1" dirty="0">
                <a:solidFill>
                  <a:srgbClr val="FFFFFF"/>
                </a:solidFill>
                <a:latin typeface="Vazirmatn" pitchFamily="34" charset="0"/>
                <a:ea typeface="Vazirmatn" pitchFamily="34" charset="-122"/>
                <a:cs typeface="Vazirmatn" pitchFamily="34" charset="-120"/>
              </a:rPr>
              <a:t>۴</a:t>
            </a:r>
            <a:endParaRPr lang="fa-IR" sz="1500" dirty="0"/>
          </a:p>
        </p:txBody>
      </p:sp>
      <p:sp>
        <p:nvSpPr>
          <p:cNvPr id="25" name="Text 23"/>
          <p:cNvSpPr txBox="1"/>
          <p:nvPr/>
        </p:nvSpPr>
        <p:spPr>
          <a:xfrm>
            <a:off x="6858000" y="3849624"/>
            <a:ext cx="4099255" cy="603504"/>
          </a:xfrm>
          <a:prstGeom prst="rect">
            <a:avLst/>
          </a:prstGeom>
          <a:noFill/>
          <a:ln/>
        </p:spPr>
        <p:txBody>
          <a:bodyPr wrap="square" lIns="0" tIns="0" rIns="0" bIns="0" rtlCol="0" anchor="ctr"/>
          <a:lstStyle/>
          <a:p>
            <a:pPr marL="0" indent="0" algn="r" rtl="1">
              <a:buNone/>
            </a:pPr>
            <a:r>
              <a:rPr lang="fa-IR" altLang="en-US" sz="1700" b="1" dirty="0">
                <a:solidFill>
                  <a:srgbClr val="0F172A"/>
                </a:solidFill>
                <a:latin typeface="Vazirmatn" pitchFamily="34" charset="0"/>
                <a:ea typeface="Vazirmatn" pitchFamily="34" charset="-122"/>
                <a:cs typeface="Vazirmatn" pitchFamily="34" charset="-120"/>
              </a:rPr>
              <a:t>سطح تخصیص‌دهنده: ISLAB</a:t>
            </a:r>
            <a:endParaRPr lang="fa-IR" sz="1700" dirty="0"/>
          </a:p>
        </p:txBody>
      </p:sp>
      <p:sp>
        <p:nvSpPr>
          <p:cNvPr id="26" name="Shape 24"/>
          <p:cNvSpPr/>
          <p:nvPr/>
        </p:nvSpPr>
        <p:spPr>
          <a:xfrm>
            <a:off x="5650992" y="3986784"/>
            <a:ext cx="1005840" cy="329184"/>
          </a:xfrm>
          <a:prstGeom prst="roundRect">
            <a:avLst>
              <a:gd name="adj" fmla="val 50000"/>
            </a:avLst>
          </a:prstGeom>
          <a:solidFill>
            <a:srgbClr val="CCFBF1"/>
          </a:solidFill>
          <a:ln w="12700">
            <a:solidFill>
              <a:srgbClr val="CCFBF1"/>
            </a:solidFill>
            <a:prstDash val="solid"/>
          </a:ln>
        </p:spPr>
      </p:sp>
      <p:sp>
        <p:nvSpPr>
          <p:cNvPr id="27" name="Text 25"/>
          <p:cNvSpPr txBox="1"/>
          <p:nvPr/>
        </p:nvSpPr>
        <p:spPr>
          <a:xfrm>
            <a:off x="5650992" y="3986784"/>
            <a:ext cx="1005840" cy="329184"/>
          </a:xfrm>
          <a:prstGeom prst="rect">
            <a:avLst/>
          </a:prstGeom>
          <a:noFill/>
          <a:ln/>
        </p:spPr>
        <p:txBody>
          <a:bodyPr wrap="square" lIns="0" tIns="0" rIns="0" bIns="0" rtlCol="0" anchor="ctr"/>
          <a:lstStyle/>
          <a:p>
            <a:pPr marL="0" indent="0" algn="ctr" rtl="1">
              <a:buNone/>
            </a:pPr>
            <a:r>
              <a:rPr lang="fa-IR" altLang="en-US" sz="1200" b="1" dirty="0">
                <a:solidFill>
                  <a:srgbClr val="0D9488"/>
                </a:solidFill>
                <a:latin typeface="Vazirmatn" pitchFamily="34" charset="0"/>
                <a:ea typeface="Vazirmatn" pitchFamily="34" charset="-122"/>
                <a:cs typeface="Vazirmatn" pitchFamily="34" charset="-120"/>
              </a:rPr>
              <a:t>امین</a:t>
            </a:r>
            <a:endParaRPr lang="fa-IR" sz="1200" dirty="0"/>
          </a:p>
        </p:txBody>
      </p:sp>
      <p:sp>
        <p:nvSpPr>
          <p:cNvPr id="28" name="Shape 26"/>
          <p:cNvSpPr/>
          <p:nvPr/>
        </p:nvSpPr>
        <p:spPr>
          <a:xfrm>
            <a:off x="5486400" y="4599432"/>
            <a:ext cx="6156655" cy="603504"/>
          </a:xfrm>
          <a:prstGeom prst="roundRect">
            <a:avLst>
              <a:gd name="adj" fmla="val 18182"/>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29" name="Shape 27"/>
          <p:cNvSpPr/>
          <p:nvPr/>
        </p:nvSpPr>
        <p:spPr>
          <a:xfrm>
            <a:off x="11130991" y="4709160"/>
            <a:ext cx="384048" cy="384048"/>
          </a:xfrm>
          <a:prstGeom prst="ellipse">
            <a:avLst/>
          </a:prstGeom>
          <a:solidFill>
            <a:srgbClr val="EA580C"/>
          </a:solidFill>
          <a:ln w="12700">
            <a:solidFill>
              <a:srgbClr val="EA580C"/>
            </a:solidFill>
            <a:prstDash val="solid"/>
          </a:ln>
        </p:spPr>
      </p:sp>
      <p:sp>
        <p:nvSpPr>
          <p:cNvPr id="30" name="Text 28"/>
          <p:cNvSpPr txBox="1"/>
          <p:nvPr/>
        </p:nvSpPr>
        <p:spPr>
          <a:xfrm>
            <a:off x="11130991" y="4709160"/>
            <a:ext cx="384048" cy="384048"/>
          </a:xfrm>
          <a:prstGeom prst="rect">
            <a:avLst/>
          </a:prstGeom>
          <a:noFill/>
          <a:ln/>
        </p:spPr>
        <p:txBody>
          <a:bodyPr wrap="square" lIns="0" tIns="0" rIns="0" bIns="0" rtlCol="0" anchor="ctr"/>
          <a:lstStyle/>
          <a:p>
            <a:pPr marL="0" indent="0" algn="ctr" rtl="1">
              <a:buNone/>
            </a:pPr>
            <a:r>
              <a:rPr lang="fa-IR" altLang="en-US" sz="1500" b="1" dirty="0">
                <a:solidFill>
                  <a:srgbClr val="FFFFFF"/>
                </a:solidFill>
                <a:latin typeface="Vazirmatn" pitchFamily="34" charset="0"/>
                <a:ea typeface="Vazirmatn" pitchFamily="34" charset="-122"/>
                <a:cs typeface="Vazirmatn" pitchFamily="34" charset="-120"/>
              </a:rPr>
              <a:t>۵</a:t>
            </a:r>
            <a:endParaRPr lang="fa-IR" sz="1500" dirty="0"/>
          </a:p>
        </p:txBody>
      </p:sp>
      <p:sp>
        <p:nvSpPr>
          <p:cNvPr id="31" name="Text 29"/>
          <p:cNvSpPr txBox="1"/>
          <p:nvPr/>
        </p:nvSpPr>
        <p:spPr>
          <a:xfrm>
            <a:off x="6858000" y="4599432"/>
            <a:ext cx="4099255" cy="603504"/>
          </a:xfrm>
          <a:prstGeom prst="rect">
            <a:avLst/>
          </a:prstGeom>
          <a:noFill/>
          <a:ln/>
        </p:spPr>
        <p:txBody>
          <a:bodyPr wrap="square" lIns="0" tIns="0" rIns="0" bIns="0" rtlCol="0" anchor="ctr"/>
          <a:lstStyle/>
          <a:p>
            <a:pPr marL="0" indent="0" algn="r" rtl="1">
              <a:buNone/>
            </a:pPr>
            <a:r>
              <a:rPr lang="fa-IR" altLang="en-US" sz="1700" b="1" dirty="0">
                <a:solidFill>
                  <a:srgbClr val="0F172A"/>
                </a:solidFill>
                <a:latin typeface="Vazirmatn" pitchFamily="34" charset="0"/>
                <a:ea typeface="Vazirmatn" pitchFamily="34" charset="-122"/>
                <a:cs typeface="Vazirmatn" pitchFamily="34" charset="-120"/>
              </a:rPr>
              <a:t>زبان امن: Rust for Linux</a:t>
            </a:r>
            <a:endParaRPr lang="fa-IR" sz="1700" dirty="0"/>
          </a:p>
        </p:txBody>
      </p:sp>
      <p:sp>
        <p:nvSpPr>
          <p:cNvPr id="32" name="Shape 30"/>
          <p:cNvSpPr/>
          <p:nvPr/>
        </p:nvSpPr>
        <p:spPr>
          <a:xfrm>
            <a:off x="5650992" y="4736592"/>
            <a:ext cx="1005840" cy="329184"/>
          </a:xfrm>
          <a:prstGeom prst="roundRect">
            <a:avLst>
              <a:gd name="adj" fmla="val 50000"/>
            </a:avLst>
          </a:prstGeom>
          <a:solidFill>
            <a:srgbClr val="CCFBF1"/>
          </a:solidFill>
          <a:ln w="12700">
            <a:solidFill>
              <a:srgbClr val="CCFBF1"/>
            </a:solidFill>
            <a:prstDash val="solid"/>
          </a:ln>
        </p:spPr>
      </p:sp>
      <p:sp>
        <p:nvSpPr>
          <p:cNvPr id="33" name="Text 31"/>
          <p:cNvSpPr txBox="1"/>
          <p:nvPr/>
        </p:nvSpPr>
        <p:spPr>
          <a:xfrm>
            <a:off x="5650992" y="4736592"/>
            <a:ext cx="1005840" cy="329184"/>
          </a:xfrm>
          <a:prstGeom prst="rect">
            <a:avLst/>
          </a:prstGeom>
          <a:noFill/>
          <a:ln/>
        </p:spPr>
        <p:txBody>
          <a:bodyPr wrap="square" lIns="0" tIns="0" rIns="0" bIns="0" rtlCol="0" anchor="ctr"/>
          <a:lstStyle/>
          <a:p>
            <a:pPr marL="0" indent="0" algn="ctr" rtl="1">
              <a:buNone/>
            </a:pPr>
            <a:r>
              <a:rPr lang="fa-IR" altLang="en-US" sz="1200" b="1" dirty="0">
                <a:solidFill>
                  <a:srgbClr val="0D9488"/>
                </a:solidFill>
                <a:latin typeface="Vazirmatn" pitchFamily="34" charset="0"/>
                <a:ea typeface="Vazirmatn" pitchFamily="34" charset="-122"/>
                <a:cs typeface="Vazirmatn" pitchFamily="34" charset="-120"/>
              </a:rPr>
              <a:t>امین</a:t>
            </a:r>
            <a:endParaRPr lang="fa-IR" sz="1200" dirty="0"/>
          </a:p>
        </p:txBody>
      </p:sp>
      <p:sp>
        <p:nvSpPr>
          <p:cNvPr id="34" name="Shape 32"/>
          <p:cNvSpPr/>
          <p:nvPr/>
        </p:nvSpPr>
        <p:spPr>
          <a:xfrm>
            <a:off x="5486400" y="5349240"/>
            <a:ext cx="6156655" cy="603504"/>
          </a:xfrm>
          <a:prstGeom prst="roundRect">
            <a:avLst>
              <a:gd name="adj" fmla="val 18182"/>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35" name="Shape 33"/>
          <p:cNvSpPr/>
          <p:nvPr/>
        </p:nvSpPr>
        <p:spPr>
          <a:xfrm>
            <a:off x="11130991" y="5458968"/>
            <a:ext cx="384048" cy="384048"/>
          </a:xfrm>
          <a:prstGeom prst="ellipse">
            <a:avLst/>
          </a:prstGeom>
          <a:solidFill>
            <a:srgbClr val="0F172A"/>
          </a:solidFill>
          <a:ln w="12700">
            <a:solidFill>
              <a:srgbClr val="0F172A"/>
            </a:solidFill>
            <a:prstDash val="solid"/>
          </a:ln>
        </p:spPr>
      </p:sp>
      <p:sp>
        <p:nvSpPr>
          <p:cNvPr id="36" name="Text 34"/>
          <p:cNvSpPr txBox="1"/>
          <p:nvPr/>
        </p:nvSpPr>
        <p:spPr>
          <a:xfrm>
            <a:off x="11130991" y="5458968"/>
            <a:ext cx="384048" cy="384048"/>
          </a:xfrm>
          <a:prstGeom prst="rect">
            <a:avLst/>
          </a:prstGeom>
          <a:noFill/>
          <a:ln/>
        </p:spPr>
        <p:txBody>
          <a:bodyPr wrap="square" lIns="0" tIns="0" rIns="0" bIns="0" rtlCol="0" anchor="ctr"/>
          <a:lstStyle/>
          <a:p>
            <a:pPr marL="0" indent="0" algn="ctr" rtl="1">
              <a:buNone/>
            </a:pPr>
            <a:r>
              <a:rPr lang="fa-IR" altLang="en-US" sz="1500" b="1" dirty="0">
                <a:solidFill>
                  <a:srgbClr val="FFFFFF"/>
                </a:solidFill>
                <a:latin typeface="Vazirmatn" pitchFamily="34" charset="0"/>
                <a:ea typeface="Vazirmatn" pitchFamily="34" charset="-122"/>
                <a:cs typeface="Vazirmatn" pitchFamily="34" charset="-120"/>
              </a:rPr>
              <a:t>۶</a:t>
            </a:r>
            <a:endParaRPr lang="fa-IR" sz="1500" dirty="0"/>
          </a:p>
        </p:txBody>
      </p:sp>
      <p:sp>
        <p:nvSpPr>
          <p:cNvPr id="37" name="Text 35"/>
          <p:cNvSpPr txBox="1"/>
          <p:nvPr/>
        </p:nvSpPr>
        <p:spPr>
          <a:xfrm>
            <a:off x="6858000" y="5349240"/>
            <a:ext cx="4099255" cy="603504"/>
          </a:xfrm>
          <a:prstGeom prst="rect">
            <a:avLst/>
          </a:prstGeom>
          <a:noFill/>
          <a:ln/>
        </p:spPr>
        <p:txBody>
          <a:bodyPr wrap="square" lIns="0" tIns="0" rIns="0" bIns="0" rtlCol="0" anchor="ctr"/>
          <a:lstStyle/>
          <a:p>
            <a:pPr marL="0" indent="0" algn="r" rtl="1">
              <a:buNone/>
            </a:pPr>
            <a:r>
              <a:rPr lang="fa-IR" altLang="en-US" sz="1700" b="1" dirty="0">
                <a:solidFill>
                  <a:srgbClr val="0F172A"/>
                </a:solidFill>
                <a:latin typeface="Vazirmatn" pitchFamily="34" charset="0"/>
                <a:ea typeface="Vazirmatn" pitchFamily="34" charset="-122"/>
                <a:cs typeface="Vazirmatn" pitchFamily="34" charset="-120"/>
              </a:rPr>
              <a:t>مقایسه، نقد و جمع‌بندی</a:t>
            </a:r>
            <a:endParaRPr lang="fa-IR" sz="1700" dirty="0"/>
          </a:p>
        </p:txBody>
      </p:sp>
      <p:sp>
        <p:nvSpPr>
          <p:cNvPr id="38" name="Shape 36"/>
          <p:cNvSpPr/>
          <p:nvPr/>
        </p:nvSpPr>
        <p:spPr>
          <a:xfrm>
            <a:off x="5650992" y="5486400"/>
            <a:ext cx="1005840" cy="329184"/>
          </a:xfrm>
          <a:prstGeom prst="roundRect">
            <a:avLst>
              <a:gd name="adj" fmla="val 50000"/>
            </a:avLst>
          </a:prstGeom>
          <a:solidFill>
            <a:srgbClr val="CCFBF1"/>
          </a:solidFill>
          <a:ln w="12700">
            <a:solidFill>
              <a:srgbClr val="CCFBF1"/>
            </a:solidFill>
            <a:prstDash val="solid"/>
          </a:ln>
        </p:spPr>
      </p:sp>
      <p:sp>
        <p:nvSpPr>
          <p:cNvPr id="39" name="Text 37"/>
          <p:cNvSpPr txBox="1"/>
          <p:nvPr/>
        </p:nvSpPr>
        <p:spPr>
          <a:xfrm>
            <a:off x="5650992" y="5486400"/>
            <a:ext cx="1005840" cy="329184"/>
          </a:xfrm>
          <a:prstGeom prst="rect">
            <a:avLst/>
          </a:prstGeom>
          <a:noFill/>
          <a:ln/>
        </p:spPr>
        <p:txBody>
          <a:bodyPr wrap="square" lIns="0" tIns="0" rIns="0" bIns="0" rtlCol="0" anchor="ctr"/>
          <a:lstStyle/>
          <a:p>
            <a:pPr marL="0" indent="0" algn="ctr" rtl="1">
              <a:buNone/>
            </a:pPr>
            <a:r>
              <a:rPr lang="fa-IR" altLang="en-US" sz="1200" b="1" dirty="0">
                <a:solidFill>
                  <a:srgbClr val="0D9488"/>
                </a:solidFill>
                <a:latin typeface="Vazirmatn" pitchFamily="34" charset="0"/>
                <a:ea typeface="Vazirmatn" pitchFamily="34" charset="-122"/>
                <a:cs typeface="Vazirmatn" pitchFamily="34" charset="-120"/>
              </a:rPr>
              <a:t>امین</a:t>
            </a:r>
            <a:endParaRPr lang="fa-IR" sz="1200" dirty="0"/>
          </a:p>
        </p:txBody>
      </p:sp>
      <p:sp>
        <p:nvSpPr>
          <p:cNvPr id="40" name="Shape 38"/>
          <p:cNvSpPr/>
          <p:nvPr/>
        </p:nvSpPr>
        <p:spPr>
          <a:xfrm>
            <a:off x="548640" y="1600200"/>
            <a:ext cx="4480560" cy="4334256"/>
          </a:xfrm>
          <a:prstGeom prst="roundRect">
            <a:avLst>
              <a:gd name="adj" fmla="val 2532"/>
            </a:avLst>
          </a:prstGeom>
          <a:solidFill>
            <a:srgbClr val="0B1220"/>
          </a:solidFill>
          <a:ln w="12700">
            <a:solidFill>
              <a:srgbClr val="0B1220"/>
            </a:solidFill>
            <a:prstDash val="solid"/>
          </a:ln>
          <a:effectLst>
            <a:outerShdw blurRad="101600" dist="25400" dir="5400000" algn="bl" rotWithShape="0">
              <a:srgbClr val="0F172A">
                <a:alpha val="8000"/>
              </a:srgbClr>
            </a:outerShdw>
          </a:effectLst>
        </p:spPr>
      </p:sp>
      <p:sp>
        <p:nvSpPr>
          <p:cNvPr id="41" name="Text 39"/>
          <p:cNvSpPr txBox="1"/>
          <p:nvPr/>
        </p:nvSpPr>
        <p:spPr>
          <a:xfrm>
            <a:off x="868680" y="1828800"/>
            <a:ext cx="3840480" cy="457200"/>
          </a:xfrm>
          <a:prstGeom prst="rect">
            <a:avLst/>
          </a:prstGeom>
          <a:noFill/>
          <a:ln/>
        </p:spPr>
        <p:txBody>
          <a:bodyPr wrap="square" lIns="0" tIns="0" rIns="0" bIns="0" rtlCol="0" anchor="t"/>
          <a:lstStyle/>
          <a:p>
            <a:pPr marL="0" indent="0" algn="r" rtl="1">
              <a:buNone/>
            </a:pPr>
            <a:r>
              <a:rPr lang="fa-IR" altLang="en-US" sz="2000" b="1" dirty="0">
                <a:solidFill>
                  <a:srgbClr val="FFFFFF"/>
                </a:solidFill>
                <a:latin typeface="Vazirmatn" pitchFamily="34" charset="0"/>
                <a:ea typeface="Vazirmatn" pitchFamily="34" charset="-122"/>
                <a:cs typeface="Vazirmatn" pitchFamily="34" charset="-120"/>
              </a:rPr>
              <a:t>سه معیار مقایسه</a:t>
            </a:r>
            <a:endParaRPr lang="fa-IR" sz="2000" dirty="0"/>
          </a:p>
        </p:txBody>
      </p:sp>
      <p:sp>
        <p:nvSpPr>
          <p:cNvPr id="42" name="Shape 40"/>
          <p:cNvSpPr/>
          <p:nvPr/>
        </p:nvSpPr>
        <p:spPr>
          <a:xfrm>
            <a:off x="4069080" y="2514600"/>
            <a:ext cx="640080" cy="640080"/>
          </a:xfrm>
          <a:prstGeom prst="ellipse">
            <a:avLst/>
          </a:prstGeom>
          <a:solidFill>
            <a:srgbClr val="E11D48"/>
          </a:solidFill>
          <a:ln w="12700">
            <a:solidFill>
              <a:srgbClr val="E11D48"/>
            </a:solidFill>
            <a:prstDash val="solid"/>
          </a:ln>
        </p:spPr>
      </p:sp>
      <p:pic>
        <p:nvPicPr>
          <p:cNvPr id="43" name="Image 0" descr="preencoded.png"/>
          <p:cNvPicPr>
            <a:picLocks noChangeAspect="1"/>
          </p:cNvPicPr>
          <p:nvPr/>
        </p:nvPicPr>
        <p:blipFill>
          <a:blip r:embed="rId3"/>
          <a:stretch>
            <a:fillRect/>
          </a:stretch>
        </p:blipFill>
        <p:spPr>
          <a:xfrm>
            <a:off x="4209898" y="2655418"/>
            <a:ext cx="358445" cy="358445"/>
          </a:xfrm>
          <a:prstGeom prst="rect">
            <a:avLst/>
          </a:prstGeom>
        </p:spPr>
      </p:pic>
      <p:sp>
        <p:nvSpPr>
          <p:cNvPr id="44" name="Text 41"/>
          <p:cNvSpPr txBox="1"/>
          <p:nvPr/>
        </p:nvSpPr>
        <p:spPr>
          <a:xfrm>
            <a:off x="868680" y="2496312"/>
            <a:ext cx="3017520" cy="365760"/>
          </a:xfrm>
          <a:prstGeom prst="rect">
            <a:avLst/>
          </a:prstGeom>
          <a:noFill/>
          <a:ln/>
        </p:spPr>
        <p:txBody>
          <a:bodyPr wrap="square" lIns="0" tIns="0" rIns="0" bIns="0" rtlCol="0" anchor="t"/>
          <a:lstStyle/>
          <a:p>
            <a:pPr marL="0" indent="0" algn="r" rtl="1">
              <a:buNone/>
            </a:pPr>
            <a:r>
              <a:rPr lang="fa-IR" altLang="en-US" sz="1700" b="1" dirty="0">
                <a:solidFill>
                  <a:srgbClr val="FFFFFF"/>
                </a:solidFill>
                <a:latin typeface="Vazirmatn" pitchFamily="34" charset="0"/>
                <a:ea typeface="Vazirmatn" pitchFamily="34" charset="-122"/>
                <a:cs typeface="Vazirmatn" pitchFamily="34" charset="-120"/>
              </a:rPr>
              <a:t>امنیت</a:t>
            </a:r>
            <a:endParaRPr lang="fa-IR" sz="1700" dirty="0"/>
          </a:p>
        </p:txBody>
      </p:sp>
      <p:sp>
        <p:nvSpPr>
          <p:cNvPr id="45" name="Text 42"/>
          <p:cNvSpPr txBox="1"/>
          <p:nvPr/>
        </p:nvSpPr>
        <p:spPr>
          <a:xfrm>
            <a:off x="868680" y="2862072"/>
            <a:ext cx="3017520" cy="548640"/>
          </a:xfrm>
          <a:prstGeom prst="rect">
            <a:avLst/>
          </a:prstGeom>
          <a:noFill/>
          <a:ln/>
        </p:spPr>
        <p:txBody>
          <a:bodyPr wrap="square" lIns="0" tIns="0" rIns="0" bIns="0" rtlCol="0" anchor="t"/>
          <a:lstStyle/>
          <a:p>
            <a:pPr marL="0" indent="0" algn="r" rtl="1">
              <a:buNone/>
            </a:pPr>
            <a:r>
              <a:rPr lang="fa-IR" altLang="en-US" sz="1300" dirty="0">
                <a:solidFill>
                  <a:srgbClr val="CBD5E1"/>
                </a:solidFill>
                <a:latin typeface="Vazirmatn" pitchFamily="34" charset="0"/>
                <a:ea typeface="Vazirmatn" pitchFamily="34" charset="-122"/>
                <a:cs typeface="Vazirmatn" pitchFamily="34" charset="-120"/>
              </a:rPr>
              <a:t>کدام دسته از حملات را واقعاً متوقف می‌کند؟</a:t>
            </a:r>
            <a:endParaRPr lang="fa-IR" sz="1300" dirty="0"/>
          </a:p>
        </p:txBody>
      </p:sp>
      <p:sp>
        <p:nvSpPr>
          <p:cNvPr id="46" name="Shape 43"/>
          <p:cNvSpPr/>
          <p:nvPr/>
        </p:nvSpPr>
        <p:spPr>
          <a:xfrm>
            <a:off x="4069080" y="3593592"/>
            <a:ext cx="640080" cy="640080"/>
          </a:xfrm>
          <a:prstGeom prst="ellipse">
            <a:avLst/>
          </a:prstGeom>
          <a:solidFill>
            <a:srgbClr val="7C3AED"/>
          </a:solidFill>
          <a:ln w="12700">
            <a:solidFill>
              <a:srgbClr val="7C3AED"/>
            </a:solidFill>
            <a:prstDash val="solid"/>
          </a:ln>
        </p:spPr>
      </p:sp>
      <p:pic>
        <p:nvPicPr>
          <p:cNvPr id="47" name="Image 1" descr="preencoded.png"/>
          <p:cNvPicPr>
            <a:picLocks noChangeAspect="1"/>
          </p:cNvPicPr>
          <p:nvPr/>
        </p:nvPicPr>
        <p:blipFill>
          <a:blip r:embed="rId4"/>
          <a:stretch>
            <a:fillRect/>
          </a:stretch>
        </p:blipFill>
        <p:spPr>
          <a:xfrm>
            <a:off x="4209898" y="3734410"/>
            <a:ext cx="358445" cy="358445"/>
          </a:xfrm>
          <a:prstGeom prst="rect">
            <a:avLst/>
          </a:prstGeom>
        </p:spPr>
      </p:pic>
      <p:sp>
        <p:nvSpPr>
          <p:cNvPr id="48" name="Text 44"/>
          <p:cNvSpPr txBox="1"/>
          <p:nvPr/>
        </p:nvSpPr>
        <p:spPr>
          <a:xfrm>
            <a:off x="868680" y="3575304"/>
            <a:ext cx="3017520" cy="365760"/>
          </a:xfrm>
          <a:prstGeom prst="rect">
            <a:avLst/>
          </a:prstGeom>
          <a:noFill/>
          <a:ln/>
        </p:spPr>
        <p:txBody>
          <a:bodyPr wrap="square" lIns="0" tIns="0" rIns="0" bIns="0" rtlCol="0" anchor="t"/>
          <a:lstStyle/>
          <a:p>
            <a:pPr marL="0" indent="0" algn="r" rtl="1">
              <a:buNone/>
            </a:pPr>
            <a:r>
              <a:rPr lang="fa-IR" altLang="en-US" sz="1700" b="1" dirty="0">
                <a:solidFill>
                  <a:srgbClr val="FFFFFF"/>
                </a:solidFill>
                <a:latin typeface="Vazirmatn" pitchFamily="34" charset="0"/>
                <a:ea typeface="Vazirmatn" pitchFamily="34" charset="-122"/>
                <a:cs typeface="Vazirmatn" pitchFamily="34" charset="-120"/>
              </a:rPr>
              <a:t>سربار عملکرد</a:t>
            </a:r>
            <a:endParaRPr lang="fa-IR" sz="1700" dirty="0"/>
          </a:p>
        </p:txBody>
      </p:sp>
      <p:sp>
        <p:nvSpPr>
          <p:cNvPr id="49" name="Text 45"/>
          <p:cNvSpPr txBox="1"/>
          <p:nvPr/>
        </p:nvSpPr>
        <p:spPr>
          <a:xfrm>
            <a:off x="868680" y="3941064"/>
            <a:ext cx="3017520" cy="548640"/>
          </a:xfrm>
          <a:prstGeom prst="rect">
            <a:avLst/>
          </a:prstGeom>
          <a:noFill/>
          <a:ln/>
        </p:spPr>
        <p:txBody>
          <a:bodyPr wrap="square" lIns="0" tIns="0" rIns="0" bIns="0" rtlCol="0" anchor="t"/>
          <a:lstStyle/>
          <a:p>
            <a:pPr marL="0" indent="0" algn="r" rtl="1">
              <a:buNone/>
            </a:pPr>
            <a:r>
              <a:rPr lang="fa-IR" altLang="en-US" sz="1300" dirty="0">
                <a:solidFill>
                  <a:srgbClr val="CBD5E1"/>
                </a:solidFill>
                <a:latin typeface="Vazirmatn" pitchFamily="34" charset="0"/>
                <a:ea typeface="Vazirmatn" pitchFamily="34" charset="-122"/>
                <a:cs typeface="Vazirmatn" pitchFamily="34" charset="-120"/>
              </a:rPr>
              <a:t>چقدر سیستم را کند می‌کند؟</a:t>
            </a:r>
            <a:endParaRPr lang="fa-IR" sz="1300" dirty="0"/>
          </a:p>
        </p:txBody>
      </p:sp>
      <p:sp>
        <p:nvSpPr>
          <p:cNvPr id="50" name="Shape 46"/>
          <p:cNvSpPr/>
          <p:nvPr/>
        </p:nvSpPr>
        <p:spPr>
          <a:xfrm>
            <a:off x="4069080" y="4672584"/>
            <a:ext cx="640080" cy="640080"/>
          </a:xfrm>
          <a:prstGeom prst="ellipse">
            <a:avLst/>
          </a:prstGeom>
          <a:solidFill>
            <a:srgbClr val="0D9488"/>
          </a:solidFill>
          <a:ln w="12700">
            <a:solidFill>
              <a:srgbClr val="0D9488"/>
            </a:solidFill>
            <a:prstDash val="solid"/>
          </a:ln>
        </p:spPr>
      </p:sp>
      <p:pic>
        <p:nvPicPr>
          <p:cNvPr id="51" name="Image 2" descr="preencoded.png"/>
          <p:cNvPicPr>
            <a:picLocks noChangeAspect="1"/>
          </p:cNvPicPr>
          <p:nvPr/>
        </p:nvPicPr>
        <p:blipFill>
          <a:blip r:embed="rId5"/>
          <a:stretch>
            <a:fillRect/>
          </a:stretch>
        </p:blipFill>
        <p:spPr>
          <a:xfrm>
            <a:off x="4209898" y="4813402"/>
            <a:ext cx="358445" cy="358445"/>
          </a:xfrm>
          <a:prstGeom prst="rect">
            <a:avLst/>
          </a:prstGeom>
        </p:spPr>
      </p:pic>
      <p:sp>
        <p:nvSpPr>
          <p:cNvPr id="52" name="Text 47"/>
          <p:cNvSpPr txBox="1"/>
          <p:nvPr/>
        </p:nvSpPr>
        <p:spPr>
          <a:xfrm>
            <a:off x="868680" y="4654296"/>
            <a:ext cx="3017520" cy="365760"/>
          </a:xfrm>
          <a:prstGeom prst="rect">
            <a:avLst/>
          </a:prstGeom>
          <a:noFill/>
          <a:ln/>
        </p:spPr>
        <p:txBody>
          <a:bodyPr wrap="square" lIns="0" tIns="0" rIns="0" bIns="0" rtlCol="0" anchor="t"/>
          <a:lstStyle/>
          <a:p>
            <a:pPr marL="0" indent="0" algn="r" rtl="1">
              <a:buNone/>
            </a:pPr>
            <a:r>
              <a:rPr lang="fa-IR" altLang="en-US" sz="1700" b="1" dirty="0">
                <a:solidFill>
                  <a:srgbClr val="FFFFFF"/>
                </a:solidFill>
                <a:latin typeface="Vazirmatn" pitchFamily="34" charset="0"/>
                <a:ea typeface="Vazirmatn" pitchFamily="34" charset="-122"/>
                <a:cs typeface="Vazirmatn" pitchFamily="34" charset="-120"/>
              </a:rPr>
              <a:t>قابلیت استقرار</a:t>
            </a:r>
            <a:endParaRPr lang="fa-IR" sz="1700" dirty="0"/>
          </a:p>
        </p:txBody>
      </p:sp>
      <p:sp>
        <p:nvSpPr>
          <p:cNvPr id="53" name="Text 48"/>
          <p:cNvSpPr txBox="1"/>
          <p:nvPr/>
        </p:nvSpPr>
        <p:spPr>
          <a:xfrm>
            <a:off x="868680" y="5020056"/>
            <a:ext cx="3017520" cy="548640"/>
          </a:xfrm>
          <a:prstGeom prst="rect">
            <a:avLst/>
          </a:prstGeom>
          <a:noFill/>
          <a:ln/>
        </p:spPr>
        <p:txBody>
          <a:bodyPr wrap="square" lIns="0" tIns="0" rIns="0" bIns="0" rtlCol="0" anchor="t"/>
          <a:lstStyle/>
          <a:p>
            <a:pPr marL="0" indent="0" algn="r" rtl="1">
              <a:buNone/>
            </a:pPr>
            <a:r>
              <a:rPr lang="fa-IR" altLang="en-US" sz="1300" dirty="0">
                <a:solidFill>
                  <a:srgbClr val="CBD5E1"/>
                </a:solidFill>
                <a:latin typeface="Vazirmatn" pitchFamily="34" charset="0"/>
                <a:ea typeface="Vazirmatn" pitchFamily="34" charset="-122"/>
                <a:cs typeface="Vazirmatn" pitchFamily="34" charset="-120"/>
              </a:rPr>
              <a:t>روی چه سخت‌افزار و هسته‌ای قابل استفاده است؟</a:t>
            </a:r>
            <a:endParaRPr lang="fa-IR" sz="1300" dirty="0"/>
          </a:p>
        </p:txBody>
      </p:sp>
      <p:sp>
        <p:nvSpPr>
          <p:cNvPr id="54"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4A3B8"/>
                </a:solidFill>
                <a:latin typeface="Vazirmatn"/>
                <a:ea typeface="Vazirmatn"/>
                <a:cs typeface="Vazirmatn"/>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47472"/>
            <a:ext cx="11094415" cy="640080"/>
          </a:xfrm>
          <a:prstGeom prst="rect">
            <a:avLst/>
          </a:prstGeom>
          <a:noFill/>
          <a:ln/>
        </p:spPr>
        <p:txBody>
          <a:bodyPr wrap="square" lIns="0" tIns="0" rIns="0" bIns="0" rtlCol="0" anchor="ctr"/>
          <a:lstStyle/>
          <a:p>
            <a:pPr marL="0" indent="0" algn="r" rtl="1">
              <a:buNone/>
            </a:pPr>
            <a:r>
              <a:rPr lang="fa-IR" altLang="en-US" sz="3000" b="1" dirty="0">
                <a:solidFill>
                  <a:srgbClr val="0F172A"/>
                </a:solidFill>
                <a:latin typeface="Vazirmatn" pitchFamily="34" charset="0"/>
                <a:ea typeface="Vazirmatn" pitchFamily="34" charset="-122"/>
                <a:cs typeface="Vazirmatn" pitchFamily="34" charset="-120"/>
              </a:rPr>
              <a:t>مسئله: خرابی حافظه در هسته‌ی لینوکس</a:t>
            </a:r>
            <a:endParaRPr lang="fa-IR" sz="3000" dirty="0"/>
          </a:p>
        </p:txBody>
      </p:sp>
      <p:sp>
        <p:nvSpPr>
          <p:cNvPr id="3" name="Text 1"/>
          <p:cNvSpPr txBox="1"/>
          <p:nvPr/>
        </p:nvSpPr>
        <p:spPr>
          <a:xfrm>
            <a:off x="548640" y="969264"/>
            <a:ext cx="8168335" cy="365760"/>
          </a:xfrm>
          <a:prstGeom prst="rect">
            <a:avLst/>
          </a:prstGeom>
          <a:noFill/>
          <a:ln/>
        </p:spPr>
        <p:txBody>
          <a:bodyPr wrap="square" lIns="0" tIns="0" rIns="0" bIns="0" rtlCol="0" anchor="ctr"/>
          <a:lstStyle/>
          <a:p>
            <a:pPr marL="0" indent="0" algn="r" rtl="1">
              <a:buNone/>
            </a:pPr>
            <a:r>
              <a:rPr lang="fa-IR" altLang="en-US" sz="1500" dirty="0">
                <a:solidFill>
                  <a:srgbClr val="475569"/>
                </a:solidFill>
                <a:latin typeface="Vazirmatn" pitchFamily="34" charset="0"/>
                <a:ea typeface="Vazirmatn" pitchFamily="34" charset="-122"/>
                <a:cs typeface="Vazirmatn" pitchFamily="34" charset="-120"/>
              </a:rPr>
              <a:t>هسته به زبان C نوشته شده و هیچ تضمینی برای ایمنی حافظه ندارد</a:t>
            </a:r>
            <a:endParaRPr lang="fa-IR" sz="1500" dirty="0"/>
          </a:p>
        </p:txBody>
      </p:sp>
      <p:sp>
        <p:nvSpPr>
          <p:cNvPr id="4" name="Shape 2"/>
          <p:cNvSpPr/>
          <p:nvPr/>
        </p:nvSpPr>
        <p:spPr>
          <a:xfrm>
            <a:off x="8168335" y="1600200"/>
            <a:ext cx="3474720" cy="1828800"/>
          </a:xfrm>
          <a:prstGeom prst="roundRect">
            <a:avLst>
              <a:gd name="adj" fmla="val 6000"/>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5" name="Text 3"/>
          <p:cNvSpPr txBox="1"/>
          <p:nvPr/>
        </p:nvSpPr>
        <p:spPr>
          <a:xfrm>
            <a:off x="8442655" y="1783080"/>
            <a:ext cx="2926080" cy="822960"/>
          </a:xfrm>
          <a:prstGeom prst="rect">
            <a:avLst/>
          </a:prstGeom>
          <a:noFill/>
          <a:ln/>
        </p:spPr>
        <p:txBody>
          <a:bodyPr wrap="square" lIns="0" tIns="0" rIns="0" bIns="0" rtlCol="0" anchor="ctr"/>
          <a:lstStyle/>
          <a:p>
            <a:pPr marL="0" indent="0" algn="r" rtl="1">
              <a:buNone/>
            </a:pPr>
            <a:r>
              <a:rPr lang="fa-IR" altLang="en-US" sz="4400" b="1" dirty="0">
                <a:solidFill>
                  <a:srgbClr val="E11D48"/>
                </a:solidFill>
                <a:latin typeface="Vazirmatn" pitchFamily="34" charset="0"/>
                <a:ea typeface="Vazirmatn" pitchFamily="34" charset="-122"/>
                <a:cs typeface="Vazirmatn" pitchFamily="34" charset="-120"/>
              </a:rPr>
              <a:t>~۷۰٪</a:t>
            </a:r>
            <a:endParaRPr lang="fa-IR" sz="4400" dirty="0"/>
          </a:p>
        </p:txBody>
      </p:sp>
      <p:sp>
        <p:nvSpPr>
          <p:cNvPr id="6" name="Text 4"/>
          <p:cNvSpPr txBox="1"/>
          <p:nvPr/>
        </p:nvSpPr>
        <p:spPr>
          <a:xfrm>
            <a:off x="8442655" y="2606040"/>
            <a:ext cx="2926080" cy="685800"/>
          </a:xfrm>
          <a:prstGeom prst="rect">
            <a:avLst/>
          </a:prstGeom>
          <a:noFill/>
          <a:ln/>
        </p:spPr>
        <p:txBody>
          <a:bodyPr wrap="square" lIns="0" tIns="0" rIns="0" bIns="0" rtlCol="0" anchor="t"/>
          <a:lstStyle/>
          <a:p>
            <a:pPr marL="0" indent="0" algn="r" rtl="1">
              <a:buNone/>
            </a:pPr>
            <a:r>
              <a:rPr lang="fa-IR" altLang="en-US" sz="1400" dirty="0">
                <a:solidFill>
                  <a:srgbClr val="475569"/>
                </a:solidFill>
                <a:latin typeface="Vazirmatn" pitchFamily="34" charset="0"/>
                <a:ea typeface="Vazirmatn" pitchFamily="34" charset="-122"/>
                <a:cs typeface="Vazirmatn" pitchFamily="34" charset="-120"/>
              </a:rPr>
              <a:t>مشکلات امنیتی کد سطح پایین مربوط به ایمنی حافظه است</a:t>
            </a:r>
            <a:endParaRPr lang="fa-IR" sz="1400" dirty="0"/>
          </a:p>
        </p:txBody>
      </p:sp>
      <p:sp>
        <p:nvSpPr>
          <p:cNvPr id="7" name="Shape 5"/>
          <p:cNvSpPr/>
          <p:nvPr/>
        </p:nvSpPr>
        <p:spPr>
          <a:xfrm>
            <a:off x="4446727" y="1600200"/>
            <a:ext cx="3474720" cy="1828800"/>
          </a:xfrm>
          <a:prstGeom prst="roundRect">
            <a:avLst>
              <a:gd name="adj" fmla="val 6000"/>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8" name="Text 6"/>
          <p:cNvSpPr txBox="1"/>
          <p:nvPr/>
        </p:nvSpPr>
        <p:spPr>
          <a:xfrm>
            <a:off x="4721047" y="1783080"/>
            <a:ext cx="2926080" cy="822960"/>
          </a:xfrm>
          <a:prstGeom prst="rect">
            <a:avLst/>
          </a:prstGeom>
          <a:noFill/>
          <a:ln/>
        </p:spPr>
        <p:txBody>
          <a:bodyPr wrap="square" lIns="0" tIns="0" rIns="0" bIns="0" rtlCol="0" anchor="ctr"/>
          <a:lstStyle/>
          <a:p>
            <a:pPr marL="0" indent="0" algn="r" rtl="1">
              <a:buNone/>
            </a:pPr>
            <a:r>
              <a:rPr lang="fa-IR" altLang="en-US" sz="4400" b="1" dirty="0">
                <a:solidFill>
                  <a:srgbClr val="EA580C"/>
                </a:solidFill>
                <a:latin typeface="Vazirmatn" pitchFamily="34" charset="0"/>
                <a:ea typeface="Vazirmatn" pitchFamily="34" charset="-122"/>
                <a:cs typeface="Vazirmatn" pitchFamily="34" charset="-120"/>
              </a:rPr>
              <a:t>۱۶–۵۹٪</a:t>
            </a:r>
            <a:endParaRPr lang="fa-IR" sz="4400" dirty="0"/>
          </a:p>
        </p:txBody>
      </p:sp>
      <p:sp>
        <p:nvSpPr>
          <p:cNvPr id="9" name="Text 7"/>
          <p:cNvSpPr txBox="1"/>
          <p:nvPr/>
        </p:nvSpPr>
        <p:spPr>
          <a:xfrm>
            <a:off x="4721047" y="2606040"/>
            <a:ext cx="2926080" cy="685800"/>
          </a:xfrm>
          <a:prstGeom prst="rect">
            <a:avLst/>
          </a:prstGeom>
          <a:noFill/>
          <a:ln/>
        </p:spPr>
        <p:txBody>
          <a:bodyPr wrap="square" lIns="0" tIns="0" rIns="0" bIns="0" rtlCol="0" anchor="t"/>
          <a:lstStyle/>
          <a:p>
            <a:pPr marL="0" indent="0" algn="r" rtl="1">
              <a:buNone/>
            </a:pPr>
            <a:r>
              <a:rPr lang="fa-IR" altLang="en-US" sz="1400" dirty="0">
                <a:solidFill>
                  <a:srgbClr val="475569"/>
                </a:solidFill>
                <a:latin typeface="Vazirmatn" pitchFamily="34" charset="0"/>
                <a:ea typeface="Vazirmatn" pitchFamily="34" charset="-122"/>
                <a:cs typeface="Vazirmatn" pitchFamily="34" charset="-120"/>
              </a:rPr>
              <a:t>سهم درایورها از آسیب‌پذیری‌های هسته (۲۰۱۴ تا ۲۰۲۳)</a:t>
            </a:r>
            <a:endParaRPr lang="fa-IR" sz="1400" dirty="0"/>
          </a:p>
        </p:txBody>
      </p:sp>
      <p:sp>
        <p:nvSpPr>
          <p:cNvPr id="10" name="Shape 8"/>
          <p:cNvSpPr/>
          <p:nvPr/>
        </p:nvSpPr>
        <p:spPr>
          <a:xfrm>
            <a:off x="725119" y="1600200"/>
            <a:ext cx="3474720" cy="1828800"/>
          </a:xfrm>
          <a:prstGeom prst="roundRect">
            <a:avLst>
              <a:gd name="adj" fmla="val 6000"/>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11" name="Text 9"/>
          <p:cNvSpPr txBox="1"/>
          <p:nvPr/>
        </p:nvSpPr>
        <p:spPr>
          <a:xfrm>
            <a:off x="999439" y="1783080"/>
            <a:ext cx="2926080" cy="822960"/>
          </a:xfrm>
          <a:prstGeom prst="rect">
            <a:avLst/>
          </a:prstGeom>
          <a:noFill/>
          <a:ln/>
        </p:spPr>
        <p:txBody>
          <a:bodyPr wrap="square" lIns="0" tIns="0" rIns="0" bIns="0" rtlCol="0" anchor="ctr"/>
          <a:lstStyle/>
          <a:p>
            <a:pPr marL="0" indent="0" algn="r" rtl="1">
              <a:buNone/>
            </a:pPr>
            <a:r>
              <a:rPr lang="fa-IR" altLang="en-US" sz="4400" b="1" dirty="0">
                <a:solidFill>
                  <a:srgbClr val="7C3AED"/>
                </a:solidFill>
                <a:latin typeface="Vazirmatn" pitchFamily="34" charset="0"/>
                <a:ea typeface="Vazirmatn" pitchFamily="34" charset="-122"/>
                <a:cs typeface="Vazirmatn" pitchFamily="34" charset="-120"/>
              </a:rPr>
              <a:t>۲۰ از ۲۲</a:t>
            </a:r>
            <a:endParaRPr lang="fa-IR" sz="4400" dirty="0"/>
          </a:p>
        </p:txBody>
      </p:sp>
      <p:sp>
        <p:nvSpPr>
          <p:cNvPr id="12" name="Text 10"/>
          <p:cNvSpPr txBox="1"/>
          <p:nvPr/>
        </p:nvSpPr>
        <p:spPr>
          <a:xfrm>
            <a:off x="999439" y="2606040"/>
            <a:ext cx="2926080" cy="685800"/>
          </a:xfrm>
          <a:prstGeom prst="rect">
            <a:avLst/>
          </a:prstGeom>
          <a:noFill/>
          <a:ln/>
        </p:spPr>
        <p:txBody>
          <a:bodyPr wrap="square" lIns="0" tIns="0" rIns="0" bIns="0" rtlCol="0" anchor="t"/>
          <a:lstStyle/>
          <a:p>
            <a:pPr marL="0" indent="0" algn="r" rtl="1">
              <a:buNone/>
            </a:pPr>
            <a:r>
              <a:rPr lang="fa-IR" altLang="en-US" sz="1400" dirty="0">
                <a:solidFill>
                  <a:srgbClr val="475569"/>
                </a:solidFill>
                <a:latin typeface="Vazirmatn" pitchFamily="34" charset="0"/>
                <a:ea typeface="Vazirmatn" pitchFamily="34" charset="-122"/>
                <a:cs typeface="Vazirmatn" pitchFamily="34" charset="-120"/>
              </a:rPr>
              <a:t>آسیب‌پذیری واقعی که RetSpill به exploit کامل root تبدیل کرد</a:t>
            </a:r>
            <a:endParaRPr lang="fa-IR" sz="1400" dirty="0"/>
          </a:p>
        </p:txBody>
      </p:sp>
      <p:sp>
        <p:nvSpPr>
          <p:cNvPr id="13" name="Text 11"/>
          <p:cNvSpPr txBox="1"/>
          <p:nvPr/>
        </p:nvSpPr>
        <p:spPr>
          <a:xfrm>
            <a:off x="548640" y="3794760"/>
            <a:ext cx="11094415" cy="411480"/>
          </a:xfrm>
          <a:prstGeom prst="rect">
            <a:avLst/>
          </a:prstGeom>
          <a:noFill/>
          <a:ln/>
        </p:spPr>
        <p:txBody>
          <a:bodyPr wrap="square" lIns="0" tIns="0" rIns="0" bIns="0" rtlCol="0" anchor="t"/>
          <a:lstStyle/>
          <a:p>
            <a:pPr marL="0" indent="0" algn="r" rtl="1">
              <a:buNone/>
            </a:pPr>
            <a:r>
              <a:rPr lang="fa-IR" altLang="en-US" sz="1800" b="1" dirty="0">
                <a:solidFill>
                  <a:srgbClr val="0F172A"/>
                </a:solidFill>
                <a:latin typeface="Vazirmatn" pitchFamily="34" charset="0"/>
                <a:ea typeface="Vazirmatn" pitchFamily="34" charset="-122"/>
                <a:cs typeface="Vazirmatn" pitchFamily="34" charset="-120"/>
              </a:rPr>
              <a:t>زنجیره‌ی حمله: هر مقاله یک حلقه از این زنجیره را هدف گرفته است</a:t>
            </a:r>
            <a:endParaRPr lang="fa-IR" sz="1800" dirty="0"/>
          </a:p>
        </p:txBody>
      </p:sp>
      <p:sp>
        <p:nvSpPr>
          <p:cNvPr id="14" name="Shape 12"/>
          <p:cNvSpPr/>
          <p:nvPr/>
        </p:nvSpPr>
        <p:spPr>
          <a:xfrm>
            <a:off x="8351215" y="4389120"/>
            <a:ext cx="3291840" cy="1600200"/>
          </a:xfrm>
          <a:prstGeom prst="roundRect">
            <a:avLst>
              <a:gd name="adj" fmla="val 6857"/>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15" name="Shape 13"/>
          <p:cNvSpPr/>
          <p:nvPr/>
        </p:nvSpPr>
        <p:spPr>
          <a:xfrm>
            <a:off x="10774375" y="4663440"/>
            <a:ext cx="640080" cy="640080"/>
          </a:xfrm>
          <a:prstGeom prst="ellipse">
            <a:avLst/>
          </a:prstGeom>
          <a:solidFill>
            <a:srgbClr val="EA580C"/>
          </a:solidFill>
          <a:ln w="12700">
            <a:solidFill>
              <a:srgbClr val="EA580C"/>
            </a:solidFill>
            <a:prstDash val="solid"/>
          </a:ln>
        </p:spPr>
      </p:sp>
      <p:pic>
        <p:nvPicPr>
          <p:cNvPr id="16" name="Image 0" descr="preencoded.png"/>
          <p:cNvPicPr>
            <a:picLocks noChangeAspect="1"/>
          </p:cNvPicPr>
          <p:nvPr/>
        </p:nvPicPr>
        <p:blipFill>
          <a:blip r:embed="rId3"/>
          <a:stretch>
            <a:fillRect/>
          </a:stretch>
        </p:blipFill>
        <p:spPr>
          <a:xfrm>
            <a:off x="10915193" y="4804258"/>
            <a:ext cx="358445" cy="358445"/>
          </a:xfrm>
          <a:prstGeom prst="rect">
            <a:avLst/>
          </a:prstGeom>
        </p:spPr>
      </p:pic>
      <p:sp>
        <p:nvSpPr>
          <p:cNvPr id="17" name="Text 14"/>
          <p:cNvSpPr txBox="1"/>
          <p:nvPr/>
        </p:nvSpPr>
        <p:spPr>
          <a:xfrm>
            <a:off x="8579815" y="4663440"/>
            <a:ext cx="2057400" cy="457200"/>
          </a:xfrm>
          <a:prstGeom prst="rect">
            <a:avLst/>
          </a:prstGeom>
          <a:noFill/>
          <a:ln/>
        </p:spPr>
        <p:txBody>
          <a:bodyPr wrap="square" lIns="0" tIns="0" rIns="0" bIns="0" rtlCol="0" anchor="t"/>
          <a:lstStyle/>
          <a:p>
            <a:pPr marL="0" indent="0" algn="r" rtl="1">
              <a:buNone/>
            </a:pPr>
            <a:r>
              <a:rPr lang="fa-IR" altLang="en-US" sz="1900" b="1" dirty="0">
                <a:solidFill>
                  <a:srgbClr val="0F172A"/>
                </a:solidFill>
                <a:latin typeface="Vazirmatn" pitchFamily="34" charset="0"/>
                <a:ea typeface="Vazirmatn" pitchFamily="34" charset="-122"/>
                <a:cs typeface="Vazirmatn" pitchFamily="34" charset="-120"/>
              </a:rPr>
              <a:t>باگ حافظه</a:t>
            </a:r>
            <a:endParaRPr lang="fa-IR" sz="1900" dirty="0"/>
          </a:p>
        </p:txBody>
      </p:sp>
      <p:sp>
        <p:nvSpPr>
          <p:cNvPr id="18" name="Text 15"/>
          <p:cNvSpPr txBox="1"/>
          <p:nvPr/>
        </p:nvSpPr>
        <p:spPr>
          <a:xfrm>
            <a:off x="8579815" y="5166360"/>
            <a:ext cx="2057400" cy="640080"/>
          </a:xfrm>
          <a:prstGeom prst="rect">
            <a:avLst/>
          </a:prstGeom>
          <a:noFill/>
          <a:ln/>
        </p:spPr>
        <p:txBody>
          <a:bodyPr wrap="square" lIns="0" tIns="0" rIns="0" bIns="0" rtlCol="0" anchor="t"/>
          <a:lstStyle/>
          <a:p>
            <a:pPr marL="0" indent="0" algn="r" rtl="1">
              <a:buNone/>
            </a:pPr>
            <a:r>
              <a:rPr lang="fa-IR" altLang="en-US" sz="1300" dirty="0">
                <a:solidFill>
                  <a:srgbClr val="475569"/>
                </a:solidFill>
                <a:latin typeface="Vazirmatn" pitchFamily="34" charset="0"/>
                <a:ea typeface="Vazirmatn" pitchFamily="34" charset="-122"/>
                <a:cs typeface="Vazirmatn" pitchFamily="34" charset="-120"/>
              </a:rPr>
              <a:t>UAF · سرریز · Double-Free</a:t>
            </a:r>
            <a:endParaRPr lang="fa-IR" sz="1300" dirty="0"/>
          </a:p>
        </p:txBody>
      </p:sp>
      <p:sp>
        <p:nvSpPr>
          <p:cNvPr id="19" name="Text 16"/>
          <p:cNvSpPr txBox="1"/>
          <p:nvPr/>
        </p:nvSpPr>
        <p:spPr>
          <a:xfrm>
            <a:off x="7848295" y="4892040"/>
            <a:ext cx="457200" cy="548640"/>
          </a:xfrm>
          <a:prstGeom prst="rect">
            <a:avLst/>
          </a:prstGeom>
          <a:noFill/>
          <a:ln/>
        </p:spPr>
        <p:txBody>
          <a:bodyPr wrap="square" lIns="0" tIns="0" rIns="0" bIns="0" rtlCol="0" anchor="t"/>
          <a:lstStyle/>
          <a:p>
            <a:pPr marL="0" indent="0" algn="ctr">
              <a:buNone/>
            </a:pPr>
            <a:r>
              <a:rPr lang="fa-IR" altLang="en-US" sz="2800" b="1" dirty="0">
                <a:solidFill>
                  <a:srgbClr val="94A3B8"/>
                </a:solidFill>
                <a:latin typeface="Vazirmatn" pitchFamily="34" charset="0"/>
                <a:ea typeface="Vazirmatn" pitchFamily="34" charset="-122"/>
                <a:cs typeface="Vazirmatn" pitchFamily="34" charset="-120"/>
              </a:rPr>
              <a:t>←</a:t>
            </a:r>
            <a:endParaRPr lang="fa-IR" sz="2800" dirty="0"/>
          </a:p>
        </p:txBody>
      </p:sp>
      <p:sp>
        <p:nvSpPr>
          <p:cNvPr id="20" name="Shape 17"/>
          <p:cNvSpPr/>
          <p:nvPr/>
        </p:nvSpPr>
        <p:spPr>
          <a:xfrm>
            <a:off x="4510735" y="4389120"/>
            <a:ext cx="3291840" cy="1600200"/>
          </a:xfrm>
          <a:prstGeom prst="roundRect">
            <a:avLst>
              <a:gd name="adj" fmla="val 6857"/>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21" name="Shape 18"/>
          <p:cNvSpPr/>
          <p:nvPr/>
        </p:nvSpPr>
        <p:spPr>
          <a:xfrm>
            <a:off x="6933895" y="4663440"/>
            <a:ext cx="640080" cy="640080"/>
          </a:xfrm>
          <a:prstGeom prst="ellipse">
            <a:avLst/>
          </a:prstGeom>
          <a:solidFill>
            <a:srgbClr val="0D9488"/>
          </a:solidFill>
          <a:ln w="12700">
            <a:solidFill>
              <a:srgbClr val="0D9488"/>
            </a:solidFill>
            <a:prstDash val="solid"/>
          </a:ln>
        </p:spPr>
      </p:sp>
      <p:pic>
        <p:nvPicPr>
          <p:cNvPr id="22" name="Image 1" descr="preencoded.png"/>
          <p:cNvPicPr>
            <a:picLocks noChangeAspect="1"/>
          </p:cNvPicPr>
          <p:nvPr/>
        </p:nvPicPr>
        <p:blipFill>
          <a:blip r:embed="rId4"/>
          <a:stretch>
            <a:fillRect/>
          </a:stretch>
        </p:blipFill>
        <p:spPr>
          <a:xfrm>
            <a:off x="7074713" y="4804258"/>
            <a:ext cx="358445" cy="358445"/>
          </a:xfrm>
          <a:prstGeom prst="rect">
            <a:avLst/>
          </a:prstGeom>
        </p:spPr>
      </p:pic>
      <p:sp>
        <p:nvSpPr>
          <p:cNvPr id="23" name="Text 19"/>
          <p:cNvSpPr txBox="1"/>
          <p:nvPr/>
        </p:nvSpPr>
        <p:spPr>
          <a:xfrm>
            <a:off x="4739335" y="4663440"/>
            <a:ext cx="2057400" cy="457200"/>
          </a:xfrm>
          <a:prstGeom prst="rect">
            <a:avLst/>
          </a:prstGeom>
          <a:noFill/>
          <a:ln/>
        </p:spPr>
        <p:txBody>
          <a:bodyPr wrap="square" lIns="0" tIns="0" rIns="0" bIns="0" rtlCol="0" anchor="t"/>
          <a:lstStyle/>
          <a:p>
            <a:pPr marL="0" indent="0" algn="r" rtl="1">
              <a:buNone/>
            </a:pPr>
            <a:r>
              <a:rPr lang="fa-IR" altLang="en-US" sz="1900" b="1" dirty="0">
                <a:solidFill>
                  <a:srgbClr val="0F172A"/>
                </a:solidFill>
                <a:latin typeface="Vazirmatn" pitchFamily="34" charset="0"/>
                <a:ea typeface="Vazirmatn" pitchFamily="34" charset="-122"/>
                <a:cs typeface="Vazirmatn" pitchFamily="34" charset="-120"/>
              </a:rPr>
              <a:t>Primitive</a:t>
            </a:r>
            <a:endParaRPr lang="fa-IR" sz="1900" dirty="0"/>
          </a:p>
        </p:txBody>
      </p:sp>
      <p:sp>
        <p:nvSpPr>
          <p:cNvPr id="24" name="Text 20"/>
          <p:cNvSpPr txBox="1"/>
          <p:nvPr/>
        </p:nvSpPr>
        <p:spPr>
          <a:xfrm>
            <a:off x="4739335" y="5166360"/>
            <a:ext cx="2057400" cy="640080"/>
          </a:xfrm>
          <a:prstGeom prst="rect">
            <a:avLst/>
          </a:prstGeom>
          <a:noFill/>
          <a:ln/>
        </p:spPr>
        <p:txBody>
          <a:bodyPr wrap="square" lIns="0" tIns="0" rIns="0" bIns="0" rtlCol="0" anchor="t"/>
          <a:lstStyle/>
          <a:p>
            <a:pPr marL="0" indent="0" algn="r" rtl="1">
              <a:buNone/>
            </a:pPr>
            <a:r>
              <a:rPr lang="fa-IR" altLang="en-US" sz="1300" dirty="0">
                <a:solidFill>
                  <a:srgbClr val="475569"/>
                </a:solidFill>
                <a:latin typeface="Vazirmatn" pitchFamily="34" charset="0"/>
                <a:ea typeface="Vazirmatn" pitchFamily="34" charset="-122"/>
                <a:cs typeface="Vazirmatn" pitchFamily="34" charset="-120"/>
              </a:rPr>
              <a:t>خواندن/نوشتن دلخواه · ربودن جریان اجرا</a:t>
            </a:r>
            <a:endParaRPr lang="fa-IR" sz="1300" dirty="0"/>
          </a:p>
        </p:txBody>
      </p:sp>
      <p:sp>
        <p:nvSpPr>
          <p:cNvPr id="25" name="Text 21"/>
          <p:cNvSpPr txBox="1"/>
          <p:nvPr/>
        </p:nvSpPr>
        <p:spPr>
          <a:xfrm>
            <a:off x="4007815" y="4892040"/>
            <a:ext cx="457200" cy="548640"/>
          </a:xfrm>
          <a:prstGeom prst="rect">
            <a:avLst/>
          </a:prstGeom>
          <a:noFill/>
          <a:ln/>
        </p:spPr>
        <p:txBody>
          <a:bodyPr wrap="square" lIns="0" tIns="0" rIns="0" bIns="0" rtlCol="0" anchor="t"/>
          <a:lstStyle/>
          <a:p>
            <a:pPr marL="0" indent="0" algn="ctr">
              <a:buNone/>
            </a:pPr>
            <a:r>
              <a:rPr lang="fa-IR" altLang="en-US" sz="2800" b="1" dirty="0">
                <a:solidFill>
                  <a:srgbClr val="94A3B8"/>
                </a:solidFill>
                <a:latin typeface="Vazirmatn" pitchFamily="34" charset="0"/>
                <a:ea typeface="Vazirmatn" pitchFamily="34" charset="-122"/>
                <a:cs typeface="Vazirmatn" pitchFamily="34" charset="-120"/>
              </a:rPr>
              <a:t>←</a:t>
            </a:r>
            <a:endParaRPr lang="fa-IR" sz="2800" dirty="0"/>
          </a:p>
        </p:txBody>
      </p:sp>
      <p:sp>
        <p:nvSpPr>
          <p:cNvPr id="26" name="Shape 22"/>
          <p:cNvSpPr/>
          <p:nvPr/>
        </p:nvSpPr>
        <p:spPr>
          <a:xfrm>
            <a:off x="670255" y="4389120"/>
            <a:ext cx="3291840" cy="1600200"/>
          </a:xfrm>
          <a:prstGeom prst="roundRect">
            <a:avLst>
              <a:gd name="adj" fmla="val 6857"/>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27" name="Shape 23"/>
          <p:cNvSpPr/>
          <p:nvPr/>
        </p:nvSpPr>
        <p:spPr>
          <a:xfrm>
            <a:off x="3093415" y="4663440"/>
            <a:ext cx="640080" cy="640080"/>
          </a:xfrm>
          <a:prstGeom prst="ellipse">
            <a:avLst/>
          </a:prstGeom>
          <a:solidFill>
            <a:srgbClr val="E11D48"/>
          </a:solidFill>
          <a:ln w="12700">
            <a:solidFill>
              <a:srgbClr val="E11D48"/>
            </a:solidFill>
            <a:prstDash val="solid"/>
          </a:ln>
        </p:spPr>
      </p:sp>
      <p:pic>
        <p:nvPicPr>
          <p:cNvPr id="28" name="Image 2" descr="preencoded.png"/>
          <p:cNvPicPr>
            <a:picLocks noChangeAspect="1"/>
          </p:cNvPicPr>
          <p:nvPr/>
        </p:nvPicPr>
        <p:blipFill>
          <a:blip r:embed="rId5"/>
          <a:stretch>
            <a:fillRect/>
          </a:stretch>
        </p:blipFill>
        <p:spPr>
          <a:xfrm>
            <a:off x="3234233" y="4804258"/>
            <a:ext cx="358445" cy="358445"/>
          </a:xfrm>
          <a:prstGeom prst="rect">
            <a:avLst/>
          </a:prstGeom>
        </p:spPr>
      </p:pic>
      <p:sp>
        <p:nvSpPr>
          <p:cNvPr id="29" name="Text 24"/>
          <p:cNvSpPr txBox="1"/>
          <p:nvPr/>
        </p:nvSpPr>
        <p:spPr>
          <a:xfrm>
            <a:off x="898855" y="4663440"/>
            <a:ext cx="2057400" cy="457200"/>
          </a:xfrm>
          <a:prstGeom prst="rect">
            <a:avLst/>
          </a:prstGeom>
          <a:noFill/>
          <a:ln/>
        </p:spPr>
        <p:txBody>
          <a:bodyPr wrap="square" lIns="0" tIns="0" rIns="0" bIns="0" rtlCol="0" anchor="t"/>
          <a:lstStyle/>
          <a:p>
            <a:pPr marL="0" indent="0" algn="r" rtl="1">
              <a:buNone/>
            </a:pPr>
            <a:r>
              <a:rPr lang="fa-IR" altLang="en-US" sz="1900" b="1" dirty="0">
                <a:solidFill>
                  <a:srgbClr val="0F172A"/>
                </a:solidFill>
                <a:latin typeface="Vazirmatn" pitchFamily="34" charset="0"/>
                <a:ea typeface="Vazirmatn" pitchFamily="34" charset="-122"/>
                <a:cs typeface="Vazirmatn" pitchFamily="34" charset="-120"/>
              </a:rPr>
              <a:t>ارتقای دسترسی</a:t>
            </a:r>
            <a:endParaRPr lang="fa-IR" sz="1900" dirty="0"/>
          </a:p>
        </p:txBody>
      </p:sp>
      <p:sp>
        <p:nvSpPr>
          <p:cNvPr id="30" name="Text 25"/>
          <p:cNvSpPr txBox="1"/>
          <p:nvPr/>
        </p:nvSpPr>
        <p:spPr>
          <a:xfrm>
            <a:off x="898855" y="5166360"/>
            <a:ext cx="2057400" cy="640080"/>
          </a:xfrm>
          <a:prstGeom prst="rect">
            <a:avLst/>
          </a:prstGeom>
          <a:noFill/>
          <a:ln/>
        </p:spPr>
        <p:txBody>
          <a:bodyPr wrap="square" lIns="0" tIns="0" rIns="0" bIns="0" rtlCol="0" anchor="t"/>
          <a:lstStyle/>
          <a:p>
            <a:pPr marL="0" indent="0" algn="r" rtl="1">
              <a:buNone/>
            </a:pPr>
            <a:r>
              <a:rPr lang="fa-IR" altLang="en-US" sz="1300" dirty="0">
                <a:solidFill>
                  <a:srgbClr val="475569"/>
                </a:solidFill>
                <a:latin typeface="Vazirmatn" pitchFamily="34" charset="0"/>
                <a:ea typeface="Vazirmatn" pitchFamily="34" charset="-122"/>
                <a:cs typeface="Vazirmatn" pitchFamily="34" charset="-120"/>
              </a:rPr>
              <a:t>گرفتن root و کنترل کامل سیستم</a:t>
            </a:r>
            <a:endParaRPr lang="fa-IR" sz="1300" dirty="0"/>
          </a:p>
        </p:txBody>
      </p:sp>
      <p:sp>
        <p:nvSpPr>
          <p:cNvPr id="31"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4A3B8"/>
                </a:solidFill>
                <a:latin typeface="Vazirmatn"/>
                <a:ea typeface="Vazirmatn"/>
                <a:cs typeface="Vazirmatn"/>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11094415" cy="640080"/>
          </a:xfrm>
          <a:prstGeom prst="rect">
            <a:avLst/>
          </a:prstGeom>
          <a:noFill/>
          <a:ln/>
        </p:spPr>
        <p:txBody>
          <a:bodyPr wrap="square" lIns="0" tIns="0" rIns="0" bIns="0" rtlCol="0" anchor="ctr"/>
          <a:lstStyle/>
          <a:p>
            <a:pPr marL="0" indent="0" algn="r" rtl="1">
              <a:buNone/>
            </a:pPr>
            <a:r>
              <a:rPr lang="fa-IR" altLang="en-US" sz="3000" b="1" dirty="0">
                <a:solidFill>
                  <a:srgbClr val="0F172A"/>
                </a:solidFill>
                <a:latin typeface="Vazirmatn" pitchFamily="34" charset="0"/>
                <a:ea typeface="Vazirmatn" pitchFamily="34" charset="-122"/>
                <a:cs typeface="Vazirmatn" pitchFamily="34" charset="-120"/>
              </a:rPr>
              <a:t>نقشه‌ی مرور: پنج مقاله در چهار دسته</a:t>
            </a:r>
            <a:endParaRPr lang="fa-IR" sz="3000" dirty="0"/>
          </a:p>
        </p:txBody>
      </p:sp>
      <p:sp>
        <p:nvSpPr>
          <p:cNvPr id="3" name="Text 1"/>
          <p:cNvSpPr txBox="1"/>
          <p:nvPr/>
        </p:nvSpPr>
        <p:spPr>
          <a:xfrm>
            <a:off x="548640" y="969264"/>
            <a:ext cx="8168335" cy="365760"/>
          </a:xfrm>
          <a:prstGeom prst="rect">
            <a:avLst/>
          </a:prstGeom>
          <a:noFill/>
          <a:ln/>
        </p:spPr>
        <p:txBody>
          <a:bodyPr wrap="square" lIns="0" tIns="0" rIns="0" bIns="0" rtlCol="0" anchor="ctr"/>
          <a:lstStyle/>
          <a:p>
            <a:pPr marL="0" indent="0" algn="r" rtl="1">
              <a:buNone/>
            </a:pPr>
            <a:r>
              <a:rPr lang="fa-IR" altLang="en-US" sz="1500" dirty="0">
                <a:solidFill>
                  <a:srgbClr val="475569"/>
                </a:solidFill>
                <a:latin typeface="Vazirmatn" pitchFamily="34" charset="0"/>
                <a:ea typeface="Vazirmatn" pitchFamily="34" charset="-122"/>
                <a:cs typeface="Vazirmatn" pitchFamily="34" charset="-120"/>
              </a:rPr>
              <a:t>از مدل تهدید تا سه خانواده‌ی دفاعی</a:t>
            </a:r>
            <a:endParaRPr lang="fa-IR" sz="1500" dirty="0"/>
          </a:p>
        </p:txBody>
      </p:sp>
      <p:sp>
        <p:nvSpPr>
          <p:cNvPr id="4" name="Shape 2"/>
          <p:cNvSpPr/>
          <p:nvPr/>
        </p:nvSpPr>
        <p:spPr>
          <a:xfrm>
            <a:off x="9040901" y="1554480"/>
            <a:ext cx="2602154" cy="4526280"/>
          </a:xfrm>
          <a:prstGeom prst="roundRect">
            <a:avLst>
              <a:gd name="adj" fmla="val 4217"/>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5" name="Shape 3"/>
          <p:cNvSpPr/>
          <p:nvPr/>
        </p:nvSpPr>
        <p:spPr>
          <a:xfrm>
            <a:off x="9040901" y="1554480"/>
            <a:ext cx="2602154" cy="1234440"/>
          </a:xfrm>
          <a:prstGeom prst="roundRect">
            <a:avLst>
              <a:gd name="adj" fmla="val 8889"/>
            </a:avLst>
          </a:prstGeom>
          <a:solidFill>
            <a:srgbClr val="FFE4E6"/>
          </a:solidFill>
          <a:ln w="12700">
            <a:solidFill>
              <a:srgbClr val="FFE4E6"/>
            </a:solidFill>
            <a:prstDash val="solid"/>
          </a:ln>
        </p:spPr>
      </p:sp>
      <p:sp>
        <p:nvSpPr>
          <p:cNvPr id="6" name="Shape 4"/>
          <p:cNvSpPr/>
          <p:nvPr/>
        </p:nvSpPr>
        <p:spPr>
          <a:xfrm>
            <a:off x="10021938" y="1719072"/>
            <a:ext cx="640080" cy="640080"/>
          </a:xfrm>
          <a:prstGeom prst="ellipse">
            <a:avLst/>
          </a:prstGeom>
          <a:solidFill>
            <a:srgbClr val="E11D48"/>
          </a:solidFill>
          <a:ln w="12700">
            <a:solidFill>
              <a:srgbClr val="E11D48"/>
            </a:solidFill>
            <a:prstDash val="solid"/>
          </a:ln>
        </p:spPr>
      </p:sp>
      <p:pic>
        <p:nvPicPr>
          <p:cNvPr id="7" name="Image 0" descr="preencoded.png"/>
          <p:cNvPicPr>
            <a:picLocks noChangeAspect="1"/>
          </p:cNvPicPr>
          <p:nvPr/>
        </p:nvPicPr>
        <p:blipFill>
          <a:blip r:embed="rId3"/>
          <a:stretch>
            <a:fillRect/>
          </a:stretch>
        </p:blipFill>
        <p:spPr>
          <a:xfrm>
            <a:off x="10162756" y="1859890"/>
            <a:ext cx="358445" cy="358445"/>
          </a:xfrm>
          <a:prstGeom prst="rect">
            <a:avLst/>
          </a:prstGeom>
        </p:spPr>
      </p:pic>
      <p:sp>
        <p:nvSpPr>
          <p:cNvPr id="8" name="Text 5"/>
          <p:cNvSpPr txBox="1"/>
          <p:nvPr/>
        </p:nvSpPr>
        <p:spPr>
          <a:xfrm>
            <a:off x="9040901" y="2377440"/>
            <a:ext cx="2602154" cy="365760"/>
          </a:xfrm>
          <a:prstGeom prst="rect">
            <a:avLst/>
          </a:prstGeom>
          <a:noFill/>
          <a:ln/>
        </p:spPr>
        <p:txBody>
          <a:bodyPr wrap="square" lIns="0" tIns="0" rIns="0" bIns="0" rtlCol="0" anchor="t"/>
          <a:lstStyle/>
          <a:p>
            <a:pPr marL="0" indent="0" algn="ctr" rtl="1">
              <a:buNone/>
            </a:pPr>
            <a:r>
              <a:rPr lang="fa-IR" altLang="en-US" sz="1600" b="1" dirty="0">
                <a:solidFill>
                  <a:srgbClr val="E11D48"/>
                </a:solidFill>
                <a:latin typeface="Vazirmatn" pitchFamily="34" charset="0"/>
                <a:ea typeface="Vazirmatn" pitchFamily="34" charset="-122"/>
                <a:cs typeface="Vazirmatn" pitchFamily="34" charset="-120"/>
              </a:rPr>
              <a:t>حمله / مدل تهدید</a:t>
            </a:r>
            <a:endParaRPr lang="fa-IR" sz="1600" dirty="0"/>
          </a:p>
        </p:txBody>
      </p:sp>
      <p:sp>
        <p:nvSpPr>
          <p:cNvPr id="9" name="Text 6"/>
          <p:cNvSpPr txBox="1"/>
          <p:nvPr/>
        </p:nvSpPr>
        <p:spPr>
          <a:xfrm>
            <a:off x="9223781" y="3017520"/>
            <a:ext cx="2236394" cy="411480"/>
          </a:xfrm>
          <a:prstGeom prst="rect">
            <a:avLst/>
          </a:prstGeom>
          <a:noFill/>
          <a:ln/>
        </p:spPr>
        <p:txBody>
          <a:bodyPr wrap="square" lIns="0" tIns="0" rIns="0" bIns="0" rtlCol="0" anchor="t"/>
          <a:lstStyle/>
          <a:p>
            <a:pPr marL="0" indent="0" algn="r">
              <a:buNone/>
            </a:pPr>
            <a:r>
              <a:rPr lang="en-US" altLang="en-US" sz="1900" b="1" dirty="0">
                <a:solidFill>
                  <a:srgbClr val="0F172A"/>
                </a:solidFill>
                <a:latin typeface="Vazirmatn" pitchFamily="34" charset="0"/>
                <a:ea typeface="Vazirmatn" pitchFamily="34" charset="-122"/>
                <a:cs typeface="Vazirmatn" pitchFamily="34" charset="-120"/>
              </a:rPr>
              <a:t>RetSpill</a:t>
            </a:r>
            <a:endParaRPr lang="en-US" sz="1900" dirty="0"/>
          </a:p>
        </p:txBody>
      </p:sp>
      <p:sp>
        <p:nvSpPr>
          <p:cNvPr id="10" name="Text 7"/>
          <p:cNvSpPr txBox="1"/>
          <p:nvPr/>
        </p:nvSpPr>
        <p:spPr>
          <a:xfrm>
            <a:off x="9223781" y="3429000"/>
            <a:ext cx="2236394" cy="274320"/>
          </a:xfrm>
          <a:prstGeom prst="rect">
            <a:avLst/>
          </a:prstGeom>
          <a:noFill/>
          <a:ln/>
        </p:spPr>
        <p:txBody>
          <a:bodyPr wrap="square" lIns="0" tIns="0" rIns="0" bIns="0" rtlCol="0" anchor="t"/>
          <a:lstStyle/>
          <a:p>
            <a:pPr marL="0" indent="0" algn="r">
              <a:buNone/>
            </a:pPr>
            <a:r>
              <a:rPr lang="en-US" altLang="en-US" sz="1100" b="1" dirty="0">
                <a:solidFill>
                  <a:srgbClr val="E11D48"/>
                </a:solidFill>
                <a:latin typeface="Vazirmatn" pitchFamily="34" charset="0"/>
                <a:ea typeface="Vazirmatn" pitchFamily="34" charset="-122"/>
                <a:cs typeface="Vazirmatn" pitchFamily="34" charset="-120"/>
              </a:rPr>
              <a:t>CCS 2023</a:t>
            </a:r>
            <a:endParaRPr lang="en-US" sz="1100" dirty="0"/>
          </a:p>
        </p:txBody>
      </p:sp>
      <p:sp>
        <p:nvSpPr>
          <p:cNvPr id="11" name="Text 8"/>
          <p:cNvSpPr txBox="1"/>
          <p:nvPr/>
        </p:nvSpPr>
        <p:spPr>
          <a:xfrm>
            <a:off x="9223781" y="3749040"/>
            <a:ext cx="2236394" cy="548640"/>
          </a:xfrm>
          <a:prstGeom prst="rect">
            <a:avLst/>
          </a:prstGeom>
          <a:noFill/>
          <a:ln/>
        </p:spPr>
        <p:txBody>
          <a:bodyPr wrap="square" lIns="0" tIns="0" rIns="0" bIns="0" rtlCol="0" anchor="t"/>
          <a:lstStyle/>
          <a:p>
            <a:pPr marL="0" indent="0" algn="r" rtl="1">
              <a:buNone/>
            </a:pPr>
            <a:r>
              <a:rPr lang="fa-IR" altLang="en-US" sz="1300" dirty="0">
                <a:solidFill>
                  <a:srgbClr val="475569"/>
                </a:solidFill>
                <a:latin typeface="Vazirmatn" pitchFamily="34" charset="0"/>
                <a:ea typeface="Vazirmatn" pitchFamily="34" charset="-122"/>
                <a:cs typeface="Vazirmatn" pitchFamily="34" charset="-120"/>
              </a:rPr>
              <a:t>داده‌ی کاربر روی پشته‌ی هسته برای ROP</a:t>
            </a:r>
            <a:endParaRPr lang="fa-IR" sz="1300" dirty="0"/>
          </a:p>
        </p:txBody>
      </p:sp>
      <p:sp>
        <p:nvSpPr>
          <p:cNvPr id="12" name="Shape 9"/>
          <p:cNvSpPr/>
          <p:nvPr/>
        </p:nvSpPr>
        <p:spPr>
          <a:xfrm>
            <a:off x="6210148" y="1554480"/>
            <a:ext cx="2602154" cy="4526280"/>
          </a:xfrm>
          <a:prstGeom prst="roundRect">
            <a:avLst>
              <a:gd name="adj" fmla="val 4217"/>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13" name="Shape 10"/>
          <p:cNvSpPr/>
          <p:nvPr/>
        </p:nvSpPr>
        <p:spPr>
          <a:xfrm>
            <a:off x="6210148" y="1554480"/>
            <a:ext cx="2602154" cy="1234440"/>
          </a:xfrm>
          <a:prstGeom prst="roundRect">
            <a:avLst>
              <a:gd name="adj" fmla="val 8889"/>
            </a:avLst>
          </a:prstGeom>
          <a:solidFill>
            <a:srgbClr val="EDE9FE"/>
          </a:solidFill>
          <a:ln w="12700">
            <a:solidFill>
              <a:srgbClr val="EDE9FE"/>
            </a:solidFill>
            <a:prstDash val="solid"/>
          </a:ln>
        </p:spPr>
      </p:sp>
      <p:sp>
        <p:nvSpPr>
          <p:cNvPr id="14" name="Shape 11"/>
          <p:cNvSpPr/>
          <p:nvPr/>
        </p:nvSpPr>
        <p:spPr>
          <a:xfrm>
            <a:off x="7191184" y="1719072"/>
            <a:ext cx="640080" cy="640080"/>
          </a:xfrm>
          <a:prstGeom prst="ellipse">
            <a:avLst/>
          </a:prstGeom>
          <a:solidFill>
            <a:srgbClr val="7C3AED"/>
          </a:solidFill>
          <a:ln w="12700">
            <a:solidFill>
              <a:srgbClr val="7C3AED"/>
            </a:solidFill>
            <a:prstDash val="solid"/>
          </a:ln>
        </p:spPr>
      </p:sp>
      <p:pic>
        <p:nvPicPr>
          <p:cNvPr id="15" name="Image 1" descr="preencoded.png"/>
          <p:cNvPicPr>
            <a:picLocks noChangeAspect="1"/>
          </p:cNvPicPr>
          <p:nvPr/>
        </p:nvPicPr>
        <p:blipFill>
          <a:blip r:embed="rId4"/>
          <a:stretch>
            <a:fillRect/>
          </a:stretch>
        </p:blipFill>
        <p:spPr>
          <a:xfrm>
            <a:off x="7332002" y="1859890"/>
            <a:ext cx="358445" cy="358445"/>
          </a:xfrm>
          <a:prstGeom prst="rect">
            <a:avLst/>
          </a:prstGeom>
        </p:spPr>
      </p:pic>
      <p:sp>
        <p:nvSpPr>
          <p:cNvPr id="16" name="Text 12"/>
          <p:cNvSpPr txBox="1"/>
          <p:nvPr/>
        </p:nvSpPr>
        <p:spPr>
          <a:xfrm>
            <a:off x="6210148" y="2377440"/>
            <a:ext cx="2602154" cy="365760"/>
          </a:xfrm>
          <a:prstGeom prst="rect">
            <a:avLst/>
          </a:prstGeom>
          <a:noFill/>
          <a:ln/>
        </p:spPr>
        <p:txBody>
          <a:bodyPr wrap="square" lIns="0" tIns="0" rIns="0" bIns="0" rtlCol="0" anchor="t"/>
          <a:lstStyle/>
          <a:p>
            <a:pPr marL="0" indent="0" algn="ctr" rtl="1">
              <a:buNone/>
            </a:pPr>
            <a:r>
              <a:rPr lang="fa-IR" altLang="en-US" sz="1600" b="1" dirty="0">
                <a:solidFill>
                  <a:srgbClr val="7C3AED"/>
                </a:solidFill>
                <a:latin typeface="Vazirmatn" pitchFamily="34" charset="0"/>
                <a:ea typeface="Vazirmatn" pitchFamily="34" charset="-122"/>
                <a:cs typeface="Vazirmatn" pitchFamily="34" charset="-120"/>
              </a:rPr>
              <a:t>سخت‌افزاری (MPK)</a:t>
            </a:r>
            <a:endParaRPr lang="fa-IR" sz="1600" dirty="0"/>
          </a:p>
        </p:txBody>
      </p:sp>
      <p:sp>
        <p:nvSpPr>
          <p:cNvPr id="17" name="Text 13"/>
          <p:cNvSpPr txBox="1"/>
          <p:nvPr/>
        </p:nvSpPr>
        <p:spPr>
          <a:xfrm>
            <a:off x="6393028" y="3017520"/>
            <a:ext cx="2236394" cy="411480"/>
          </a:xfrm>
          <a:prstGeom prst="rect">
            <a:avLst/>
          </a:prstGeom>
          <a:noFill/>
          <a:ln/>
        </p:spPr>
        <p:txBody>
          <a:bodyPr wrap="square" lIns="0" tIns="0" rIns="0" bIns="0" rtlCol="0" anchor="t"/>
          <a:lstStyle/>
          <a:p>
            <a:pPr marL="0" indent="0" algn="r">
              <a:buNone/>
            </a:pPr>
            <a:r>
              <a:rPr lang="en-US" altLang="en-US" sz="1900" b="1" dirty="0">
                <a:solidFill>
                  <a:srgbClr val="0F172A"/>
                </a:solidFill>
                <a:latin typeface="Vazirmatn" pitchFamily="34" charset="0"/>
                <a:ea typeface="Vazirmatn" pitchFamily="34" charset="-122"/>
                <a:cs typeface="Vazirmatn" pitchFamily="34" charset="-120"/>
              </a:rPr>
              <a:t>Safeslab</a:t>
            </a:r>
            <a:endParaRPr lang="en-US" sz="1900" dirty="0"/>
          </a:p>
        </p:txBody>
      </p:sp>
      <p:sp>
        <p:nvSpPr>
          <p:cNvPr id="18" name="Text 14"/>
          <p:cNvSpPr txBox="1"/>
          <p:nvPr/>
        </p:nvSpPr>
        <p:spPr>
          <a:xfrm>
            <a:off x="6393028" y="3429000"/>
            <a:ext cx="2236394" cy="274320"/>
          </a:xfrm>
          <a:prstGeom prst="rect">
            <a:avLst/>
          </a:prstGeom>
          <a:noFill/>
          <a:ln/>
        </p:spPr>
        <p:txBody>
          <a:bodyPr wrap="square" lIns="0" tIns="0" rIns="0" bIns="0" rtlCol="0" anchor="t"/>
          <a:lstStyle/>
          <a:p>
            <a:pPr marL="0" indent="0" algn="r">
              <a:buNone/>
            </a:pPr>
            <a:r>
              <a:rPr lang="en-US" altLang="en-US" sz="1100" b="1" dirty="0">
                <a:solidFill>
                  <a:srgbClr val="7C3AED"/>
                </a:solidFill>
                <a:latin typeface="Vazirmatn" pitchFamily="34" charset="0"/>
                <a:ea typeface="Vazirmatn" pitchFamily="34" charset="-122"/>
                <a:cs typeface="Vazirmatn" pitchFamily="34" charset="-120"/>
              </a:rPr>
              <a:t>CCS 2024</a:t>
            </a:r>
            <a:endParaRPr lang="en-US" sz="1100" dirty="0"/>
          </a:p>
        </p:txBody>
      </p:sp>
      <p:sp>
        <p:nvSpPr>
          <p:cNvPr id="19" name="Text 15"/>
          <p:cNvSpPr txBox="1"/>
          <p:nvPr/>
        </p:nvSpPr>
        <p:spPr>
          <a:xfrm>
            <a:off x="6393028" y="3749040"/>
            <a:ext cx="2236394" cy="548640"/>
          </a:xfrm>
          <a:prstGeom prst="rect">
            <a:avLst/>
          </a:prstGeom>
          <a:noFill/>
          <a:ln/>
        </p:spPr>
        <p:txBody>
          <a:bodyPr wrap="square" lIns="0" tIns="0" rIns="0" bIns="0" rtlCol="0" anchor="t"/>
          <a:lstStyle/>
          <a:p>
            <a:pPr marL="0" indent="0" algn="r" rtl="1">
              <a:buNone/>
            </a:pPr>
            <a:r>
              <a:rPr lang="fa-IR" altLang="en-US" sz="1300" dirty="0">
                <a:solidFill>
                  <a:srgbClr val="475569"/>
                </a:solidFill>
                <a:latin typeface="Vazirmatn" pitchFamily="34" charset="0"/>
                <a:ea typeface="Vazirmatn" pitchFamily="34" charset="-122"/>
                <a:cs typeface="Vazirmatn" pitchFamily="34" charset="-120"/>
              </a:rPr>
              <a:t>نام مستعار + کلید حفاظتی علیه UAF</a:t>
            </a:r>
            <a:endParaRPr lang="fa-IR" sz="1300" dirty="0"/>
          </a:p>
        </p:txBody>
      </p:sp>
      <p:sp>
        <p:nvSpPr>
          <p:cNvPr id="20" name="Text 16"/>
          <p:cNvSpPr txBox="1"/>
          <p:nvPr/>
        </p:nvSpPr>
        <p:spPr>
          <a:xfrm>
            <a:off x="6393028" y="4434840"/>
            <a:ext cx="2236394" cy="411480"/>
          </a:xfrm>
          <a:prstGeom prst="rect">
            <a:avLst/>
          </a:prstGeom>
          <a:noFill/>
          <a:ln/>
        </p:spPr>
        <p:txBody>
          <a:bodyPr wrap="square" lIns="0" tIns="0" rIns="0" bIns="0" rtlCol="0" anchor="t"/>
          <a:lstStyle/>
          <a:p>
            <a:pPr marL="0" indent="0" algn="r">
              <a:buNone/>
            </a:pPr>
            <a:r>
              <a:rPr lang="en-US" altLang="en-US" sz="1900" b="1" dirty="0">
                <a:solidFill>
                  <a:srgbClr val="0F172A"/>
                </a:solidFill>
                <a:latin typeface="Vazirmatn" pitchFamily="34" charset="0"/>
                <a:ea typeface="Vazirmatn" pitchFamily="34" charset="-122"/>
                <a:cs typeface="Vazirmatn" pitchFamily="34" charset="-120"/>
              </a:rPr>
              <a:t>μSwitch</a:t>
            </a:r>
            <a:endParaRPr lang="en-US" sz="1900" dirty="0"/>
          </a:p>
        </p:txBody>
      </p:sp>
      <p:sp>
        <p:nvSpPr>
          <p:cNvPr id="21" name="Text 17"/>
          <p:cNvSpPr txBox="1"/>
          <p:nvPr/>
        </p:nvSpPr>
        <p:spPr>
          <a:xfrm>
            <a:off x="6393028" y="4846320"/>
            <a:ext cx="2236394" cy="274320"/>
          </a:xfrm>
          <a:prstGeom prst="rect">
            <a:avLst/>
          </a:prstGeom>
          <a:noFill/>
          <a:ln/>
        </p:spPr>
        <p:txBody>
          <a:bodyPr wrap="square" lIns="0" tIns="0" rIns="0" bIns="0" rtlCol="0" anchor="t"/>
          <a:lstStyle/>
          <a:p>
            <a:pPr marL="0" indent="0" algn="r">
              <a:buNone/>
            </a:pPr>
            <a:r>
              <a:rPr lang="en-US" altLang="en-US" sz="1100" b="1" dirty="0">
                <a:solidFill>
                  <a:srgbClr val="7C3AED"/>
                </a:solidFill>
                <a:latin typeface="Vazirmatn" pitchFamily="34" charset="0"/>
                <a:ea typeface="Vazirmatn" pitchFamily="34" charset="-122"/>
                <a:cs typeface="Vazirmatn" pitchFamily="34" charset="-120"/>
              </a:rPr>
              <a:t>IEEE S&amp;P 2023</a:t>
            </a:r>
            <a:endParaRPr lang="en-US" sz="1100" dirty="0"/>
          </a:p>
        </p:txBody>
      </p:sp>
      <p:sp>
        <p:nvSpPr>
          <p:cNvPr id="22" name="Text 18"/>
          <p:cNvSpPr txBox="1"/>
          <p:nvPr/>
        </p:nvSpPr>
        <p:spPr>
          <a:xfrm>
            <a:off x="6393028" y="5166360"/>
            <a:ext cx="2236394" cy="548640"/>
          </a:xfrm>
          <a:prstGeom prst="rect">
            <a:avLst/>
          </a:prstGeom>
          <a:noFill/>
          <a:ln/>
        </p:spPr>
        <p:txBody>
          <a:bodyPr wrap="square" lIns="0" tIns="0" rIns="0" bIns="0" rtlCol="0" anchor="t"/>
          <a:lstStyle/>
          <a:p>
            <a:pPr marL="0" indent="0" algn="r" rtl="1">
              <a:buNone/>
            </a:pPr>
            <a:r>
              <a:rPr lang="fa-IR" altLang="en-US" sz="1300" dirty="0">
                <a:solidFill>
                  <a:srgbClr val="475569"/>
                </a:solidFill>
                <a:latin typeface="Vazirmatn" pitchFamily="34" charset="0"/>
                <a:ea typeface="Vazirmatn" pitchFamily="34" charset="-122"/>
                <a:cs typeface="Vazirmatn" pitchFamily="34" charset="-120"/>
              </a:rPr>
              <a:t>ایزوله‌سازی زمینه‌ی هسته</a:t>
            </a:r>
            <a:endParaRPr lang="fa-IR" sz="1300" dirty="0"/>
          </a:p>
        </p:txBody>
      </p:sp>
      <p:sp>
        <p:nvSpPr>
          <p:cNvPr id="23" name="Shape 19"/>
          <p:cNvSpPr/>
          <p:nvPr/>
        </p:nvSpPr>
        <p:spPr>
          <a:xfrm>
            <a:off x="3379394" y="1554480"/>
            <a:ext cx="2602154" cy="4526280"/>
          </a:xfrm>
          <a:prstGeom prst="roundRect">
            <a:avLst>
              <a:gd name="adj" fmla="val 4217"/>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24" name="Shape 20"/>
          <p:cNvSpPr/>
          <p:nvPr/>
        </p:nvSpPr>
        <p:spPr>
          <a:xfrm>
            <a:off x="3379394" y="1554480"/>
            <a:ext cx="2602154" cy="1234440"/>
          </a:xfrm>
          <a:prstGeom prst="roundRect">
            <a:avLst>
              <a:gd name="adj" fmla="val 8889"/>
            </a:avLst>
          </a:prstGeom>
          <a:solidFill>
            <a:srgbClr val="CCFBF1"/>
          </a:solidFill>
          <a:ln w="12700">
            <a:solidFill>
              <a:srgbClr val="CCFBF1"/>
            </a:solidFill>
            <a:prstDash val="solid"/>
          </a:ln>
        </p:spPr>
      </p:sp>
      <p:sp>
        <p:nvSpPr>
          <p:cNvPr id="25" name="Shape 21"/>
          <p:cNvSpPr/>
          <p:nvPr/>
        </p:nvSpPr>
        <p:spPr>
          <a:xfrm>
            <a:off x="4360431" y="1719072"/>
            <a:ext cx="640080" cy="640080"/>
          </a:xfrm>
          <a:prstGeom prst="ellipse">
            <a:avLst/>
          </a:prstGeom>
          <a:solidFill>
            <a:srgbClr val="0D9488"/>
          </a:solidFill>
          <a:ln w="12700">
            <a:solidFill>
              <a:srgbClr val="0D9488"/>
            </a:solidFill>
            <a:prstDash val="solid"/>
          </a:ln>
        </p:spPr>
      </p:sp>
      <p:pic>
        <p:nvPicPr>
          <p:cNvPr id="26" name="Image 2" descr="preencoded.png"/>
          <p:cNvPicPr>
            <a:picLocks noChangeAspect="1"/>
          </p:cNvPicPr>
          <p:nvPr/>
        </p:nvPicPr>
        <p:blipFill>
          <a:blip r:embed="rId5"/>
          <a:stretch>
            <a:fillRect/>
          </a:stretch>
        </p:blipFill>
        <p:spPr>
          <a:xfrm>
            <a:off x="4501248" y="1859890"/>
            <a:ext cx="358445" cy="358445"/>
          </a:xfrm>
          <a:prstGeom prst="rect">
            <a:avLst/>
          </a:prstGeom>
        </p:spPr>
      </p:pic>
      <p:sp>
        <p:nvSpPr>
          <p:cNvPr id="27" name="Text 22"/>
          <p:cNvSpPr txBox="1"/>
          <p:nvPr/>
        </p:nvSpPr>
        <p:spPr>
          <a:xfrm>
            <a:off x="3379394" y="2377440"/>
            <a:ext cx="2602154" cy="365760"/>
          </a:xfrm>
          <a:prstGeom prst="rect">
            <a:avLst/>
          </a:prstGeom>
          <a:noFill/>
          <a:ln/>
        </p:spPr>
        <p:txBody>
          <a:bodyPr wrap="square" lIns="0" tIns="0" rIns="0" bIns="0" rtlCol="0" anchor="t"/>
          <a:lstStyle/>
          <a:p>
            <a:pPr marL="0" indent="0" algn="ctr" rtl="1">
              <a:buNone/>
            </a:pPr>
            <a:r>
              <a:rPr lang="fa-IR" altLang="en-US" sz="1600" b="1" dirty="0">
                <a:solidFill>
                  <a:srgbClr val="0D9488"/>
                </a:solidFill>
                <a:latin typeface="Vazirmatn" pitchFamily="34" charset="0"/>
                <a:ea typeface="Vazirmatn" pitchFamily="34" charset="-122"/>
                <a:cs typeface="Vazirmatn" pitchFamily="34" charset="-120"/>
              </a:rPr>
              <a:t>سطح تخصیص‌دهنده</a:t>
            </a:r>
            <a:endParaRPr lang="fa-IR" sz="1600" dirty="0"/>
          </a:p>
        </p:txBody>
      </p:sp>
      <p:sp>
        <p:nvSpPr>
          <p:cNvPr id="28" name="Text 23"/>
          <p:cNvSpPr txBox="1"/>
          <p:nvPr/>
        </p:nvSpPr>
        <p:spPr>
          <a:xfrm>
            <a:off x="3562274" y="3017520"/>
            <a:ext cx="2236394" cy="411480"/>
          </a:xfrm>
          <a:prstGeom prst="rect">
            <a:avLst/>
          </a:prstGeom>
          <a:noFill/>
          <a:ln/>
        </p:spPr>
        <p:txBody>
          <a:bodyPr wrap="square" lIns="0" tIns="0" rIns="0" bIns="0" rtlCol="0" anchor="t"/>
          <a:lstStyle/>
          <a:p>
            <a:pPr marL="0" indent="0" algn="r">
              <a:buNone/>
            </a:pPr>
            <a:r>
              <a:rPr lang="en-US" altLang="en-US" sz="1900" b="1" dirty="0">
                <a:solidFill>
                  <a:srgbClr val="0F172A"/>
                </a:solidFill>
                <a:latin typeface="Vazirmatn" pitchFamily="34" charset="0"/>
                <a:ea typeface="Vazirmatn" pitchFamily="34" charset="-122"/>
                <a:cs typeface="Vazirmatn" pitchFamily="34" charset="-120"/>
              </a:rPr>
              <a:t>ISLAB</a:t>
            </a:r>
            <a:endParaRPr lang="en-US" sz="1900" dirty="0"/>
          </a:p>
        </p:txBody>
      </p:sp>
      <p:sp>
        <p:nvSpPr>
          <p:cNvPr id="29" name="Text 24"/>
          <p:cNvSpPr txBox="1"/>
          <p:nvPr/>
        </p:nvSpPr>
        <p:spPr>
          <a:xfrm>
            <a:off x="3562274" y="3429000"/>
            <a:ext cx="2236394" cy="274320"/>
          </a:xfrm>
          <a:prstGeom prst="rect">
            <a:avLst/>
          </a:prstGeom>
          <a:noFill/>
          <a:ln/>
        </p:spPr>
        <p:txBody>
          <a:bodyPr wrap="square" lIns="0" tIns="0" rIns="0" bIns="0" rtlCol="0" anchor="t"/>
          <a:lstStyle/>
          <a:p>
            <a:pPr marL="0" indent="0" algn="r">
              <a:buNone/>
            </a:pPr>
            <a:r>
              <a:rPr lang="en-US" altLang="en-US" sz="1100" b="1" dirty="0">
                <a:solidFill>
                  <a:srgbClr val="0D9488"/>
                </a:solidFill>
                <a:latin typeface="Vazirmatn" pitchFamily="34" charset="0"/>
                <a:ea typeface="Vazirmatn" pitchFamily="34" charset="-122"/>
                <a:cs typeface="Vazirmatn" pitchFamily="34" charset="-120"/>
              </a:rPr>
              <a:t>AsiaCCS 2024</a:t>
            </a:r>
            <a:endParaRPr lang="en-US" sz="1100" dirty="0"/>
          </a:p>
        </p:txBody>
      </p:sp>
      <p:sp>
        <p:nvSpPr>
          <p:cNvPr id="30" name="Text 25"/>
          <p:cNvSpPr txBox="1"/>
          <p:nvPr/>
        </p:nvSpPr>
        <p:spPr>
          <a:xfrm>
            <a:off x="3562274" y="3749040"/>
            <a:ext cx="2236394" cy="548640"/>
          </a:xfrm>
          <a:prstGeom prst="rect">
            <a:avLst/>
          </a:prstGeom>
          <a:noFill/>
          <a:ln/>
        </p:spPr>
        <p:txBody>
          <a:bodyPr wrap="square" lIns="0" tIns="0" rIns="0" bIns="0" rtlCol="0" anchor="t"/>
          <a:lstStyle/>
          <a:p>
            <a:pPr marL="0" indent="0" algn="r" rtl="1">
              <a:buNone/>
            </a:pPr>
            <a:r>
              <a:rPr lang="fa-IR" altLang="en-US" sz="1300" dirty="0">
                <a:solidFill>
                  <a:srgbClr val="475569"/>
                </a:solidFill>
                <a:latin typeface="Vazirmatn" pitchFamily="34" charset="0"/>
                <a:ea typeface="Vazirmatn" pitchFamily="34" charset="-122"/>
                <a:cs typeface="Vazirmatn" pitchFamily="34" charset="-120"/>
              </a:rPr>
              <a:t>فراداده‌ی تغییرناپذیر + kSMAP</a:t>
            </a:r>
            <a:endParaRPr lang="fa-IR" sz="1300" dirty="0"/>
          </a:p>
        </p:txBody>
      </p:sp>
      <p:sp>
        <p:nvSpPr>
          <p:cNvPr id="31" name="Text 26"/>
          <p:cNvSpPr txBox="1"/>
          <p:nvPr/>
        </p:nvSpPr>
        <p:spPr>
          <a:xfrm>
            <a:off x="3562274" y="4434840"/>
            <a:ext cx="2236394" cy="411480"/>
          </a:xfrm>
          <a:prstGeom prst="rect">
            <a:avLst/>
          </a:prstGeom>
          <a:noFill/>
          <a:ln/>
        </p:spPr>
        <p:txBody>
          <a:bodyPr wrap="square" lIns="0" tIns="0" rIns="0" bIns="0" rtlCol="0" anchor="t"/>
          <a:lstStyle/>
          <a:p>
            <a:pPr marL="0" indent="0" algn="r">
              <a:buNone/>
            </a:pPr>
            <a:r>
              <a:rPr lang="en-US" altLang="en-US" sz="1900" b="1" dirty="0">
                <a:solidFill>
                  <a:srgbClr val="94A3B8"/>
                </a:solidFill>
                <a:latin typeface="Vazirmatn" pitchFamily="34" charset="0"/>
                <a:ea typeface="Vazirmatn" pitchFamily="34" charset="-122"/>
                <a:cs typeface="Vazirmatn" pitchFamily="34" charset="-120"/>
              </a:rPr>
              <a:t>(Safeslab)</a:t>
            </a:r>
            <a:endParaRPr lang="en-US" sz="1900" dirty="0"/>
          </a:p>
        </p:txBody>
      </p:sp>
      <p:sp>
        <p:nvSpPr>
          <p:cNvPr id="32" name="Text 27"/>
          <p:cNvSpPr txBox="1"/>
          <p:nvPr/>
        </p:nvSpPr>
        <p:spPr>
          <a:xfrm>
            <a:off x="3562274" y="5166360"/>
            <a:ext cx="2236394" cy="548640"/>
          </a:xfrm>
          <a:prstGeom prst="rect">
            <a:avLst/>
          </a:prstGeom>
          <a:noFill/>
          <a:ln/>
        </p:spPr>
        <p:txBody>
          <a:bodyPr wrap="square" lIns="0" tIns="0" rIns="0" bIns="0" rtlCol="0" anchor="t"/>
          <a:lstStyle/>
          <a:p>
            <a:pPr marL="0" indent="0" algn="r" rtl="1">
              <a:buNone/>
            </a:pPr>
            <a:r>
              <a:rPr lang="fa-IR" altLang="en-US" sz="1300" dirty="0">
                <a:solidFill>
                  <a:srgbClr val="475569"/>
                </a:solidFill>
                <a:latin typeface="Vazirmatn" pitchFamily="34" charset="0"/>
                <a:ea typeface="Vazirmatn" pitchFamily="34" charset="-122"/>
                <a:cs typeface="Vazirmatn" pitchFamily="34" charset="-120"/>
              </a:rPr>
              <a:t>جایگزین SLUB؛ بین دو دسته</a:t>
            </a:r>
            <a:endParaRPr lang="fa-IR" sz="1300" dirty="0"/>
          </a:p>
        </p:txBody>
      </p:sp>
      <p:sp>
        <p:nvSpPr>
          <p:cNvPr id="33" name="Shape 28"/>
          <p:cNvSpPr/>
          <p:nvPr/>
        </p:nvSpPr>
        <p:spPr>
          <a:xfrm>
            <a:off x="548640" y="1554480"/>
            <a:ext cx="2602154" cy="4526280"/>
          </a:xfrm>
          <a:prstGeom prst="roundRect">
            <a:avLst>
              <a:gd name="adj" fmla="val 4217"/>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34" name="Shape 29"/>
          <p:cNvSpPr/>
          <p:nvPr/>
        </p:nvSpPr>
        <p:spPr>
          <a:xfrm>
            <a:off x="548640" y="1554480"/>
            <a:ext cx="2602154" cy="1234440"/>
          </a:xfrm>
          <a:prstGeom prst="roundRect">
            <a:avLst>
              <a:gd name="adj" fmla="val 8889"/>
            </a:avLst>
          </a:prstGeom>
          <a:solidFill>
            <a:srgbClr val="FFEDD5"/>
          </a:solidFill>
          <a:ln w="12700">
            <a:solidFill>
              <a:srgbClr val="FFEDD5"/>
            </a:solidFill>
            <a:prstDash val="solid"/>
          </a:ln>
        </p:spPr>
      </p:sp>
      <p:sp>
        <p:nvSpPr>
          <p:cNvPr id="35" name="Shape 30"/>
          <p:cNvSpPr/>
          <p:nvPr/>
        </p:nvSpPr>
        <p:spPr>
          <a:xfrm>
            <a:off x="1529677" y="1719072"/>
            <a:ext cx="640080" cy="640080"/>
          </a:xfrm>
          <a:prstGeom prst="ellipse">
            <a:avLst/>
          </a:prstGeom>
          <a:solidFill>
            <a:srgbClr val="EA580C"/>
          </a:solidFill>
          <a:ln w="12700">
            <a:solidFill>
              <a:srgbClr val="EA580C"/>
            </a:solidFill>
            <a:prstDash val="solid"/>
          </a:ln>
        </p:spPr>
      </p:sp>
      <p:pic>
        <p:nvPicPr>
          <p:cNvPr id="36" name="Image 3" descr="preencoded.png"/>
          <p:cNvPicPr>
            <a:picLocks noChangeAspect="1"/>
          </p:cNvPicPr>
          <p:nvPr/>
        </p:nvPicPr>
        <p:blipFill>
          <a:blip r:embed="rId6"/>
          <a:stretch>
            <a:fillRect/>
          </a:stretch>
        </p:blipFill>
        <p:spPr>
          <a:xfrm>
            <a:off x="1670494" y="1859890"/>
            <a:ext cx="358445" cy="358445"/>
          </a:xfrm>
          <a:prstGeom prst="rect">
            <a:avLst/>
          </a:prstGeom>
        </p:spPr>
      </p:pic>
      <p:sp>
        <p:nvSpPr>
          <p:cNvPr id="37" name="Text 31"/>
          <p:cNvSpPr txBox="1"/>
          <p:nvPr/>
        </p:nvSpPr>
        <p:spPr>
          <a:xfrm>
            <a:off x="548640" y="2377440"/>
            <a:ext cx="2602154" cy="365760"/>
          </a:xfrm>
          <a:prstGeom prst="rect">
            <a:avLst/>
          </a:prstGeom>
          <a:noFill/>
          <a:ln/>
        </p:spPr>
        <p:txBody>
          <a:bodyPr wrap="square" lIns="0" tIns="0" rIns="0" bIns="0" rtlCol="0" anchor="t"/>
          <a:lstStyle/>
          <a:p>
            <a:pPr marL="0" indent="0" algn="ctr" rtl="1">
              <a:buNone/>
            </a:pPr>
            <a:r>
              <a:rPr lang="fa-IR" altLang="en-US" sz="1600" b="1" dirty="0">
                <a:solidFill>
                  <a:srgbClr val="EA580C"/>
                </a:solidFill>
                <a:latin typeface="Vazirmatn" pitchFamily="34" charset="0"/>
                <a:ea typeface="Vazirmatn" pitchFamily="34" charset="-122"/>
                <a:cs typeface="Vazirmatn" pitchFamily="34" charset="-120"/>
              </a:rPr>
              <a:t>زبان امن</a:t>
            </a:r>
            <a:endParaRPr lang="fa-IR" sz="1600" dirty="0"/>
          </a:p>
        </p:txBody>
      </p:sp>
      <p:sp>
        <p:nvSpPr>
          <p:cNvPr id="38" name="Text 32"/>
          <p:cNvSpPr txBox="1"/>
          <p:nvPr/>
        </p:nvSpPr>
        <p:spPr>
          <a:xfrm>
            <a:off x="731520" y="3017520"/>
            <a:ext cx="2236394" cy="411480"/>
          </a:xfrm>
          <a:prstGeom prst="rect">
            <a:avLst/>
          </a:prstGeom>
          <a:noFill/>
          <a:ln/>
        </p:spPr>
        <p:txBody>
          <a:bodyPr wrap="square" lIns="0" tIns="0" rIns="0" bIns="0" rtlCol="0" anchor="t"/>
          <a:lstStyle/>
          <a:p>
            <a:pPr marL="0" indent="0" algn="r">
              <a:buNone/>
            </a:pPr>
            <a:r>
              <a:rPr lang="en-US" altLang="en-US" sz="1900" b="1" dirty="0">
                <a:solidFill>
                  <a:srgbClr val="0F172A"/>
                </a:solidFill>
                <a:latin typeface="Vazirmatn" pitchFamily="34" charset="0"/>
                <a:ea typeface="Vazirmatn" pitchFamily="34" charset="-122"/>
                <a:cs typeface="Vazirmatn" pitchFamily="34" charset="-120"/>
              </a:rPr>
              <a:t>Rust for Linux</a:t>
            </a:r>
            <a:endParaRPr lang="en-US" sz="1900" dirty="0"/>
          </a:p>
        </p:txBody>
      </p:sp>
      <p:sp>
        <p:nvSpPr>
          <p:cNvPr id="39" name="Text 33"/>
          <p:cNvSpPr txBox="1"/>
          <p:nvPr/>
        </p:nvSpPr>
        <p:spPr>
          <a:xfrm>
            <a:off x="731520" y="3429000"/>
            <a:ext cx="2236394" cy="274320"/>
          </a:xfrm>
          <a:prstGeom prst="rect">
            <a:avLst/>
          </a:prstGeom>
          <a:noFill/>
          <a:ln/>
        </p:spPr>
        <p:txBody>
          <a:bodyPr wrap="square" lIns="0" tIns="0" rIns="0" bIns="0" rtlCol="0" anchor="t"/>
          <a:lstStyle/>
          <a:p>
            <a:pPr marL="0" indent="0" algn="r">
              <a:buNone/>
            </a:pPr>
            <a:r>
              <a:rPr lang="en-US" altLang="en-US" sz="1100" b="1" dirty="0">
                <a:solidFill>
                  <a:srgbClr val="EA580C"/>
                </a:solidFill>
                <a:latin typeface="Vazirmatn" pitchFamily="34" charset="0"/>
                <a:ea typeface="Vazirmatn" pitchFamily="34" charset="-122"/>
                <a:cs typeface="Vazirmatn" pitchFamily="34" charset="-120"/>
              </a:rPr>
              <a:t>ACSAC 2024</a:t>
            </a:r>
            <a:endParaRPr lang="en-US" sz="1100" dirty="0"/>
          </a:p>
        </p:txBody>
      </p:sp>
      <p:sp>
        <p:nvSpPr>
          <p:cNvPr id="40" name="Text 34"/>
          <p:cNvSpPr txBox="1"/>
          <p:nvPr/>
        </p:nvSpPr>
        <p:spPr>
          <a:xfrm>
            <a:off x="731520" y="3749040"/>
            <a:ext cx="2236394" cy="548640"/>
          </a:xfrm>
          <a:prstGeom prst="rect">
            <a:avLst/>
          </a:prstGeom>
          <a:noFill/>
          <a:ln/>
        </p:spPr>
        <p:txBody>
          <a:bodyPr wrap="square" lIns="0" tIns="0" rIns="0" bIns="0" rtlCol="0" anchor="t"/>
          <a:lstStyle/>
          <a:p>
            <a:pPr marL="0" indent="0" algn="r" rtl="1">
              <a:buNone/>
            </a:pPr>
            <a:r>
              <a:rPr lang="fa-IR" altLang="en-US" sz="1300" dirty="0">
                <a:solidFill>
                  <a:srgbClr val="475569"/>
                </a:solidFill>
                <a:latin typeface="Vazirmatn" pitchFamily="34" charset="0"/>
                <a:ea typeface="Vazirmatn" pitchFamily="34" charset="-122"/>
                <a:cs typeface="Vazirmatn" pitchFamily="34" charset="-120"/>
              </a:rPr>
              <a:t>تحلیل ۲۴۰ CVE درایورها</a:t>
            </a:r>
            <a:endParaRPr lang="fa-IR" sz="1300" dirty="0"/>
          </a:p>
        </p:txBody>
      </p:sp>
      <p:sp>
        <p:nvSpPr>
          <p:cNvPr id="41"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4A3B8"/>
                </a:solidFill>
                <a:latin typeface="Vazirmatn"/>
                <a:ea typeface="Vazirmatn"/>
                <a:cs typeface="Vazirmatn"/>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11094415" cy="640080"/>
          </a:xfrm>
          <a:prstGeom prst="rect">
            <a:avLst/>
          </a:prstGeom>
          <a:noFill/>
          <a:ln/>
        </p:spPr>
        <p:txBody>
          <a:bodyPr wrap="square" lIns="0" tIns="0" rIns="0" bIns="0" rtlCol="0" anchor="ctr"/>
          <a:lstStyle/>
          <a:p>
            <a:pPr marL="0" indent="0" algn="r" rtl="1">
              <a:buNone/>
            </a:pPr>
            <a:r>
              <a:rPr lang="fa-IR" altLang="en-US" sz="3000" b="1" dirty="0">
                <a:solidFill>
                  <a:srgbClr val="0F172A"/>
                </a:solidFill>
                <a:latin typeface="Vazirmatn" pitchFamily="34" charset="0"/>
                <a:ea typeface="Vazirmatn" pitchFamily="34" charset="-122"/>
                <a:cs typeface="Vazirmatn" pitchFamily="34" charset="-120"/>
              </a:rPr>
              <a:t>RetSpill: داده‌ی کاربر، سوخت حمله به هسته</a:t>
            </a:r>
            <a:endParaRPr lang="fa-IR" sz="3000" dirty="0"/>
          </a:p>
        </p:txBody>
      </p:sp>
      <p:sp>
        <p:nvSpPr>
          <p:cNvPr id="3" name="Text 1"/>
          <p:cNvSpPr txBox="1"/>
          <p:nvPr/>
        </p:nvSpPr>
        <p:spPr>
          <a:xfrm>
            <a:off x="548640" y="969264"/>
            <a:ext cx="8168335" cy="365760"/>
          </a:xfrm>
          <a:prstGeom prst="rect">
            <a:avLst/>
          </a:prstGeom>
          <a:noFill/>
          <a:ln/>
        </p:spPr>
        <p:txBody>
          <a:bodyPr wrap="square" lIns="0" tIns="0" rIns="0" bIns="0" rtlCol="0" anchor="ctr"/>
          <a:lstStyle/>
          <a:p>
            <a:pPr marL="0" indent="0" algn="r" rtl="1">
              <a:buNone/>
            </a:pPr>
            <a:r>
              <a:rPr lang="fa-IR" altLang="en-US" sz="1500" dirty="0">
                <a:solidFill>
                  <a:srgbClr val="475569"/>
                </a:solidFill>
                <a:latin typeface="Vazirmatn" pitchFamily="34" charset="0"/>
                <a:ea typeface="Vazirmatn" pitchFamily="34" charset="-122"/>
                <a:cs typeface="Vazirmatn" pitchFamily="34" charset="-120"/>
              </a:rPr>
              <a:t>Zeng و همکاران · اگر مهاجم جریان اجرا را برباید، زنجیره‌ی ROP از قبل روی پشته آماده است</a:t>
            </a:r>
            <a:endParaRPr lang="fa-IR" sz="1500" dirty="0"/>
          </a:p>
        </p:txBody>
      </p:sp>
      <p:sp>
        <p:nvSpPr>
          <p:cNvPr id="4" name="Shape 2"/>
          <p:cNvSpPr/>
          <p:nvPr/>
        </p:nvSpPr>
        <p:spPr>
          <a:xfrm>
            <a:off x="548640" y="502920"/>
            <a:ext cx="2377440" cy="329184"/>
          </a:xfrm>
          <a:prstGeom prst="roundRect">
            <a:avLst>
              <a:gd name="adj" fmla="val 50000"/>
            </a:avLst>
          </a:prstGeom>
          <a:solidFill>
            <a:srgbClr val="FFE4E6"/>
          </a:solidFill>
          <a:ln w="12700">
            <a:solidFill>
              <a:srgbClr val="FFE4E6"/>
            </a:solidFill>
            <a:prstDash val="solid"/>
          </a:ln>
        </p:spPr>
      </p:sp>
      <p:sp>
        <p:nvSpPr>
          <p:cNvPr id="5" name="Text 3"/>
          <p:cNvSpPr txBox="1"/>
          <p:nvPr/>
        </p:nvSpPr>
        <p:spPr>
          <a:xfrm>
            <a:off x="548640" y="502920"/>
            <a:ext cx="2377440" cy="329184"/>
          </a:xfrm>
          <a:prstGeom prst="rect">
            <a:avLst/>
          </a:prstGeom>
          <a:noFill/>
          <a:ln/>
        </p:spPr>
        <p:txBody>
          <a:bodyPr wrap="square" lIns="0" tIns="0" rIns="0" bIns="0" rtlCol="0" anchor="ctr"/>
          <a:lstStyle/>
          <a:p>
            <a:pPr marL="0" indent="0" algn="ctr" rtl="1">
              <a:buNone/>
            </a:pPr>
            <a:r>
              <a:rPr lang="fa-IR" altLang="en-US" sz="1200" b="1" dirty="0">
                <a:solidFill>
                  <a:srgbClr val="E11D48"/>
                </a:solidFill>
                <a:latin typeface="Vazirmatn" pitchFamily="34" charset="0"/>
                <a:ea typeface="Vazirmatn" pitchFamily="34" charset="-122"/>
                <a:cs typeface="Vazirmatn" pitchFamily="34" charset="-120"/>
              </a:rPr>
              <a:t>حمله · CCS 2023</a:t>
            </a:r>
            <a:endParaRPr lang="fa-IR" sz="1200" dirty="0"/>
          </a:p>
        </p:txBody>
      </p:sp>
      <p:sp>
        <p:nvSpPr>
          <p:cNvPr id="6" name="Text 4"/>
          <p:cNvSpPr txBox="1"/>
          <p:nvPr/>
        </p:nvSpPr>
        <p:spPr>
          <a:xfrm>
            <a:off x="731520" y="1508760"/>
            <a:ext cx="3017520" cy="320040"/>
          </a:xfrm>
          <a:prstGeom prst="rect">
            <a:avLst/>
          </a:prstGeom>
          <a:noFill/>
          <a:ln/>
        </p:spPr>
        <p:txBody>
          <a:bodyPr wrap="square" lIns="0" tIns="0" rIns="0" bIns="0" rtlCol="0" anchor="t"/>
          <a:lstStyle/>
          <a:p>
            <a:pPr marL="0" indent="0" algn="ctr" rtl="1">
              <a:buNone/>
            </a:pPr>
            <a:r>
              <a:rPr lang="fa-IR" altLang="en-US" sz="1300" b="1" dirty="0">
                <a:solidFill>
                  <a:srgbClr val="475569"/>
                </a:solidFill>
                <a:latin typeface="Vazirmatn" pitchFamily="34" charset="0"/>
                <a:ea typeface="Vazirmatn" pitchFamily="34" charset="-122"/>
                <a:cs typeface="Vazirmatn" pitchFamily="34" charset="-120"/>
              </a:rPr>
              <a:t>پشته‌ی هسته</a:t>
            </a:r>
            <a:endParaRPr lang="fa-IR" sz="1300" dirty="0"/>
          </a:p>
        </p:txBody>
      </p:sp>
      <p:sp>
        <p:nvSpPr>
          <p:cNvPr id="7" name="Shape 5"/>
          <p:cNvSpPr/>
          <p:nvPr/>
        </p:nvSpPr>
        <p:spPr>
          <a:xfrm>
            <a:off x="731520" y="1874520"/>
            <a:ext cx="3017520" cy="822960"/>
          </a:xfrm>
          <a:prstGeom prst="rect">
            <a:avLst/>
          </a:prstGeom>
          <a:solidFill>
            <a:srgbClr val="E11D48"/>
          </a:solidFill>
          <a:ln w="25400">
            <a:solidFill>
              <a:srgbClr val="FFFFFF"/>
            </a:solidFill>
            <a:prstDash val="solid"/>
          </a:ln>
        </p:spPr>
      </p:sp>
      <p:sp>
        <p:nvSpPr>
          <p:cNvPr id="8" name="Text 6"/>
          <p:cNvSpPr txBox="1"/>
          <p:nvPr/>
        </p:nvSpPr>
        <p:spPr>
          <a:xfrm>
            <a:off x="731520" y="1874520"/>
            <a:ext cx="3017520" cy="822960"/>
          </a:xfrm>
          <a:prstGeom prst="rect">
            <a:avLst/>
          </a:prstGeom>
          <a:noFill/>
          <a:ln/>
        </p:spPr>
        <p:txBody>
          <a:bodyPr wrap="square" lIns="0" tIns="0" rIns="0" bIns="0" rtlCol="0" anchor="ctr"/>
          <a:lstStyle/>
          <a:p>
            <a:pPr marL="0" indent="0" algn="ctr" rtl="1">
              <a:buNone/>
            </a:pPr>
            <a:r>
              <a:rPr lang="fa-IR" altLang="en-US" sz="1300" b="1" dirty="0">
                <a:solidFill>
                  <a:srgbClr val="FFFFFF"/>
                </a:solidFill>
                <a:latin typeface="Vazirmatn" pitchFamily="34" charset="0"/>
                <a:ea typeface="Vazirmatn" pitchFamily="34" charset="-122"/>
                <a:cs typeface="Vazirmatn" pitchFamily="34" charset="-120"/>
              </a:rPr>
              <a:t>pt_regs (ثبات‌های کاربر)</a:t>
            </a:r>
            <a:endParaRPr lang="fa-IR" sz="1300" dirty="0"/>
          </a:p>
        </p:txBody>
      </p:sp>
      <p:sp>
        <p:nvSpPr>
          <p:cNvPr id="9" name="Shape 7"/>
          <p:cNvSpPr/>
          <p:nvPr/>
        </p:nvSpPr>
        <p:spPr>
          <a:xfrm>
            <a:off x="731520" y="2697480"/>
            <a:ext cx="3017520" cy="566928"/>
          </a:xfrm>
          <a:prstGeom prst="rect">
            <a:avLst/>
          </a:prstGeom>
          <a:solidFill>
            <a:srgbClr val="FB7185"/>
          </a:solidFill>
          <a:ln w="25400">
            <a:solidFill>
              <a:srgbClr val="FFFFFF"/>
            </a:solidFill>
            <a:prstDash val="solid"/>
          </a:ln>
        </p:spPr>
      </p:sp>
      <p:sp>
        <p:nvSpPr>
          <p:cNvPr id="10" name="Text 8"/>
          <p:cNvSpPr txBox="1"/>
          <p:nvPr/>
        </p:nvSpPr>
        <p:spPr>
          <a:xfrm>
            <a:off x="731520" y="2697480"/>
            <a:ext cx="3017520" cy="566928"/>
          </a:xfrm>
          <a:prstGeom prst="rect">
            <a:avLst/>
          </a:prstGeom>
          <a:noFill/>
          <a:ln/>
        </p:spPr>
        <p:txBody>
          <a:bodyPr wrap="square" lIns="0" tIns="0" rIns="0" bIns="0" rtlCol="0" anchor="ctr"/>
          <a:lstStyle/>
          <a:p>
            <a:pPr marL="0" indent="0" algn="ctr" rtl="1">
              <a:buNone/>
            </a:pPr>
            <a:r>
              <a:rPr lang="fa-IR" altLang="en-US" sz="1300" b="1" dirty="0">
                <a:solidFill>
                  <a:srgbClr val="FFFFFF"/>
                </a:solidFill>
                <a:latin typeface="Vazirmatn" pitchFamily="34" charset="0"/>
                <a:ea typeface="Vazirmatn" pitchFamily="34" charset="-122"/>
                <a:cs typeface="Vazirmatn" pitchFamily="34" charset="-120"/>
              </a:rPr>
              <a:t>داده‌ی معتبر فراخوان</a:t>
            </a:r>
            <a:endParaRPr lang="fa-IR" sz="1300" dirty="0"/>
          </a:p>
        </p:txBody>
      </p:sp>
      <p:sp>
        <p:nvSpPr>
          <p:cNvPr id="11" name="Shape 9"/>
          <p:cNvSpPr/>
          <p:nvPr/>
        </p:nvSpPr>
        <p:spPr>
          <a:xfrm>
            <a:off x="731520" y="3264408"/>
            <a:ext cx="3017520" cy="566928"/>
          </a:xfrm>
          <a:prstGeom prst="rect">
            <a:avLst/>
          </a:prstGeom>
          <a:solidFill>
            <a:srgbClr val="FDA4AF"/>
          </a:solidFill>
          <a:ln w="25400">
            <a:solidFill>
              <a:srgbClr val="FFFFFF"/>
            </a:solidFill>
            <a:prstDash val="solid"/>
          </a:ln>
        </p:spPr>
      </p:sp>
      <p:sp>
        <p:nvSpPr>
          <p:cNvPr id="12" name="Text 10"/>
          <p:cNvSpPr txBox="1"/>
          <p:nvPr/>
        </p:nvSpPr>
        <p:spPr>
          <a:xfrm>
            <a:off x="731520" y="3264408"/>
            <a:ext cx="3017520" cy="566928"/>
          </a:xfrm>
          <a:prstGeom prst="rect">
            <a:avLst/>
          </a:prstGeom>
          <a:noFill/>
          <a:ln/>
        </p:spPr>
        <p:txBody>
          <a:bodyPr wrap="square" lIns="0" tIns="0" rIns="0" bIns="0" rtlCol="0" anchor="ctr"/>
          <a:lstStyle/>
          <a:p>
            <a:pPr marL="0" indent="0" algn="ctr" rtl="1">
              <a:buNone/>
            </a:pPr>
            <a:r>
              <a:rPr lang="fa-IR" altLang="en-US" sz="1300" b="1" dirty="0">
                <a:solidFill>
                  <a:srgbClr val="0F172A"/>
                </a:solidFill>
                <a:latin typeface="Vazirmatn" pitchFamily="34" charset="0"/>
                <a:ea typeface="Vazirmatn" pitchFamily="34" charset="-122"/>
                <a:cs typeface="Vazirmatn" pitchFamily="34" charset="-120"/>
              </a:rPr>
              <a:t>ثبات‌های قرارداد فراخوانی</a:t>
            </a:r>
            <a:endParaRPr lang="fa-IR" sz="1300" dirty="0"/>
          </a:p>
        </p:txBody>
      </p:sp>
      <p:sp>
        <p:nvSpPr>
          <p:cNvPr id="13" name="Shape 11"/>
          <p:cNvSpPr/>
          <p:nvPr/>
        </p:nvSpPr>
        <p:spPr>
          <a:xfrm>
            <a:off x="731520" y="3831336"/>
            <a:ext cx="3017520" cy="566928"/>
          </a:xfrm>
          <a:prstGeom prst="rect">
            <a:avLst/>
          </a:prstGeom>
          <a:solidFill>
            <a:srgbClr val="FFE4E6"/>
          </a:solidFill>
          <a:ln w="25400">
            <a:solidFill>
              <a:srgbClr val="FFFFFF"/>
            </a:solidFill>
            <a:prstDash val="solid"/>
          </a:ln>
        </p:spPr>
      </p:sp>
      <p:sp>
        <p:nvSpPr>
          <p:cNvPr id="14" name="Text 12"/>
          <p:cNvSpPr txBox="1"/>
          <p:nvPr/>
        </p:nvSpPr>
        <p:spPr>
          <a:xfrm>
            <a:off x="731520" y="3831336"/>
            <a:ext cx="3017520" cy="566928"/>
          </a:xfrm>
          <a:prstGeom prst="rect">
            <a:avLst/>
          </a:prstGeom>
          <a:noFill/>
          <a:ln/>
        </p:spPr>
        <p:txBody>
          <a:bodyPr wrap="square" lIns="0" tIns="0" rIns="0" bIns="0" rtlCol="0" anchor="ctr"/>
          <a:lstStyle/>
          <a:p>
            <a:pPr marL="0" indent="0" algn="ctr" rtl="1">
              <a:buNone/>
            </a:pPr>
            <a:r>
              <a:rPr lang="fa-IR" altLang="en-US" sz="1300" b="1" dirty="0">
                <a:solidFill>
                  <a:srgbClr val="0F172A"/>
                </a:solidFill>
                <a:latin typeface="Vazirmatn" pitchFamily="34" charset="0"/>
                <a:ea typeface="Vazirmatn" pitchFamily="34" charset="-122"/>
                <a:cs typeface="Vazirmatn" pitchFamily="34" charset="-120"/>
              </a:rPr>
              <a:t>حافظه‌ی مقداردهی‌نشده</a:t>
            </a:r>
            <a:endParaRPr lang="fa-IR" sz="1300" dirty="0"/>
          </a:p>
        </p:txBody>
      </p:sp>
      <p:sp>
        <p:nvSpPr>
          <p:cNvPr id="15" name="Shape 13"/>
          <p:cNvSpPr/>
          <p:nvPr/>
        </p:nvSpPr>
        <p:spPr>
          <a:xfrm>
            <a:off x="731520" y="4398264"/>
            <a:ext cx="3017520" cy="822960"/>
          </a:xfrm>
          <a:prstGeom prst="rect">
            <a:avLst/>
          </a:prstGeom>
          <a:solidFill>
            <a:srgbClr val="E2E8F0"/>
          </a:solidFill>
          <a:ln w="25400">
            <a:solidFill>
              <a:srgbClr val="FFFFFF"/>
            </a:solidFill>
            <a:prstDash val="solid"/>
          </a:ln>
        </p:spPr>
      </p:sp>
      <p:sp>
        <p:nvSpPr>
          <p:cNvPr id="16" name="Text 14"/>
          <p:cNvSpPr txBox="1"/>
          <p:nvPr/>
        </p:nvSpPr>
        <p:spPr>
          <a:xfrm>
            <a:off x="731520" y="4398264"/>
            <a:ext cx="3017520" cy="822960"/>
          </a:xfrm>
          <a:prstGeom prst="rect">
            <a:avLst/>
          </a:prstGeom>
          <a:noFill/>
          <a:ln/>
        </p:spPr>
        <p:txBody>
          <a:bodyPr wrap="square" lIns="0" tIns="0" rIns="0" bIns="0" rtlCol="0" anchor="ctr"/>
          <a:lstStyle/>
          <a:p>
            <a:pPr marL="0" indent="0" algn="ctr" rtl="1">
              <a:buNone/>
            </a:pPr>
            <a:r>
              <a:rPr lang="fa-IR" altLang="en-US" sz="1300" b="1" dirty="0">
                <a:solidFill>
                  <a:srgbClr val="475569"/>
                </a:solidFill>
                <a:latin typeface="Vazirmatn" pitchFamily="34" charset="0"/>
                <a:ea typeface="Vazirmatn" pitchFamily="34" charset="-122"/>
                <a:cs typeface="Vazirmatn" pitchFamily="34" charset="-120"/>
              </a:rPr>
              <a:t>قاب‌های عادی تابع</a:t>
            </a:r>
            <a:endParaRPr lang="fa-IR" sz="1300" dirty="0"/>
          </a:p>
        </p:txBody>
      </p:sp>
      <p:sp>
        <p:nvSpPr>
          <p:cNvPr id="17" name="Text 15"/>
          <p:cNvSpPr txBox="1"/>
          <p:nvPr/>
        </p:nvSpPr>
        <p:spPr>
          <a:xfrm>
            <a:off x="731520" y="5312664"/>
            <a:ext cx="3017520" cy="320040"/>
          </a:xfrm>
          <a:prstGeom prst="rect">
            <a:avLst/>
          </a:prstGeom>
          <a:noFill/>
          <a:ln/>
        </p:spPr>
        <p:txBody>
          <a:bodyPr wrap="square" lIns="0" tIns="0" rIns="0" bIns="0" rtlCol="0" anchor="t"/>
          <a:lstStyle/>
          <a:p>
            <a:pPr marL="0" indent="0" algn="ctr" rtl="1">
              <a:buNone/>
            </a:pPr>
            <a:r>
              <a:rPr lang="fa-IR" altLang="en-US" sz="1200" b="1" dirty="0">
                <a:solidFill>
                  <a:srgbClr val="E11D48"/>
                </a:solidFill>
                <a:latin typeface="Vazirmatn" pitchFamily="34" charset="0"/>
                <a:ea typeface="Vazirmatn" pitchFamily="34" charset="-122"/>
                <a:cs typeface="Vazirmatn" pitchFamily="34" charset="-120"/>
              </a:rPr>
              <a:t>۴ منبع نشت داده‌ی تحت کنترل مهاجم</a:t>
            </a:r>
            <a:endParaRPr lang="fa-IR" sz="1200" dirty="0"/>
          </a:p>
        </p:txBody>
      </p:sp>
      <p:sp>
        <p:nvSpPr>
          <p:cNvPr id="18" name="Text 16"/>
          <p:cNvSpPr txBox="1"/>
          <p:nvPr/>
        </p:nvSpPr>
        <p:spPr>
          <a:xfrm>
            <a:off x="4206240" y="1600200"/>
            <a:ext cx="7436815" cy="1005840"/>
          </a:xfrm>
          <a:prstGeom prst="rect">
            <a:avLst/>
          </a:prstGeom>
          <a:noFill/>
          <a:ln/>
        </p:spPr>
        <p:txBody>
          <a:bodyPr wrap="square" lIns="0" tIns="0" rIns="0" bIns="0" rtlCol="0" anchor="t"/>
          <a:lstStyle/>
          <a:p>
            <a:pPr marL="0" indent="0" algn="r">
              <a:lnSpc>
                <a:spcPct val="115000"/>
              </a:lnSpc>
              <a:buNone/>
            </a:pPr>
            <a:r>
              <a:rPr lang="fa-IR" altLang="en-US" sz="1600" dirty="0">
                <a:solidFill>
                  <a:srgbClr val="0F172A"/>
                </a:solidFill>
                <a:latin typeface="Vazirmatn" pitchFamily="34" charset="0"/>
                <a:ea typeface="Vazirmatn" pitchFamily="34" charset="-122"/>
                <a:cs typeface="Vazirmatn" pitchFamily="34" charset="-120"/>
              </a:rPr>
              <a:t>هسته هنگام فراخوان سیستمی، داده‌ی کاربر را موقتاً روی پشته‌ی خودش نگه می‌دارد؛ این رفتار مجاز است، اما همراه با یک باگ ربودن جریان اجرا (CFH)، همین داده‌ها مستقیماً زنجیره‌ی ROP می‌شوند.</a:t>
            </a:r>
            <a:endParaRPr lang="fa-IR" sz="1600" dirty="0"/>
          </a:p>
        </p:txBody>
      </p:sp>
      <p:sp>
        <p:nvSpPr>
          <p:cNvPr id="19" name="Shape 17"/>
          <p:cNvSpPr/>
          <p:nvPr/>
        </p:nvSpPr>
        <p:spPr>
          <a:xfrm>
            <a:off x="9311335" y="2788920"/>
            <a:ext cx="2331720" cy="1325880"/>
          </a:xfrm>
          <a:prstGeom prst="roundRect">
            <a:avLst>
              <a:gd name="adj" fmla="val 8276"/>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20" name="Text 18"/>
          <p:cNvSpPr txBox="1"/>
          <p:nvPr/>
        </p:nvSpPr>
        <p:spPr>
          <a:xfrm>
            <a:off x="9494215" y="2926080"/>
            <a:ext cx="1965960" cy="640080"/>
          </a:xfrm>
          <a:prstGeom prst="rect">
            <a:avLst/>
          </a:prstGeom>
          <a:noFill/>
          <a:ln/>
        </p:spPr>
        <p:txBody>
          <a:bodyPr wrap="square" lIns="0" tIns="0" rIns="0" bIns="0" rtlCol="0" anchor="ctr"/>
          <a:lstStyle/>
          <a:p>
            <a:pPr marL="0" indent="0" algn="r" rtl="1">
              <a:buNone/>
            </a:pPr>
            <a:r>
              <a:rPr lang="fa-IR" altLang="en-US" sz="3200" b="1" dirty="0">
                <a:solidFill>
                  <a:srgbClr val="E11D48"/>
                </a:solidFill>
                <a:latin typeface="Vazirmatn" pitchFamily="34" charset="0"/>
                <a:ea typeface="Vazirmatn" pitchFamily="34" charset="-122"/>
                <a:cs typeface="Vazirmatn" pitchFamily="34" charset="-120"/>
              </a:rPr>
              <a:t>۲۰/۲۲</a:t>
            </a:r>
            <a:endParaRPr lang="fa-IR" sz="3200" dirty="0"/>
          </a:p>
        </p:txBody>
      </p:sp>
      <p:sp>
        <p:nvSpPr>
          <p:cNvPr id="21" name="Text 19"/>
          <p:cNvSpPr txBox="1"/>
          <p:nvPr/>
        </p:nvSpPr>
        <p:spPr>
          <a:xfrm>
            <a:off x="9494215" y="3593592"/>
            <a:ext cx="1965960" cy="365760"/>
          </a:xfrm>
          <a:prstGeom prst="rect">
            <a:avLst/>
          </a:prstGeom>
          <a:noFill/>
          <a:ln/>
        </p:spPr>
        <p:txBody>
          <a:bodyPr wrap="square" lIns="0" tIns="0" rIns="0" bIns="0" rtlCol="0" anchor="t"/>
          <a:lstStyle/>
          <a:p>
            <a:pPr marL="0" indent="0" algn="r" rtl="1">
              <a:buNone/>
            </a:pPr>
            <a:r>
              <a:rPr lang="fa-IR" altLang="en-US" sz="1300" dirty="0">
                <a:solidFill>
                  <a:srgbClr val="475569"/>
                </a:solidFill>
                <a:latin typeface="Vazirmatn" pitchFamily="34" charset="0"/>
                <a:ea typeface="Vazirmatn" pitchFamily="34" charset="-122"/>
                <a:cs typeface="Vazirmatn" pitchFamily="34" charset="-120"/>
              </a:rPr>
              <a:t>exploit کامل خودکار</a:t>
            </a:r>
            <a:endParaRPr lang="fa-IR" sz="1300" dirty="0"/>
          </a:p>
        </p:txBody>
      </p:sp>
      <p:sp>
        <p:nvSpPr>
          <p:cNvPr id="22" name="Shape 20"/>
          <p:cNvSpPr/>
          <p:nvPr/>
        </p:nvSpPr>
        <p:spPr>
          <a:xfrm>
            <a:off x="6778447" y="2788920"/>
            <a:ext cx="2331720" cy="1325880"/>
          </a:xfrm>
          <a:prstGeom prst="roundRect">
            <a:avLst>
              <a:gd name="adj" fmla="val 8276"/>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23" name="Text 21"/>
          <p:cNvSpPr txBox="1"/>
          <p:nvPr/>
        </p:nvSpPr>
        <p:spPr>
          <a:xfrm>
            <a:off x="6961327" y="2926080"/>
            <a:ext cx="1965960" cy="640080"/>
          </a:xfrm>
          <a:prstGeom prst="rect">
            <a:avLst/>
          </a:prstGeom>
          <a:noFill/>
          <a:ln/>
        </p:spPr>
        <p:txBody>
          <a:bodyPr wrap="square" lIns="0" tIns="0" rIns="0" bIns="0" rtlCol="0" anchor="ctr"/>
          <a:lstStyle/>
          <a:p>
            <a:pPr marL="0" indent="0" algn="r" rtl="1">
              <a:buNone/>
            </a:pPr>
            <a:r>
              <a:rPr lang="fa-IR" altLang="en-US" sz="3200" b="1" dirty="0">
                <a:solidFill>
                  <a:srgbClr val="0D9488"/>
                </a:solidFill>
                <a:latin typeface="Vazirmatn" pitchFamily="34" charset="0"/>
                <a:ea typeface="Vazirmatn" pitchFamily="34" charset="-122"/>
                <a:cs typeface="Vazirmatn" pitchFamily="34" charset="-120"/>
              </a:rPr>
              <a:t>۰٫۶۱٪</a:t>
            </a:r>
            <a:endParaRPr lang="fa-IR" sz="3200" dirty="0"/>
          </a:p>
        </p:txBody>
      </p:sp>
      <p:sp>
        <p:nvSpPr>
          <p:cNvPr id="24" name="Text 22"/>
          <p:cNvSpPr txBox="1"/>
          <p:nvPr/>
        </p:nvSpPr>
        <p:spPr>
          <a:xfrm>
            <a:off x="6961327" y="3593592"/>
            <a:ext cx="1965960" cy="365760"/>
          </a:xfrm>
          <a:prstGeom prst="rect">
            <a:avLst/>
          </a:prstGeom>
          <a:noFill/>
          <a:ln/>
        </p:spPr>
        <p:txBody>
          <a:bodyPr wrap="square" lIns="0" tIns="0" rIns="0" bIns="0" rtlCol="0" anchor="t"/>
          <a:lstStyle/>
          <a:p>
            <a:pPr marL="0" indent="0" algn="r" rtl="1">
              <a:buNone/>
            </a:pPr>
            <a:r>
              <a:rPr lang="fa-IR" altLang="en-US" sz="1300" dirty="0">
                <a:solidFill>
                  <a:srgbClr val="475569"/>
                </a:solidFill>
                <a:latin typeface="Vazirmatn" pitchFamily="34" charset="0"/>
                <a:ea typeface="Vazirmatn" pitchFamily="34" charset="-122"/>
                <a:cs typeface="Vazirmatn" pitchFamily="34" charset="-120"/>
              </a:rPr>
              <a:t>سربار دفاع پیشنهادی</a:t>
            </a:r>
            <a:endParaRPr lang="fa-IR" sz="1300" dirty="0"/>
          </a:p>
        </p:txBody>
      </p:sp>
      <p:sp>
        <p:nvSpPr>
          <p:cNvPr id="25" name="Shape 23"/>
          <p:cNvSpPr/>
          <p:nvPr/>
        </p:nvSpPr>
        <p:spPr>
          <a:xfrm>
            <a:off x="4245559" y="2788920"/>
            <a:ext cx="2331720" cy="1325880"/>
          </a:xfrm>
          <a:prstGeom prst="roundRect">
            <a:avLst>
              <a:gd name="adj" fmla="val 8276"/>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26" name="Text 24"/>
          <p:cNvSpPr txBox="1"/>
          <p:nvPr/>
        </p:nvSpPr>
        <p:spPr>
          <a:xfrm>
            <a:off x="4428439" y="2926080"/>
            <a:ext cx="1965960" cy="640080"/>
          </a:xfrm>
          <a:prstGeom prst="rect">
            <a:avLst/>
          </a:prstGeom>
          <a:noFill/>
          <a:ln/>
        </p:spPr>
        <p:txBody>
          <a:bodyPr wrap="square" lIns="0" tIns="0" rIns="0" bIns="0" rtlCol="0" anchor="ctr"/>
          <a:lstStyle/>
          <a:p>
            <a:pPr marL="0" indent="0" algn="r" rtl="1">
              <a:buNone/>
            </a:pPr>
            <a:r>
              <a:rPr lang="fa-IR" altLang="en-US" sz="3200" b="1" dirty="0">
                <a:solidFill>
                  <a:srgbClr val="7C3AED"/>
                </a:solidFill>
                <a:latin typeface="Vazirmatn" pitchFamily="34" charset="0"/>
                <a:ea typeface="Vazirmatn" pitchFamily="34" charset="-122"/>
                <a:cs typeface="Vazirmatn" pitchFamily="34" charset="-120"/>
              </a:rPr>
              <a:t>۱۱</a:t>
            </a:r>
            <a:endParaRPr lang="fa-IR" sz="3200" dirty="0"/>
          </a:p>
        </p:txBody>
      </p:sp>
      <p:sp>
        <p:nvSpPr>
          <p:cNvPr id="27" name="Text 25"/>
          <p:cNvSpPr txBox="1"/>
          <p:nvPr/>
        </p:nvSpPr>
        <p:spPr>
          <a:xfrm>
            <a:off x="4428439" y="3593592"/>
            <a:ext cx="1965960" cy="365760"/>
          </a:xfrm>
          <a:prstGeom prst="rect">
            <a:avLst/>
          </a:prstGeom>
          <a:noFill/>
          <a:ln/>
        </p:spPr>
        <p:txBody>
          <a:bodyPr wrap="square" lIns="0" tIns="0" rIns="0" bIns="0" rtlCol="0" anchor="t"/>
          <a:lstStyle/>
          <a:p>
            <a:pPr marL="0" indent="0" algn="r" rtl="1">
              <a:buNone/>
            </a:pPr>
            <a:r>
              <a:rPr lang="fa-IR" altLang="en-US" sz="1300" dirty="0">
                <a:solidFill>
                  <a:srgbClr val="475569"/>
                </a:solidFill>
                <a:latin typeface="Vazirmatn" pitchFamily="34" charset="0"/>
                <a:ea typeface="Vazirmatn" pitchFamily="34" charset="-122"/>
                <a:cs typeface="Vazirmatn" pitchFamily="34" charset="-120"/>
              </a:rPr>
              <a:t>گجت ROP کافی برای root</a:t>
            </a:r>
            <a:endParaRPr lang="fa-IR" sz="1300" dirty="0"/>
          </a:p>
        </p:txBody>
      </p:sp>
      <p:sp>
        <p:nvSpPr>
          <p:cNvPr id="28" name="Text 26"/>
          <p:cNvSpPr txBox="1"/>
          <p:nvPr/>
        </p:nvSpPr>
        <p:spPr>
          <a:xfrm>
            <a:off x="4206240" y="4389120"/>
            <a:ext cx="7436815" cy="320040"/>
          </a:xfrm>
          <a:prstGeom prst="rect">
            <a:avLst/>
          </a:prstGeom>
          <a:noFill/>
          <a:ln/>
        </p:spPr>
        <p:txBody>
          <a:bodyPr wrap="square" lIns="0" tIns="0" rIns="0" bIns="0" rtlCol="0" anchor="t"/>
          <a:lstStyle/>
          <a:p>
            <a:pPr marL="0" indent="0" algn="r" rtl="1">
              <a:buNone/>
            </a:pPr>
            <a:r>
              <a:rPr lang="fa-IR" altLang="en-US" sz="1400" b="1" dirty="0">
                <a:solidFill>
                  <a:srgbClr val="0F172A"/>
                </a:solidFill>
                <a:latin typeface="Vazirmatn" pitchFamily="34" charset="0"/>
                <a:ea typeface="Vazirmatn" pitchFamily="34" charset="-122"/>
                <a:cs typeface="Vazirmatn" pitchFamily="34" charset="-120"/>
              </a:rPr>
              <a:t>دفاع‌های دورزده‌شده:</a:t>
            </a:r>
            <a:endParaRPr lang="fa-IR" sz="1400" dirty="0"/>
          </a:p>
        </p:txBody>
      </p:sp>
      <p:sp>
        <p:nvSpPr>
          <p:cNvPr id="29" name="Shape 27"/>
          <p:cNvSpPr/>
          <p:nvPr/>
        </p:nvSpPr>
        <p:spPr>
          <a:xfrm>
            <a:off x="10344607" y="4773168"/>
            <a:ext cx="1298448" cy="329184"/>
          </a:xfrm>
          <a:prstGeom prst="roundRect">
            <a:avLst>
              <a:gd name="adj" fmla="val 50000"/>
            </a:avLst>
          </a:prstGeom>
          <a:solidFill>
            <a:srgbClr val="FFE4E6"/>
          </a:solidFill>
          <a:ln w="12700">
            <a:solidFill>
              <a:srgbClr val="FFE4E6"/>
            </a:solidFill>
            <a:prstDash val="solid"/>
          </a:ln>
        </p:spPr>
      </p:sp>
      <p:sp>
        <p:nvSpPr>
          <p:cNvPr id="30" name="Text 28"/>
          <p:cNvSpPr txBox="1"/>
          <p:nvPr/>
        </p:nvSpPr>
        <p:spPr>
          <a:xfrm>
            <a:off x="10344607" y="4773168"/>
            <a:ext cx="1298448" cy="329184"/>
          </a:xfrm>
          <a:prstGeom prst="rect">
            <a:avLst/>
          </a:prstGeom>
          <a:noFill/>
          <a:ln/>
        </p:spPr>
        <p:txBody>
          <a:bodyPr wrap="square" lIns="0" tIns="0" rIns="0" bIns="0" rtlCol="0" anchor="ctr"/>
          <a:lstStyle/>
          <a:p>
            <a:pPr marL="0" indent="0" algn="ctr">
              <a:buNone/>
            </a:pPr>
            <a:r>
              <a:rPr lang="en-US" altLang="en-US" sz="1200" b="1" dirty="0">
                <a:solidFill>
                  <a:srgbClr val="E11D48"/>
                </a:solidFill>
                <a:latin typeface="Vazirmatn" pitchFamily="34" charset="0"/>
                <a:ea typeface="Vazirmatn" pitchFamily="34" charset="-122"/>
                <a:cs typeface="Vazirmatn" pitchFamily="34" charset="-120"/>
              </a:rPr>
              <a:t>SMEP</a:t>
            </a:r>
            <a:endParaRPr lang="en-US" sz="1200" dirty="0"/>
          </a:p>
        </p:txBody>
      </p:sp>
      <p:sp>
        <p:nvSpPr>
          <p:cNvPr id="31" name="Shape 29"/>
          <p:cNvSpPr/>
          <p:nvPr/>
        </p:nvSpPr>
        <p:spPr>
          <a:xfrm>
            <a:off x="8936431" y="4773168"/>
            <a:ext cx="1298448" cy="329184"/>
          </a:xfrm>
          <a:prstGeom prst="roundRect">
            <a:avLst>
              <a:gd name="adj" fmla="val 50000"/>
            </a:avLst>
          </a:prstGeom>
          <a:solidFill>
            <a:srgbClr val="FFE4E6"/>
          </a:solidFill>
          <a:ln w="12700">
            <a:solidFill>
              <a:srgbClr val="FFE4E6"/>
            </a:solidFill>
            <a:prstDash val="solid"/>
          </a:ln>
        </p:spPr>
      </p:sp>
      <p:sp>
        <p:nvSpPr>
          <p:cNvPr id="32" name="Text 30"/>
          <p:cNvSpPr txBox="1"/>
          <p:nvPr/>
        </p:nvSpPr>
        <p:spPr>
          <a:xfrm>
            <a:off x="8936431" y="4773168"/>
            <a:ext cx="1298448" cy="329184"/>
          </a:xfrm>
          <a:prstGeom prst="rect">
            <a:avLst/>
          </a:prstGeom>
          <a:noFill/>
          <a:ln/>
        </p:spPr>
        <p:txBody>
          <a:bodyPr wrap="square" lIns="0" tIns="0" rIns="0" bIns="0" rtlCol="0" anchor="ctr"/>
          <a:lstStyle/>
          <a:p>
            <a:pPr marL="0" indent="0" algn="ctr">
              <a:buNone/>
            </a:pPr>
            <a:r>
              <a:rPr lang="en-US" altLang="en-US" sz="1200" b="1" dirty="0">
                <a:solidFill>
                  <a:srgbClr val="E11D48"/>
                </a:solidFill>
                <a:latin typeface="Vazirmatn" pitchFamily="34" charset="0"/>
                <a:ea typeface="Vazirmatn" pitchFamily="34" charset="-122"/>
                <a:cs typeface="Vazirmatn" pitchFamily="34" charset="-120"/>
              </a:rPr>
              <a:t>SMAP</a:t>
            </a:r>
            <a:endParaRPr lang="en-US" sz="1200" dirty="0"/>
          </a:p>
        </p:txBody>
      </p:sp>
      <p:sp>
        <p:nvSpPr>
          <p:cNvPr id="33" name="Shape 31"/>
          <p:cNvSpPr/>
          <p:nvPr/>
        </p:nvSpPr>
        <p:spPr>
          <a:xfrm>
            <a:off x="7528255" y="4773168"/>
            <a:ext cx="1298448" cy="329184"/>
          </a:xfrm>
          <a:prstGeom prst="roundRect">
            <a:avLst>
              <a:gd name="adj" fmla="val 50000"/>
            </a:avLst>
          </a:prstGeom>
          <a:solidFill>
            <a:srgbClr val="FFE4E6"/>
          </a:solidFill>
          <a:ln w="12700">
            <a:solidFill>
              <a:srgbClr val="FFE4E6"/>
            </a:solidFill>
            <a:prstDash val="solid"/>
          </a:ln>
        </p:spPr>
      </p:sp>
      <p:sp>
        <p:nvSpPr>
          <p:cNvPr id="34" name="Text 32"/>
          <p:cNvSpPr txBox="1"/>
          <p:nvPr/>
        </p:nvSpPr>
        <p:spPr>
          <a:xfrm>
            <a:off x="7528255" y="4773168"/>
            <a:ext cx="1298448" cy="329184"/>
          </a:xfrm>
          <a:prstGeom prst="rect">
            <a:avLst/>
          </a:prstGeom>
          <a:noFill/>
          <a:ln/>
        </p:spPr>
        <p:txBody>
          <a:bodyPr wrap="square" lIns="0" tIns="0" rIns="0" bIns="0" rtlCol="0" anchor="ctr"/>
          <a:lstStyle/>
          <a:p>
            <a:pPr marL="0" indent="0" algn="ctr">
              <a:buNone/>
            </a:pPr>
            <a:r>
              <a:rPr lang="en-US" altLang="en-US" sz="1200" b="1" dirty="0">
                <a:solidFill>
                  <a:srgbClr val="E11D48"/>
                </a:solidFill>
                <a:latin typeface="Vazirmatn" pitchFamily="34" charset="0"/>
                <a:ea typeface="Vazirmatn" pitchFamily="34" charset="-122"/>
                <a:cs typeface="Vazirmatn" pitchFamily="34" charset="-120"/>
              </a:rPr>
              <a:t>KPTI</a:t>
            </a:r>
            <a:endParaRPr lang="en-US" sz="1200" dirty="0"/>
          </a:p>
        </p:txBody>
      </p:sp>
      <p:sp>
        <p:nvSpPr>
          <p:cNvPr id="35" name="Shape 33"/>
          <p:cNvSpPr/>
          <p:nvPr/>
        </p:nvSpPr>
        <p:spPr>
          <a:xfrm>
            <a:off x="6120079" y="4773168"/>
            <a:ext cx="1298448" cy="329184"/>
          </a:xfrm>
          <a:prstGeom prst="roundRect">
            <a:avLst>
              <a:gd name="adj" fmla="val 50000"/>
            </a:avLst>
          </a:prstGeom>
          <a:solidFill>
            <a:srgbClr val="FFE4E6"/>
          </a:solidFill>
          <a:ln w="12700">
            <a:solidFill>
              <a:srgbClr val="FFE4E6"/>
            </a:solidFill>
            <a:prstDash val="solid"/>
          </a:ln>
        </p:spPr>
      </p:sp>
      <p:sp>
        <p:nvSpPr>
          <p:cNvPr id="36" name="Text 34"/>
          <p:cNvSpPr txBox="1"/>
          <p:nvPr/>
        </p:nvSpPr>
        <p:spPr>
          <a:xfrm>
            <a:off x="6120079" y="4773168"/>
            <a:ext cx="1298448" cy="329184"/>
          </a:xfrm>
          <a:prstGeom prst="rect">
            <a:avLst/>
          </a:prstGeom>
          <a:noFill/>
          <a:ln/>
        </p:spPr>
        <p:txBody>
          <a:bodyPr wrap="square" lIns="0" tIns="0" rIns="0" bIns="0" rtlCol="0" anchor="ctr"/>
          <a:lstStyle/>
          <a:p>
            <a:pPr marL="0" indent="0" algn="ctr">
              <a:buNone/>
            </a:pPr>
            <a:r>
              <a:rPr lang="en-US" altLang="en-US" sz="1200" b="1" dirty="0">
                <a:solidFill>
                  <a:srgbClr val="E11D48"/>
                </a:solidFill>
                <a:latin typeface="Vazirmatn" pitchFamily="34" charset="0"/>
                <a:ea typeface="Vazirmatn" pitchFamily="34" charset="-122"/>
                <a:cs typeface="Vazirmatn" pitchFamily="34" charset="-120"/>
              </a:rPr>
              <a:t>RANDKSTACK</a:t>
            </a:r>
            <a:endParaRPr lang="en-US" sz="1200" dirty="0"/>
          </a:p>
        </p:txBody>
      </p:sp>
      <p:sp>
        <p:nvSpPr>
          <p:cNvPr id="37" name="Shape 35"/>
          <p:cNvSpPr/>
          <p:nvPr/>
        </p:nvSpPr>
        <p:spPr>
          <a:xfrm>
            <a:off x="4711903" y="4773168"/>
            <a:ext cx="1298448" cy="329184"/>
          </a:xfrm>
          <a:prstGeom prst="roundRect">
            <a:avLst>
              <a:gd name="adj" fmla="val 50000"/>
            </a:avLst>
          </a:prstGeom>
          <a:solidFill>
            <a:srgbClr val="FFE4E6"/>
          </a:solidFill>
          <a:ln w="12700">
            <a:solidFill>
              <a:srgbClr val="FFE4E6"/>
            </a:solidFill>
            <a:prstDash val="solid"/>
          </a:ln>
        </p:spPr>
      </p:sp>
      <p:sp>
        <p:nvSpPr>
          <p:cNvPr id="38" name="Text 36"/>
          <p:cNvSpPr txBox="1"/>
          <p:nvPr/>
        </p:nvSpPr>
        <p:spPr>
          <a:xfrm>
            <a:off x="4711903" y="4773168"/>
            <a:ext cx="1298448" cy="329184"/>
          </a:xfrm>
          <a:prstGeom prst="rect">
            <a:avLst/>
          </a:prstGeom>
          <a:noFill/>
          <a:ln/>
        </p:spPr>
        <p:txBody>
          <a:bodyPr wrap="square" lIns="0" tIns="0" rIns="0" bIns="0" rtlCol="0" anchor="ctr"/>
          <a:lstStyle/>
          <a:p>
            <a:pPr marL="0" indent="0" algn="ctr">
              <a:buNone/>
            </a:pPr>
            <a:r>
              <a:rPr lang="en-US" altLang="en-US" sz="1200" b="1" dirty="0">
                <a:solidFill>
                  <a:srgbClr val="E11D48"/>
                </a:solidFill>
                <a:latin typeface="Vazirmatn" pitchFamily="34" charset="0"/>
                <a:ea typeface="Vazirmatn" pitchFamily="34" charset="-122"/>
                <a:cs typeface="Vazirmatn" pitchFamily="34" charset="-120"/>
              </a:rPr>
              <a:t>KCFI / IBT</a:t>
            </a:r>
            <a:endParaRPr lang="en-US" sz="1200" dirty="0"/>
          </a:p>
        </p:txBody>
      </p:sp>
      <p:sp>
        <p:nvSpPr>
          <p:cNvPr id="39" name="Shape 37"/>
          <p:cNvSpPr/>
          <p:nvPr/>
        </p:nvSpPr>
        <p:spPr>
          <a:xfrm>
            <a:off x="4206240" y="5349240"/>
            <a:ext cx="7436815" cy="777240"/>
          </a:xfrm>
          <a:prstGeom prst="roundRect">
            <a:avLst>
              <a:gd name="adj" fmla="val 14118"/>
            </a:avLst>
          </a:prstGeom>
          <a:solidFill>
            <a:srgbClr val="0B1220"/>
          </a:solidFill>
          <a:ln w="12700">
            <a:solidFill>
              <a:srgbClr val="0B1220"/>
            </a:solidFill>
            <a:prstDash val="solid"/>
          </a:ln>
          <a:effectLst>
            <a:outerShdw blurRad="101600" dist="25400" dir="5400000" algn="bl" rotWithShape="0">
              <a:srgbClr val="0F172A">
                <a:alpha val="8000"/>
              </a:srgbClr>
            </a:outerShdw>
          </a:effectLst>
        </p:spPr>
      </p:sp>
      <p:sp>
        <p:nvSpPr>
          <p:cNvPr id="40" name="Text 38"/>
          <p:cNvSpPr txBox="1"/>
          <p:nvPr/>
        </p:nvSpPr>
        <p:spPr>
          <a:xfrm>
            <a:off x="4480560" y="5349240"/>
            <a:ext cx="6888175" cy="777240"/>
          </a:xfrm>
          <a:prstGeom prst="rect">
            <a:avLst/>
          </a:prstGeom>
          <a:noFill/>
          <a:ln/>
        </p:spPr>
        <p:txBody>
          <a:bodyPr wrap="square" lIns="0" tIns="0" rIns="0" bIns="0" rtlCol="0" anchor="ctr"/>
          <a:lstStyle/>
          <a:p>
            <a:pPr marL="0" indent="0" algn="r" rtl="1">
              <a:buNone/>
            </a:pPr>
            <a:r>
              <a:rPr lang="fa-IR" altLang="en-US" sz="1500" b="1" dirty="0">
                <a:solidFill>
                  <a:srgbClr val="FFFFFF"/>
                </a:solidFill>
                <a:latin typeface="Vazirmatn" pitchFamily="34" charset="0"/>
                <a:ea typeface="Vazirmatn" pitchFamily="34" charset="-122"/>
                <a:cs typeface="Vazirmatn" pitchFamily="34" charset="-120"/>
              </a:rPr>
              <a:t>درس برای بقیه‌ی مرور: دفاع خوب باید فرض کند مهاجم دیر یا زود جریان اجرا را می‌رباید.</a:t>
            </a:r>
            <a:endParaRPr lang="fa-IR" sz="1500" dirty="0"/>
          </a:p>
        </p:txBody>
      </p:sp>
      <p:sp>
        <p:nvSpPr>
          <p:cNvPr id="41"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4A3B8"/>
                </a:solidFill>
                <a:latin typeface="Vazirmatn"/>
                <a:ea typeface="Vazirmatn"/>
                <a:cs typeface="Vazirmatn"/>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47472"/>
            <a:ext cx="11094415" cy="640080"/>
          </a:xfrm>
          <a:prstGeom prst="rect">
            <a:avLst/>
          </a:prstGeom>
          <a:noFill/>
          <a:ln/>
        </p:spPr>
        <p:txBody>
          <a:bodyPr wrap="square" lIns="0" tIns="0" rIns="0" bIns="0" rtlCol="0" anchor="ctr"/>
          <a:lstStyle/>
          <a:p>
            <a:pPr marL="0" indent="0" algn="r" rtl="1">
              <a:buNone/>
            </a:pPr>
            <a:r>
              <a:rPr lang="fa-IR" altLang="en-US" sz="3000" b="1" dirty="0">
                <a:solidFill>
                  <a:srgbClr val="0F172A"/>
                </a:solidFill>
                <a:latin typeface="Vazirmatn" pitchFamily="34" charset="0"/>
                <a:ea typeface="Vazirmatn" pitchFamily="34" charset="-122"/>
                <a:cs typeface="Vazirmatn" pitchFamily="34" charset="-120"/>
              </a:rPr>
              <a:t>پیش‌نیاز: Intel MPK در یک نگاه</a:t>
            </a:r>
            <a:endParaRPr lang="fa-IR" sz="3000" dirty="0"/>
          </a:p>
        </p:txBody>
      </p:sp>
      <p:sp>
        <p:nvSpPr>
          <p:cNvPr id="3" name="Text 1"/>
          <p:cNvSpPr txBox="1"/>
          <p:nvPr/>
        </p:nvSpPr>
        <p:spPr>
          <a:xfrm>
            <a:off x="548640" y="969264"/>
            <a:ext cx="8168335" cy="365760"/>
          </a:xfrm>
          <a:prstGeom prst="rect">
            <a:avLst/>
          </a:prstGeom>
          <a:noFill/>
          <a:ln/>
        </p:spPr>
        <p:txBody>
          <a:bodyPr wrap="square" lIns="0" tIns="0" rIns="0" bIns="0" rtlCol="0" anchor="ctr"/>
          <a:lstStyle/>
          <a:p>
            <a:pPr marL="0" indent="0" algn="r" rtl="1">
              <a:buNone/>
            </a:pPr>
            <a:r>
              <a:rPr lang="fa-IR" altLang="en-US" sz="1500" dirty="0">
                <a:solidFill>
                  <a:srgbClr val="475569"/>
                </a:solidFill>
                <a:latin typeface="Vazirmatn" pitchFamily="34" charset="0"/>
                <a:ea typeface="Vazirmatn" pitchFamily="34" charset="-122"/>
                <a:cs typeface="Vazirmatn" pitchFamily="34" charset="-120"/>
              </a:rPr>
              <a:t>ابزار مشترک Safeslab و μSwitch</a:t>
            </a:r>
            <a:endParaRPr lang="fa-IR" sz="1500" dirty="0"/>
          </a:p>
        </p:txBody>
      </p:sp>
      <p:sp>
        <p:nvSpPr>
          <p:cNvPr id="4" name="Shape 2"/>
          <p:cNvSpPr/>
          <p:nvPr/>
        </p:nvSpPr>
        <p:spPr>
          <a:xfrm>
            <a:off x="548640" y="502920"/>
            <a:ext cx="2377440" cy="329184"/>
          </a:xfrm>
          <a:prstGeom prst="roundRect">
            <a:avLst>
              <a:gd name="adj" fmla="val 50000"/>
            </a:avLst>
          </a:prstGeom>
          <a:solidFill>
            <a:srgbClr val="EDE9FE"/>
          </a:solidFill>
          <a:ln w="12700">
            <a:solidFill>
              <a:srgbClr val="EDE9FE"/>
            </a:solidFill>
            <a:prstDash val="solid"/>
          </a:ln>
        </p:spPr>
      </p:sp>
      <p:sp>
        <p:nvSpPr>
          <p:cNvPr id="5" name="Text 3"/>
          <p:cNvSpPr txBox="1"/>
          <p:nvPr/>
        </p:nvSpPr>
        <p:spPr>
          <a:xfrm>
            <a:off x="548640" y="502920"/>
            <a:ext cx="2377440" cy="329184"/>
          </a:xfrm>
          <a:prstGeom prst="rect">
            <a:avLst/>
          </a:prstGeom>
          <a:noFill/>
          <a:ln/>
        </p:spPr>
        <p:txBody>
          <a:bodyPr wrap="square" lIns="0" tIns="0" rIns="0" bIns="0" rtlCol="0" anchor="ctr"/>
          <a:lstStyle/>
          <a:p>
            <a:pPr marL="0" indent="0" algn="ctr" rtl="1">
              <a:buNone/>
            </a:pPr>
            <a:r>
              <a:rPr lang="fa-IR" altLang="en-US" sz="1200" b="1" dirty="0">
                <a:solidFill>
                  <a:srgbClr val="7C3AED"/>
                </a:solidFill>
                <a:latin typeface="Vazirmatn" pitchFamily="34" charset="0"/>
                <a:ea typeface="Vazirmatn" pitchFamily="34" charset="-122"/>
                <a:cs typeface="Vazirmatn" pitchFamily="34" charset="-120"/>
              </a:rPr>
              <a:t>پیش‌زمینه‌ی سخت‌افزاری</a:t>
            </a:r>
            <a:endParaRPr lang="fa-IR" sz="1200" dirty="0"/>
          </a:p>
        </p:txBody>
      </p:sp>
      <p:sp>
        <p:nvSpPr>
          <p:cNvPr id="6" name="Text 4"/>
          <p:cNvSpPr txBox="1"/>
          <p:nvPr/>
        </p:nvSpPr>
        <p:spPr>
          <a:xfrm>
            <a:off x="548640" y="1600200"/>
            <a:ext cx="11094415" cy="365760"/>
          </a:xfrm>
          <a:prstGeom prst="rect">
            <a:avLst/>
          </a:prstGeom>
          <a:noFill/>
          <a:ln/>
        </p:spPr>
        <p:txBody>
          <a:bodyPr wrap="square" lIns="0" tIns="0" rIns="0" bIns="0" rtlCol="0" anchor="t"/>
          <a:lstStyle/>
          <a:p>
            <a:pPr marL="0" indent="0" algn="r" rtl="1">
              <a:buNone/>
            </a:pPr>
            <a:r>
              <a:rPr lang="fa-IR" altLang="en-US" sz="1600" b="1" dirty="0">
                <a:solidFill>
                  <a:srgbClr val="0F172A"/>
                </a:solidFill>
                <a:latin typeface="Vazirmatn" pitchFamily="34" charset="0"/>
                <a:ea typeface="Vazirmatn" pitchFamily="34" charset="-122"/>
                <a:cs typeface="Vazirmatn" pitchFamily="34" charset="-120"/>
              </a:rPr>
              <a:t>۱۶ کلید حفاظتی؛ هر صفحه‌ی حافظه یک برچسب ۴ بیتی دارد</a:t>
            </a:r>
            <a:endParaRPr lang="fa-IR" sz="1600" dirty="0"/>
          </a:p>
        </p:txBody>
      </p:sp>
      <p:sp>
        <p:nvSpPr>
          <p:cNvPr id="7" name="Shape 5"/>
          <p:cNvSpPr/>
          <p:nvPr/>
        </p:nvSpPr>
        <p:spPr>
          <a:xfrm>
            <a:off x="11039551" y="2103120"/>
            <a:ext cx="603504" cy="603504"/>
          </a:xfrm>
          <a:prstGeom prst="roundRect">
            <a:avLst>
              <a:gd name="adj" fmla="val 12121"/>
            </a:avLst>
          </a:prstGeom>
          <a:solidFill>
            <a:srgbClr val="EDE9FE"/>
          </a:solidFill>
          <a:ln w="12700">
            <a:solidFill>
              <a:srgbClr val="EDE9FE"/>
            </a:solidFill>
            <a:prstDash val="solid"/>
          </a:ln>
        </p:spPr>
      </p:sp>
      <p:sp>
        <p:nvSpPr>
          <p:cNvPr id="8" name="Text 6"/>
          <p:cNvSpPr txBox="1"/>
          <p:nvPr/>
        </p:nvSpPr>
        <p:spPr>
          <a:xfrm>
            <a:off x="11039551" y="2103120"/>
            <a:ext cx="603504" cy="603504"/>
          </a:xfrm>
          <a:prstGeom prst="rect">
            <a:avLst/>
          </a:prstGeom>
          <a:noFill/>
          <a:ln/>
        </p:spPr>
        <p:txBody>
          <a:bodyPr wrap="square" lIns="0" tIns="0" rIns="0" bIns="0" rtlCol="0" anchor="ctr"/>
          <a:lstStyle/>
          <a:p>
            <a:pPr marL="0" indent="0" algn="ctr">
              <a:buNone/>
            </a:pPr>
            <a:r>
              <a:rPr lang="en-US" altLang="en-US" sz="1400" b="1" dirty="0">
                <a:solidFill>
                  <a:srgbClr val="7C3AED"/>
                </a:solidFill>
                <a:latin typeface="Vazirmatn" pitchFamily="34" charset="0"/>
                <a:ea typeface="Vazirmatn" pitchFamily="34" charset="-122"/>
                <a:cs typeface="Vazirmatn" pitchFamily="34" charset="-120"/>
              </a:rPr>
              <a:t>0</a:t>
            </a:r>
            <a:endParaRPr lang="en-US" sz="1400" dirty="0"/>
          </a:p>
        </p:txBody>
      </p:sp>
      <p:sp>
        <p:nvSpPr>
          <p:cNvPr id="9" name="Shape 7"/>
          <p:cNvSpPr/>
          <p:nvPr/>
        </p:nvSpPr>
        <p:spPr>
          <a:xfrm>
            <a:off x="10381183" y="2103120"/>
            <a:ext cx="603504" cy="603504"/>
          </a:xfrm>
          <a:prstGeom prst="roundRect">
            <a:avLst>
              <a:gd name="adj" fmla="val 12121"/>
            </a:avLst>
          </a:prstGeom>
          <a:solidFill>
            <a:srgbClr val="EDE9FE"/>
          </a:solidFill>
          <a:ln w="12700">
            <a:solidFill>
              <a:srgbClr val="EDE9FE"/>
            </a:solidFill>
            <a:prstDash val="solid"/>
          </a:ln>
        </p:spPr>
      </p:sp>
      <p:sp>
        <p:nvSpPr>
          <p:cNvPr id="10" name="Text 8"/>
          <p:cNvSpPr txBox="1"/>
          <p:nvPr/>
        </p:nvSpPr>
        <p:spPr>
          <a:xfrm>
            <a:off x="10381183" y="2103120"/>
            <a:ext cx="603504" cy="603504"/>
          </a:xfrm>
          <a:prstGeom prst="rect">
            <a:avLst/>
          </a:prstGeom>
          <a:noFill/>
          <a:ln/>
        </p:spPr>
        <p:txBody>
          <a:bodyPr wrap="square" lIns="0" tIns="0" rIns="0" bIns="0" rtlCol="0" anchor="ctr"/>
          <a:lstStyle/>
          <a:p>
            <a:pPr marL="0" indent="0" algn="ctr">
              <a:buNone/>
            </a:pPr>
            <a:r>
              <a:rPr lang="en-US" altLang="en-US" sz="1400" b="1" dirty="0">
                <a:solidFill>
                  <a:srgbClr val="7C3AED"/>
                </a:solidFill>
                <a:latin typeface="Vazirmatn" pitchFamily="34" charset="0"/>
                <a:ea typeface="Vazirmatn" pitchFamily="34" charset="-122"/>
                <a:cs typeface="Vazirmatn" pitchFamily="34" charset="-120"/>
              </a:rPr>
              <a:t>1</a:t>
            </a:r>
            <a:endParaRPr lang="en-US" sz="1400" dirty="0"/>
          </a:p>
        </p:txBody>
      </p:sp>
      <p:sp>
        <p:nvSpPr>
          <p:cNvPr id="11" name="Shape 9"/>
          <p:cNvSpPr/>
          <p:nvPr/>
        </p:nvSpPr>
        <p:spPr>
          <a:xfrm>
            <a:off x="9722815" y="2103120"/>
            <a:ext cx="603504" cy="603504"/>
          </a:xfrm>
          <a:prstGeom prst="roundRect">
            <a:avLst>
              <a:gd name="adj" fmla="val 12121"/>
            </a:avLst>
          </a:prstGeom>
          <a:solidFill>
            <a:srgbClr val="EDE9FE"/>
          </a:solidFill>
          <a:ln w="12700">
            <a:solidFill>
              <a:srgbClr val="EDE9FE"/>
            </a:solidFill>
            <a:prstDash val="solid"/>
          </a:ln>
        </p:spPr>
      </p:sp>
      <p:sp>
        <p:nvSpPr>
          <p:cNvPr id="12" name="Text 10"/>
          <p:cNvSpPr txBox="1"/>
          <p:nvPr/>
        </p:nvSpPr>
        <p:spPr>
          <a:xfrm>
            <a:off x="9722815" y="2103120"/>
            <a:ext cx="603504" cy="603504"/>
          </a:xfrm>
          <a:prstGeom prst="rect">
            <a:avLst/>
          </a:prstGeom>
          <a:noFill/>
          <a:ln/>
        </p:spPr>
        <p:txBody>
          <a:bodyPr wrap="square" lIns="0" tIns="0" rIns="0" bIns="0" rtlCol="0" anchor="ctr"/>
          <a:lstStyle/>
          <a:p>
            <a:pPr marL="0" indent="0" algn="ctr">
              <a:buNone/>
            </a:pPr>
            <a:r>
              <a:rPr lang="en-US" altLang="en-US" sz="1400" b="1" dirty="0">
                <a:solidFill>
                  <a:srgbClr val="7C3AED"/>
                </a:solidFill>
                <a:latin typeface="Vazirmatn" pitchFamily="34" charset="0"/>
                <a:ea typeface="Vazirmatn" pitchFamily="34" charset="-122"/>
                <a:cs typeface="Vazirmatn" pitchFamily="34" charset="-120"/>
              </a:rPr>
              <a:t>2</a:t>
            </a:r>
            <a:endParaRPr lang="en-US" sz="1400" dirty="0"/>
          </a:p>
        </p:txBody>
      </p:sp>
      <p:sp>
        <p:nvSpPr>
          <p:cNvPr id="13" name="Shape 11"/>
          <p:cNvSpPr/>
          <p:nvPr/>
        </p:nvSpPr>
        <p:spPr>
          <a:xfrm>
            <a:off x="9064447" y="2103120"/>
            <a:ext cx="603504" cy="603504"/>
          </a:xfrm>
          <a:prstGeom prst="roundRect">
            <a:avLst>
              <a:gd name="adj" fmla="val 12121"/>
            </a:avLst>
          </a:prstGeom>
          <a:solidFill>
            <a:srgbClr val="7C3AED"/>
          </a:solidFill>
          <a:ln w="12700">
            <a:solidFill>
              <a:srgbClr val="7C3AED"/>
            </a:solidFill>
            <a:prstDash val="solid"/>
          </a:ln>
        </p:spPr>
      </p:sp>
      <p:sp>
        <p:nvSpPr>
          <p:cNvPr id="14" name="Text 12"/>
          <p:cNvSpPr txBox="1"/>
          <p:nvPr/>
        </p:nvSpPr>
        <p:spPr>
          <a:xfrm>
            <a:off x="9064447" y="2103120"/>
            <a:ext cx="603504" cy="603504"/>
          </a:xfrm>
          <a:prstGeom prst="rect">
            <a:avLst/>
          </a:prstGeom>
          <a:noFill/>
          <a:ln/>
        </p:spPr>
        <p:txBody>
          <a:bodyPr wrap="square" lIns="0" tIns="0" rIns="0" bIns="0" rtlCol="0" anchor="ctr"/>
          <a:lstStyle/>
          <a:p>
            <a:pPr marL="0" indent="0" algn="ctr">
              <a:buNone/>
            </a:pPr>
            <a:r>
              <a:rPr lang="en-US" altLang="en-US" sz="1400" b="1" dirty="0">
                <a:solidFill>
                  <a:srgbClr val="FFFFFF"/>
                </a:solidFill>
                <a:latin typeface="Vazirmatn" pitchFamily="34" charset="0"/>
                <a:ea typeface="Vazirmatn" pitchFamily="34" charset="-122"/>
                <a:cs typeface="Vazirmatn" pitchFamily="34" charset="-120"/>
              </a:rPr>
              <a:t>3</a:t>
            </a:r>
            <a:endParaRPr lang="en-US" sz="1400" dirty="0"/>
          </a:p>
        </p:txBody>
      </p:sp>
      <p:sp>
        <p:nvSpPr>
          <p:cNvPr id="15" name="Shape 13"/>
          <p:cNvSpPr/>
          <p:nvPr/>
        </p:nvSpPr>
        <p:spPr>
          <a:xfrm>
            <a:off x="8406079" y="2103120"/>
            <a:ext cx="603504" cy="603504"/>
          </a:xfrm>
          <a:prstGeom prst="roundRect">
            <a:avLst>
              <a:gd name="adj" fmla="val 12121"/>
            </a:avLst>
          </a:prstGeom>
          <a:solidFill>
            <a:srgbClr val="EDE9FE"/>
          </a:solidFill>
          <a:ln w="12700">
            <a:solidFill>
              <a:srgbClr val="EDE9FE"/>
            </a:solidFill>
            <a:prstDash val="solid"/>
          </a:ln>
        </p:spPr>
      </p:sp>
      <p:sp>
        <p:nvSpPr>
          <p:cNvPr id="16" name="Text 14"/>
          <p:cNvSpPr txBox="1"/>
          <p:nvPr/>
        </p:nvSpPr>
        <p:spPr>
          <a:xfrm>
            <a:off x="8406079" y="2103120"/>
            <a:ext cx="603504" cy="603504"/>
          </a:xfrm>
          <a:prstGeom prst="rect">
            <a:avLst/>
          </a:prstGeom>
          <a:noFill/>
          <a:ln/>
        </p:spPr>
        <p:txBody>
          <a:bodyPr wrap="square" lIns="0" tIns="0" rIns="0" bIns="0" rtlCol="0" anchor="ctr"/>
          <a:lstStyle/>
          <a:p>
            <a:pPr marL="0" indent="0" algn="ctr">
              <a:buNone/>
            </a:pPr>
            <a:r>
              <a:rPr lang="en-US" altLang="en-US" sz="1400" b="1" dirty="0">
                <a:solidFill>
                  <a:srgbClr val="7C3AED"/>
                </a:solidFill>
                <a:latin typeface="Vazirmatn" pitchFamily="34" charset="0"/>
                <a:ea typeface="Vazirmatn" pitchFamily="34" charset="-122"/>
                <a:cs typeface="Vazirmatn" pitchFamily="34" charset="-120"/>
              </a:rPr>
              <a:t>4</a:t>
            </a:r>
            <a:endParaRPr lang="en-US" sz="1400" dirty="0"/>
          </a:p>
        </p:txBody>
      </p:sp>
      <p:sp>
        <p:nvSpPr>
          <p:cNvPr id="17" name="Shape 15"/>
          <p:cNvSpPr/>
          <p:nvPr/>
        </p:nvSpPr>
        <p:spPr>
          <a:xfrm>
            <a:off x="7747711" y="2103120"/>
            <a:ext cx="603504" cy="603504"/>
          </a:xfrm>
          <a:prstGeom prst="roundRect">
            <a:avLst>
              <a:gd name="adj" fmla="val 12121"/>
            </a:avLst>
          </a:prstGeom>
          <a:solidFill>
            <a:srgbClr val="EDE9FE"/>
          </a:solidFill>
          <a:ln w="12700">
            <a:solidFill>
              <a:srgbClr val="EDE9FE"/>
            </a:solidFill>
            <a:prstDash val="solid"/>
          </a:ln>
        </p:spPr>
      </p:sp>
      <p:sp>
        <p:nvSpPr>
          <p:cNvPr id="18" name="Text 16"/>
          <p:cNvSpPr txBox="1"/>
          <p:nvPr/>
        </p:nvSpPr>
        <p:spPr>
          <a:xfrm>
            <a:off x="7747711" y="2103120"/>
            <a:ext cx="603504" cy="603504"/>
          </a:xfrm>
          <a:prstGeom prst="rect">
            <a:avLst/>
          </a:prstGeom>
          <a:noFill/>
          <a:ln/>
        </p:spPr>
        <p:txBody>
          <a:bodyPr wrap="square" lIns="0" tIns="0" rIns="0" bIns="0" rtlCol="0" anchor="ctr"/>
          <a:lstStyle/>
          <a:p>
            <a:pPr marL="0" indent="0" algn="ctr">
              <a:buNone/>
            </a:pPr>
            <a:r>
              <a:rPr lang="en-US" altLang="en-US" sz="1400" b="1" dirty="0">
                <a:solidFill>
                  <a:srgbClr val="7C3AED"/>
                </a:solidFill>
                <a:latin typeface="Vazirmatn" pitchFamily="34" charset="0"/>
                <a:ea typeface="Vazirmatn" pitchFamily="34" charset="-122"/>
                <a:cs typeface="Vazirmatn" pitchFamily="34" charset="-120"/>
              </a:rPr>
              <a:t>5</a:t>
            </a:r>
            <a:endParaRPr lang="en-US" sz="1400" dirty="0"/>
          </a:p>
        </p:txBody>
      </p:sp>
      <p:sp>
        <p:nvSpPr>
          <p:cNvPr id="19" name="Shape 17"/>
          <p:cNvSpPr/>
          <p:nvPr/>
        </p:nvSpPr>
        <p:spPr>
          <a:xfrm>
            <a:off x="7089343" y="2103120"/>
            <a:ext cx="603504" cy="603504"/>
          </a:xfrm>
          <a:prstGeom prst="roundRect">
            <a:avLst>
              <a:gd name="adj" fmla="val 12121"/>
            </a:avLst>
          </a:prstGeom>
          <a:solidFill>
            <a:srgbClr val="EDE9FE"/>
          </a:solidFill>
          <a:ln w="12700">
            <a:solidFill>
              <a:srgbClr val="EDE9FE"/>
            </a:solidFill>
            <a:prstDash val="solid"/>
          </a:ln>
        </p:spPr>
      </p:sp>
      <p:sp>
        <p:nvSpPr>
          <p:cNvPr id="20" name="Text 18"/>
          <p:cNvSpPr txBox="1"/>
          <p:nvPr/>
        </p:nvSpPr>
        <p:spPr>
          <a:xfrm>
            <a:off x="7089343" y="2103120"/>
            <a:ext cx="603504" cy="603504"/>
          </a:xfrm>
          <a:prstGeom prst="rect">
            <a:avLst/>
          </a:prstGeom>
          <a:noFill/>
          <a:ln/>
        </p:spPr>
        <p:txBody>
          <a:bodyPr wrap="square" lIns="0" tIns="0" rIns="0" bIns="0" rtlCol="0" anchor="ctr"/>
          <a:lstStyle/>
          <a:p>
            <a:pPr marL="0" indent="0" algn="ctr">
              <a:buNone/>
            </a:pPr>
            <a:r>
              <a:rPr lang="en-US" altLang="en-US" sz="1400" b="1" dirty="0">
                <a:solidFill>
                  <a:srgbClr val="7C3AED"/>
                </a:solidFill>
                <a:latin typeface="Vazirmatn" pitchFamily="34" charset="0"/>
                <a:ea typeface="Vazirmatn" pitchFamily="34" charset="-122"/>
                <a:cs typeface="Vazirmatn" pitchFamily="34" charset="-120"/>
              </a:rPr>
              <a:t>6</a:t>
            </a:r>
            <a:endParaRPr lang="en-US" sz="1400" dirty="0"/>
          </a:p>
        </p:txBody>
      </p:sp>
      <p:sp>
        <p:nvSpPr>
          <p:cNvPr id="21" name="Shape 19"/>
          <p:cNvSpPr/>
          <p:nvPr/>
        </p:nvSpPr>
        <p:spPr>
          <a:xfrm>
            <a:off x="6430975" y="2103120"/>
            <a:ext cx="603504" cy="603504"/>
          </a:xfrm>
          <a:prstGeom prst="roundRect">
            <a:avLst>
              <a:gd name="adj" fmla="val 12121"/>
            </a:avLst>
          </a:prstGeom>
          <a:solidFill>
            <a:srgbClr val="EDE9FE"/>
          </a:solidFill>
          <a:ln w="12700">
            <a:solidFill>
              <a:srgbClr val="EDE9FE"/>
            </a:solidFill>
            <a:prstDash val="solid"/>
          </a:ln>
        </p:spPr>
      </p:sp>
      <p:sp>
        <p:nvSpPr>
          <p:cNvPr id="22" name="Text 20"/>
          <p:cNvSpPr txBox="1"/>
          <p:nvPr/>
        </p:nvSpPr>
        <p:spPr>
          <a:xfrm>
            <a:off x="6430975" y="2103120"/>
            <a:ext cx="603504" cy="603504"/>
          </a:xfrm>
          <a:prstGeom prst="rect">
            <a:avLst/>
          </a:prstGeom>
          <a:noFill/>
          <a:ln/>
        </p:spPr>
        <p:txBody>
          <a:bodyPr wrap="square" lIns="0" tIns="0" rIns="0" bIns="0" rtlCol="0" anchor="ctr"/>
          <a:lstStyle/>
          <a:p>
            <a:pPr marL="0" indent="0" algn="ctr">
              <a:buNone/>
            </a:pPr>
            <a:r>
              <a:rPr lang="en-US" altLang="en-US" sz="1400" b="1" dirty="0">
                <a:solidFill>
                  <a:srgbClr val="7C3AED"/>
                </a:solidFill>
                <a:latin typeface="Vazirmatn" pitchFamily="34" charset="0"/>
                <a:ea typeface="Vazirmatn" pitchFamily="34" charset="-122"/>
                <a:cs typeface="Vazirmatn" pitchFamily="34" charset="-120"/>
              </a:rPr>
              <a:t>7</a:t>
            </a:r>
            <a:endParaRPr lang="en-US" sz="1400" dirty="0"/>
          </a:p>
        </p:txBody>
      </p:sp>
      <p:sp>
        <p:nvSpPr>
          <p:cNvPr id="23" name="Shape 21"/>
          <p:cNvSpPr/>
          <p:nvPr/>
        </p:nvSpPr>
        <p:spPr>
          <a:xfrm>
            <a:off x="5772607" y="2103120"/>
            <a:ext cx="603504" cy="603504"/>
          </a:xfrm>
          <a:prstGeom prst="roundRect">
            <a:avLst>
              <a:gd name="adj" fmla="val 12121"/>
            </a:avLst>
          </a:prstGeom>
          <a:solidFill>
            <a:srgbClr val="EDE9FE"/>
          </a:solidFill>
          <a:ln w="12700">
            <a:solidFill>
              <a:srgbClr val="EDE9FE"/>
            </a:solidFill>
            <a:prstDash val="solid"/>
          </a:ln>
        </p:spPr>
      </p:sp>
      <p:sp>
        <p:nvSpPr>
          <p:cNvPr id="24" name="Text 22"/>
          <p:cNvSpPr txBox="1"/>
          <p:nvPr/>
        </p:nvSpPr>
        <p:spPr>
          <a:xfrm>
            <a:off x="5772607" y="2103120"/>
            <a:ext cx="603504" cy="603504"/>
          </a:xfrm>
          <a:prstGeom prst="rect">
            <a:avLst/>
          </a:prstGeom>
          <a:noFill/>
          <a:ln/>
        </p:spPr>
        <p:txBody>
          <a:bodyPr wrap="square" lIns="0" tIns="0" rIns="0" bIns="0" rtlCol="0" anchor="ctr"/>
          <a:lstStyle/>
          <a:p>
            <a:pPr marL="0" indent="0" algn="ctr">
              <a:buNone/>
            </a:pPr>
            <a:r>
              <a:rPr lang="en-US" altLang="en-US" sz="1400" b="1" dirty="0">
                <a:solidFill>
                  <a:srgbClr val="7C3AED"/>
                </a:solidFill>
                <a:latin typeface="Vazirmatn" pitchFamily="34" charset="0"/>
                <a:ea typeface="Vazirmatn" pitchFamily="34" charset="-122"/>
                <a:cs typeface="Vazirmatn" pitchFamily="34" charset="-120"/>
              </a:rPr>
              <a:t>8</a:t>
            </a:r>
            <a:endParaRPr lang="en-US" sz="1400" dirty="0"/>
          </a:p>
        </p:txBody>
      </p:sp>
      <p:sp>
        <p:nvSpPr>
          <p:cNvPr id="25" name="Shape 23"/>
          <p:cNvSpPr/>
          <p:nvPr/>
        </p:nvSpPr>
        <p:spPr>
          <a:xfrm>
            <a:off x="5114239" y="2103120"/>
            <a:ext cx="603504" cy="603504"/>
          </a:xfrm>
          <a:prstGeom prst="roundRect">
            <a:avLst>
              <a:gd name="adj" fmla="val 12121"/>
            </a:avLst>
          </a:prstGeom>
          <a:solidFill>
            <a:srgbClr val="EDE9FE"/>
          </a:solidFill>
          <a:ln w="12700">
            <a:solidFill>
              <a:srgbClr val="EDE9FE"/>
            </a:solidFill>
            <a:prstDash val="solid"/>
          </a:ln>
        </p:spPr>
      </p:sp>
      <p:sp>
        <p:nvSpPr>
          <p:cNvPr id="26" name="Text 24"/>
          <p:cNvSpPr txBox="1"/>
          <p:nvPr/>
        </p:nvSpPr>
        <p:spPr>
          <a:xfrm>
            <a:off x="5114239" y="2103120"/>
            <a:ext cx="603504" cy="603504"/>
          </a:xfrm>
          <a:prstGeom prst="rect">
            <a:avLst/>
          </a:prstGeom>
          <a:noFill/>
          <a:ln/>
        </p:spPr>
        <p:txBody>
          <a:bodyPr wrap="square" lIns="0" tIns="0" rIns="0" bIns="0" rtlCol="0" anchor="ctr"/>
          <a:lstStyle/>
          <a:p>
            <a:pPr marL="0" indent="0" algn="ctr">
              <a:buNone/>
            </a:pPr>
            <a:r>
              <a:rPr lang="en-US" altLang="en-US" sz="1400" b="1" dirty="0">
                <a:solidFill>
                  <a:srgbClr val="7C3AED"/>
                </a:solidFill>
                <a:latin typeface="Vazirmatn" pitchFamily="34" charset="0"/>
                <a:ea typeface="Vazirmatn" pitchFamily="34" charset="-122"/>
                <a:cs typeface="Vazirmatn" pitchFamily="34" charset="-120"/>
              </a:rPr>
              <a:t>9</a:t>
            </a:r>
            <a:endParaRPr lang="en-US" sz="1400" dirty="0"/>
          </a:p>
        </p:txBody>
      </p:sp>
      <p:sp>
        <p:nvSpPr>
          <p:cNvPr id="27" name="Shape 25"/>
          <p:cNvSpPr/>
          <p:nvPr/>
        </p:nvSpPr>
        <p:spPr>
          <a:xfrm>
            <a:off x="4455871" y="2103120"/>
            <a:ext cx="603504" cy="603504"/>
          </a:xfrm>
          <a:prstGeom prst="roundRect">
            <a:avLst>
              <a:gd name="adj" fmla="val 12121"/>
            </a:avLst>
          </a:prstGeom>
          <a:solidFill>
            <a:srgbClr val="EDE9FE"/>
          </a:solidFill>
          <a:ln w="12700">
            <a:solidFill>
              <a:srgbClr val="EDE9FE"/>
            </a:solidFill>
            <a:prstDash val="solid"/>
          </a:ln>
        </p:spPr>
      </p:sp>
      <p:sp>
        <p:nvSpPr>
          <p:cNvPr id="28" name="Text 26"/>
          <p:cNvSpPr txBox="1"/>
          <p:nvPr/>
        </p:nvSpPr>
        <p:spPr>
          <a:xfrm>
            <a:off x="4455871" y="2103120"/>
            <a:ext cx="603504" cy="603504"/>
          </a:xfrm>
          <a:prstGeom prst="rect">
            <a:avLst/>
          </a:prstGeom>
          <a:noFill/>
          <a:ln/>
        </p:spPr>
        <p:txBody>
          <a:bodyPr wrap="square" lIns="0" tIns="0" rIns="0" bIns="0" rtlCol="0" anchor="ctr"/>
          <a:lstStyle/>
          <a:p>
            <a:pPr marL="0" indent="0" algn="ctr">
              <a:buNone/>
            </a:pPr>
            <a:r>
              <a:rPr lang="en-US" altLang="en-US" sz="1400" b="1" dirty="0">
                <a:solidFill>
                  <a:srgbClr val="7C3AED"/>
                </a:solidFill>
                <a:latin typeface="Vazirmatn" pitchFamily="34" charset="0"/>
                <a:ea typeface="Vazirmatn" pitchFamily="34" charset="-122"/>
                <a:cs typeface="Vazirmatn" pitchFamily="34" charset="-120"/>
              </a:rPr>
              <a:t>10</a:t>
            </a:r>
            <a:endParaRPr lang="en-US" sz="1400" dirty="0"/>
          </a:p>
        </p:txBody>
      </p:sp>
      <p:sp>
        <p:nvSpPr>
          <p:cNvPr id="29" name="Shape 27"/>
          <p:cNvSpPr/>
          <p:nvPr/>
        </p:nvSpPr>
        <p:spPr>
          <a:xfrm>
            <a:off x="3797503" y="2103120"/>
            <a:ext cx="603504" cy="603504"/>
          </a:xfrm>
          <a:prstGeom prst="roundRect">
            <a:avLst>
              <a:gd name="adj" fmla="val 12121"/>
            </a:avLst>
          </a:prstGeom>
          <a:solidFill>
            <a:srgbClr val="EDE9FE"/>
          </a:solidFill>
          <a:ln w="12700">
            <a:solidFill>
              <a:srgbClr val="EDE9FE"/>
            </a:solidFill>
            <a:prstDash val="solid"/>
          </a:ln>
        </p:spPr>
      </p:sp>
      <p:sp>
        <p:nvSpPr>
          <p:cNvPr id="30" name="Text 28"/>
          <p:cNvSpPr txBox="1"/>
          <p:nvPr/>
        </p:nvSpPr>
        <p:spPr>
          <a:xfrm>
            <a:off x="3797503" y="2103120"/>
            <a:ext cx="603504" cy="603504"/>
          </a:xfrm>
          <a:prstGeom prst="rect">
            <a:avLst/>
          </a:prstGeom>
          <a:noFill/>
          <a:ln/>
        </p:spPr>
        <p:txBody>
          <a:bodyPr wrap="square" lIns="0" tIns="0" rIns="0" bIns="0" rtlCol="0" anchor="ctr"/>
          <a:lstStyle/>
          <a:p>
            <a:pPr marL="0" indent="0" algn="ctr">
              <a:buNone/>
            </a:pPr>
            <a:r>
              <a:rPr lang="en-US" altLang="en-US" sz="1400" b="1" dirty="0">
                <a:solidFill>
                  <a:srgbClr val="7C3AED"/>
                </a:solidFill>
                <a:latin typeface="Vazirmatn" pitchFamily="34" charset="0"/>
                <a:ea typeface="Vazirmatn" pitchFamily="34" charset="-122"/>
                <a:cs typeface="Vazirmatn" pitchFamily="34" charset="-120"/>
              </a:rPr>
              <a:t>11</a:t>
            </a:r>
            <a:endParaRPr lang="en-US" sz="1400" dirty="0"/>
          </a:p>
        </p:txBody>
      </p:sp>
      <p:sp>
        <p:nvSpPr>
          <p:cNvPr id="31" name="Shape 29"/>
          <p:cNvSpPr/>
          <p:nvPr/>
        </p:nvSpPr>
        <p:spPr>
          <a:xfrm>
            <a:off x="3139135" y="2103120"/>
            <a:ext cx="603504" cy="603504"/>
          </a:xfrm>
          <a:prstGeom prst="roundRect">
            <a:avLst>
              <a:gd name="adj" fmla="val 12121"/>
            </a:avLst>
          </a:prstGeom>
          <a:solidFill>
            <a:srgbClr val="EDE9FE"/>
          </a:solidFill>
          <a:ln w="12700">
            <a:solidFill>
              <a:srgbClr val="EDE9FE"/>
            </a:solidFill>
            <a:prstDash val="solid"/>
          </a:ln>
        </p:spPr>
      </p:sp>
      <p:sp>
        <p:nvSpPr>
          <p:cNvPr id="32" name="Text 30"/>
          <p:cNvSpPr txBox="1"/>
          <p:nvPr/>
        </p:nvSpPr>
        <p:spPr>
          <a:xfrm>
            <a:off x="3139135" y="2103120"/>
            <a:ext cx="603504" cy="603504"/>
          </a:xfrm>
          <a:prstGeom prst="rect">
            <a:avLst/>
          </a:prstGeom>
          <a:noFill/>
          <a:ln/>
        </p:spPr>
        <p:txBody>
          <a:bodyPr wrap="square" lIns="0" tIns="0" rIns="0" bIns="0" rtlCol="0" anchor="ctr"/>
          <a:lstStyle/>
          <a:p>
            <a:pPr marL="0" indent="0" algn="ctr">
              <a:buNone/>
            </a:pPr>
            <a:r>
              <a:rPr lang="en-US" altLang="en-US" sz="1400" b="1" dirty="0">
                <a:solidFill>
                  <a:srgbClr val="7C3AED"/>
                </a:solidFill>
                <a:latin typeface="Vazirmatn" pitchFamily="34" charset="0"/>
                <a:ea typeface="Vazirmatn" pitchFamily="34" charset="-122"/>
                <a:cs typeface="Vazirmatn" pitchFamily="34" charset="-120"/>
              </a:rPr>
              <a:t>12</a:t>
            </a:r>
            <a:endParaRPr lang="en-US" sz="1400" dirty="0"/>
          </a:p>
        </p:txBody>
      </p:sp>
      <p:sp>
        <p:nvSpPr>
          <p:cNvPr id="33" name="Shape 31"/>
          <p:cNvSpPr/>
          <p:nvPr/>
        </p:nvSpPr>
        <p:spPr>
          <a:xfrm>
            <a:off x="2480767" y="2103120"/>
            <a:ext cx="603504" cy="603504"/>
          </a:xfrm>
          <a:prstGeom prst="roundRect">
            <a:avLst>
              <a:gd name="adj" fmla="val 12121"/>
            </a:avLst>
          </a:prstGeom>
          <a:solidFill>
            <a:srgbClr val="EDE9FE"/>
          </a:solidFill>
          <a:ln w="12700">
            <a:solidFill>
              <a:srgbClr val="EDE9FE"/>
            </a:solidFill>
            <a:prstDash val="solid"/>
          </a:ln>
        </p:spPr>
      </p:sp>
      <p:sp>
        <p:nvSpPr>
          <p:cNvPr id="34" name="Text 32"/>
          <p:cNvSpPr txBox="1"/>
          <p:nvPr/>
        </p:nvSpPr>
        <p:spPr>
          <a:xfrm>
            <a:off x="2480767" y="2103120"/>
            <a:ext cx="603504" cy="603504"/>
          </a:xfrm>
          <a:prstGeom prst="rect">
            <a:avLst/>
          </a:prstGeom>
          <a:noFill/>
          <a:ln/>
        </p:spPr>
        <p:txBody>
          <a:bodyPr wrap="square" lIns="0" tIns="0" rIns="0" bIns="0" rtlCol="0" anchor="ctr"/>
          <a:lstStyle/>
          <a:p>
            <a:pPr marL="0" indent="0" algn="ctr">
              <a:buNone/>
            </a:pPr>
            <a:r>
              <a:rPr lang="en-US" altLang="en-US" sz="1400" b="1" dirty="0">
                <a:solidFill>
                  <a:srgbClr val="7C3AED"/>
                </a:solidFill>
                <a:latin typeface="Vazirmatn" pitchFamily="34" charset="0"/>
                <a:ea typeface="Vazirmatn" pitchFamily="34" charset="-122"/>
                <a:cs typeface="Vazirmatn" pitchFamily="34" charset="-120"/>
              </a:rPr>
              <a:t>13</a:t>
            </a:r>
            <a:endParaRPr lang="en-US" sz="1400" dirty="0"/>
          </a:p>
        </p:txBody>
      </p:sp>
      <p:sp>
        <p:nvSpPr>
          <p:cNvPr id="35" name="Shape 33"/>
          <p:cNvSpPr/>
          <p:nvPr/>
        </p:nvSpPr>
        <p:spPr>
          <a:xfrm>
            <a:off x="1822399" y="2103120"/>
            <a:ext cx="603504" cy="603504"/>
          </a:xfrm>
          <a:prstGeom prst="roundRect">
            <a:avLst>
              <a:gd name="adj" fmla="val 12121"/>
            </a:avLst>
          </a:prstGeom>
          <a:solidFill>
            <a:srgbClr val="EDE9FE"/>
          </a:solidFill>
          <a:ln w="12700">
            <a:solidFill>
              <a:srgbClr val="EDE9FE"/>
            </a:solidFill>
            <a:prstDash val="solid"/>
          </a:ln>
        </p:spPr>
      </p:sp>
      <p:sp>
        <p:nvSpPr>
          <p:cNvPr id="36" name="Text 34"/>
          <p:cNvSpPr txBox="1"/>
          <p:nvPr/>
        </p:nvSpPr>
        <p:spPr>
          <a:xfrm>
            <a:off x="1822399" y="2103120"/>
            <a:ext cx="603504" cy="603504"/>
          </a:xfrm>
          <a:prstGeom prst="rect">
            <a:avLst/>
          </a:prstGeom>
          <a:noFill/>
          <a:ln/>
        </p:spPr>
        <p:txBody>
          <a:bodyPr wrap="square" lIns="0" tIns="0" rIns="0" bIns="0" rtlCol="0" anchor="ctr"/>
          <a:lstStyle/>
          <a:p>
            <a:pPr marL="0" indent="0" algn="ctr">
              <a:buNone/>
            </a:pPr>
            <a:r>
              <a:rPr lang="en-US" altLang="en-US" sz="1400" b="1" dirty="0">
                <a:solidFill>
                  <a:srgbClr val="7C3AED"/>
                </a:solidFill>
                <a:latin typeface="Vazirmatn" pitchFamily="34" charset="0"/>
                <a:ea typeface="Vazirmatn" pitchFamily="34" charset="-122"/>
                <a:cs typeface="Vazirmatn" pitchFamily="34" charset="-120"/>
              </a:rPr>
              <a:t>14</a:t>
            </a:r>
            <a:endParaRPr lang="en-US" sz="1400" dirty="0"/>
          </a:p>
        </p:txBody>
      </p:sp>
      <p:sp>
        <p:nvSpPr>
          <p:cNvPr id="37" name="Shape 35"/>
          <p:cNvSpPr/>
          <p:nvPr/>
        </p:nvSpPr>
        <p:spPr>
          <a:xfrm>
            <a:off x="1164031" y="2103120"/>
            <a:ext cx="603504" cy="603504"/>
          </a:xfrm>
          <a:prstGeom prst="roundRect">
            <a:avLst>
              <a:gd name="adj" fmla="val 12121"/>
            </a:avLst>
          </a:prstGeom>
          <a:solidFill>
            <a:srgbClr val="EDE9FE"/>
          </a:solidFill>
          <a:ln w="12700">
            <a:solidFill>
              <a:srgbClr val="EDE9FE"/>
            </a:solidFill>
            <a:prstDash val="solid"/>
          </a:ln>
        </p:spPr>
      </p:sp>
      <p:sp>
        <p:nvSpPr>
          <p:cNvPr id="38" name="Text 36"/>
          <p:cNvSpPr txBox="1"/>
          <p:nvPr/>
        </p:nvSpPr>
        <p:spPr>
          <a:xfrm>
            <a:off x="1164031" y="2103120"/>
            <a:ext cx="603504" cy="603504"/>
          </a:xfrm>
          <a:prstGeom prst="rect">
            <a:avLst/>
          </a:prstGeom>
          <a:noFill/>
          <a:ln/>
        </p:spPr>
        <p:txBody>
          <a:bodyPr wrap="square" lIns="0" tIns="0" rIns="0" bIns="0" rtlCol="0" anchor="ctr"/>
          <a:lstStyle/>
          <a:p>
            <a:pPr marL="0" indent="0" algn="ctr">
              <a:buNone/>
            </a:pPr>
            <a:r>
              <a:rPr lang="en-US" altLang="en-US" sz="1400" b="1" dirty="0">
                <a:solidFill>
                  <a:srgbClr val="7C3AED"/>
                </a:solidFill>
                <a:latin typeface="Vazirmatn" pitchFamily="34" charset="0"/>
                <a:ea typeface="Vazirmatn" pitchFamily="34" charset="-122"/>
                <a:cs typeface="Vazirmatn" pitchFamily="34" charset="-120"/>
              </a:rPr>
              <a:t>15</a:t>
            </a:r>
            <a:endParaRPr lang="en-US" sz="1400" dirty="0"/>
          </a:p>
        </p:txBody>
      </p:sp>
      <p:sp>
        <p:nvSpPr>
          <p:cNvPr id="39" name="Text 37"/>
          <p:cNvSpPr txBox="1"/>
          <p:nvPr/>
        </p:nvSpPr>
        <p:spPr>
          <a:xfrm>
            <a:off x="548640" y="2788920"/>
            <a:ext cx="11094415" cy="320040"/>
          </a:xfrm>
          <a:prstGeom prst="rect">
            <a:avLst/>
          </a:prstGeom>
          <a:noFill/>
          <a:ln/>
        </p:spPr>
        <p:txBody>
          <a:bodyPr wrap="square" lIns="0" tIns="0" rIns="0" bIns="0" rtlCol="0" anchor="t"/>
          <a:lstStyle/>
          <a:p>
            <a:pPr marL="0" indent="0" algn="r" rtl="1">
              <a:buNone/>
            </a:pPr>
            <a:r>
              <a:rPr lang="fa-IR" altLang="en-US" sz="1300" dirty="0">
                <a:solidFill>
                  <a:srgbClr val="475569"/>
                </a:solidFill>
                <a:latin typeface="Vazirmatn" pitchFamily="34" charset="0"/>
                <a:ea typeface="Vazirmatn" pitchFamily="34" charset="-122"/>
                <a:cs typeface="Vazirmatn" pitchFamily="34" charset="-120"/>
              </a:rPr>
              <a:t>ثبات PKRU برای هر کلید: اجازه‌ی خواندن / نوشتن  (در شکل: فقط کلید ۳ فعال است)</a:t>
            </a:r>
            <a:endParaRPr lang="fa-IR" sz="1300" dirty="0"/>
          </a:p>
        </p:txBody>
      </p:sp>
      <p:sp>
        <p:nvSpPr>
          <p:cNvPr id="40" name="Shape 38"/>
          <p:cNvSpPr/>
          <p:nvPr/>
        </p:nvSpPr>
        <p:spPr>
          <a:xfrm>
            <a:off x="6233008" y="3337560"/>
            <a:ext cx="5410048" cy="1325880"/>
          </a:xfrm>
          <a:prstGeom prst="roundRect">
            <a:avLst>
              <a:gd name="adj" fmla="val 8276"/>
            </a:avLst>
          </a:prstGeom>
          <a:solidFill>
            <a:srgbClr val="E2E8F0"/>
          </a:solidFill>
          <a:ln w="12700">
            <a:solidFill>
              <a:srgbClr val="E2E8F0"/>
            </a:solidFill>
            <a:prstDash val="solid"/>
          </a:ln>
          <a:effectLst>
            <a:outerShdw blurRad="101600" dist="25400" dir="5400000" algn="bl" rotWithShape="0">
              <a:srgbClr val="0F172A">
                <a:alpha val="8000"/>
              </a:srgbClr>
            </a:outerShdw>
          </a:effectLst>
        </p:spPr>
      </p:sp>
      <p:sp>
        <p:nvSpPr>
          <p:cNvPr id="41" name="Text 39"/>
          <p:cNvSpPr txBox="1"/>
          <p:nvPr/>
        </p:nvSpPr>
        <p:spPr>
          <a:xfrm>
            <a:off x="6507328" y="3520440"/>
            <a:ext cx="4861408" cy="457200"/>
          </a:xfrm>
          <a:prstGeom prst="rect">
            <a:avLst/>
          </a:prstGeom>
          <a:noFill/>
          <a:ln/>
        </p:spPr>
        <p:txBody>
          <a:bodyPr wrap="square" lIns="0" tIns="0" rIns="0" bIns="0" rtlCol="0" anchor="t"/>
          <a:lstStyle/>
          <a:p>
            <a:pPr marL="0" indent="0" algn="r" rtl="1">
              <a:buNone/>
            </a:pPr>
            <a:r>
              <a:rPr lang="fa-IR" altLang="en-US" sz="2000" b="1" dirty="0">
                <a:solidFill>
                  <a:srgbClr val="0F172A"/>
                </a:solidFill>
                <a:latin typeface="Vazirmatn" pitchFamily="34" charset="0"/>
                <a:ea typeface="Vazirmatn" pitchFamily="34" charset="-122"/>
                <a:cs typeface="Vazirmatn" pitchFamily="34" charset="-120"/>
              </a:rPr>
              <a:t>تغییر جدول صفحه</a:t>
            </a:r>
            <a:endParaRPr lang="fa-IR" sz="2000" dirty="0"/>
          </a:p>
        </p:txBody>
      </p:sp>
      <p:sp>
        <p:nvSpPr>
          <p:cNvPr id="42" name="Text 40"/>
          <p:cNvSpPr txBox="1"/>
          <p:nvPr/>
        </p:nvSpPr>
        <p:spPr>
          <a:xfrm>
            <a:off x="6507328" y="4023360"/>
            <a:ext cx="4861408" cy="457200"/>
          </a:xfrm>
          <a:prstGeom prst="rect">
            <a:avLst/>
          </a:prstGeom>
          <a:noFill/>
          <a:ln/>
        </p:spPr>
        <p:txBody>
          <a:bodyPr wrap="square" lIns="0" tIns="0" rIns="0" bIns="0" rtlCol="0" anchor="t"/>
          <a:lstStyle/>
          <a:p>
            <a:pPr marL="0" indent="0" algn="r" rtl="1">
              <a:buNone/>
            </a:pPr>
            <a:r>
              <a:rPr lang="fa-IR" altLang="en-US" sz="1400" dirty="0">
                <a:solidFill>
                  <a:srgbClr val="475569"/>
                </a:solidFill>
                <a:latin typeface="Vazirmatn" pitchFamily="34" charset="0"/>
                <a:ea typeface="Vazirmatn" pitchFamily="34" charset="-122"/>
                <a:cs typeface="Vazirmatn" pitchFamily="34" charset="-120"/>
              </a:rPr>
              <a:t>تغییر PTE + پاک‌کردن TLB · کند و پرهزینه</a:t>
            </a:r>
            <a:endParaRPr lang="fa-IR" sz="1400" dirty="0"/>
          </a:p>
        </p:txBody>
      </p:sp>
      <p:sp>
        <p:nvSpPr>
          <p:cNvPr id="43" name="Shape 41"/>
          <p:cNvSpPr/>
          <p:nvPr/>
        </p:nvSpPr>
        <p:spPr>
          <a:xfrm>
            <a:off x="548640" y="3337560"/>
            <a:ext cx="5410048" cy="1325880"/>
          </a:xfrm>
          <a:prstGeom prst="roundRect">
            <a:avLst>
              <a:gd name="adj" fmla="val 8276"/>
            </a:avLst>
          </a:prstGeom>
          <a:solidFill>
            <a:srgbClr val="7C3AED"/>
          </a:solidFill>
          <a:ln w="12700">
            <a:solidFill>
              <a:srgbClr val="7C3AED"/>
            </a:solidFill>
            <a:prstDash val="solid"/>
          </a:ln>
          <a:effectLst>
            <a:outerShdw blurRad="101600" dist="25400" dir="5400000" algn="bl" rotWithShape="0">
              <a:srgbClr val="0F172A">
                <a:alpha val="8000"/>
              </a:srgbClr>
            </a:outerShdw>
          </a:effectLst>
        </p:spPr>
      </p:sp>
      <p:sp>
        <p:nvSpPr>
          <p:cNvPr id="44" name="Text 42"/>
          <p:cNvSpPr txBox="1"/>
          <p:nvPr/>
        </p:nvSpPr>
        <p:spPr>
          <a:xfrm>
            <a:off x="822960" y="3520440"/>
            <a:ext cx="4861408" cy="457200"/>
          </a:xfrm>
          <a:prstGeom prst="rect">
            <a:avLst/>
          </a:prstGeom>
          <a:noFill/>
          <a:ln/>
        </p:spPr>
        <p:txBody>
          <a:bodyPr wrap="square" lIns="0" tIns="0" rIns="0" bIns="0" rtlCol="0" anchor="t"/>
          <a:lstStyle/>
          <a:p>
            <a:pPr marL="0" indent="0" algn="r" rtl="1">
              <a:buNone/>
            </a:pPr>
            <a:r>
              <a:rPr lang="fa-IR" altLang="en-US" sz="2000" b="1" dirty="0">
                <a:solidFill>
                  <a:srgbClr val="FFFFFF"/>
                </a:solidFill>
                <a:latin typeface="Vazirmatn" pitchFamily="34" charset="0"/>
                <a:ea typeface="Vazirmatn" pitchFamily="34" charset="-122"/>
                <a:cs typeface="Vazirmatn" pitchFamily="34" charset="-120"/>
              </a:rPr>
              <a:t>دستور WRPKRU</a:t>
            </a:r>
            <a:endParaRPr lang="fa-IR" sz="2000" dirty="0"/>
          </a:p>
        </p:txBody>
      </p:sp>
      <p:sp>
        <p:nvSpPr>
          <p:cNvPr id="45" name="Text 43"/>
          <p:cNvSpPr txBox="1"/>
          <p:nvPr/>
        </p:nvSpPr>
        <p:spPr>
          <a:xfrm>
            <a:off x="822960" y="4023360"/>
            <a:ext cx="4861408" cy="457200"/>
          </a:xfrm>
          <a:prstGeom prst="rect">
            <a:avLst/>
          </a:prstGeom>
          <a:noFill/>
          <a:ln/>
        </p:spPr>
        <p:txBody>
          <a:bodyPr wrap="square" lIns="0" tIns="0" rIns="0" bIns="0" rtlCol="0" anchor="t"/>
          <a:lstStyle/>
          <a:p>
            <a:pPr marL="0" indent="0" algn="r" rtl="1">
              <a:buNone/>
            </a:pPr>
            <a:r>
              <a:rPr lang="fa-IR" altLang="en-US" sz="1400" dirty="0">
                <a:solidFill>
                  <a:srgbClr val="EDE9FE"/>
                </a:solidFill>
                <a:latin typeface="Vazirmatn" pitchFamily="34" charset="0"/>
                <a:ea typeface="Vazirmatn" pitchFamily="34" charset="-122"/>
                <a:cs typeface="Vazirmatn" pitchFamily="34" charset="-120"/>
              </a:rPr>
              <a:t>یک دستور، بدون تغییر جدول صفحه · بسیار سریع</a:t>
            </a:r>
            <a:endParaRPr lang="fa-IR" sz="1400" dirty="0"/>
          </a:p>
        </p:txBody>
      </p:sp>
      <p:sp>
        <p:nvSpPr>
          <p:cNvPr id="46" name="Shape 44"/>
          <p:cNvSpPr/>
          <p:nvPr/>
        </p:nvSpPr>
        <p:spPr>
          <a:xfrm>
            <a:off x="8097317" y="4892040"/>
            <a:ext cx="3545738" cy="1234440"/>
          </a:xfrm>
          <a:prstGeom prst="roundRect">
            <a:avLst>
              <a:gd name="adj" fmla="val 8889"/>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47" name="Text 45"/>
          <p:cNvSpPr txBox="1"/>
          <p:nvPr/>
        </p:nvSpPr>
        <p:spPr>
          <a:xfrm>
            <a:off x="8325917" y="5056632"/>
            <a:ext cx="3088538" cy="365760"/>
          </a:xfrm>
          <a:prstGeom prst="rect">
            <a:avLst/>
          </a:prstGeom>
          <a:noFill/>
          <a:ln/>
        </p:spPr>
        <p:txBody>
          <a:bodyPr wrap="square" lIns="0" tIns="0" rIns="0" bIns="0" rtlCol="0" anchor="t"/>
          <a:lstStyle/>
          <a:p>
            <a:pPr marL="0" indent="0" algn="r" rtl="1">
              <a:buNone/>
            </a:pPr>
            <a:r>
              <a:rPr lang="fa-IR" altLang="en-US" sz="1800" b="1" dirty="0">
                <a:solidFill>
                  <a:srgbClr val="7C3AED"/>
                </a:solidFill>
                <a:latin typeface="Vazirmatn" pitchFamily="34" charset="0"/>
                <a:ea typeface="Vazirmatn" pitchFamily="34" charset="-122"/>
                <a:cs typeface="Vazirmatn" pitchFamily="34" charset="-120"/>
              </a:rPr>
              <a:t>PKU</a:t>
            </a:r>
            <a:endParaRPr lang="fa-IR" sz="1800" dirty="0"/>
          </a:p>
        </p:txBody>
      </p:sp>
      <p:sp>
        <p:nvSpPr>
          <p:cNvPr id="48" name="Text 46"/>
          <p:cNvSpPr txBox="1"/>
          <p:nvPr/>
        </p:nvSpPr>
        <p:spPr>
          <a:xfrm>
            <a:off x="8325917" y="5458968"/>
            <a:ext cx="3088538" cy="548640"/>
          </a:xfrm>
          <a:prstGeom prst="rect">
            <a:avLst/>
          </a:prstGeom>
          <a:noFill/>
          <a:ln/>
        </p:spPr>
        <p:txBody>
          <a:bodyPr wrap="square" lIns="0" tIns="0" rIns="0" bIns="0" rtlCol="0" anchor="t"/>
          <a:lstStyle/>
          <a:p>
            <a:pPr marL="0" indent="0" algn="r" rtl="1">
              <a:buNone/>
            </a:pPr>
            <a:r>
              <a:rPr lang="fa-IR" altLang="en-US" sz="1300" dirty="0">
                <a:solidFill>
                  <a:srgbClr val="475569"/>
                </a:solidFill>
                <a:latin typeface="Vazirmatn" pitchFamily="34" charset="0"/>
                <a:ea typeface="Vazirmatn" pitchFamily="34" charset="-122"/>
                <a:cs typeface="Vazirmatn" pitchFamily="34" charset="-120"/>
              </a:rPr>
              <a:t>نسخه‌ی کاربری؛ روی Intel از Skylake-SP</a:t>
            </a:r>
            <a:endParaRPr lang="fa-IR" sz="1300" dirty="0"/>
          </a:p>
        </p:txBody>
      </p:sp>
      <p:sp>
        <p:nvSpPr>
          <p:cNvPr id="49" name="Shape 47"/>
          <p:cNvSpPr/>
          <p:nvPr/>
        </p:nvSpPr>
        <p:spPr>
          <a:xfrm>
            <a:off x="4322978" y="4892040"/>
            <a:ext cx="3545738" cy="1234440"/>
          </a:xfrm>
          <a:prstGeom prst="roundRect">
            <a:avLst>
              <a:gd name="adj" fmla="val 8889"/>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50" name="Text 48"/>
          <p:cNvSpPr txBox="1"/>
          <p:nvPr/>
        </p:nvSpPr>
        <p:spPr>
          <a:xfrm>
            <a:off x="4551578" y="5056632"/>
            <a:ext cx="3088538" cy="365760"/>
          </a:xfrm>
          <a:prstGeom prst="rect">
            <a:avLst/>
          </a:prstGeom>
          <a:noFill/>
          <a:ln/>
        </p:spPr>
        <p:txBody>
          <a:bodyPr wrap="square" lIns="0" tIns="0" rIns="0" bIns="0" rtlCol="0" anchor="t"/>
          <a:lstStyle/>
          <a:p>
            <a:pPr marL="0" indent="0" algn="r" rtl="1">
              <a:buNone/>
            </a:pPr>
            <a:r>
              <a:rPr lang="fa-IR" altLang="en-US" sz="1800" b="1" dirty="0">
                <a:solidFill>
                  <a:srgbClr val="7C3AED"/>
                </a:solidFill>
                <a:latin typeface="Vazirmatn" pitchFamily="34" charset="0"/>
                <a:ea typeface="Vazirmatn" pitchFamily="34" charset="-122"/>
                <a:cs typeface="Vazirmatn" pitchFamily="34" charset="-120"/>
              </a:rPr>
              <a:t>PKS</a:t>
            </a:r>
            <a:endParaRPr lang="fa-IR" sz="1800" dirty="0"/>
          </a:p>
        </p:txBody>
      </p:sp>
      <p:sp>
        <p:nvSpPr>
          <p:cNvPr id="51" name="Text 49"/>
          <p:cNvSpPr txBox="1"/>
          <p:nvPr/>
        </p:nvSpPr>
        <p:spPr>
          <a:xfrm>
            <a:off x="4551578" y="5458968"/>
            <a:ext cx="3088538" cy="548640"/>
          </a:xfrm>
          <a:prstGeom prst="rect">
            <a:avLst/>
          </a:prstGeom>
          <a:noFill/>
          <a:ln/>
        </p:spPr>
        <p:txBody>
          <a:bodyPr wrap="square" lIns="0" tIns="0" rIns="0" bIns="0" rtlCol="0" anchor="t"/>
          <a:lstStyle/>
          <a:p>
            <a:pPr marL="0" indent="0" algn="r" rtl="1">
              <a:buNone/>
            </a:pPr>
            <a:r>
              <a:rPr lang="fa-IR" altLang="en-US" sz="1300" dirty="0">
                <a:solidFill>
                  <a:srgbClr val="475569"/>
                </a:solidFill>
                <a:latin typeface="Vazirmatn" pitchFamily="34" charset="0"/>
                <a:ea typeface="Vazirmatn" pitchFamily="34" charset="-122"/>
                <a:cs typeface="Vazirmatn" pitchFamily="34" charset="-120"/>
              </a:rPr>
              <a:t>نسخه‌ی مخصوص هسته؛ هنگام این پژوهش‌ها در دسترس نبود</a:t>
            </a:r>
            <a:endParaRPr lang="fa-IR" sz="1300" dirty="0"/>
          </a:p>
        </p:txBody>
      </p:sp>
      <p:sp>
        <p:nvSpPr>
          <p:cNvPr id="52" name="Shape 50"/>
          <p:cNvSpPr/>
          <p:nvPr/>
        </p:nvSpPr>
        <p:spPr>
          <a:xfrm>
            <a:off x="548640" y="4892040"/>
            <a:ext cx="3545738" cy="1234440"/>
          </a:xfrm>
          <a:prstGeom prst="roundRect">
            <a:avLst>
              <a:gd name="adj" fmla="val 8889"/>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53" name="Text 51"/>
          <p:cNvSpPr txBox="1"/>
          <p:nvPr/>
        </p:nvSpPr>
        <p:spPr>
          <a:xfrm>
            <a:off x="777240" y="5056632"/>
            <a:ext cx="3088538" cy="365760"/>
          </a:xfrm>
          <a:prstGeom prst="rect">
            <a:avLst/>
          </a:prstGeom>
          <a:noFill/>
          <a:ln/>
        </p:spPr>
        <p:txBody>
          <a:bodyPr wrap="square" lIns="0" tIns="0" rIns="0" bIns="0" rtlCol="0" anchor="t"/>
          <a:lstStyle/>
          <a:p>
            <a:pPr marL="0" indent="0" algn="r" rtl="1">
              <a:buNone/>
            </a:pPr>
            <a:r>
              <a:rPr lang="fa-IR" altLang="en-US" sz="1800" b="1" dirty="0">
                <a:solidFill>
                  <a:srgbClr val="E11D48"/>
                </a:solidFill>
                <a:latin typeface="Vazirmatn" pitchFamily="34" charset="0"/>
                <a:ea typeface="Vazirmatn" pitchFamily="34" charset="-122"/>
                <a:cs typeface="Vazirmatn" pitchFamily="34" charset="-120"/>
              </a:rPr>
              <a:t>ریسک</a:t>
            </a:r>
            <a:endParaRPr lang="fa-IR" sz="1800" dirty="0"/>
          </a:p>
        </p:txBody>
      </p:sp>
      <p:sp>
        <p:nvSpPr>
          <p:cNvPr id="54" name="Text 52"/>
          <p:cNvSpPr txBox="1"/>
          <p:nvPr/>
        </p:nvSpPr>
        <p:spPr>
          <a:xfrm>
            <a:off x="777240" y="5458968"/>
            <a:ext cx="3088538" cy="548640"/>
          </a:xfrm>
          <a:prstGeom prst="rect">
            <a:avLst/>
          </a:prstGeom>
          <a:noFill/>
          <a:ln/>
        </p:spPr>
        <p:txBody>
          <a:bodyPr wrap="square" lIns="0" tIns="0" rIns="0" bIns="0" rtlCol="0" anchor="t"/>
          <a:lstStyle/>
          <a:p>
            <a:pPr marL="0" indent="0" algn="r" rtl="1">
              <a:buNone/>
            </a:pPr>
            <a:r>
              <a:rPr lang="fa-IR" altLang="en-US" sz="1300" dirty="0">
                <a:solidFill>
                  <a:srgbClr val="475569"/>
                </a:solidFill>
                <a:latin typeface="Vazirmatn" pitchFamily="34" charset="0"/>
                <a:ea typeface="Vazirmatn" pitchFamily="34" charset="-122"/>
                <a:cs typeface="Vazirmatn" pitchFamily="34" charset="-120"/>
              </a:rPr>
              <a:t>اجرای WRPKRU توسط مهاجم = حذف ایزوله‌سازی</a:t>
            </a:r>
            <a:endParaRPr lang="fa-IR" sz="1300" dirty="0"/>
          </a:p>
        </p:txBody>
      </p:sp>
      <p:sp>
        <p:nvSpPr>
          <p:cNvPr id="5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4A3B8"/>
                </a:solidFill>
                <a:latin typeface="Vazirmatn"/>
                <a:ea typeface="Vazirmatn"/>
                <a:cs typeface="Vazirmatn"/>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47472"/>
            <a:ext cx="11094415" cy="640080"/>
          </a:xfrm>
          <a:prstGeom prst="rect">
            <a:avLst/>
          </a:prstGeom>
          <a:noFill/>
          <a:ln/>
        </p:spPr>
        <p:txBody>
          <a:bodyPr wrap="square" lIns="0" tIns="0" rIns="0" bIns="0" rtlCol="0" anchor="ctr"/>
          <a:lstStyle/>
          <a:p>
            <a:pPr marL="0" indent="0" algn="r" rtl="1">
              <a:buNone/>
            </a:pPr>
            <a:r>
              <a:rPr lang="fa-IR" altLang="en-US" sz="3000" b="1" dirty="0">
                <a:solidFill>
                  <a:srgbClr val="0F172A"/>
                </a:solidFill>
                <a:latin typeface="Vazirmatn" pitchFamily="34" charset="0"/>
                <a:ea typeface="Vazirmatn" pitchFamily="34" charset="-122"/>
                <a:cs typeface="Vazirmatn" pitchFamily="34" charset="-120"/>
              </a:rPr>
              <a:t>Safeslab: مقابله با Use-After-Free با MPK</a:t>
            </a:r>
            <a:endParaRPr lang="fa-IR" sz="3000" dirty="0"/>
          </a:p>
        </p:txBody>
      </p:sp>
      <p:sp>
        <p:nvSpPr>
          <p:cNvPr id="3" name="Text 1"/>
          <p:cNvSpPr txBox="1"/>
          <p:nvPr/>
        </p:nvSpPr>
        <p:spPr>
          <a:xfrm>
            <a:off x="548640" y="969264"/>
            <a:ext cx="8168335" cy="365760"/>
          </a:xfrm>
          <a:prstGeom prst="rect">
            <a:avLst/>
          </a:prstGeom>
          <a:noFill/>
          <a:ln/>
        </p:spPr>
        <p:txBody>
          <a:bodyPr wrap="square" lIns="0" tIns="0" rIns="0" bIns="0" rtlCol="0" anchor="ctr"/>
          <a:lstStyle/>
          <a:p>
            <a:pPr marL="0" indent="0" algn="r" rtl="1">
              <a:buNone/>
            </a:pPr>
            <a:r>
              <a:rPr lang="fa-IR" altLang="en-US" sz="1500" dirty="0">
                <a:solidFill>
                  <a:srgbClr val="475569"/>
                </a:solidFill>
                <a:latin typeface="Vazirmatn" pitchFamily="34" charset="0"/>
                <a:ea typeface="Vazirmatn" pitchFamily="34" charset="-122"/>
                <a:cs typeface="Vazirmatn" pitchFamily="34" charset="-120"/>
              </a:rPr>
              <a:t>Momeu و همکاران · جایگزین SLUB، تخصیص‌دهنده‌ی پیش‌فرض هسته</a:t>
            </a:r>
            <a:endParaRPr lang="fa-IR" sz="1500" dirty="0"/>
          </a:p>
        </p:txBody>
      </p:sp>
      <p:sp>
        <p:nvSpPr>
          <p:cNvPr id="4" name="Shape 2"/>
          <p:cNvSpPr/>
          <p:nvPr/>
        </p:nvSpPr>
        <p:spPr>
          <a:xfrm>
            <a:off x="548640" y="502920"/>
            <a:ext cx="2834640" cy="329184"/>
          </a:xfrm>
          <a:prstGeom prst="roundRect">
            <a:avLst>
              <a:gd name="adj" fmla="val 50000"/>
            </a:avLst>
          </a:prstGeom>
          <a:solidFill>
            <a:srgbClr val="EDE9FE"/>
          </a:solidFill>
          <a:ln w="12700">
            <a:solidFill>
              <a:srgbClr val="EDE9FE"/>
            </a:solidFill>
            <a:prstDash val="solid"/>
          </a:ln>
        </p:spPr>
      </p:sp>
      <p:sp>
        <p:nvSpPr>
          <p:cNvPr id="5" name="Text 3"/>
          <p:cNvSpPr txBox="1"/>
          <p:nvPr/>
        </p:nvSpPr>
        <p:spPr>
          <a:xfrm>
            <a:off x="548640" y="502920"/>
            <a:ext cx="2834640" cy="329184"/>
          </a:xfrm>
          <a:prstGeom prst="rect">
            <a:avLst/>
          </a:prstGeom>
          <a:noFill/>
          <a:ln/>
        </p:spPr>
        <p:txBody>
          <a:bodyPr wrap="square" lIns="0" tIns="0" rIns="0" bIns="0" rtlCol="0" anchor="ctr"/>
          <a:lstStyle/>
          <a:p>
            <a:pPr marL="0" indent="0" algn="ctr" rtl="1">
              <a:buNone/>
            </a:pPr>
            <a:r>
              <a:rPr lang="fa-IR" altLang="en-US" sz="1200" b="1" dirty="0">
                <a:solidFill>
                  <a:srgbClr val="7C3AED"/>
                </a:solidFill>
                <a:latin typeface="Vazirmatn" pitchFamily="34" charset="0"/>
                <a:ea typeface="Vazirmatn" pitchFamily="34" charset="-122"/>
                <a:cs typeface="Vazirmatn" pitchFamily="34" charset="-120"/>
              </a:rPr>
              <a:t>سخت‌افزار + heap · CCS 2024</a:t>
            </a:r>
            <a:endParaRPr lang="fa-IR" sz="1200" dirty="0"/>
          </a:p>
        </p:txBody>
      </p:sp>
      <p:sp>
        <p:nvSpPr>
          <p:cNvPr id="6" name="Shape 4"/>
          <p:cNvSpPr/>
          <p:nvPr/>
        </p:nvSpPr>
        <p:spPr>
          <a:xfrm>
            <a:off x="548640" y="1600200"/>
            <a:ext cx="4937760" cy="4526280"/>
          </a:xfrm>
          <a:prstGeom prst="roundRect">
            <a:avLst>
              <a:gd name="adj" fmla="val 2424"/>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7" name="Text 5"/>
          <p:cNvSpPr txBox="1"/>
          <p:nvPr/>
        </p:nvSpPr>
        <p:spPr>
          <a:xfrm>
            <a:off x="822960" y="1783080"/>
            <a:ext cx="4389120" cy="365760"/>
          </a:xfrm>
          <a:prstGeom prst="rect">
            <a:avLst/>
          </a:prstGeom>
          <a:noFill/>
          <a:ln/>
        </p:spPr>
        <p:txBody>
          <a:bodyPr wrap="square" lIns="0" tIns="0" rIns="0" bIns="0" rtlCol="0" anchor="t"/>
          <a:lstStyle/>
          <a:p>
            <a:pPr marL="0" indent="0" algn="ctr" rtl="1">
              <a:buNone/>
            </a:pPr>
            <a:r>
              <a:rPr lang="fa-IR" altLang="en-US" sz="1500" b="1" dirty="0">
                <a:solidFill>
                  <a:srgbClr val="0F172A"/>
                </a:solidFill>
                <a:latin typeface="Vazirmatn" pitchFamily="34" charset="0"/>
                <a:ea typeface="Vazirmatn" pitchFamily="34" charset="-122"/>
                <a:cs typeface="Vazirmatn" pitchFamily="34" charset="-120"/>
              </a:rPr>
              <a:t>یک صفحه‌ی فیزیکی، چند نام مستعار</a:t>
            </a:r>
            <a:endParaRPr lang="fa-IR" sz="1500" dirty="0"/>
          </a:p>
        </p:txBody>
      </p:sp>
      <p:sp>
        <p:nvSpPr>
          <p:cNvPr id="8" name="Shape 6"/>
          <p:cNvSpPr/>
          <p:nvPr/>
        </p:nvSpPr>
        <p:spPr>
          <a:xfrm>
            <a:off x="868680" y="2377440"/>
            <a:ext cx="1280160" cy="868680"/>
          </a:xfrm>
          <a:prstGeom prst="roundRect">
            <a:avLst>
              <a:gd name="adj" fmla="val 8421"/>
            </a:avLst>
          </a:prstGeom>
          <a:solidFill>
            <a:srgbClr val="F1F5F9"/>
          </a:solidFill>
          <a:ln w="12700">
            <a:solidFill>
              <a:srgbClr val="CBD5E1"/>
            </a:solidFill>
            <a:prstDash val="solid"/>
          </a:ln>
        </p:spPr>
      </p:sp>
      <p:sp>
        <p:nvSpPr>
          <p:cNvPr id="9" name="Text 7"/>
          <p:cNvSpPr txBox="1"/>
          <p:nvPr/>
        </p:nvSpPr>
        <p:spPr>
          <a:xfrm>
            <a:off x="868680" y="2468880"/>
            <a:ext cx="1280160" cy="365760"/>
          </a:xfrm>
          <a:prstGeom prst="rect">
            <a:avLst/>
          </a:prstGeom>
          <a:noFill/>
          <a:ln/>
        </p:spPr>
        <p:txBody>
          <a:bodyPr wrap="square" lIns="0" tIns="0" rIns="0" bIns="0" rtlCol="0" anchor="t"/>
          <a:lstStyle/>
          <a:p>
            <a:pPr marL="0" indent="0" algn="ctr">
              <a:buNone/>
            </a:pPr>
            <a:r>
              <a:rPr lang="en-US" altLang="en-US" sz="1400" b="1" dirty="0">
                <a:solidFill>
                  <a:srgbClr val="475569"/>
                </a:solidFill>
                <a:latin typeface="Vazirmatn" pitchFamily="34" charset="0"/>
                <a:ea typeface="Vazirmatn" pitchFamily="34" charset="-122"/>
                <a:cs typeface="Vazirmatn" pitchFamily="34" charset="-120"/>
              </a:rPr>
              <a:t>TAD 0</a:t>
            </a:r>
            <a:endParaRPr lang="en-US" sz="1400" dirty="0"/>
          </a:p>
        </p:txBody>
      </p:sp>
      <p:sp>
        <p:nvSpPr>
          <p:cNvPr id="10" name="Text 8"/>
          <p:cNvSpPr txBox="1"/>
          <p:nvPr/>
        </p:nvSpPr>
        <p:spPr>
          <a:xfrm>
            <a:off x="868680" y="2834640"/>
            <a:ext cx="1280160" cy="320040"/>
          </a:xfrm>
          <a:prstGeom prst="rect">
            <a:avLst/>
          </a:prstGeom>
          <a:noFill/>
          <a:ln/>
        </p:spPr>
        <p:txBody>
          <a:bodyPr wrap="square" lIns="0" tIns="0" rIns="0" bIns="0" rtlCol="0" anchor="t"/>
          <a:lstStyle/>
          <a:p>
            <a:pPr marL="0" indent="0" algn="ctr" rtl="1">
              <a:buNone/>
            </a:pPr>
            <a:r>
              <a:rPr lang="fa-IR" altLang="en-US" sz="1100" dirty="0">
                <a:solidFill>
                  <a:srgbClr val="475569"/>
                </a:solidFill>
                <a:latin typeface="Vazirmatn" pitchFamily="34" charset="0"/>
                <a:ea typeface="Vazirmatn" pitchFamily="34" charset="-122"/>
                <a:cs typeface="Vazirmatn" pitchFamily="34" charset="-120"/>
              </a:rPr>
              <a:t>قدیمی · بسته</a:t>
            </a:r>
            <a:endParaRPr lang="fa-IR" sz="1100" dirty="0"/>
          </a:p>
        </p:txBody>
      </p:sp>
      <p:sp>
        <p:nvSpPr>
          <p:cNvPr id="11" name="Shape 9"/>
          <p:cNvSpPr/>
          <p:nvPr/>
        </p:nvSpPr>
        <p:spPr>
          <a:xfrm>
            <a:off x="1508760" y="3246120"/>
            <a:ext cx="1508760" cy="685800"/>
          </a:xfrm>
          <a:prstGeom prst="line">
            <a:avLst/>
          </a:prstGeom>
          <a:noFill/>
          <a:ln w="12700">
            <a:solidFill>
              <a:srgbClr val="CBD5E1"/>
            </a:solidFill>
            <a:prstDash val="dash"/>
          </a:ln>
        </p:spPr>
      </p:sp>
      <p:sp>
        <p:nvSpPr>
          <p:cNvPr id="12" name="Shape 10"/>
          <p:cNvSpPr/>
          <p:nvPr/>
        </p:nvSpPr>
        <p:spPr>
          <a:xfrm>
            <a:off x="2331720" y="2377440"/>
            <a:ext cx="1280160" cy="868680"/>
          </a:xfrm>
          <a:prstGeom prst="roundRect">
            <a:avLst>
              <a:gd name="adj" fmla="val 8421"/>
            </a:avLst>
          </a:prstGeom>
          <a:solidFill>
            <a:srgbClr val="F1F5F9"/>
          </a:solidFill>
          <a:ln w="12700">
            <a:solidFill>
              <a:srgbClr val="CBD5E1"/>
            </a:solidFill>
            <a:prstDash val="solid"/>
          </a:ln>
        </p:spPr>
      </p:sp>
      <p:sp>
        <p:nvSpPr>
          <p:cNvPr id="13" name="Text 11"/>
          <p:cNvSpPr txBox="1"/>
          <p:nvPr/>
        </p:nvSpPr>
        <p:spPr>
          <a:xfrm>
            <a:off x="2331720" y="2468880"/>
            <a:ext cx="1280160" cy="365760"/>
          </a:xfrm>
          <a:prstGeom prst="rect">
            <a:avLst/>
          </a:prstGeom>
          <a:noFill/>
          <a:ln/>
        </p:spPr>
        <p:txBody>
          <a:bodyPr wrap="square" lIns="0" tIns="0" rIns="0" bIns="0" rtlCol="0" anchor="t"/>
          <a:lstStyle/>
          <a:p>
            <a:pPr marL="0" indent="0" algn="ctr">
              <a:buNone/>
            </a:pPr>
            <a:r>
              <a:rPr lang="en-US" altLang="en-US" sz="1400" b="1" dirty="0">
                <a:solidFill>
                  <a:srgbClr val="475569"/>
                </a:solidFill>
                <a:latin typeface="Vazirmatn" pitchFamily="34" charset="0"/>
                <a:ea typeface="Vazirmatn" pitchFamily="34" charset="-122"/>
                <a:cs typeface="Vazirmatn" pitchFamily="34" charset="-120"/>
              </a:rPr>
              <a:t>TAD 1</a:t>
            </a:r>
            <a:endParaRPr lang="en-US" sz="1400" dirty="0"/>
          </a:p>
        </p:txBody>
      </p:sp>
      <p:sp>
        <p:nvSpPr>
          <p:cNvPr id="14" name="Text 12"/>
          <p:cNvSpPr txBox="1"/>
          <p:nvPr/>
        </p:nvSpPr>
        <p:spPr>
          <a:xfrm>
            <a:off x="2331720" y="2834640"/>
            <a:ext cx="1280160" cy="320040"/>
          </a:xfrm>
          <a:prstGeom prst="rect">
            <a:avLst/>
          </a:prstGeom>
          <a:noFill/>
          <a:ln/>
        </p:spPr>
        <p:txBody>
          <a:bodyPr wrap="square" lIns="0" tIns="0" rIns="0" bIns="0" rtlCol="0" anchor="t"/>
          <a:lstStyle/>
          <a:p>
            <a:pPr marL="0" indent="0" algn="ctr" rtl="1">
              <a:buNone/>
            </a:pPr>
            <a:r>
              <a:rPr lang="fa-IR" altLang="en-US" sz="1100" dirty="0">
                <a:solidFill>
                  <a:srgbClr val="475569"/>
                </a:solidFill>
                <a:latin typeface="Vazirmatn" pitchFamily="34" charset="0"/>
                <a:ea typeface="Vazirmatn" pitchFamily="34" charset="-122"/>
                <a:cs typeface="Vazirmatn" pitchFamily="34" charset="-120"/>
              </a:rPr>
              <a:t>قدیمی · بسته</a:t>
            </a:r>
            <a:endParaRPr lang="fa-IR" sz="1100" dirty="0"/>
          </a:p>
        </p:txBody>
      </p:sp>
      <p:sp>
        <p:nvSpPr>
          <p:cNvPr id="15" name="Shape 13"/>
          <p:cNvSpPr/>
          <p:nvPr/>
        </p:nvSpPr>
        <p:spPr>
          <a:xfrm>
            <a:off x="2971800" y="3246120"/>
            <a:ext cx="45720" cy="685800"/>
          </a:xfrm>
          <a:prstGeom prst="line">
            <a:avLst/>
          </a:prstGeom>
          <a:noFill/>
          <a:ln w="12700">
            <a:solidFill>
              <a:srgbClr val="CBD5E1"/>
            </a:solidFill>
            <a:prstDash val="dash"/>
          </a:ln>
        </p:spPr>
      </p:sp>
      <p:sp>
        <p:nvSpPr>
          <p:cNvPr id="16" name="Shape 14"/>
          <p:cNvSpPr/>
          <p:nvPr/>
        </p:nvSpPr>
        <p:spPr>
          <a:xfrm>
            <a:off x="3794760" y="2377440"/>
            <a:ext cx="1280160" cy="868680"/>
          </a:xfrm>
          <a:prstGeom prst="roundRect">
            <a:avLst>
              <a:gd name="adj" fmla="val 8421"/>
            </a:avLst>
          </a:prstGeom>
          <a:solidFill>
            <a:srgbClr val="7C3AED"/>
          </a:solidFill>
          <a:ln w="12700">
            <a:solidFill>
              <a:srgbClr val="7C3AED"/>
            </a:solidFill>
            <a:prstDash val="solid"/>
          </a:ln>
        </p:spPr>
      </p:sp>
      <p:sp>
        <p:nvSpPr>
          <p:cNvPr id="17" name="Text 15"/>
          <p:cNvSpPr txBox="1"/>
          <p:nvPr/>
        </p:nvSpPr>
        <p:spPr>
          <a:xfrm>
            <a:off x="3794760" y="2468880"/>
            <a:ext cx="1280160" cy="365760"/>
          </a:xfrm>
          <a:prstGeom prst="rect">
            <a:avLst/>
          </a:prstGeom>
          <a:noFill/>
          <a:ln/>
        </p:spPr>
        <p:txBody>
          <a:bodyPr wrap="square" lIns="0" tIns="0" rIns="0" bIns="0" rtlCol="0" anchor="t"/>
          <a:lstStyle/>
          <a:p>
            <a:pPr marL="0" indent="0" algn="ctr">
              <a:buNone/>
            </a:pPr>
            <a:r>
              <a:rPr lang="en-US" altLang="en-US" sz="1400" b="1" dirty="0">
                <a:solidFill>
                  <a:srgbClr val="FFFFFF"/>
                </a:solidFill>
                <a:latin typeface="Vazirmatn" pitchFamily="34" charset="0"/>
                <a:ea typeface="Vazirmatn" pitchFamily="34" charset="-122"/>
                <a:cs typeface="Vazirmatn" pitchFamily="34" charset="-120"/>
              </a:rPr>
              <a:t>TAD 2</a:t>
            </a:r>
            <a:endParaRPr lang="en-US" sz="1400" dirty="0"/>
          </a:p>
        </p:txBody>
      </p:sp>
      <p:sp>
        <p:nvSpPr>
          <p:cNvPr id="18" name="Text 16"/>
          <p:cNvSpPr txBox="1"/>
          <p:nvPr/>
        </p:nvSpPr>
        <p:spPr>
          <a:xfrm>
            <a:off x="3794760" y="2834640"/>
            <a:ext cx="1280160" cy="320040"/>
          </a:xfrm>
          <a:prstGeom prst="rect">
            <a:avLst/>
          </a:prstGeom>
          <a:noFill/>
          <a:ln/>
        </p:spPr>
        <p:txBody>
          <a:bodyPr wrap="square" lIns="0" tIns="0" rIns="0" bIns="0" rtlCol="0" anchor="t"/>
          <a:lstStyle/>
          <a:p>
            <a:pPr marL="0" indent="0" algn="ctr" rtl="1">
              <a:buNone/>
            </a:pPr>
            <a:r>
              <a:rPr lang="fa-IR" altLang="en-US" sz="1100" dirty="0">
                <a:solidFill>
                  <a:srgbClr val="EDE9FE"/>
                </a:solidFill>
                <a:latin typeface="Vazirmatn" pitchFamily="34" charset="0"/>
                <a:ea typeface="Vazirmatn" pitchFamily="34" charset="-122"/>
                <a:cs typeface="Vazirmatn" pitchFamily="34" charset="-120"/>
              </a:rPr>
              <a:t>فعال</a:t>
            </a:r>
            <a:endParaRPr lang="fa-IR" sz="1100" dirty="0"/>
          </a:p>
        </p:txBody>
      </p:sp>
      <p:sp>
        <p:nvSpPr>
          <p:cNvPr id="19" name="Shape 17"/>
          <p:cNvSpPr/>
          <p:nvPr/>
        </p:nvSpPr>
        <p:spPr>
          <a:xfrm>
            <a:off x="4434840" y="3246120"/>
            <a:ext cx="0" cy="685800"/>
          </a:xfrm>
          <a:prstGeom prst="line">
            <a:avLst/>
          </a:prstGeom>
          <a:noFill/>
          <a:ln w="25400">
            <a:solidFill>
              <a:srgbClr val="7C3AED"/>
            </a:solidFill>
            <a:prstDash val="solid"/>
          </a:ln>
        </p:spPr>
      </p:sp>
      <p:sp>
        <p:nvSpPr>
          <p:cNvPr id="20" name="Shape 18"/>
          <p:cNvSpPr/>
          <p:nvPr/>
        </p:nvSpPr>
        <p:spPr>
          <a:xfrm>
            <a:off x="1920240" y="3931920"/>
            <a:ext cx="2194560" cy="685800"/>
          </a:xfrm>
          <a:prstGeom prst="roundRect">
            <a:avLst>
              <a:gd name="adj" fmla="val 10667"/>
            </a:avLst>
          </a:prstGeom>
          <a:solidFill>
            <a:srgbClr val="0F172A"/>
          </a:solidFill>
          <a:ln w="12700">
            <a:solidFill>
              <a:srgbClr val="0F172A"/>
            </a:solidFill>
            <a:prstDash val="solid"/>
          </a:ln>
        </p:spPr>
      </p:sp>
      <p:sp>
        <p:nvSpPr>
          <p:cNvPr id="21" name="Text 19"/>
          <p:cNvSpPr txBox="1"/>
          <p:nvPr/>
        </p:nvSpPr>
        <p:spPr>
          <a:xfrm>
            <a:off x="1920240" y="3931920"/>
            <a:ext cx="2194560" cy="685800"/>
          </a:xfrm>
          <a:prstGeom prst="rect">
            <a:avLst/>
          </a:prstGeom>
          <a:noFill/>
          <a:ln/>
        </p:spPr>
        <p:txBody>
          <a:bodyPr wrap="square" lIns="0" tIns="0" rIns="0" bIns="0" rtlCol="0" anchor="ctr"/>
          <a:lstStyle/>
          <a:p>
            <a:pPr marL="0" indent="0" algn="ctr" rtl="1">
              <a:buNone/>
            </a:pPr>
            <a:r>
              <a:rPr lang="fa-IR" altLang="en-US" sz="1400" b="1" dirty="0">
                <a:solidFill>
                  <a:srgbClr val="FFFFFF"/>
                </a:solidFill>
                <a:latin typeface="Vazirmatn" pitchFamily="34" charset="0"/>
                <a:ea typeface="Vazirmatn" pitchFamily="34" charset="-122"/>
                <a:cs typeface="Vazirmatn" pitchFamily="34" charset="-120"/>
              </a:rPr>
              <a:t>صفحه‌ی فیزیکی</a:t>
            </a:r>
            <a:endParaRPr lang="fa-IR" sz="1400" dirty="0"/>
          </a:p>
        </p:txBody>
      </p:sp>
      <p:sp>
        <p:nvSpPr>
          <p:cNvPr id="22" name="Shape 20"/>
          <p:cNvSpPr/>
          <p:nvPr/>
        </p:nvSpPr>
        <p:spPr>
          <a:xfrm>
            <a:off x="868680" y="4892040"/>
            <a:ext cx="4297680" cy="960120"/>
          </a:xfrm>
          <a:prstGeom prst="roundRect">
            <a:avLst>
              <a:gd name="adj" fmla="val 7619"/>
            </a:avLst>
          </a:prstGeom>
          <a:solidFill>
            <a:srgbClr val="FFE4E6"/>
          </a:solidFill>
          <a:ln w="12700">
            <a:solidFill>
              <a:srgbClr val="FFE4E6"/>
            </a:solidFill>
            <a:prstDash val="solid"/>
          </a:ln>
        </p:spPr>
      </p:sp>
      <p:sp>
        <p:nvSpPr>
          <p:cNvPr id="23" name="Text 21"/>
          <p:cNvSpPr txBox="1"/>
          <p:nvPr/>
        </p:nvSpPr>
        <p:spPr>
          <a:xfrm>
            <a:off x="1051560" y="4892040"/>
            <a:ext cx="3931920" cy="960120"/>
          </a:xfrm>
          <a:prstGeom prst="rect">
            <a:avLst/>
          </a:prstGeom>
          <a:noFill/>
          <a:ln/>
        </p:spPr>
        <p:txBody>
          <a:bodyPr wrap="square" lIns="0" tIns="0" rIns="0" bIns="0" rtlCol="0" anchor="ctr"/>
          <a:lstStyle/>
          <a:p>
            <a:pPr marL="0" indent="0" algn="ctr" rtl="1">
              <a:buNone/>
            </a:pPr>
            <a:r>
              <a:rPr lang="fa-IR" altLang="en-US" sz="1300" b="1" dirty="0">
                <a:solidFill>
                  <a:srgbClr val="E11D48"/>
                </a:solidFill>
                <a:latin typeface="Vazirmatn" pitchFamily="34" charset="0"/>
                <a:ea typeface="Vazirmatn" pitchFamily="34" charset="-122"/>
                <a:cs typeface="Vazirmatn" pitchFamily="34" charset="-120"/>
              </a:rPr>
              <a:t>اشاره‌گر معلق از TAD قدیمی ← کلیدش بسته است ← خطای دسترسی، نه exploit</a:t>
            </a:r>
            <a:endParaRPr lang="fa-IR" sz="1300" dirty="0"/>
          </a:p>
        </p:txBody>
      </p:sp>
      <p:sp>
        <p:nvSpPr>
          <p:cNvPr id="24" name="Shape 22"/>
          <p:cNvSpPr/>
          <p:nvPr/>
        </p:nvSpPr>
        <p:spPr>
          <a:xfrm>
            <a:off x="11076127" y="1645920"/>
            <a:ext cx="566928" cy="566928"/>
          </a:xfrm>
          <a:prstGeom prst="ellipse">
            <a:avLst/>
          </a:prstGeom>
          <a:solidFill>
            <a:srgbClr val="7C3AED"/>
          </a:solidFill>
          <a:ln w="12700">
            <a:solidFill>
              <a:srgbClr val="7C3AED"/>
            </a:solidFill>
            <a:prstDash val="solid"/>
          </a:ln>
        </p:spPr>
      </p:sp>
      <p:pic>
        <p:nvPicPr>
          <p:cNvPr id="25" name="Image 0" descr="preencoded.png"/>
          <p:cNvPicPr>
            <a:picLocks noChangeAspect="1"/>
          </p:cNvPicPr>
          <p:nvPr/>
        </p:nvPicPr>
        <p:blipFill>
          <a:blip r:embed="rId3"/>
          <a:stretch>
            <a:fillRect/>
          </a:stretch>
        </p:blipFill>
        <p:spPr>
          <a:xfrm>
            <a:off x="11200851" y="1770644"/>
            <a:ext cx="317480" cy="317480"/>
          </a:xfrm>
          <a:prstGeom prst="rect">
            <a:avLst/>
          </a:prstGeom>
        </p:spPr>
      </p:pic>
      <p:sp>
        <p:nvSpPr>
          <p:cNvPr id="26" name="Text 23"/>
          <p:cNvSpPr txBox="1"/>
          <p:nvPr/>
        </p:nvSpPr>
        <p:spPr>
          <a:xfrm>
            <a:off x="5806440" y="1609344"/>
            <a:ext cx="5059375" cy="365760"/>
          </a:xfrm>
          <a:prstGeom prst="rect">
            <a:avLst/>
          </a:prstGeom>
          <a:noFill/>
          <a:ln/>
        </p:spPr>
        <p:txBody>
          <a:bodyPr wrap="square" lIns="0" tIns="0" rIns="0" bIns="0" rtlCol="0" anchor="t"/>
          <a:lstStyle/>
          <a:p>
            <a:pPr marL="0" indent="0" algn="r" rtl="1">
              <a:buNone/>
            </a:pPr>
            <a:r>
              <a:rPr lang="fa-IR" altLang="en-US" sz="1600" b="1" dirty="0">
                <a:solidFill>
                  <a:srgbClr val="0F172A"/>
                </a:solidFill>
                <a:latin typeface="Vazirmatn" pitchFamily="34" charset="0"/>
                <a:ea typeface="Vazirmatn" pitchFamily="34" charset="-122"/>
                <a:cs typeface="Vazirmatn" pitchFamily="34" charset="-120"/>
              </a:rPr>
              <a:t>۱۶ دامنه‌ی مستعار زمانی (TAD)</a:t>
            </a:r>
            <a:endParaRPr lang="fa-IR" sz="1600" dirty="0"/>
          </a:p>
        </p:txBody>
      </p:sp>
      <p:sp>
        <p:nvSpPr>
          <p:cNvPr id="27" name="Text 24"/>
          <p:cNvSpPr txBox="1"/>
          <p:nvPr/>
        </p:nvSpPr>
        <p:spPr>
          <a:xfrm>
            <a:off x="5806440" y="1975104"/>
            <a:ext cx="5059375" cy="457200"/>
          </a:xfrm>
          <a:prstGeom prst="rect">
            <a:avLst/>
          </a:prstGeom>
          <a:noFill/>
          <a:ln/>
        </p:spPr>
        <p:txBody>
          <a:bodyPr wrap="square" lIns="0" tIns="0" rIns="0" bIns="0" rtlCol="0" anchor="t"/>
          <a:lstStyle/>
          <a:p>
            <a:pPr marL="0" indent="0" algn="r" rtl="1">
              <a:buNone/>
            </a:pPr>
            <a:r>
              <a:rPr lang="fa-IR" altLang="en-US" sz="1300" dirty="0">
                <a:solidFill>
                  <a:srgbClr val="475569"/>
                </a:solidFill>
                <a:latin typeface="Vazirmatn" pitchFamily="34" charset="0"/>
                <a:ea typeface="Vazirmatn" pitchFamily="34" charset="-122"/>
                <a:cs typeface="Vazirmatn" pitchFamily="34" charset="-120"/>
              </a:rPr>
              <a:t>هر دامنه کلید MPK خودش را دارد؛ فقط یکی در هر لحظه فعال است</a:t>
            </a:r>
            <a:endParaRPr lang="fa-IR" sz="1300" dirty="0"/>
          </a:p>
        </p:txBody>
      </p:sp>
      <p:sp>
        <p:nvSpPr>
          <p:cNvPr id="28" name="Shape 25"/>
          <p:cNvSpPr/>
          <p:nvPr/>
        </p:nvSpPr>
        <p:spPr>
          <a:xfrm>
            <a:off x="11076127" y="2560320"/>
            <a:ext cx="566928" cy="566928"/>
          </a:xfrm>
          <a:prstGeom prst="ellipse">
            <a:avLst/>
          </a:prstGeom>
          <a:solidFill>
            <a:srgbClr val="7C3AED"/>
          </a:solidFill>
          <a:ln w="12700">
            <a:solidFill>
              <a:srgbClr val="7C3AED"/>
            </a:solidFill>
            <a:prstDash val="solid"/>
          </a:ln>
        </p:spPr>
      </p:sp>
      <p:pic>
        <p:nvPicPr>
          <p:cNvPr id="29" name="Image 1" descr="preencoded.png"/>
          <p:cNvPicPr>
            <a:picLocks noChangeAspect="1"/>
          </p:cNvPicPr>
          <p:nvPr/>
        </p:nvPicPr>
        <p:blipFill>
          <a:blip r:embed="rId4"/>
          <a:stretch>
            <a:fillRect/>
          </a:stretch>
        </p:blipFill>
        <p:spPr>
          <a:xfrm>
            <a:off x="11200851" y="2685044"/>
            <a:ext cx="317480" cy="317480"/>
          </a:xfrm>
          <a:prstGeom prst="rect">
            <a:avLst/>
          </a:prstGeom>
        </p:spPr>
      </p:pic>
      <p:sp>
        <p:nvSpPr>
          <p:cNvPr id="30" name="Text 26"/>
          <p:cNvSpPr txBox="1"/>
          <p:nvPr/>
        </p:nvSpPr>
        <p:spPr>
          <a:xfrm>
            <a:off x="5806440" y="2523744"/>
            <a:ext cx="5059375" cy="365760"/>
          </a:xfrm>
          <a:prstGeom prst="rect">
            <a:avLst/>
          </a:prstGeom>
          <a:noFill/>
          <a:ln/>
        </p:spPr>
        <p:txBody>
          <a:bodyPr wrap="square" lIns="0" tIns="0" rIns="0" bIns="0" rtlCol="0" anchor="t"/>
          <a:lstStyle/>
          <a:p>
            <a:pPr marL="0" indent="0" algn="r" rtl="1">
              <a:buNone/>
            </a:pPr>
            <a:r>
              <a:rPr lang="fa-IR" altLang="en-US" sz="1600" b="1" dirty="0">
                <a:solidFill>
                  <a:srgbClr val="0F172A"/>
                </a:solidFill>
                <a:latin typeface="Vazirmatn" pitchFamily="34" charset="0"/>
                <a:ea typeface="Vazirmatn" pitchFamily="34" charset="-122"/>
                <a:cs typeface="Vazirmatn" pitchFamily="34" charset="-120"/>
              </a:rPr>
              <a:t>بدون استفاده‌ی مجدد، بدون freelist</a:t>
            </a:r>
            <a:endParaRPr lang="fa-IR" sz="1600" dirty="0"/>
          </a:p>
        </p:txBody>
      </p:sp>
      <p:sp>
        <p:nvSpPr>
          <p:cNvPr id="31" name="Text 27"/>
          <p:cNvSpPr txBox="1"/>
          <p:nvPr/>
        </p:nvSpPr>
        <p:spPr>
          <a:xfrm>
            <a:off x="5806440" y="2889504"/>
            <a:ext cx="5059375" cy="457200"/>
          </a:xfrm>
          <a:prstGeom prst="rect">
            <a:avLst/>
          </a:prstGeom>
          <a:noFill/>
          <a:ln/>
        </p:spPr>
        <p:txBody>
          <a:bodyPr wrap="square" lIns="0" tIns="0" rIns="0" bIns="0" rtlCol="0" anchor="t"/>
          <a:lstStyle/>
          <a:p>
            <a:pPr marL="0" indent="0" algn="r" rtl="1">
              <a:buNone/>
            </a:pPr>
            <a:r>
              <a:rPr lang="fa-IR" altLang="en-US" sz="1300" dirty="0">
                <a:solidFill>
                  <a:srgbClr val="475569"/>
                </a:solidFill>
                <a:latin typeface="Vazirmatn" pitchFamily="34" charset="0"/>
                <a:ea typeface="Vazirmatn" pitchFamily="34" charset="-122"/>
                <a:cs typeface="Vazirmatn" pitchFamily="34" charset="-120"/>
              </a:rPr>
              <a:t>شیء آزادشده در همان دامنه دوباره تخصیص داده نمی‌شود</a:t>
            </a:r>
            <a:endParaRPr lang="fa-IR" sz="1300" dirty="0"/>
          </a:p>
        </p:txBody>
      </p:sp>
      <p:sp>
        <p:nvSpPr>
          <p:cNvPr id="32" name="Shape 28"/>
          <p:cNvSpPr/>
          <p:nvPr/>
        </p:nvSpPr>
        <p:spPr>
          <a:xfrm>
            <a:off x="11076127" y="3474720"/>
            <a:ext cx="566928" cy="566928"/>
          </a:xfrm>
          <a:prstGeom prst="ellipse">
            <a:avLst/>
          </a:prstGeom>
          <a:solidFill>
            <a:srgbClr val="7C3AED"/>
          </a:solidFill>
          <a:ln w="12700">
            <a:solidFill>
              <a:srgbClr val="7C3AED"/>
            </a:solidFill>
            <a:prstDash val="solid"/>
          </a:ln>
        </p:spPr>
      </p:sp>
      <p:pic>
        <p:nvPicPr>
          <p:cNvPr id="33" name="Image 2" descr="preencoded.png"/>
          <p:cNvPicPr>
            <a:picLocks noChangeAspect="1"/>
          </p:cNvPicPr>
          <p:nvPr/>
        </p:nvPicPr>
        <p:blipFill>
          <a:blip r:embed="rId5"/>
          <a:stretch>
            <a:fillRect/>
          </a:stretch>
        </p:blipFill>
        <p:spPr>
          <a:xfrm>
            <a:off x="11200851" y="3599444"/>
            <a:ext cx="317480" cy="317480"/>
          </a:xfrm>
          <a:prstGeom prst="rect">
            <a:avLst/>
          </a:prstGeom>
        </p:spPr>
      </p:pic>
      <p:sp>
        <p:nvSpPr>
          <p:cNvPr id="34" name="Text 29"/>
          <p:cNvSpPr txBox="1"/>
          <p:nvPr/>
        </p:nvSpPr>
        <p:spPr>
          <a:xfrm>
            <a:off x="5806440" y="3438144"/>
            <a:ext cx="5059375" cy="365760"/>
          </a:xfrm>
          <a:prstGeom prst="rect">
            <a:avLst/>
          </a:prstGeom>
          <a:noFill/>
          <a:ln/>
        </p:spPr>
        <p:txBody>
          <a:bodyPr wrap="square" lIns="0" tIns="0" rIns="0" bIns="0" rtlCol="0" anchor="t"/>
          <a:lstStyle/>
          <a:p>
            <a:pPr marL="0" indent="0" algn="r" rtl="1">
              <a:buNone/>
            </a:pPr>
            <a:r>
              <a:rPr lang="fa-IR" altLang="en-US" sz="1600" b="1" dirty="0">
                <a:solidFill>
                  <a:srgbClr val="0F172A"/>
                </a:solidFill>
                <a:latin typeface="Vazirmatn" pitchFamily="34" charset="0"/>
                <a:ea typeface="Vazirmatn" pitchFamily="34" charset="-122"/>
                <a:cs typeface="Vazirmatn" pitchFamily="34" charset="-120"/>
              </a:rPr>
              <a:t>پویشگر اشاره‌گر</a:t>
            </a:r>
            <a:endParaRPr lang="fa-IR" sz="1600" dirty="0"/>
          </a:p>
        </p:txBody>
      </p:sp>
      <p:sp>
        <p:nvSpPr>
          <p:cNvPr id="35" name="Text 30"/>
          <p:cNvSpPr txBox="1"/>
          <p:nvPr/>
        </p:nvSpPr>
        <p:spPr>
          <a:xfrm>
            <a:off x="5806440" y="3803904"/>
            <a:ext cx="5059375" cy="457200"/>
          </a:xfrm>
          <a:prstGeom prst="rect">
            <a:avLst/>
          </a:prstGeom>
          <a:noFill/>
          <a:ln/>
        </p:spPr>
        <p:txBody>
          <a:bodyPr wrap="square" lIns="0" tIns="0" rIns="0" bIns="0" rtlCol="0" anchor="t"/>
          <a:lstStyle/>
          <a:p>
            <a:pPr marL="0" indent="0" algn="r" rtl="1">
              <a:buNone/>
            </a:pPr>
            <a:r>
              <a:rPr lang="fa-IR" altLang="en-US" sz="1300" dirty="0">
                <a:solidFill>
                  <a:srgbClr val="475569"/>
                </a:solidFill>
                <a:latin typeface="Vazirmatn" pitchFamily="34" charset="0"/>
                <a:ea typeface="Vazirmatn" pitchFamily="34" charset="-122"/>
                <a:cs typeface="Vazirmatn" pitchFamily="34" charset="-120"/>
              </a:rPr>
              <a:t>صفحه‌های دارای اشاره‌گر معلق را ناامن علامت می‌زند</a:t>
            </a:r>
            <a:endParaRPr lang="fa-IR" sz="1300" dirty="0"/>
          </a:p>
        </p:txBody>
      </p:sp>
      <p:sp>
        <p:nvSpPr>
          <p:cNvPr id="36" name="Shape 31"/>
          <p:cNvSpPr/>
          <p:nvPr/>
        </p:nvSpPr>
        <p:spPr>
          <a:xfrm>
            <a:off x="8839048" y="4526280"/>
            <a:ext cx="2804008" cy="1600200"/>
          </a:xfrm>
          <a:prstGeom prst="roundRect">
            <a:avLst>
              <a:gd name="adj" fmla="val 6857"/>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37" name="Text 32"/>
          <p:cNvSpPr txBox="1"/>
          <p:nvPr/>
        </p:nvSpPr>
        <p:spPr>
          <a:xfrm>
            <a:off x="9067648" y="4663440"/>
            <a:ext cx="2346808" cy="731520"/>
          </a:xfrm>
          <a:prstGeom prst="rect">
            <a:avLst/>
          </a:prstGeom>
          <a:noFill/>
          <a:ln/>
        </p:spPr>
        <p:txBody>
          <a:bodyPr wrap="square" lIns="0" tIns="0" rIns="0" bIns="0" rtlCol="0" anchor="ctr"/>
          <a:lstStyle/>
          <a:p>
            <a:pPr marL="0" indent="0" algn="r" rtl="1">
              <a:buNone/>
            </a:pPr>
            <a:r>
              <a:rPr lang="fa-IR" altLang="en-US" sz="3600" b="1" dirty="0">
                <a:solidFill>
                  <a:srgbClr val="0D9488"/>
                </a:solidFill>
                <a:latin typeface="Vazirmatn" pitchFamily="34" charset="0"/>
                <a:ea typeface="Vazirmatn" pitchFamily="34" charset="-122"/>
                <a:cs typeface="Vazirmatn" pitchFamily="34" charset="-120"/>
              </a:rPr>
              <a:t>≈۴٪</a:t>
            </a:r>
            <a:endParaRPr lang="fa-IR" sz="3600" dirty="0"/>
          </a:p>
        </p:txBody>
      </p:sp>
      <p:sp>
        <p:nvSpPr>
          <p:cNvPr id="38" name="Text 33"/>
          <p:cNvSpPr txBox="1"/>
          <p:nvPr/>
        </p:nvSpPr>
        <p:spPr>
          <a:xfrm>
            <a:off x="9067648" y="5440680"/>
            <a:ext cx="2346808" cy="548640"/>
          </a:xfrm>
          <a:prstGeom prst="rect">
            <a:avLst/>
          </a:prstGeom>
          <a:noFill/>
          <a:ln/>
        </p:spPr>
        <p:txBody>
          <a:bodyPr wrap="square" lIns="0" tIns="0" rIns="0" bIns="0" rtlCol="0" anchor="t"/>
          <a:lstStyle/>
          <a:p>
            <a:pPr marL="0" indent="0" algn="r" rtl="1">
              <a:buNone/>
            </a:pPr>
            <a:r>
              <a:rPr lang="fa-IR" altLang="en-US" sz="1300" dirty="0">
                <a:solidFill>
                  <a:srgbClr val="475569"/>
                </a:solidFill>
                <a:latin typeface="Vazirmatn" pitchFamily="34" charset="0"/>
                <a:ea typeface="Vazirmatn" pitchFamily="34" charset="-122"/>
                <a:cs typeface="Vazirmatn" pitchFamily="34" charset="-120"/>
              </a:rPr>
              <a:t>میانگین هندسی سربار (LMbench)</a:t>
            </a:r>
            <a:endParaRPr lang="fa-IR" sz="1300" dirty="0"/>
          </a:p>
        </p:txBody>
      </p:sp>
      <p:sp>
        <p:nvSpPr>
          <p:cNvPr id="39" name="Shape 34"/>
          <p:cNvSpPr/>
          <p:nvPr/>
        </p:nvSpPr>
        <p:spPr>
          <a:xfrm>
            <a:off x="5806440" y="4526280"/>
            <a:ext cx="2804008" cy="1600200"/>
          </a:xfrm>
          <a:prstGeom prst="roundRect">
            <a:avLst>
              <a:gd name="adj" fmla="val 6857"/>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40" name="Text 35"/>
          <p:cNvSpPr txBox="1"/>
          <p:nvPr/>
        </p:nvSpPr>
        <p:spPr>
          <a:xfrm>
            <a:off x="6035040" y="4663440"/>
            <a:ext cx="2346808" cy="731520"/>
          </a:xfrm>
          <a:prstGeom prst="rect">
            <a:avLst/>
          </a:prstGeom>
          <a:noFill/>
          <a:ln/>
        </p:spPr>
        <p:txBody>
          <a:bodyPr wrap="square" lIns="0" tIns="0" rIns="0" bIns="0" rtlCol="0" anchor="ctr"/>
          <a:lstStyle/>
          <a:p>
            <a:pPr marL="0" indent="0" algn="r" rtl="1">
              <a:buNone/>
            </a:pPr>
            <a:r>
              <a:rPr lang="fa-IR" altLang="en-US" sz="3600" b="1" dirty="0">
                <a:solidFill>
                  <a:srgbClr val="EA580C"/>
                </a:solidFill>
                <a:latin typeface="Vazirmatn" pitchFamily="34" charset="0"/>
                <a:ea typeface="Vazirmatn" pitchFamily="34" charset="-122"/>
                <a:cs typeface="Vazirmatn" pitchFamily="34" charset="-120"/>
              </a:rPr>
              <a:t>متوسط</a:t>
            </a:r>
            <a:endParaRPr lang="fa-IR" sz="3600" dirty="0"/>
          </a:p>
        </p:txBody>
      </p:sp>
      <p:sp>
        <p:nvSpPr>
          <p:cNvPr id="41" name="Text 36"/>
          <p:cNvSpPr txBox="1"/>
          <p:nvPr/>
        </p:nvSpPr>
        <p:spPr>
          <a:xfrm>
            <a:off x="6035040" y="5440680"/>
            <a:ext cx="2346808" cy="548640"/>
          </a:xfrm>
          <a:prstGeom prst="rect">
            <a:avLst/>
          </a:prstGeom>
          <a:noFill/>
          <a:ln/>
        </p:spPr>
        <p:txBody>
          <a:bodyPr wrap="square" lIns="0" tIns="0" rIns="0" bIns="0" rtlCol="0" anchor="t"/>
          <a:lstStyle/>
          <a:p>
            <a:pPr marL="0" indent="0" algn="r" rtl="1">
              <a:buNone/>
            </a:pPr>
            <a:r>
              <a:rPr lang="fa-IR" altLang="en-US" sz="1300" dirty="0">
                <a:solidFill>
                  <a:srgbClr val="475569"/>
                </a:solidFill>
                <a:latin typeface="Vazirmatn" pitchFamily="34" charset="0"/>
                <a:ea typeface="Vazirmatn" pitchFamily="34" charset="-122"/>
                <a:cs typeface="Vazirmatn" pitchFamily="34" charset="-120"/>
              </a:rPr>
              <a:t>هدررفت حافظه به‌خاطر عدم استفاده‌ی مجدد</a:t>
            </a:r>
            <a:endParaRPr lang="fa-IR" sz="1300" dirty="0"/>
          </a:p>
        </p:txBody>
      </p:sp>
      <p:sp>
        <p:nvSpPr>
          <p:cNvPr id="42"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4A3B8"/>
                </a:solidFill>
                <a:latin typeface="Vazirmatn"/>
                <a:ea typeface="Vazirmatn"/>
                <a:cs typeface="Vazirmatn"/>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47472"/>
            <a:ext cx="11094415" cy="640080"/>
          </a:xfrm>
          <a:prstGeom prst="rect">
            <a:avLst/>
          </a:prstGeom>
          <a:noFill/>
          <a:ln/>
        </p:spPr>
        <p:txBody>
          <a:bodyPr wrap="square" lIns="0" tIns="0" rIns="0" bIns="0" rtlCol="0" anchor="ctr"/>
          <a:lstStyle/>
          <a:p>
            <a:pPr marL="0" indent="0" algn="r" rtl="1">
              <a:buNone/>
            </a:pPr>
            <a:r>
              <a:rPr lang="fa-IR" altLang="en-US" sz="3000" b="1" dirty="0">
                <a:solidFill>
                  <a:srgbClr val="0F172A"/>
                </a:solidFill>
                <a:latin typeface="Vazirmatn" pitchFamily="34" charset="0"/>
                <a:ea typeface="Vazirmatn" pitchFamily="34" charset="-122"/>
                <a:cs typeface="Vazirmatn" pitchFamily="34" charset="-120"/>
              </a:rPr>
              <a:t>μSwitch: ایزوله‌سازی زمینه‌ی هسته با MPK</a:t>
            </a:r>
            <a:endParaRPr lang="fa-IR" sz="3000" dirty="0"/>
          </a:p>
        </p:txBody>
      </p:sp>
      <p:sp>
        <p:nvSpPr>
          <p:cNvPr id="3" name="Text 1"/>
          <p:cNvSpPr txBox="1"/>
          <p:nvPr/>
        </p:nvSpPr>
        <p:spPr>
          <a:xfrm>
            <a:off x="548640" y="969264"/>
            <a:ext cx="8168335" cy="365760"/>
          </a:xfrm>
          <a:prstGeom prst="rect">
            <a:avLst/>
          </a:prstGeom>
          <a:noFill/>
          <a:ln/>
        </p:spPr>
        <p:txBody>
          <a:bodyPr wrap="square" lIns="0" tIns="0" rIns="0" bIns="0" rtlCol="0" anchor="ctr"/>
          <a:lstStyle/>
          <a:p>
            <a:pPr marL="0" indent="0" algn="r" rtl="1">
              <a:buNone/>
            </a:pPr>
            <a:r>
              <a:rPr lang="fa-IR" altLang="en-US" sz="1500" dirty="0">
                <a:solidFill>
                  <a:srgbClr val="475569"/>
                </a:solidFill>
                <a:latin typeface="Vazirmatn" pitchFamily="34" charset="0"/>
                <a:ea typeface="Vazirmatn" pitchFamily="34" charset="-122"/>
                <a:cs typeface="Vazirmatn" pitchFamily="34" charset="-120"/>
              </a:rPr>
              <a:t>Peng و همکاران · جداکردن حافظه کافی نیست؛ منابع هسته (فایل‌ها، fd) هم باید جدا شوند</a:t>
            </a:r>
            <a:endParaRPr lang="fa-IR" sz="1500" dirty="0"/>
          </a:p>
        </p:txBody>
      </p:sp>
      <p:sp>
        <p:nvSpPr>
          <p:cNvPr id="4" name="Shape 2"/>
          <p:cNvSpPr/>
          <p:nvPr/>
        </p:nvSpPr>
        <p:spPr>
          <a:xfrm>
            <a:off x="548640" y="502920"/>
            <a:ext cx="2743200" cy="329184"/>
          </a:xfrm>
          <a:prstGeom prst="roundRect">
            <a:avLst>
              <a:gd name="adj" fmla="val 50000"/>
            </a:avLst>
          </a:prstGeom>
          <a:solidFill>
            <a:srgbClr val="EDE9FE"/>
          </a:solidFill>
          <a:ln w="12700">
            <a:solidFill>
              <a:srgbClr val="EDE9FE"/>
            </a:solidFill>
            <a:prstDash val="solid"/>
          </a:ln>
        </p:spPr>
      </p:sp>
      <p:sp>
        <p:nvSpPr>
          <p:cNvPr id="5" name="Text 3"/>
          <p:cNvSpPr txBox="1"/>
          <p:nvPr/>
        </p:nvSpPr>
        <p:spPr>
          <a:xfrm>
            <a:off x="548640" y="502920"/>
            <a:ext cx="2743200" cy="329184"/>
          </a:xfrm>
          <a:prstGeom prst="rect">
            <a:avLst/>
          </a:prstGeom>
          <a:noFill/>
          <a:ln/>
        </p:spPr>
        <p:txBody>
          <a:bodyPr wrap="square" lIns="0" tIns="0" rIns="0" bIns="0" rtlCol="0" anchor="ctr"/>
          <a:lstStyle/>
          <a:p>
            <a:pPr marL="0" indent="0" algn="ctr" rtl="1">
              <a:buNone/>
            </a:pPr>
            <a:r>
              <a:rPr lang="fa-IR" altLang="en-US" sz="1200" b="1" dirty="0">
                <a:solidFill>
                  <a:srgbClr val="7C3AED"/>
                </a:solidFill>
                <a:latin typeface="Vazirmatn" pitchFamily="34" charset="0"/>
                <a:ea typeface="Vazirmatn" pitchFamily="34" charset="-122"/>
                <a:cs typeface="Vazirmatn" pitchFamily="34" charset="-120"/>
              </a:rPr>
              <a:t>سخت‌افزار · IEEE S&amp;P 2023</a:t>
            </a:r>
            <a:endParaRPr lang="fa-IR" sz="1200" dirty="0"/>
          </a:p>
        </p:txBody>
      </p:sp>
      <p:sp>
        <p:nvSpPr>
          <p:cNvPr id="6" name="Shape 4"/>
          <p:cNvSpPr/>
          <p:nvPr/>
        </p:nvSpPr>
        <p:spPr>
          <a:xfrm>
            <a:off x="11076127" y="1645920"/>
            <a:ext cx="566928" cy="566928"/>
          </a:xfrm>
          <a:prstGeom prst="ellipse">
            <a:avLst/>
          </a:prstGeom>
          <a:solidFill>
            <a:srgbClr val="7C3AED"/>
          </a:solidFill>
          <a:ln w="12700">
            <a:solidFill>
              <a:srgbClr val="7C3AED"/>
            </a:solidFill>
            <a:prstDash val="solid"/>
          </a:ln>
        </p:spPr>
      </p:sp>
      <p:pic>
        <p:nvPicPr>
          <p:cNvPr id="7" name="Image 0" descr="preencoded.png"/>
          <p:cNvPicPr>
            <a:picLocks noChangeAspect="1"/>
          </p:cNvPicPr>
          <p:nvPr/>
        </p:nvPicPr>
        <p:blipFill>
          <a:blip r:embed="rId3"/>
          <a:stretch>
            <a:fillRect/>
          </a:stretch>
        </p:blipFill>
        <p:spPr>
          <a:xfrm>
            <a:off x="11200851" y="1770644"/>
            <a:ext cx="317480" cy="317480"/>
          </a:xfrm>
          <a:prstGeom prst="rect">
            <a:avLst/>
          </a:prstGeom>
        </p:spPr>
      </p:pic>
      <p:sp>
        <p:nvSpPr>
          <p:cNvPr id="8" name="Text 5"/>
          <p:cNvSpPr txBox="1"/>
          <p:nvPr/>
        </p:nvSpPr>
        <p:spPr>
          <a:xfrm>
            <a:off x="6492240" y="1609344"/>
            <a:ext cx="4373575" cy="365760"/>
          </a:xfrm>
          <a:prstGeom prst="rect">
            <a:avLst/>
          </a:prstGeom>
          <a:noFill/>
          <a:ln/>
        </p:spPr>
        <p:txBody>
          <a:bodyPr wrap="square" lIns="0" tIns="0" rIns="0" bIns="0" rtlCol="0" anchor="t"/>
          <a:lstStyle/>
          <a:p>
            <a:pPr marL="0" indent="0" algn="r" rtl="1">
              <a:buNone/>
            </a:pPr>
            <a:r>
              <a:rPr lang="fa-IR" altLang="en-US" sz="1600" b="1" dirty="0">
                <a:solidFill>
                  <a:srgbClr val="0F172A"/>
                </a:solidFill>
                <a:latin typeface="Vazirmatn" pitchFamily="34" charset="0"/>
                <a:ea typeface="Vazirmatn" pitchFamily="34" charset="-122"/>
                <a:cs typeface="Vazirmatn" pitchFamily="34" charset="-120"/>
              </a:rPr>
              <a:t>μContext برای هر مؤلفه</a:t>
            </a:r>
            <a:endParaRPr lang="fa-IR" sz="1600" dirty="0"/>
          </a:p>
        </p:txBody>
      </p:sp>
      <p:sp>
        <p:nvSpPr>
          <p:cNvPr id="9" name="Text 6"/>
          <p:cNvSpPr txBox="1"/>
          <p:nvPr/>
        </p:nvSpPr>
        <p:spPr>
          <a:xfrm>
            <a:off x="6492240" y="1975104"/>
            <a:ext cx="4373575" cy="548640"/>
          </a:xfrm>
          <a:prstGeom prst="rect">
            <a:avLst/>
          </a:prstGeom>
          <a:noFill/>
          <a:ln/>
        </p:spPr>
        <p:txBody>
          <a:bodyPr wrap="square" lIns="0" tIns="0" rIns="0" bIns="0" rtlCol="0" anchor="t"/>
          <a:lstStyle/>
          <a:p>
            <a:pPr marL="0" indent="0" algn="r" rtl="1">
              <a:buNone/>
            </a:pPr>
            <a:r>
              <a:rPr lang="fa-IR" altLang="en-US" sz="1300" dirty="0">
                <a:solidFill>
                  <a:srgbClr val="475569"/>
                </a:solidFill>
                <a:latin typeface="Vazirmatn" pitchFamily="34" charset="0"/>
                <a:ea typeface="Vazirmatn" pitchFamily="34" charset="-122"/>
                <a:cs typeface="Vazirmatn" pitchFamily="34" charset="-120"/>
              </a:rPr>
              <a:t>حافظه + منابع هسته‌ی هر کتابخانه جدا</a:t>
            </a:r>
            <a:endParaRPr lang="fa-IR" sz="1300" dirty="0"/>
          </a:p>
        </p:txBody>
      </p:sp>
      <p:sp>
        <p:nvSpPr>
          <p:cNvPr id="10" name="Shape 7"/>
          <p:cNvSpPr/>
          <p:nvPr/>
        </p:nvSpPr>
        <p:spPr>
          <a:xfrm>
            <a:off x="11076127" y="2697480"/>
            <a:ext cx="566928" cy="566928"/>
          </a:xfrm>
          <a:prstGeom prst="ellipse">
            <a:avLst/>
          </a:prstGeom>
          <a:solidFill>
            <a:srgbClr val="7C3AED"/>
          </a:solidFill>
          <a:ln w="12700">
            <a:solidFill>
              <a:srgbClr val="7C3AED"/>
            </a:solidFill>
            <a:prstDash val="solid"/>
          </a:ln>
        </p:spPr>
      </p:sp>
      <p:pic>
        <p:nvPicPr>
          <p:cNvPr id="11" name="Image 1" descr="preencoded.png"/>
          <p:cNvPicPr>
            <a:picLocks noChangeAspect="1"/>
          </p:cNvPicPr>
          <p:nvPr/>
        </p:nvPicPr>
        <p:blipFill>
          <a:blip r:embed="rId4"/>
          <a:stretch>
            <a:fillRect/>
          </a:stretch>
        </p:blipFill>
        <p:spPr>
          <a:xfrm>
            <a:off x="11200851" y="2822204"/>
            <a:ext cx="317480" cy="317480"/>
          </a:xfrm>
          <a:prstGeom prst="rect">
            <a:avLst/>
          </a:prstGeom>
        </p:spPr>
      </p:pic>
      <p:sp>
        <p:nvSpPr>
          <p:cNvPr id="12" name="Text 8"/>
          <p:cNvSpPr txBox="1"/>
          <p:nvPr/>
        </p:nvSpPr>
        <p:spPr>
          <a:xfrm>
            <a:off x="6492240" y="2660904"/>
            <a:ext cx="4373575" cy="365760"/>
          </a:xfrm>
          <a:prstGeom prst="rect">
            <a:avLst/>
          </a:prstGeom>
          <a:noFill/>
          <a:ln/>
        </p:spPr>
        <p:txBody>
          <a:bodyPr wrap="square" lIns="0" tIns="0" rIns="0" bIns="0" rtlCol="0" anchor="t"/>
          <a:lstStyle/>
          <a:p>
            <a:pPr marL="0" indent="0" algn="r" rtl="1">
              <a:buNone/>
            </a:pPr>
            <a:r>
              <a:rPr lang="fa-IR" altLang="en-US" sz="1600" b="1" dirty="0">
                <a:solidFill>
                  <a:srgbClr val="0F172A"/>
                </a:solidFill>
                <a:latin typeface="Vazirmatn" pitchFamily="34" charset="0"/>
                <a:ea typeface="Vazirmatn" pitchFamily="34" charset="-122"/>
                <a:cs typeface="Vazirmatn" pitchFamily="34" charset="-120"/>
              </a:rPr>
              <a:t>تعویض ضمنی (Implicit)</a:t>
            </a:r>
            <a:endParaRPr lang="fa-IR" sz="1600" dirty="0"/>
          </a:p>
        </p:txBody>
      </p:sp>
      <p:sp>
        <p:nvSpPr>
          <p:cNvPr id="13" name="Text 9"/>
          <p:cNvSpPr txBox="1"/>
          <p:nvPr/>
        </p:nvSpPr>
        <p:spPr>
          <a:xfrm>
            <a:off x="6492240" y="3026664"/>
            <a:ext cx="4373575" cy="548640"/>
          </a:xfrm>
          <a:prstGeom prst="rect">
            <a:avLst/>
          </a:prstGeom>
          <a:noFill/>
          <a:ln/>
        </p:spPr>
        <p:txBody>
          <a:bodyPr wrap="square" lIns="0" tIns="0" rIns="0" bIns="0" rtlCol="0" anchor="t"/>
          <a:lstStyle/>
          <a:p>
            <a:pPr marL="0" indent="0" algn="r" rtl="1">
              <a:buNone/>
            </a:pPr>
            <a:r>
              <a:rPr lang="fa-IR" altLang="en-US" sz="1300" dirty="0">
                <a:solidFill>
                  <a:srgbClr val="475569"/>
                </a:solidFill>
                <a:latin typeface="Vazirmatn" pitchFamily="34" charset="0"/>
                <a:ea typeface="Vazirmatn" pitchFamily="34" charset="-122"/>
                <a:cs typeface="Vazirmatn" pitchFamily="34" charset="-120"/>
              </a:rPr>
              <a:t>تعویض منابع هسته تا فراخوان سیستمی بعدی به تعویق می‌افتد</a:t>
            </a:r>
            <a:endParaRPr lang="fa-IR" sz="1300" dirty="0"/>
          </a:p>
        </p:txBody>
      </p:sp>
      <p:sp>
        <p:nvSpPr>
          <p:cNvPr id="14" name="Shape 10"/>
          <p:cNvSpPr/>
          <p:nvPr/>
        </p:nvSpPr>
        <p:spPr>
          <a:xfrm>
            <a:off x="11076127" y="3749040"/>
            <a:ext cx="566928" cy="566928"/>
          </a:xfrm>
          <a:prstGeom prst="ellipse">
            <a:avLst/>
          </a:prstGeom>
          <a:solidFill>
            <a:srgbClr val="E11D48"/>
          </a:solidFill>
          <a:ln w="12700">
            <a:solidFill>
              <a:srgbClr val="E11D48"/>
            </a:solidFill>
            <a:prstDash val="solid"/>
          </a:ln>
        </p:spPr>
      </p:sp>
      <p:pic>
        <p:nvPicPr>
          <p:cNvPr id="15" name="Image 2" descr="preencoded.png"/>
          <p:cNvPicPr>
            <a:picLocks noChangeAspect="1"/>
          </p:cNvPicPr>
          <p:nvPr/>
        </p:nvPicPr>
        <p:blipFill>
          <a:blip r:embed="rId5"/>
          <a:stretch>
            <a:fillRect/>
          </a:stretch>
        </p:blipFill>
        <p:spPr>
          <a:xfrm>
            <a:off x="11200851" y="3873764"/>
            <a:ext cx="317480" cy="317480"/>
          </a:xfrm>
          <a:prstGeom prst="rect">
            <a:avLst/>
          </a:prstGeom>
        </p:spPr>
      </p:pic>
      <p:sp>
        <p:nvSpPr>
          <p:cNvPr id="16" name="Text 11"/>
          <p:cNvSpPr txBox="1"/>
          <p:nvPr/>
        </p:nvSpPr>
        <p:spPr>
          <a:xfrm>
            <a:off x="6492240" y="3712464"/>
            <a:ext cx="4373575" cy="365760"/>
          </a:xfrm>
          <a:prstGeom prst="rect">
            <a:avLst/>
          </a:prstGeom>
          <a:noFill/>
          <a:ln/>
        </p:spPr>
        <p:txBody>
          <a:bodyPr wrap="square" lIns="0" tIns="0" rIns="0" bIns="0" rtlCol="0" anchor="t"/>
          <a:lstStyle/>
          <a:p>
            <a:pPr marL="0" indent="0" algn="r" rtl="1">
              <a:buNone/>
            </a:pPr>
            <a:r>
              <a:rPr lang="fa-IR" altLang="en-US" sz="1600" b="1" dirty="0">
                <a:solidFill>
                  <a:srgbClr val="0F172A"/>
                </a:solidFill>
                <a:latin typeface="Vazirmatn" pitchFamily="34" charset="0"/>
                <a:ea typeface="Vazirmatn" pitchFamily="34" charset="-122"/>
                <a:cs typeface="Vazirmatn" pitchFamily="34" charset="-120"/>
              </a:rPr>
              <a:t>شرط امنیت</a:t>
            </a:r>
            <a:endParaRPr lang="fa-IR" sz="1600" dirty="0"/>
          </a:p>
        </p:txBody>
      </p:sp>
      <p:sp>
        <p:nvSpPr>
          <p:cNvPr id="17" name="Text 12"/>
          <p:cNvSpPr txBox="1"/>
          <p:nvPr/>
        </p:nvSpPr>
        <p:spPr>
          <a:xfrm>
            <a:off x="6492240" y="4078224"/>
            <a:ext cx="4373575" cy="548640"/>
          </a:xfrm>
          <a:prstGeom prst="rect">
            <a:avLst/>
          </a:prstGeom>
          <a:noFill/>
          <a:ln/>
        </p:spPr>
        <p:txBody>
          <a:bodyPr wrap="square" lIns="0" tIns="0" rIns="0" bIns="0" rtlCol="0" anchor="t"/>
          <a:lstStyle/>
          <a:p>
            <a:pPr marL="0" indent="0" algn="r" rtl="1">
              <a:buNone/>
            </a:pPr>
            <a:r>
              <a:rPr lang="fa-IR" altLang="en-US" sz="1300" dirty="0">
                <a:solidFill>
                  <a:srgbClr val="475569"/>
                </a:solidFill>
                <a:latin typeface="Vazirmatn" pitchFamily="34" charset="0"/>
                <a:ea typeface="Vazirmatn" pitchFamily="34" charset="-122"/>
                <a:cs typeface="Vazirmatn" pitchFamily="34" charset="-120"/>
              </a:rPr>
              <a:t>حذف WRPKRU/XRSTOR خطرناک از کد و بستن syscallهای حساس</a:t>
            </a:r>
            <a:endParaRPr lang="fa-IR" sz="1300" dirty="0"/>
          </a:p>
        </p:txBody>
      </p:sp>
      <p:sp>
        <p:nvSpPr>
          <p:cNvPr id="18" name="Shape 13"/>
          <p:cNvSpPr/>
          <p:nvPr/>
        </p:nvSpPr>
        <p:spPr>
          <a:xfrm>
            <a:off x="6492240" y="4892040"/>
            <a:ext cx="5150815" cy="1234440"/>
          </a:xfrm>
          <a:prstGeom prst="roundRect">
            <a:avLst>
              <a:gd name="adj" fmla="val 8889"/>
            </a:avLst>
          </a:prstGeom>
          <a:solidFill>
            <a:srgbClr val="EDE9FE"/>
          </a:solidFill>
          <a:ln w="12700">
            <a:solidFill>
              <a:srgbClr val="EDE9FE"/>
            </a:solidFill>
            <a:prstDash val="solid"/>
          </a:ln>
          <a:effectLst>
            <a:outerShdw blurRad="101600" dist="25400" dir="5400000" algn="bl" rotWithShape="0">
              <a:srgbClr val="0F172A">
                <a:alpha val="8000"/>
              </a:srgbClr>
            </a:outerShdw>
          </a:effectLst>
        </p:spPr>
      </p:sp>
      <p:sp>
        <p:nvSpPr>
          <p:cNvPr id="19" name="Text 14"/>
          <p:cNvSpPr txBox="1"/>
          <p:nvPr/>
        </p:nvSpPr>
        <p:spPr>
          <a:xfrm>
            <a:off x="6766560" y="4892040"/>
            <a:ext cx="4602175" cy="1234440"/>
          </a:xfrm>
          <a:prstGeom prst="rect">
            <a:avLst/>
          </a:prstGeom>
          <a:noFill/>
          <a:ln/>
        </p:spPr>
        <p:txBody>
          <a:bodyPr wrap="square" lIns="0" tIns="0" rIns="0" bIns="0" rtlCol="0" anchor="ctr"/>
          <a:lstStyle/>
          <a:p>
            <a:pPr marL="0" indent="0" algn="r" rtl="1">
              <a:buNone/>
            </a:pPr>
            <a:r>
              <a:rPr lang="fa-IR" altLang="en-US" sz="1400" b="1" dirty="0">
                <a:solidFill>
                  <a:srgbClr val="7C3AED"/>
                </a:solidFill>
                <a:latin typeface="Vazirmatn" pitchFamily="34" charset="0"/>
                <a:ea typeface="Vazirmatn" pitchFamily="34" charset="-122"/>
                <a:cs typeface="Vazirmatn" pitchFamily="34" charset="-120"/>
              </a:rPr>
              <a:t>نقد: از برنامه‌ها محافظت می‌کند، نه از خود هسته؛ و به تغییر هسته و بازرسی باینری (حتی کد JIT) وابسته است.</a:t>
            </a:r>
            <a:endParaRPr lang="fa-IR" sz="1400" dirty="0"/>
          </a:p>
        </p:txBody>
      </p:sp>
      <p:sp>
        <p:nvSpPr>
          <p:cNvPr id="20" name="Shape 15"/>
          <p:cNvSpPr/>
          <p:nvPr/>
        </p:nvSpPr>
        <p:spPr>
          <a:xfrm>
            <a:off x="548640" y="1600200"/>
            <a:ext cx="5669280" cy="4526280"/>
          </a:xfrm>
          <a:prstGeom prst="roundRect">
            <a:avLst>
              <a:gd name="adj" fmla="val 2424"/>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21" name="Text 16"/>
          <p:cNvSpPr txBox="1"/>
          <p:nvPr/>
        </p:nvSpPr>
        <p:spPr>
          <a:xfrm>
            <a:off x="822960" y="1737360"/>
            <a:ext cx="5120640" cy="365760"/>
          </a:xfrm>
          <a:prstGeom prst="rect">
            <a:avLst/>
          </a:prstGeom>
          <a:noFill/>
          <a:ln/>
        </p:spPr>
        <p:txBody>
          <a:bodyPr wrap="square" lIns="0" tIns="0" rIns="0" bIns="0" rtlCol="0" anchor="t"/>
          <a:lstStyle/>
          <a:p>
            <a:pPr marL="0" indent="0" algn="r" rtl="1">
              <a:buNone/>
            </a:pPr>
            <a:r>
              <a:rPr lang="fa-IR" altLang="en-US" sz="1400" b="1" dirty="0">
                <a:solidFill>
                  <a:srgbClr val="0F172A"/>
                </a:solidFill>
                <a:latin typeface="Vazirmatn" pitchFamily="34" charset="0"/>
                <a:ea typeface="Vazirmatn" pitchFamily="34" charset="-122"/>
                <a:cs typeface="Vazirmatn" pitchFamily="34" charset="-120"/>
              </a:rPr>
              <a:t>سربار ایزوله‌سازی (٪) · کمتر بهتر است</a:t>
            </a:r>
            <a:endParaRPr lang="fa-IR" sz="1400" dirty="0"/>
          </a:p>
        </p:txBody>
      </p:sp>
      <p:graphicFrame>
        <p:nvGraphicFramePr>
          <p:cNvPr id="22" name="Chart 0"/>
          <p:cNvGraphicFramePr/>
          <p:nvPr/>
        </p:nvGraphicFramePr>
        <p:xfrm>
          <a:off x="731520" y="2148840"/>
          <a:ext cx="5303520" cy="3840480"/>
        </p:xfrm>
        <a:graphic>
          <a:graphicData uri="http://schemas.openxmlformats.org/drawingml/2006/chart">
            <c:chart xmlns:c="http://schemas.openxmlformats.org/drawingml/2006/chart" xmlns:r="http://schemas.openxmlformats.org/officeDocument/2006/relationships" r:id="rId6"/>
          </a:graphicData>
        </a:graphic>
      </p:graphicFrame>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4A3B8"/>
                </a:solidFill>
                <a:latin typeface="Vazirmatn"/>
                <a:ea typeface="Vazirmatn"/>
                <a:cs typeface="Vazirmatn"/>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47472"/>
            <a:ext cx="11094415" cy="640080"/>
          </a:xfrm>
          <a:prstGeom prst="rect">
            <a:avLst/>
          </a:prstGeom>
          <a:noFill/>
          <a:ln/>
        </p:spPr>
        <p:txBody>
          <a:bodyPr wrap="square" lIns="0" tIns="0" rIns="0" bIns="0" rtlCol="0" anchor="ctr"/>
          <a:lstStyle/>
          <a:p>
            <a:pPr marL="0" indent="0" algn="r" rtl="1">
              <a:buNone/>
            </a:pPr>
            <a:r>
              <a:rPr lang="fa-IR" altLang="en-US" sz="3000" b="1" dirty="0">
                <a:solidFill>
                  <a:srgbClr val="0F172A"/>
                </a:solidFill>
                <a:latin typeface="Vazirmatn" pitchFamily="34" charset="0"/>
                <a:ea typeface="Vazirmatn" pitchFamily="34" charset="-122"/>
                <a:cs typeface="Vazirmatn" pitchFamily="34" charset="-120"/>
              </a:rPr>
              <a:t>ISLAB: فراداده‌ی تغییرناپذیر برای تخصیص‌دهنده</a:t>
            </a:r>
            <a:endParaRPr lang="fa-IR" sz="3000" dirty="0"/>
          </a:p>
        </p:txBody>
      </p:sp>
      <p:sp>
        <p:nvSpPr>
          <p:cNvPr id="3" name="Text 1"/>
          <p:cNvSpPr txBox="1"/>
          <p:nvPr/>
        </p:nvSpPr>
        <p:spPr>
          <a:xfrm>
            <a:off x="548640" y="969264"/>
            <a:ext cx="8168335" cy="365760"/>
          </a:xfrm>
          <a:prstGeom prst="rect">
            <a:avLst/>
          </a:prstGeom>
          <a:noFill/>
          <a:ln/>
        </p:spPr>
        <p:txBody>
          <a:bodyPr wrap="square" lIns="0" tIns="0" rIns="0" bIns="0" rtlCol="0" anchor="ctr"/>
          <a:lstStyle/>
          <a:p>
            <a:pPr marL="0" indent="0" algn="r" rtl="1">
              <a:buNone/>
            </a:pPr>
            <a:r>
              <a:rPr lang="fa-IR" altLang="en-US" sz="1500" dirty="0">
                <a:solidFill>
                  <a:srgbClr val="475569"/>
                </a:solidFill>
                <a:latin typeface="Vazirmatn" pitchFamily="34" charset="0"/>
                <a:ea typeface="Vazirmatn" pitchFamily="34" charset="-122"/>
                <a:cs typeface="Vazirmatn" pitchFamily="34" charset="-120"/>
              </a:rPr>
              <a:t>Momeu و همکاران · فراداده را از دسترس سرریز بافر خارج کن</a:t>
            </a:r>
            <a:endParaRPr lang="fa-IR" sz="1500" dirty="0"/>
          </a:p>
        </p:txBody>
      </p:sp>
      <p:sp>
        <p:nvSpPr>
          <p:cNvPr id="4" name="Shape 2"/>
          <p:cNvSpPr/>
          <p:nvPr/>
        </p:nvSpPr>
        <p:spPr>
          <a:xfrm>
            <a:off x="548640" y="502920"/>
            <a:ext cx="2834640" cy="329184"/>
          </a:xfrm>
          <a:prstGeom prst="roundRect">
            <a:avLst>
              <a:gd name="adj" fmla="val 50000"/>
            </a:avLst>
          </a:prstGeom>
          <a:solidFill>
            <a:srgbClr val="CCFBF1"/>
          </a:solidFill>
          <a:ln w="12700">
            <a:solidFill>
              <a:srgbClr val="CCFBF1"/>
            </a:solidFill>
            <a:prstDash val="solid"/>
          </a:ln>
        </p:spPr>
      </p:sp>
      <p:sp>
        <p:nvSpPr>
          <p:cNvPr id="5" name="Text 3"/>
          <p:cNvSpPr txBox="1"/>
          <p:nvPr/>
        </p:nvSpPr>
        <p:spPr>
          <a:xfrm>
            <a:off x="548640" y="502920"/>
            <a:ext cx="2834640" cy="329184"/>
          </a:xfrm>
          <a:prstGeom prst="rect">
            <a:avLst/>
          </a:prstGeom>
          <a:noFill/>
          <a:ln/>
        </p:spPr>
        <p:txBody>
          <a:bodyPr wrap="square" lIns="0" tIns="0" rIns="0" bIns="0" rtlCol="0" anchor="ctr"/>
          <a:lstStyle/>
          <a:p>
            <a:pPr marL="0" indent="0" algn="ctr" rtl="1">
              <a:buNone/>
            </a:pPr>
            <a:r>
              <a:rPr lang="fa-IR" altLang="en-US" sz="1200" b="1" dirty="0">
                <a:solidFill>
                  <a:srgbClr val="0D9488"/>
                </a:solidFill>
                <a:latin typeface="Vazirmatn" pitchFamily="34" charset="0"/>
                <a:ea typeface="Vazirmatn" pitchFamily="34" charset="-122"/>
                <a:cs typeface="Vazirmatn" pitchFamily="34" charset="-120"/>
              </a:rPr>
              <a:t>تخصیص‌دهنده · AsiaCCS 2024</a:t>
            </a:r>
            <a:endParaRPr lang="fa-IR" sz="1200" dirty="0"/>
          </a:p>
        </p:txBody>
      </p:sp>
      <p:sp>
        <p:nvSpPr>
          <p:cNvPr id="6" name="Shape 4"/>
          <p:cNvSpPr/>
          <p:nvPr/>
        </p:nvSpPr>
        <p:spPr>
          <a:xfrm>
            <a:off x="548640" y="1600200"/>
            <a:ext cx="5486400" cy="2103120"/>
          </a:xfrm>
          <a:prstGeom prst="roundRect">
            <a:avLst>
              <a:gd name="adj" fmla="val 5217"/>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7" name="Text 5"/>
          <p:cNvSpPr txBox="1"/>
          <p:nvPr/>
        </p:nvSpPr>
        <p:spPr>
          <a:xfrm>
            <a:off x="822960" y="1737360"/>
            <a:ext cx="4937760" cy="365760"/>
          </a:xfrm>
          <a:prstGeom prst="rect">
            <a:avLst/>
          </a:prstGeom>
          <a:noFill/>
          <a:ln/>
        </p:spPr>
        <p:txBody>
          <a:bodyPr wrap="square" lIns="0" tIns="0" rIns="0" bIns="0" rtlCol="0" anchor="t"/>
          <a:lstStyle/>
          <a:p>
            <a:pPr marL="0" indent="0" algn="r" rtl="1">
              <a:buNone/>
            </a:pPr>
            <a:r>
              <a:rPr lang="fa-IR" altLang="en-US" sz="1600" b="1" dirty="0">
                <a:solidFill>
                  <a:srgbClr val="E11D48"/>
                </a:solidFill>
                <a:latin typeface="Vazirmatn" pitchFamily="34" charset="0"/>
                <a:ea typeface="Vazirmatn" pitchFamily="34" charset="-122"/>
                <a:cs typeface="Vazirmatn" pitchFamily="34" charset="-120"/>
              </a:rPr>
              <a:t>SLUB فعلی</a:t>
            </a:r>
            <a:endParaRPr lang="fa-IR" sz="1600" dirty="0"/>
          </a:p>
        </p:txBody>
      </p:sp>
      <p:sp>
        <p:nvSpPr>
          <p:cNvPr id="8" name="Text 6"/>
          <p:cNvSpPr txBox="1"/>
          <p:nvPr/>
        </p:nvSpPr>
        <p:spPr>
          <a:xfrm>
            <a:off x="822960" y="2075688"/>
            <a:ext cx="4937760" cy="320040"/>
          </a:xfrm>
          <a:prstGeom prst="rect">
            <a:avLst/>
          </a:prstGeom>
          <a:noFill/>
          <a:ln/>
        </p:spPr>
        <p:txBody>
          <a:bodyPr wrap="square" lIns="0" tIns="0" rIns="0" bIns="0" rtlCol="0" anchor="t"/>
          <a:lstStyle/>
          <a:p>
            <a:pPr marL="0" indent="0" algn="r" rtl="1">
              <a:buNone/>
            </a:pPr>
            <a:r>
              <a:rPr lang="fa-IR" altLang="en-US" sz="1200" dirty="0">
                <a:solidFill>
                  <a:srgbClr val="475569"/>
                </a:solidFill>
                <a:latin typeface="Vazirmatn" pitchFamily="34" charset="0"/>
                <a:ea typeface="Vazirmatn" pitchFamily="34" charset="-122"/>
                <a:cs typeface="Vazirmatn" pitchFamily="34" charset="-120"/>
              </a:rPr>
              <a:t>اشاره‌گر freelist داخل خود شیء</a:t>
            </a:r>
            <a:endParaRPr lang="fa-IR" sz="1200" dirty="0"/>
          </a:p>
        </p:txBody>
      </p:sp>
      <p:sp>
        <p:nvSpPr>
          <p:cNvPr id="9" name="Shape 7"/>
          <p:cNvSpPr/>
          <p:nvPr/>
        </p:nvSpPr>
        <p:spPr>
          <a:xfrm>
            <a:off x="4846320" y="2514600"/>
            <a:ext cx="914400" cy="868680"/>
          </a:xfrm>
          <a:prstGeom prst="rect">
            <a:avLst/>
          </a:prstGeom>
          <a:solidFill>
            <a:srgbClr val="F1F5F9"/>
          </a:solidFill>
          <a:ln w="12700">
            <a:solidFill>
              <a:srgbClr val="CBD5E1"/>
            </a:solidFill>
            <a:prstDash val="solid"/>
          </a:ln>
        </p:spPr>
      </p:sp>
      <p:sp>
        <p:nvSpPr>
          <p:cNvPr id="10" name="Shape 8"/>
          <p:cNvSpPr/>
          <p:nvPr/>
        </p:nvSpPr>
        <p:spPr>
          <a:xfrm>
            <a:off x="4846320" y="2514600"/>
            <a:ext cx="914400" cy="256032"/>
          </a:xfrm>
          <a:prstGeom prst="rect">
            <a:avLst/>
          </a:prstGeom>
          <a:solidFill>
            <a:srgbClr val="E11D48"/>
          </a:solidFill>
          <a:ln w="12700">
            <a:solidFill>
              <a:srgbClr val="E11D48"/>
            </a:solidFill>
            <a:prstDash val="solid"/>
          </a:ln>
        </p:spPr>
      </p:sp>
      <p:sp>
        <p:nvSpPr>
          <p:cNvPr id="11" name="Text 9"/>
          <p:cNvSpPr txBox="1"/>
          <p:nvPr/>
        </p:nvSpPr>
        <p:spPr>
          <a:xfrm>
            <a:off x="4846320" y="2514600"/>
            <a:ext cx="914400" cy="256032"/>
          </a:xfrm>
          <a:prstGeom prst="rect">
            <a:avLst/>
          </a:prstGeom>
          <a:noFill/>
          <a:ln/>
        </p:spPr>
        <p:txBody>
          <a:bodyPr wrap="square" lIns="0" tIns="0" rIns="0" bIns="0" rtlCol="0" anchor="ctr"/>
          <a:lstStyle/>
          <a:p>
            <a:pPr marL="0" indent="0" algn="ctr">
              <a:buNone/>
            </a:pPr>
            <a:r>
              <a:rPr lang="en-US" altLang="en-US" sz="900" dirty="0">
                <a:solidFill>
                  <a:srgbClr val="FFFFFF"/>
                </a:solidFill>
                <a:latin typeface="Vazirmatn" pitchFamily="34" charset="0"/>
                <a:ea typeface="Vazirmatn" pitchFamily="34" charset="-122"/>
                <a:cs typeface="Vazirmatn" pitchFamily="34" charset="-120"/>
              </a:rPr>
              <a:t>next</a:t>
            </a:r>
            <a:endParaRPr lang="en-US" sz="900" dirty="0"/>
          </a:p>
        </p:txBody>
      </p:sp>
      <p:sp>
        <p:nvSpPr>
          <p:cNvPr id="12" name="Shape 10"/>
          <p:cNvSpPr/>
          <p:nvPr/>
        </p:nvSpPr>
        <p:spPr>
          <a:xfrm>
            <a:off x="3858768" y="2514600"/>
            <a:ext cx="914400" cy="868680"/>
          </a:xfrm>
          <a:prstGeom prst="rect">
            <a:avLst/>
          </a:prstGeom>
          <a:solidFill>
            <a:srgbClr val="F1F5F9"/>
          </a:solidFill>
          <a:ln w="12700">
            <a:solidFill>
              <a:srgbClr val="CBD5E1"/>
            </a:solidFill>
            <a:prstDash val="solid"/>
          </a:ln>
        </p:spPr>
      </p:sp>
      <p:sp>
        <p:nvSpPr>
          <p:cNvPr id="13" name="Shape 11"/>
          <p:cNvSpPr/>
          <p:nvPr/>
        </p:nvSpPr>
        <p:spPr>
          <a:xfrm>
            <a:off x="3858768" y="2514600"/>
            <a:ext cx="914400" cy="256032"/>
          </a:xfrm>
          <a:prstGeom prst="rect">
            <a:avLst/>
          </a:prstGeom>
          <a:solidFill>
            <a:srgbClr val="E11D48"/>
          </a:solidFill>
          <a:ln w="12700">
            <a:solidFill>
              <a:srgbClr val="E11D48"/>
            </a:solidFill>
            <a:prstDash val="solid"/>
          </a:ln>
        </p:spPr>
      </p:sp>
      <p:sp>
        <p:nvSpPr>
          <p:cNvPr id="14" name="Text 12"/>
          <p:cNvSpPr txBox="1"/>
          <p:nvPr/>
        </p:nvSpPr>
        <p:spPr>
          <a:xfrm>
            <a:off x="3858768" y="2514600"/>
            <a:ext cx="914400" cy="256032"/>
          </a:xfrm>
          <a:prstGeom prst="rect">
            <a:avLst/>
          </a:prstGeom>
          <a:noFill/>
          <a:ln/>
        </p:spPr>
        <p:txBody>
          <a:bodyPr wrap="square" lIns="0" tIns="0" rIns="0" bIns="0" rtlCol="0" anchor="ctr"/>
          <a:lstStyle/>
          <a:p>
            <a:pPr marL="0" indent="0" algn="ctr">
              <a:buNone/>
            </a:pPr>
            <a:r>
              <a:rPr lang="en-US" altLang="en-US" sz="900" dirty="0">
                <a:solidFill>
                  <a:srgbClr val="FFFFFF"/>
                </a:solidFill>
                <a:latin typeface="Vazirmatn" pitchFamily="34" charset="0"/>
                <a:ea typeface="Vazirmatn" pitchFamily="34" charset="-122"/>
                <a:cs typeface="Vazirmatn" pitchFamily="34" charset="-120"/>
              </a:rPr>
              <a:t>next</a:t>
            </a:r>
            <a:endParaRPr lang="en-US" sz="900" dirty="0"/>
          </a:p>
        </p:txBody>
      </p:sp>
      <p:sp>
        <p:nvSpPr>
          <p:cNvPr id="15" name="Shape 13"/>
          <p:cNvSpPr/>
          <p:nvPr/>
        </p:nvSpPr>
        <p:spPr>
          <a:xfrm>
            <a:off x="2871216" y="2514600"/>
            <a:ext cx="914400" cy="868680"/>
          </a:xfrm>
          <a:prstGeom prst="rect">
            <a:avLst/>
          </a:prstGeom>
          <a:solidFill>
            <a:srgbClr val="F1F5F9"/>
          </a:solidFill>
          <a:ln w="12700">
            <a:solidFill>
              <a:srgbClr val="CBD5E1"/>
            </a:solidFill>
            <a:prstDash val="solid"/>
          </a:ln>
        </p:spPr>
      </p:sp>
      <p:sp>
        <p:nvSpPr>
          <p:cNvPr id="16" name="Shape 14"/>
          <p:cNvSpPr/>
          <p:nvPr/>
        </p:nvSpPr>
        <p:spPr>
          <a:xfrm>
            <a:off x="2871216" y="2514600"/>
            <a:ext cx="914400" cy="256032"/>
          </a:xfrm>
          <a:prstGeom prst="rect">
            <a:avLst/>
          </a:prstGeom>
          <a:solidFill>
            <a:srgbClr val="E11D48"/>
          </a:solidFill>
          <a:ln w="12700">
            <a:solidFill>
              <a:srgbClr val="E11D48"/>
            </a:solidFill>
            <a:prstDash val="solid"/>
          </a:ln>
        </p:spPr>
      </p:sp>
      <p:sp>
        <p:nvSpPr>
          <p:cNvPr id="17" name="Text 15"/>
          <p:cNvSpPr txBox="1"/>
          <p:nvPr/>
        </p:nvSpPr>
        <p:spPr>
          <a:xfrm>
            <a:off x="2871216" y="2514600"/>
            <a:ext cx="914400" cy="256032"/>
          </a:xfrm>
          <a:prstGeom prst="rect">
            <a:avLst/>
          </a:prstGeom>
          <a:noFill/>
          <a:ln/>
        </p:spPr>
        <p:txBody>
          <a:bodyPr wrap="square" lIns="0" tIns="0" rIns="0" bIns="0" rtlCol="0" anchor="ctr"/>
          <a:lstStyle/>
          <a:p>
            <a:pPr marL="0" indent="0" algn="ctr">
              <a:buNone/>
            </a:pPr>
            <a:r>
              <a:rPr lang="en-US" altLang="en-US" sz="900" dirty="0">
                <a:solidFill>
                  <a:srgbClr val="FFFFFF"/>
                </a:solidFill>
                <a:latin typeface="Vazirmatn" pitchFamily="34" charset="0"/>
                <a:ea typeface="Vazirmatn" pitchFamily="34" charset="-122"/>
                <a:cs typeface="Vazirmatn" pitchFamily="34" charset="-120"/>
              </a:rPr>
              <a:t>next</a:t>
            </a:r>
            <a:endParaRPr lang="en-US" sz="900" dirty="0"/>
          </a:p>
        </p:txBody>
      </p:sp>
      <p:sp>
        <p:nvSpPr>
          <p:cNvPr id="18" name="Shape 16"/>
          <p:cNvSpPr/>
          <p:nvPr/>
        </p:nvSpPr>
        <p:spPr>
          <a:xfrm>
            <a:off x="1883664" y="2514600"/>
            <a:ext cx="914400" cy="868680"/>
          </a:xfrm>
          <a:prstGeom prst="rect">
            <a:avLst/>
          </a:prstGeom>
          <a:solidFill>
            <a:srgbClr val="F1F5F9"/>
          </a:solidFill>
          <a:ln w="12700">
            <a:solidFill>
              <a:srgbClr val="CBD5E1"/>
            </a:solidFill>
            <a:prstDash val="solid"/>
          </a:ln>
        </p:spPr>
      </p:sp>
      <p:sp>
        <p:nvSpPr>
          <p:cNvPr id="19" name="Shape 17"/>
          <p:cNvSpPr/>
          <p:nvPr/>
        </p:nvSpPr>
        <p:spPr>
          <a:xfrm>
            <a:off x="1883664" y="2514600"/>
            <a:ext cx="914400" cy="256032"/>
          </a:xfrm>
          <a:prstGeom prst="rect">
            <a:avLst/>
          </a:prstGeom>
          <a:solidFill>
            <a:srgbClr val="E11D48"/>
          </a:solidFill>
          <a:ln w="12700">
            <a:solidFill>
              <a:srgbClr val="E11D48"/>
            </a:solidFill>
            <a:prstDash val="solid"/>
          </a:ln>
        </p:spPr>
      </p:sp>
      <p:sp>
        <p:nvSpPr>
          <p:cNvPr id="20" name="Text 18"/>
          <p:cNvSpPr txBox="1"/>
          <p:nvPr/>
        </p:nvSpPr>
        <p:spPr>
          <a:xfrm>
            <a:off x="1883664" y="2514600"/>
            <a:ext cx="914400" cy="256032"/>
          </a:xfrm>
          <a:prstGeom prst="rect">
            <a:avLst/>
          </a:prstGeom>
          <a:noFill/>
          <a:ln/>
        </p:spPr>
        <p:txBody>
          <a:bodyPr wrap="square" lIns="0" tIns="0" rIns="0" bIns="0" rtlCol="0" anchor="ctr"/>
          <a:lstStyle/>
          <a:p>
            <a:pPr marL="0" indent="0" algn="ctr">
              <a:buNone/>
            </a:pPr>
            <a:r>
              <a:rPr lang="en-US" altLang="en-US" sz="900" dirty="0">
                <a:solidFill>
                  <a:srgbClr val="FFFFFF"/>
                </a:solidFill>
                <a:latin typeface="Vazirmatn" pitchFamily="34" charset="0"/>
                <a:ea typeface="Vazirmatn" pitchFamily="34" charset="-122"/>
                <a:cs typeface="Vazirmatn" pitchFamily="34" charset="-120"/>
              </a:rPr>
              <a:t>next</a:t>
            </a:r>
            <a:endParaRPr lang="en-US" sz="900" dirty="0"/>
          </a:p>
        </p:txBody>
      </p:sp>
      <p:sp>
        <p:nvSpPr>
          <p:cNvPr id="21" name="Shape 19"/>
          <p:cNvSpPr/>
          <p:nvPr/>
        </p:nvSpPr>
        <p:spPr>
          <a:xfrm>
            <a:off x="896112" y="2514600"/>
            <a:ext cx="914400" cy="868680"/>
          </a:xfrm>
          <a:prstGeom prst="rect">
            <a:avLst/>
          </a:prstGeom>
          <a:solidFill>
            <a:srgbClr val="F1F5F9"/>
          </a:solidFill>
          <a:ln w="12700">
            <a:solidFill>
              <a:srgbClr val="CBD5E1"/>
            </a:solidFill>
            <a:prstDash val="solid"/>
          </a:ln>
        </p:spPr>
      </p:sp>
      <p:sp>
        <p:nvSpPr>
          <p:cNvPr id="22" name="Shape 20"/>
          <p:cNvSpPr/>
          <p:nvPr/>
        </p:nvSpPr>
        <p:spPr>
          <a:xfrm>
            <a:off x="896112" y="2514600"/>
            <a:ext cx="914400" cy="256032"/>
          </a:xfrm>
          <a:prstGeom prst="rect">
            <a:avLst/>
          </a:prstGeom>
          <a:solidFill>
            <a:srgbClr val="E11D48"/>
          </a:solidFill>
          <a:ln w="12700">
            <a:solidFill>
              <a:srgbClr val="E11D48"/>
            </a:solidFill>
            <a:prstDash val="solid"/>
          </a:ln>
        </p:spPr>
      </p:sp>
      <p:sp>
        <p:nvSpPr>
          <p:cNvPr id="23" name="Text 21"/>
          <p:cNvSpPr txBox="1"/>
          <p:nvPr/>
        </p:nvSpPr>
        <p:spPr>
          <a:xfrm>
            <a:off x="896112" y="2514600"/>
            <a:ext cx="914400" cy="256032"/>
          </a:xfrm>
          <a:prstGeom prst="rect">
            <a:avLst/>
          </a:prstGeom>
          <a:noFill/>
          <a:ln/>
        </p:spPr>
        <p:txBody>
          <a:bodyPr wrap="square" lIns="0" tIns="0" rIns="0" bIns="0" rtlCol="0" anchor="ctr"/>
          <a:lstStyle/>
          <a:p>
            <a:pPr marL="0" indent="0" algn="ctr">
              <a:buNone/>
            </a:pPr>
            <a:r>
              <a:rPr lang="en-US" altLang="en-US" sz="900" dirty="0">
                <a:solidFill>
                  <a:srgbClr val="FFFFFF"/>
                </a:solidFill>
                <a:latin typeface="Vazirmatn" pitchFamily="34" charset="0"/>
                <a:ea typeface="Vazirmatn" pitchFamily="34" charset="-122"/>
                <a:cs typeface="Vazirmatn" pitchFamily="34" charset="-120"/>
              </a:rPr>
              <a:t>next</a:t>
            </a:r>
            <a:endParaRPr lang="en-US" sz="900" dirty="0"/>
          </a:p>
        </p:txBody>
      </p:sp>
      <p:sp>
        <p:nvSpPr>
          <p:cNvPr id="24" name="Shape 22"/>
          <p:cNvSpPr/>
          <p:nvPr/>
        </p:nvSpPr>
        <p:spPr>
          <a:xfrm>
            <a:off x="548640" y="3886200"/>
            <a:ext cx="5486400" cy="2103120"/>
          </a:xfrm>
          <a:prstGeom prst="roundRect">
            <a:avLst>
              <a:gd name="adj" fmla="val 5217"/>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25" name="Text 23"/>
          <p:cNvSpPr txBox="1"/>
          <p:nvPr/>
        </p:nvSpPr>
        <p:spPr>
          <a:xfrm>
            <a:off x="822960" y="4023360"/>
            <a:ext cx="4937760" cy="365760"/>
          </a:xfrm>
          <a:prstGeom prst="rect">
            <a:avLst/>
          </a:prstGeom>
          <a:noFill/>
          <a:ln/>
        </p:spPr>
        <p:txBody>
          <a:bodyPr wrap="square" lIns="0" tIns="0" rIns="0" bIns="0" rtlCol="0" anchor="t"/>
          <a:lstStyle/>
          <a:p>
            <a:pPr marL="0" indent="0" algn="r">
              <a:buNone/>
            </a:pPr>
            <a:r>
              <a:rPr lang="en-US" altLang="en-US" sz="1600" b="1" dirty="0">
                <a:solidFill>
                  <a:srgbClr val="0D9488"/>
                </a:solidFill>
                <a:latin typeface="Vazirmatn" pitchFamily="34" charset="0"/>
                <a:ea typeface="Vazirmatn" pitchFamily="34" charset="-122"/>
                <a:cs typeface="Vazirmatn" pitchFamily="34" charset="-120"/>
              </a:rPr>
              <a:t>ISLAB</a:t>
            </a:r>
            <a:endParaRPr lang="en-US" sz="1600" dirty="0"/>
          </a:p>
        </p:txBody>
      </p:sp>
      <p:sp>
        <p:nvSpPr>
          <p:cNvPr id="26" name="Text 24"/>
          <p:cNvSpPr txBox="1"/>
          <p:nvPr/>
        </p:nvSpPr>
        <p:spPr>
          <a:xfrm>
            <a:off x="822960" y="4361688"/>
            <a:ext cx="4937760" cy="320040"/>
          </a:xfrm>
          <a:prstGeom prst="rect">
            <a:avLst/>
          </a:prstGeom>
          <a:noFill/>
          <a:ln/>
        </p:spPr>
        <p:txBody>
          <a:bodyPr wrap="square" lIns="0" tIns="0" rIns="0" bIns="0" rtlCol="0" anchor="t"/>
          <a:lstStyle/>
          <a:p>
            <a:pPr marL="0" indent="0" algn="r" rtl="1">
              <a:buNone/>
            </a:pPr>
            <a:r>
              <a:rPr lang="fa-IR" altLang="en-US" sz="1200" dirty="0">
                <a:solidFill>
                  <a:srgbClr val="475569"/>
                </a:solidFill>
                <a:latin typeface="Vazirmatn" pitchFamily="34" charset="0"/>
                <a:ea typeface="Vazirmatn" pitchFamily="34" charset="-122"/>
                <a:cs typeface="Vazirmatn" pitchFamily="34" charset="-120"/>
              </a:rPr>
              <a:t>فراداده در حافظه‌ی سایه‌ی جدا</a:t>
            </a:r>
            <a:endParaRPr lang="fa-IR" sz="1200" dirty="0"/>
          </a:p>
        </p:txBody>
      </p:sp>
      <p:sp>
        <p:nvSpPr>
          <p:cNvPr id="27" name="Shape 25"/>
          <p:cNvSpPr/>
          <p:nvPr/>
        </p:nvSpPr>
        <p:spPr>
          <a:xfrm>
            <a:off x="4846320" y="4800600"/>
            <a:ext cx="914400" cy="868680"/>
          </a:xfrm>
          <a:prstGeom prst="rect">
            <a:avLst/>
          </a:prstGeom>
          <a:solidFill>
            <a:srgbClr val="F1F5F9"/>
          </a:solidFill>
          <a:ln w="12700">
            <a:solidFill>
              <a:srgbClr val="CBD5E1"/>
            </a:solidFill>
            <a:prstDash val="solid"/>
          </a:ln>
        </p:spPr>
      </p:sp>
      <p:sp>
        <p:nvSpPr>
          <p:cNvPr id="28" name="Text 26"/>
          <p:cNvSpPr txBox="1"/>
          <p:nvPr/>
        </p:nvSpPr>
        <p:spPr>
          <a:xfrm>
            <a:off x="4846320" y="5074920"/>
            <a:ext cx="914400" cy="320040"/>
          </a:xfrm>
          <a:prstGeom prst="rect">
            <a:avLst/>
          </a:prstGeom>
          <a:noFill/>
          <a:ln/>
        </p:spPr>
        <p:txBody>
          <a:bodyPr wrap="square" lIns="0" tIns="0" rIns="0" bIns="0" rtlCol="0" anchor="ctr"/>
          <a:lstStyle/>
          <a:p>
            <a:pPr marL="0" indent="0" algn="ctr">
              <a:buNone/>
            </a:pPr>
            <a:r>
              <a:rPr lang="en-US" altLang="en-US" sz="900" dirty="0">
                <a:solidFill>
                  <a:srgbClr val="475569"/>
                </a:solidFill>
                <a:latin typeface="Vazirmatn" pitchFamily="34" charset="0"/>
                <a:ea typeface="Vazirmatn" pitchFamily="34" charset="-122"/>
                <a:cs typeface="Vazirmatn" pitchFamily="34" charset="-120"/>
              </a:rPr>
              <a:t>obj</a:t>
            </a:r>
            <a:endParaRPr lang="en-US" sz="900" dirty="0"/>
          </a:p>
        </p:txBody>
      </p:sp>
      <p:sp>
        <p:nvSpPr>
          <p:cNvPr id="29" name="Shape 27"/>
          <p:cNvSpPr/>
          <p:nvPr/>
        </p:nvSpPr>
        <p:spPr>
          <a:xfrm>
            <a:off x="3858768" y="4800600"/>
            <a:ext cx="914400" cy="868680"/>
          </a:xfrm>
          <a:prstGeom prst="rect">
            <a:avLst/>
          </a:prstGeom>
          <a:solidFill>
            <a:srgbClr val="F1F5F9"/>
          </a:solidFill>
          <a:ln w="12700">
            <a:solidFill>
              <a:srgbClr val="CBD5E1"/>
            </a:solidFill>
            <a:prstDash val="solid"/>
          </a:ln>
        </p:spPr>
      </p:sp>
      <p:sp>
        <p:nvSpPr>
          <p:cNvPr id="30" name="Text 28"/>
          <p:cNvSpPr txBox="1"/>
          <p:nvPr/>
        </p:nvSpPr>
        <p:spPr>
          <a:xfrm>
            <a:off x="3858768" y="5074920"/>
            <a:ext cx="914400" cy="320040"/>
          </a:xfrm>
          <a:prstGeom prst="rect">
            <a:avLst/>
          </a:prstGeom>
          <a:noFill/>
          <a:ln/>
        </p:spPr>
        <p:txBody>
          <a:bodyPr wrap="square" lIns="0" tIns="0" rIns="0" bIns="0" rtlCol="0" anchor="ctr"/>
          <a:lstStyle/>
          <a:p>
            <a:pPr marL="0" indent="0" algn="ctr">
              <a:buNone/>
            </a:pPr>
            <a:r>
              <a:rPr lang="en-US" altLang="en-US" sz="900" dirty="0">
                <a:solidFill>
                  <a:srgbClr val="475569"/>
                </a:solidFill>
                <a:latin typeface="Vazirmatn" pitchFamily="34" charset="0"/>
                <a:ea typeface="Vazirmatn" pitchFamily="34" charset="-122"/>
                <a:cs typeface="Vazirmatn" pitchFamily="34" charset="-120"/>
              </a:rPr>
              <a:t>obj</a:t>
            </a:r>
            <a:endParaRPr lang="en-US" sz="900" dirty="0"/>
          </a:p>
        </p:txBody>
      </p:sp>
      <p:sp>
        <p:nvSpPr>
          <p:cNvPr id="31" name="Shape 29"/>
          <p:cNvSpPr/>
          <p:nvPr/>
        </p:nvSpPr>
        <p:spPr>
          <a:xfrm>
            <a:off x="2871216" y="4800600"/>
            <a:ext cx="914400" cy="868680"/>
          </a:xfrm>
          <a:prstGeom prst="rect">
            <a:avLst/>
          </a:prstGeom>
          <a:solidFill>
            <a:srgbClr val="F1F5F9"/>
          </a:solidFill>
          <a:ln w="12700">
            <a:solidFill>
              <a:srgbClr val="CBD5E1"/>
            </a:solidFill>
            <a:prstDash val="solid"/>
          </a:ln>
        </p:spPr>
      </p:sp>
      <p:sp>
        <p:nvSpPr>
          <p:cNvPr id="32" name="Text 30"/>
          <p:cNvSpPr txBox="1"/>
          <p:nvPr/>
        </p:nvSpPr>
        <p:spPr>
          <a:xfrm>
            <a:off x="2871216" y="5074920"/>
            <a:ext cx="914400" cy="320040"/>
          </a:xfrm>
          <a:prstGeom prst="rect">
            <a:avLst/>
          </a:prstGeom>
          <a:noFill/>
          <a:ln/>
        </p:spPr>
        <p:txBody>
          <a:bodyPr wrap="square" lIns="0" tIns="0" rIns="0" bIns="0" rtlCol="0" anchor="ctr"/>
          <a:lstStyle/>
          <a:p>
            <a:pPr marL="0" indent="0" algn="ctr">
              <a:buNone/>
            </a:pPr>
            <a:r>
              <a:rPr lang="en-US" altLang="en-US" sz="900" dirty="0">
                <a:solidFill>
                  <a:srgbClr val="475569"/>
                </a:solidFill>
                <a:latin typeface="Vazirmatn" pitchFamily="34" charset="0"/>
                <a:ea typeface="Vazirmatn" pitchFamily="34" charset="-122"/>
                <a:cs typeface="Vazirmatn" pitchFamily="34" charset="-120"/>
              </a:rPr>
              <a:t>obj</a:t>
            </a:r>
            <a:endParaRPr lang="en-US" sz="900" dirty="0"/>
          </a:p>
        </p:txBody>
      </p:sp>
      <p:sp>
        <p:nvSpPr>
          <p:cNvPr id="33" name="Shape 31"/>
          <p:cNvSpPr/>
          <p:nvPr/>
        </p:nvSpPr>
        <p:spPr>
          <a:xfrm>
            <a:off x="1883664" y="4800600"/>
            <a:ext cx="914400" cy="868680"/>
          </a:xfrm>
          <a:prstGeom prst="rect">
            <a:avLst/>
          </a:prstGeom>
          <a:solidFill>
            <a:srgbClr val="F1F5F9"/>
          </a:solidFill>
          <a:ln w="12700">
            <a:solidFill>
              <a:srgbClr val="CBD5E1"/>
            </a:solidFill>
            <a:prstDash val="solid"/>
          </a:ln>
        </p:spPr>
      </p:sp>
      <p:sp>
        <p:nvSpPr>
          <p:cNvPr id="34" name="Text 32"/>
          <p:cNvSpPr txBox="1"/>
          <p:nvPr/>
        </p:nvSpPr>
        <p:spPr>
          <a:xfrm>
            <a:off x="1883664" y="5074920"/>
            <a:ext cx="914400" cy="320040"/>
          </a:xfrm>
          <a:prstGeom prst="rect">
            <a:avLst/>
          </a:prstGeom>
          <a:noFill/>
          <a:ln/>
        </p:spPr>
        <p:txBody>
          <a:bodyPr wrap="square" lIns="0" tIns="0" rIns="0" bIns="0" rtlCol="0" anchor="ctr"/>
          <a:lstStyle/>
          <a:p>
            <a:pPr marL="0" indent="0" algn="ctr">
              <a:buNone/>
            </a:pPr>
            <a:r>
              <a:rPr lang="en-US" altLang="en-US" sz="900" dirty="0">
                <a:solidFill>
                  <a:srgbClr val="475569"/>
                </a:solidFill>
                <a:latin typeface="Vazirmatn" pitchFamily="34" charset="0"/>
                <a:ea typeface="Vazirmatn" pitchFamily="34" charset="-122"/>
                <a:cs typeface="Vazirmatn" pitchFamily="34" charset="-120"/>
              </a:rPr>
              <a:t>obj</a:t>
            </a:r>
            <a:endParaRPr lang="en-US" sz="900" dirty="0"/>
          </a:p>
        </p:txBody>
      </p:sp>
      <p:sp>
        <p:nvSpPr>
          <p:cNvPr id="35" name="Shape 33"/>
          <p:cNvSpPr/>
          <p:nvPr/>
        </p:nvSpPr>
        <p:spPr>
          <a:xfrm>
            <a:off x="822960" y="4800600"/>
            <a:ext cx="1188720" cy="868680"/>
          </a:xfrm>
          <a:prstGeom prst="roundRect">
            <a:avLst>
              <a:gd name="adj" fmla="val 8421"/>
            </a:avLst>
          </a:prstGeom>
          <a:solidFill>
            <a:srgbClr val="0D9488"/>
          </a:solidFill>
          <a:ln w="12700">
            <a:solidFill>
              <a:srgbClr val="0D9488"/>
            </a:solidFill>
            <a:prstDash val="solid"/>
          </a:ln>
        </p:spPr>
      </p:sp>
      <p:sp>
        <p:nvSpPr>
          <p:cNvPr id="36" name="Text 34"/>
          <p:cNvSpPr txBox="1"/>
          <p:nvPr/>
        </p:nvSpPr>
        <p:spPr>
          <a:xfrm>
            <a:off x="822960" y="4800600"/>
            <a:ext cx="1188720" cy="868680"/>
          </a:xfrm>
          <a:prstGeom prst="rect">
            <a:avLst/>
          </a:prstGeom>
          <a:noFill/>
          <a:ln/>
        </p:spPr>
        <p:txBody>
          <a:bodyPr wrap="square" lIns="0" tIns="0" rIns="0" bIns="0" rtlCol="0" anchor="ctr"/>
          <a:lstStyle/>
          <a:p>
            <a:pPr marL="0" indent="0" algn="ctr" rtl="1">
              <a:buNone/>
            </a:pPr>
            <a:r>
              <a:rPr lang="fa-IR" altLang="en-US" sz="1100" b="1" dirty="0">
                <a:solidFill>
                  <a:srgbClr val="FFFFFF"/>
                </a:solidFill>
                <a:latin typeface="Vazirmatn" pitchFamily="34" charset="0"/>
                <a:ea typeface="Vazirmatn" pitchFamily="34" charset="-122"/>
                <a:cs typeface="Vazirmatn" pitchFamily="34" charset="-120"/>
              </a:rPr>
              <a:t>فراداده</a:t>
            </a:r>
            <a:endParaRPr lang="fa-IR" sz="1100" dirty="0"/>
          </a:p>
          <a:p>
            <a:pPr marL="0" indent="0" algn="ctr" rtl="1">
              <a:buNone/>
            </a:pPr>
            <a:r>
              <a:rPr lang="fa-IR" altLang="en-US" sz="1100" b="1" dirty="0">
                <a:solidFill>
                  <a:srgbClr val="FFFFFF"/>
                </a:solidFill>
                <a:latin typeface="Vazirmatn" pitchFamily="34" charset="0"/>
                <a:ea typeface="Vazirmatn" pitchFamily="34" charset="-122"/>
                <a:cs typeface="Vazirmatn" pitchFamily="34" charset="-120"/>
              </a:rPr>
              <a:t>(حافظه‌ی سایه)</a:t>
            </a:r>
            <a:endParaRPr lang="fa-IR" sz="1100" dirty="0"/>
          </a:p>
        </p:txBody>
      </p:sp>
      <p:sp>
        <p:nvSpPr>
          <p:cNvPr id="37" name="Shape 35"/>
          <p:cNvSpPr/>
          <p:nvPr/>
        </p:nvSpPr>
        <p:spPr>
          <a:xfrm>
            <a:off x="11076127" y="1645920"/>
            <a:ext cx="566928" cy="566928"/>
          </a:xfrm>
          <a:prstGeom prst="ellipse">
            <a:avLst/>
          </a:prstGeom>
          <a:solidFill>
            <a:srgbClr val="E11D48"/>
          </a:solidFill>
          <a:ln w="12700">
            <a:solidFill>
              <a:srgbClr val="E11D48"/>
            </a:solidFill>
            <a:prstDash val="solid"/>
          </a:ln>
        </p:spPr>
      </p:sp>
      <p:pic>
        <p:nvPicPr>
          <p:cNvPr id="38" name="Image 0" descr="preencoded.png"/>
          <p:cNvPicPr>
            <a:picLocks noChangeAspect="1"/>
          </p:cNvPicPr>
          <p:nvPr/>
        </p:nvPicPr>
        <p:blipFill>
          <a:blip r:embed="rId3"/>
          <a:stretch>
            <a:fillRect/>
          </a:stretch>
        </p:blipFill>
        <p:spPr>
          <a:xfrm>
            <a:off x="11200851" y="1770644"/>
            <a:ext cx="317480" cy="317480"/>
          </a:xfrm>
          <a:prstGeom prst="rect">
            <a:avLst/>
          </a:prstGeom>
        </p:spPr>
      </p:pic>
      <p:sp>
        <p:nvSpPr>
          <p:cNvPr id="39" name="Text 36"/>
          <p:cNvSpPr txBox="1"/>
          <p:nvPr/>
        </p:nvSpPr>
        <p:spPr>
          <a:xfrm>
            <a:off x="6355080" y="1609344"/>
            <a:ext cx="4510735" cy="365760"/>
          </a:xfrm>
          <a:prstGeom prst="rect">
            <a:avLst/>
          </a:prstGeom>
          <a:noFill/>
          <a:ln/>
        </p:spPr>
        <p:txBody>
          <a:bodyPr wrap="square" lIns="0" tIns="0" rIns="0" bIns="0" rtlCol="0" anchor="t"/>
          <a:lstStyle/>
          <a:p>
            <a:pPr marL="0" indent="0" algn="r" rtl="1">
              <a:buNone/>
            </a:pPr>
            <a:r>
              <a:rPr lang="fa-IR" altLang="en-US" sz="1600" b="1" dirty="0">
                <a:solidFill>
                  <a:srgbClr val="0F172A"/>
                </a:solidFill>
                <a:latin typeface="Vazirmatn" pitchFamily="34" charset="0"/>
                <a:ea typeface="Vazirmatn" pitchFamily="34" charset="-122"/>
                <a:cs typeface="Vazirmatn" pitchFamily="34" charset="-120"/>
              </a:rPr>
              <a:t>رمز XOR کافی نیست</a:t>
            </a:r>
            <a:endParaRPr lang="fa-IR" sz="1600" dirty="0"/>
          </a:p>
        </p:txBody>
      </p:sp>
      <p:sp>
        <p:nvSpPr>
          <p:cNvPr id="40" name="Text 37"/>
          <p:cNvSpPr txBox="1"/>
          <p:nvPr/>
        </p:nvSpPr>
        <p:spPr>
          <a:xfrm>
            <a:off x="6355080" y="1975104"/>
            <a:ext cx="4510735" cy="548640"/>
          </a:xfrm>
          <a:prstGeom prst="rect">
            <a:avLst/>
          </a:prstGeom>
          <a:noFill/>
          <a:ln/>
        </p:spPr>
        <p:txBody>
          <a:bodyPr wrap="square" lIns="0" tIns="0" rIns="0" bIns="0" rtlCol="0" anchor="t"/>
          <a:lstStyle/>
          <a:p>
            <a:pPr marL="0" indent="0" algn="r" rtl="1">
              <a:buNone/>
            </a:pPr>
            <a:r>
              <a:rPr lang="fa-IR" altLang="en-US" sz="1300" dirty="0">
                <a:solidFill>
                  <a:srgbClr val="475569"/>
                </a:solidFill>
                <a:latin typeface="Vazirmatn" pitchFamily="34" charset="0"/>
                <a:ea typeface="Vazirmatn" pitchFamily="34" charset="-122"/>
                <a:cs typeface="Vazirmatn" pitchFamily="34" charset="-120"/>
              </a:rPr>
              <a:t>خراب‌کردن ۱۲ بیت پایین هنوز آدرس معتبری داخل همان صفحه می‌سازد</a:t>
            </a:r>
            <a:endParaRPr lang="fa-IR" sz="1300" dirty="0"/>
          </a:p>
        </p:txBody>
      </p:sp>
      <p:sp>
        <p:nvSpPr>
          <p:cNvPr id="41" name="Shape 38"/>
          <p:cNvSpPr/>
          <p:nvPr/>
        </p:nvSpPr>
        <p:spPr>
          <a:xfrm>
            <a:off x="11076127" y="2606040"/>
            <a:ext cx="566928" cy="566928"/>
          </a:xfrm>
          <a:prstGeom prst="ellipse">
            <a:avLst/>
          </a:prstGeom>
          <a:solidFill>
            <a:srgbClr val="0D9488"/>
          </a:solidFill>
          <a:ln w="12700">
            <a:solidFill>
              <a:srgbClr val="0D9488"/>
            </a:solidFill>
            <a:prstDash val="solid"/>
          </a:ln>
        </p:spPr>
      </p:sp>
      <p:pic>
        <p:nvPicPr>
          <p:cNvPr id="42" name="Image 1" descr="preencoded.png"/>
          <p:cNvPicPr>
            <a:picLocks noChangeAspect="1"/>
          </p:cNvPicPr>
          <p:nvPr/>
        </p:nvPicPr>
        <p:blipFill>
          <a:blip r:embed="rId4"/>
          <a:stretch>
            <a:fillRect/>
          </a:stretch>
        </p:blipFill>
        <p:spPr>
          <a:xfrm>
            <a:off x="11200851" y="2730764"/>
            <a:ext cx="317480" cy="317480"/>
          </a:xfrm>
          <a:prstGeom prst="rect">
            <a:avLst/>
          </a:prstGeom>
        </p:spPr>
      </p:pic>
      <p:sp>
        <p:nvSpPr>
          <p:cNvPr id="43" name="Text 39"/>
          <p:cNvSpPr txBox="1"/>
          <p:nvPr/>
        </p:nvSpPr>
        <p:spPr>
          <a:xfrm>
            <a:off x="6355080" y="2569464"/>
            <a:ext cx="4510735" cy="365760"/>
          </a:xfrm>
          <a:prstGeom prst="rect">
            <a:avLst/>
          </a:prstGeom>
          <a:noFill/>
          <a:ln/>
        </p:spPr>
        <p:txBody>
          <a:bodyPr wrap="square" lIns="0" tIns="0" rIns="0" bIns="0" rtlCol="0" anchor="t"/>
          <a:lstStyle/>
          <a:p>
            <a:pPr marL="0" indent="0" algn="r" rtl="1">
              <a:buNone/>
            </a:pPr>
            <a:r>
              <a:rPr lang="fa-IR" altLang="en-US" sz="1600" b="1" dirty="0">
                <a:solidFill>
                  <a:srgbClr val="0F172A"/>
                </a:solidFill>
                <a:latin typeface="Vazirmatn" pitchFamily="34" charset="0"/>
                <a:ea typeface="Vazirmatn" pitchFamily="34" charset="-122"/>
                <a:cs typeface="Vazirmatn" pitchFamily="34" charset="-120"/>
              </a:rPr>
              <a:t>تفکیک فراداده</a:t>
            </a:r>
            <a:endParaRPr lang="fa-IR" sz="1600" dirty="0"/>
          </a:p>
        </p:txBody>
      </p:sp>
      <p:sp>
        <p:nvSpPr>
          <p:cNvPr id="44" name="Text 40"/>
          <p:cNvSpPr txBox="1"/>
          <p:nvPr/>
        </p:nvSpPr>
        <p:spPr>
          <a:xfrm>
            <a:off x="6355080" y="2935224"/>
            <a:ext cx="4510735" cy="548640"/>
          </a:xfrm>
          <a:prstGeom prst="rect">
            <a:avLst/>
          </a:prstGeom>
          <a:noFill/>
          <a:ln/>
        </p:spPr>
        <p:txBody>
          <a:bodyPr wrap="square" lIns="0" tIns="0" rIns="0" bIns="0" rtlCol="0" anchor="t"/>
          <a:lstStyle/>
          <a:p>
            <a:pPr marL="0" indent="0" algn="r" rtl="1">
              <a:buNone/>
            </a:pPr>
            <a:r>
              <a:rPr lang="fa-IR" altLang="en-US" sz="1300" dirty="0">
                <a:solidFill>
                  <a:srgbClr val="475569"/>
                </a:solidFill>
                <a:latin typeface="Vazirmatn" pitchFamily="34" charset="0"/>
                <a:ea typeface="Vazirmatn" pitchFamily="34" charset="-122"/>
                <a:cs typeface="Vazirmatn" pitchFamily="34" charset="-120"/>
              </a:rPr>
              <a:t>freelist و فراداده به حافظه‌ی سایه منتقل می‌شود</a:t>
            </a:r>
            <a:endParaRPr lang="fa-IR" sz="1300" dirty="0"/>
          </a:p>
        </p:txBody>
      </p:sp>
      <p:sp>
        <p:nvSpPr>
          <p:cNvPr id="45" name="Shape 41"/>
          <p:cNvSpPr/>
          <p:nvPr/>
        </p:nvSpPr>
        <p:spPr>
          <a:xfrm>
            <a:off x="11076127" y="3566160"/>
            <a:ext cx="566928" cy="566928"/>
          </a:xfrm>
          <a:prstGeom prst="ellipse">
            <a:avLst/>
          </a:prstGeom>
          <a:solidFill>
            <a:srgbClr val="0D9488"/>
          </a:solidFill>
          <a:ln w="12700">
            <a:solidFill>
              <a:srgbClr val="0D9488"/>
            </a:solidFill>
            <a:prstDash val="solid"/>
          </a:ln>
        </p:spPr>
      </p:sp>
      <p:pic>
        <p:nvPicPr>
          <p:cNvPr id="46" name="Image 2" descr="preencoded.png"/>
          <p:cNvPicPr>
            <a:picLocks noChangeAspect="1"/>
          </p:cNvPicPr>
          <p:nvPr/>
        </p:nvPicPr>
        <p:blipFill>
          <a:blip r:embed="rId5"/>
          <a:stretch>
            <a:fillRect/>
          </a:stretch>
        </p:blipFill>
        <p:spPr>
          <a:xfrm>
            <a:off x="11200851" y="3690884"/>
            <a:ext cx="317480" cy="317480"/>
          </a:xfrm>
          <a:prstGeom prst="rect">
            <a:avLst/>
          </a:prstGeom>
        </p:spPr>
      </p:pic>
      <p:sp>
        <p:nvSpPr>
          <p:cNvPr id="47" name="Text 42"/>
          <p:cNvSpPr txBox="1"/>
          <p:nvPr/>
        </p:nvSpPr>
        <p:spPr>
          <a:xfrm>
            <a:off x="6355080" y="3529584"/>
            <a:ext cx="4510735" cy="365760"/>
          </a:xfrm>
          <a:prstGeom prst="rect">
            <a:avLst/>
          </a:prstGeom>
          <a:noFill/>
          <a:ln/>
        </p:spPr>
        <p:txBody>
          <a:bodyPr wrap="square" lIns="0" tIns="0" rIns="0" bIns="0" rtlCol="0" anchor="t"/>
          <a:lstStyle/>
          <a:p>
            <a:pPr marL="0" indent="0" algn="r" rtl="1">
              <a:buNone/>
            </a:pPr>
            <a:r>
              <a:rPr lang="fa-IR" altLang="en-US" sz="1600" b="1" dirty="0">
                <a:solidFill>
                  <a:srgbClr val="0F172A"/>
                </a:solidFill>
                <a:latin typeface="Vazirmatn" pitchFamily="34" charset="0"/>
                <a:ea typeface="Vazirmatn" pitchFamily="34" charset="-122"/>
                <a:cs typeface="Vazirmatn" pitchFamily="34" charset="-120"/>
              </a:rPr>
              <a:t>kSMAP</a:t>
            </a:r>
            <a:endParaRPr lang="fa-IR" sz="1600" dirty="0"/>
          </a:p>
        </p:txBody>
      </p:sp>
      <p:sp>
        <p:nvSpPr>
          <p:cNvPr id="48" name="Text 43"/>
          <p:cNvSpPr txBox="1"/>
          <p:nvPr/>
        </p:nvSpPr>
        <p:spPr>
          <a:xfrm>
            <a:off x="6355080" y="3895344"/>
            <a:ext cx="4510735" cy="548640"/>
          </a:xfrm>
          <a:prstGeom prst="rect">
            <a:avLst/>
          </a:prstGeom>
          <a:noFill/>
          <a:ln/>
        </p:spPr>
        <p:txBody>
          <a:bodyPr wrap="square" lIns="0" tIns="0" rIns="0" bIns="0" rtlCol="0" anchor="t"/>
          <a:lstStyle/>
          <a:p>
            <a:pPr marL="0" indent="0" algn="r" rtl="1">
              <a:buNone/>
            </a:pPr>
            <a:r>
              <a:rPr lang="fa-IR" altLang="en-US" sz="1300" dirty="0">
                <a:solidFill>
                  <a:srgbClr val="475569"/>
                </a:solidFill>
                <a:latin typeface="Vazirmatn" pitchFamily="34" charset="0"/>
                <a:ea typeface="Vazirmatn" pitchFamily="34" charset="-122"/>
                <a:cs typeface="Vazirmatn" pitchFamily="34" charset="-120"/>
              </a:rPr>
              <a:t>SMAP برای ایزوله‌کردن داده‌ی حساس هسته (struct cred)؛ تقریباً روی هر x86</a:t>
            </a:r>
            <a:endParaRPr lang="fa-IR" sz="1300" dirty="0"/>
          </a:p>
        </p:txBody>
      </p:sp>
      <p:sp>
        <p:nvSpPr>
          <p:cNvPr id="49" name="Shape 44"/>
          <p:cNvSpPr/>
          <p:nvPr/>
        </p:nvSpPr>
        <p:spPr>
          <a:xfrm>
            <a:off x="10002317" y="4572000"/>
            <a:ext cx="1640738" cy="1554480"/>
          </a:xfrm>
          <a:prstGeom prst="roundRect">
            <a:avLst>
              <a:gd name="adj" fmla="val 7059"/>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50" name="Text 45"/>
          <p:cNvSpPr txBox="1"/>
          <p:nvPr/>
        </p:nvSpPr>
        <p:spPr>
          <a:xfrm>
            <a:off x="10139477" y="4754880"/>
            <a:ext cx="1366418" cy="731520"/>
          </a:xfrm>
          <a:prstGeom prst="rect">
            <a:avLst/>
          </a:prstGeom>
          <a:noFill/>
          <a:ln/>
        </p:spPr>
        <p:txBody>
          <a:bodyPr wrap="square" lIns="0" tIns="0" rIns="0" bIns="0" rtlCol="0" anchor="ctr"/>
          <a:lstStyle/>
          <a:p>
            <a:pPr marL="0" indent="0" algn="ctr" rtl="1">
              <a:buNone/>
            </a:pPr>
            <a:r>
              <a:rPr lang="fa-IR" altLang="en-US" sz="3000" b="1" dirty="0">
                <a:solidFill>
                  <a:srgbClr val="0D9488"/>
                </a:solidFill>
                <a:latin typeface="Vazirmatn" pitchFamily="34" charset="0"/>
                <a:ea typeface="Vazirmatn" pitchFamily="34" charset="-122"/>
                <a:cs typeface="Vazirmatn" pitchFamily="34" charset="-120"/>
              </a:rPr>
              <a:t>۰٪</a:t>
            </a:r>
            <a:endParaRPr lang="fa-IR" sz="3000" dirty="0"/>
          </a:p>
        </p:txBody>
      </p:sp>
      <p:sp>
        <p:nvSpPr>
          <p:cNvPr id="51" name="Text 46"/>
          <p:cNvSpPr txBox="1"/>
          <p:nvPr/>
        </p:nvSpPr>
        <p:spPr>
          <a:xfrm>
            <a:off x="10139477" y="5532120"/>
            <a:ext cx="1366418" cy="411480"/>
          </a:xfrm>
          <a:prstGeom prst="rect">
            <a:avLst/>
          </a:prstGeom>
          <a:noFill/>
          <a:ln/>
        </p:spPr>
        <p:txBody>
          <a:bodyPr wrap="square" lIns="0" tIns="0" rIns="0" bIns="0" rtlCol="0" anchor="t"/>
          <a:lstStyle/>
          <a:p>
            <a:pPr marL="0" indent="0" algn="ctr" rtl="1">
              <a:buNone/>
            </a:pPr>
            <a:r>
              <a:rPr lang="fa-IR" altLang="en-US" sz="1200" dirty="0">
                <a:solidFill>
                  <a:srgbClr val="475569"/>
                </a:solidFill>
                <a:latin typeface="Vazirmatn" pitchFamily="34" charset="0"/>
                <a:ea typeface="Vazirmatn" pitchFamily="34" charset="-122"/>
                <a:cs typeface="Vazirmatn" pitchFamily="34" charset="-120"/>
              </a:rPr>
              <a:t>Phoronix</a:t>
            </a:r>
            <a:endParaRPr lang="fa-IR" sz="1200" dirty="0"/>
          </a:p>
        </p:txBody>
      </p:sp>
      <p:sp>
        <p:nvSpPr>
          <p:cNvPr id="52" name="Shape 47"/>
          <p:cNvSpPr/>
          <p:nvPr/>
        </p:nvSpPr>
        <p:spPr>
          <a:xfrm>
            <a:off x="8178698" y="4572000"/>
            <a:ext cx="1640738" cy="1554480"/>
          </a:xfrm>
          <a:prstGeom prst="roundRect">
            <a:avLst>
              <a:gd name="adj" fmla="val 7059"/>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53" name="Text 48"/>
          <p:cNvSpPr txBox="1"/>
          <p:nvPr/>
        </p:nvSpPr>
        <p:spPr>
          <a:xfrm>
            <a:off x="8315858" y="4754880"/>
            <a:ext cx="1366418" cy="731520"/>
          </a:xfrm>
          <a:prstGeom prst="rect">
            <a:avLst/>
          </a:prstGeom>
          <a:noFill/>
          <a:ln/>
        </p:spPr>
        <p:txBody>
          <a:bodyPr wrap="square" lIns="0" tIns="0" rIns="0" bIns="0" rtlCol="0" anchor="ctr"/>
          <a:lstStyle/>
          <a:p>
            <a:pPr marL="0" indent="0" algn="ctr" rtl="1">
              <a:buNone/>
            </a:pPr>
            <a:r>
              <a:rPr lang="fa-IR" altLang="en-US" sz="3000" b="1" dirty="0">
                <a:solidFill>
                  <a:srgbClr val="0D9488"/>
                </a:solidFill>
                <a:latin typeface="Vazirmatn" pitchFamily="34" charset="0"/>
                <a:ea typeface="Vazirmatn" pitchFamily="34" charset="-122"/>
                <a:cs typeface="Vazirmatn" pitchFamily="34" charset="-120"/>
              </a:rPr>
              <a:t>~۱٪</a:t>
            </a:r>
            <a:endParaRPr lang="fa-IR" sz="3000" dirty="0"/>
          </a:p>
        </p:txBody>
      </p:sp>
      <p:sp>
        <p:nvSpPr>
          <p:cNvPr id="54" name="Text 49"/>
          <p:cNvSpPr txBox="1"/>
          <p:nvPr/>
        </p:nvSpPr>
        <p:spPr>
          <a:xfrm>
            <a:off x="8315858" y="5532120"/>
            <a:ext cx="1366418" cy="411480"/>
          </a:xfrm>
          <a:prstGeom prst="rect">
            <a:avLst/>
          </a:prstGeom>
          <a:noFill/>
          <a:ln/>
        </p:spPr>
        <p:txBody>
          <a:bodyPr wrap="square" lIns="0" tIns="0" rIns="0" bIns="0" rtlCol="0" anchor="t"/>
          <a:lstStyle/>
          <a:p>
            <a:pPr marL="0" indent="0" algn="ctr" rtl="1">
              <a:buNone/>
            </a:pPr>
            <a:r>
              <a:rPr lang="fa-IR" altLang="en-US" sz="1200" dirty="0">
                <a:solidFill>
                  <a:srgbClr val="475569"/>
                </a:solidFill>
                <a:latin typeface="Vazirmatn" pitchFamily="34" charset="0"/>
                <a:ea typeface="Vazirmatn" pitchFamily="34" charset="-122"/>
                <a:cs typeface="Vazirmatn" pitchFamily="34" charset="-120"/>
              </a:rPr>
              <a:t>با kSMAP</a:t>
            </a:r>
            <a:endParaRPr lang="fa-IR" sz="1200" dirty="0"/>
          </a:p>
        </p:txBody>
      </p:sp>
      <p:sp>
        <p:nvSpPr>
          <p:cNvPr id="55" name="Shape 50"/>
          <p:cNvSpPr/>
          <p:nvPr/>
        </p:nvSpPr>
        <p:spPr>
          <a:xfrm>
            <a:off x="6355080" y="4572000"/>
            <a:ext cx="1640738" cy="1554480"/>
          </a:xfrm>
          <a:prstGeom prst="roundRect">
            <a:avLst>
              <a:gd name="adj" fmla="val 7059"/>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56" name="Text 51"/>
          <p:cNvSpPr txBox="1"/>
          <p:nvPr/>
        </p:nvSpPr>
        <p:spPr>
          <a:xfrm>
            <a:off x="6492240" y="4754880"/>
            <a:ext cx="1366418" cy="731520"/>
          </a:xfrm>
          <a:prstGeom prst="rect">
            <a:avLst/>
          </a:prstGeom>
          <a:noFill/>
          <a:ln/>
        </p:spPr>
        <p:txBody>
          <a:bodyPr wrap="square" lIns="0" tIns="0" rIns="0" bIns="0" rtlCol="0" anchor="ctr"/>
          <a:lstStyle/>
          <a:p>
            <a:pPr marL="0" indent="0" algn="ctr" rtl="1">
              <a:buNone/>
            </a:pPr>
            <a:r>
              <a:rPr lang="fa-IR" altLang="en-US" sz="3000" b="1" dirty="0">
                <a:solidFill>
                  <a:srgbClr val="EA580C"/>
                </a:solidFill>
                <a:latin typeface="Vazirmatn" pitchFamily="34" charset="0"/>
                <a:ea typeface="Vazirmatn" pitchFamily="34" charset="-122"/>
                <a:cs typeface="Vazirmatn" pitchFamily="34" charset="-120"/>
              </a:rPr>
              <a:t>۷٪</a:t>
            </a:r>
            <a:endParaRPr lang="fa-IR" sz="3000" dirty="0"/>
          </a:p>
        </p:txBody>
      </p:sp>
      <p:sp>
        <p:nvSpPr>
          <p:cNvPr id="57" name="Text 52"/>
          <p:cNvSpPr txBox="1"/>
          <p:nvPr/>
        </p:nvSpPr>
        <p:spPr>
          <a:xfrm>
            <a:off x="6492240" y="5532120"/>
            <a:ext cx="1366418" cy="411480"/>
          </a:xfrm>
          <a:prstGeom prst="rect">
            <a:avLst/>
          </a:prstGeom>
          <a:noFill/>
          <a:ln/>
        </p:spPr>
        <p:txBody>
          <a:bodyPr wrap="square" lIns="0" tIns="0" rIns="0" bIns="0" rtlCol="0" anchor="t"/>
          <a:lstStyle/>
          <a:p>
            <a:pPr marL="0" indent="0" algn="ctr" rtl="1">
              <a:buNone/>
            </a:pPr>
            <a:r>
              <a:rPr lang="fa-IR" altLang="en-US" sz="1200" dirty="0">
                <a:solidFill>
                  <a:srgbClr val="475569"/>
                </a:solidFill>
                <a:latin typeface="Vazirmatn" pitchFamily="34" charset="0"/>
                <a:ea typeface="Vazirmatn" pitchFamily="34" charset="-122"/>
                <a:cs typeface="Vazirmatn" pitchFamily="34" charset="-120"/>
              </a:rPr>
              <a:t>بدترین LMbench</a:t>
            </a:r>
            <a:endParaRPr lang="fa-IR" sz="1200" dirty="0"/>
          </a:p>
        </p:txBody>
      </p:sp>
      <p:sp>
        <p:nvSpPr>
          <p:cNvPr id="58"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4A3B8"/>
                </a:solidFill>
                <a:latin typeface="Vazirmatn"/>
                <a:ea typeface="Vazirmatn"/>
                <a:cs typeface="Vazirmatn"/>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47472"/>
            <a:ext cx="11094415" cy="640080"/>
          </a:xfrm>
          <a:prstGeom prst="rect">
            <a:avLst/>
          </a:prstGeom>
          <a:noFill/>
          <a:ln/>
        </p:spPr>
        <p:txBody>
          <a:bodyPr wrap="square" lIns="0" tIns="0" rIns="0" bIns="0" rtlCol="0" anchor="ctr"/>
          <a:lstStyle/>
          <a:p>
            <a:pPr marL="0" indent="0" algn="r" rtl="1">
              <a:buNone/>
            </a:pPr>
            <a:r>
              <a:rPr lang="fa-IR" altLang="en-US" sz="3000" b="1" dirty="0">
                <a:solidFill>
                  <a:srgbClr val="0F172A"/>
                </a:solidFill>
                <a:latin typeface="Vazirmatn" pitchFamily="34" charset="0"/>
                <a:ea typeface="Vazirmatn" pitchFamily="34" charset="-122"/>
                <a:cs typeface="Vazirmatn" pitchFamily="34" charset="-120"/>
              </a:rPr>
              <a:t>Rust for Linux: پیشگیری به‌جای مهار</a:t>
            </a:r>
            <a:endParaRPr lang="fa-IR" sz="3000" dirty="0"/>
          </a:p>
        </p:txBody>
      </p:sp>
      <p:sp>
        <p:nvSpPr>
          <p:cNvPr id="3" name="Text 1"/>
          <p:cNvSpPr txBox="1"/>
          <p:nvPr/>
        </p:nvSpPr>
        <p:spPr>
          <a:xfrm>
            <a:off x="548640" y="969264"/>
            <a:ext cx="8168335" cy="365760"/>
          </a:xfrm>
          <a:prstGeom prst="rect">
            <a:avLst/>
          </a:prstGeom>
          <a:noFill/>
          <a:ln/>
        </p:spPr>
        <p:txBody>
          <a:bodyPr wrap="square" lIns="0" tIns="0" rIns="0" bIns="0" rtlCol="0" anchor="ctr"/>
          <a:lstStyle/>
          <a:p>
            <a:pPr marL="0" indent="0" algn="r" rtl="1">
              <a:buNone/>
            </a:pPr>
            <a:r>
              <a:rPr lang="fa-IR" altLang="en-US" sz="1500" dirty="0">
                <a:solidFill>
                  <a:srgbClr val="475569"/>
                </a:solidFill>
                <a:latin typeface="Vazirmatn" pitchFamily="34" charset="0"/>
                <a:ea typeface="Vazirmatn" pitchFamily="34" charset="-122"/>
                <a:cs typeface="Vazirmatn" pitchFamily="34" charset="-120"/>
              </a:rPr>
              <a:t>Li و همکاران · اگر ۲۴۰ آسیب‌پذیری واقعی درایورها به Rust نوشته شده بود؟</a:t>
            </a:r>
            <a:endParaRPr lang="fa-IR" sz="1500" dirty="0"/>
          </a:p>
        </p:txBody>
      </p:sp>
      <p:sp>
        <p:nvSpPr>
          <p:cNvPr id="4" name="Shape 2"/>
          <p:cNvSpPr/>
          <p:nvPr/>
        </p:nvSpPr>
        <p:spPr>
          <a:xfrm>
            <a:off x="548640" y="502920"/>
            <a:ext cx="2560320" cy="329184"/>
          </a:xfrm>
          <a:prstGeom prst="roundRect">
            <a:avLst>
              <a:gd name="adj" fmla="val 50000"/>
            </a:avLst>
          </a:prstGeom>
          <a:solidFill>
            <a:srgbClr val="FFEDD5"/>
          </a:solidFill>
          <a:ln w="12700">
            <a:solidFill>
              <a:srgbClr val="FFEDD5"/>
            </a:solidFill>
            <a:prstDash val="solid"/>
          </a:ln>
        </p:spPr>
      </p:sp>
      <p:sp>
        <p:nvSpPr>
          <p:cNvPr id="5" name="Text 3"/>
          <p:cNvSpPr txBox="1"/>
          <p:nvPr/>
        </p:nvSpPr>
        <p:spPr>
          <a:xfrm>
            <a:off x="548640" y="502920"/>
            <a:ext cx="2560320" cy="329184"/>
          </a:xfrm>
          <a:prstGeom prst="rect">
            <a:avLst/>
          </a:prstGeom>
          <a:noFill/>
          <a:ln/>
        </p:spPr>
        <p:txBody>
          <a:bodyPr wrap="square" lIns="0" tIns="0" rIns="0" bIns="0" rtlCol="0" anchor="ctr"/>
          <a:lstStyle/>
          <a:p>
            <a:pPr marL="0" indent="0" algn="ctr" rtl="1">
              <a:buNone/>
            </a:pPr>
            <a:r>
              <a:rPr lang="fa-IR" altLang="en-US" sz="1200" b="1" dirty="0">
                <a:solidFill>
                  <a:srgbClr val="EA580C"/>
                </a:solidFill>
                <a:latin typeface="Vazirmatn" pitchFamily="34" charset="0"/>
                <a:ea typeface="Vazirmatn" pitchFamily="34" charset="-122"/>
                <a:cs typeface="Vazirmatn" pitchFamily="34" charset="-120"/>
              </a:rPr>
              <a:t>زبان امن · ACSAC 2024</a:t>
            </a:r>
            <a:endParaRPr lang="fa-IR" sz="1200" dirty="0"/>
          </a:p>
        </p:txBody>
      </p:sp>
      <p:sp>
        <p:nvSpPr>
          <p:cNvPr id="6" name="Shape 4"/>
          <p:cNvSpPr/>
          <p:nvPr/>
        </p:nvSpPr>
        <p:spPr>
          <a:xfrm>
            <a:off x="548640" y="1600200"/>
            <a:ext cx="5120640" cy="4526280"/>
          </a:xfrm>
          <a:prstGeom prst="roundRect">
            <a:avLst>
              <a:gd name="adj" fmla="val 2424"/>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graphicFrame>
        <p:nvGraphicFramePr>
          <p:cNvPr id="7" name="Chart 0"/>
          <p:cNvGraphicFramePr/>
          <p:nvPr/>
        </p:nvGraphicFramePr>
        <p:xfrm>
          <a:off x="822960" y="1783080"/>
          <a:ext cx="457200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2423160" y="3154680"/>
            <a:ext cx="1371600" cy="548640"/>
          </a:xfrm>
          <a:prstGeom prst="rect">
            <a:avLst/>
          </a:prstGeom>
          <a:noFill/>
          <a:ln/>
        </p:spPr>
        <p:txBody>
          <a:bodyPr wrap="square" lIns="0" tIns="0" rIns="0" bIns="0" rtlCol="0" anchor="ctr"/>
          <a:lstStyle/>
          <a:p>
            <a:pPr marL="0" indent="0" algn="ctr" rtl="1">
              <a:buNone/>
            </a:pPr>
            <a:r>
              <a:rPr lang="fa-IR" altLang="en-US" sz="3200" b="1" dirty="0">
                <a:solidFill>
                  <a:srgbClr val="0F172A"/>
                </a:solidFill>
                <a:latin typeface="Vazirmatn" pitchFamily="34" charset="0"/>
                <a:ea typeface="Vazirmatn" pitchFamily="34" charset="-122"/>
                <a:cs typeface="Vazirmatn" pitchFamily="34" charset="-120"/>
              </a:rPr>
              <a:t>۲۴۰</a:t>
            </a:r>
            <a:endParaRPr lang="fa-IR" sz="3200" dirty="0"/>
          </a:p>
        </p:txBody>
      </p:sp>
      <p:sp>
        <p:nvSpPr>
          <p:cNvPr id="9" name="Text 6"/>
          <p:cNvSpPr txBox="1"/>
          <p:nvPr/>
        </p:nvSpPr>
        <p:spPr>
          <a:xfrm>
            <a:off x="2423160" y="3657600"/>
            <a:ext cx="1371600" cy="320040"/>
          </a:xfrm>
          <a:prstGeom prst="rect">
            <a:avLst/>
          </a:prstGeom>
          <a:noFill/>
          <a:ln/>
        </p:spPr>
        <p:txBody>
          <a:bodyPr wrap="square" lIns="0" tIns="0" rIns="0" bIns="0" rtlCol="0" anchor="t"/>
          <a:lstStyle/>
          <a:p>
            <a:pPr marL="0" indent="0" algn="ctr">
              <a:buNone/>
            </a:pPr>
            <a:r>
              <a:rPr lang="en-US" altLang="en-US" sz="1200" dirty="0">
                <a:solidFill>
                  <a:srgbClr val="475569"/>
                </a:solidFill>
                <a:latin typeface="Vazirmatn" pitchFamily="34" charset="0"/>
                <a:ea typeface="Vazirmatn" pitchFamily="34" charset="-122"/>
                <a:cs typeface="Vazirmatn" pitchFamily="34" charset="-120"/>
              </a:rPr>
              <a:t>CVE</a:t>
            </a:r>
            <a:endParaRPr lang="en-US" sz="1200" dirty="0"/>
          </a:p>
        </p:txBody>
      </p:sp>
      <p:sp>
        <p:nvSpPr>
          <p:cNvPr id="10" name="Shape 7"/>
          <p:cNvSpPr/>
          <p:nvPr/>
        </p:nvSpPr>
        <p:spPr>
          <a:xfrm>
            <a:off x="2057400" y="5623560"/>
            <a:ext cx="182880" cy="182880"/>
          </a:xfrm>
          <a:prstGeom prst="ellipse">
            <a:avLst/>
          </a:prstGeom>
          <a:solidFill>
            <a:srgbClr val="0D9488"/>
          </a:solidFill>
          <a:ln w="12700">
            <a:solidFill>
              <a:srgbClr val="0D9488"/>
            </a:solidFill>
            <a:prstDash val="solid"/>
          </a:ln>
        </p:spPr>
      </p:sp>
      <p:sp>
        <p:nvSpPr>
          <p:cNvPr id="11" name="Text 8"/>
          <p:cNvSpPr txBox="1"/>
          <p:nvPr/>
        </p:nvSpPr>
        <p:spPr>
          <a:xfrm>
            <a:off x="822960" y="5550408"/>
            <a:ext cx="1188720" cy="329184"/>
          </a:xfrm>
          <a:prstGeom prst="rect">
            <a:avLst/>
          </a:prstGeom>
          <a:noFill/>
          <a:ln/>
        </p:spPr>
        <p:txBody>
          <a:bodyPr wrap="square" lIns="0" tIns="0" rIns="0" bIns="0" rtlCol="0" anchor="t"/>
          <a:lstStyle/>
          <a:p>
            <a:pPr marL="0" indent="0" algn="r" rtl="1">
              <a:buNone/>
            </a:pPr>
            <a:r>
              <a:rPr lang="fa-IR" altLang="en-US" sz="1100" dirty="0">
                <a:solidFill>
                  <a:srgbClr val="475569"/>
                </a:solidFill>
                <a:latin typeface="Vazirmatn" pitchFamily="34" charset="0"/>
                <a:ea typeface="Vazirmatn" pitchFamily="34" charset="-122"/>
                <a:cs typeface="Vazirmatn" pitchFamily="34" charset="-120"/>
              </a:rPr>
              <a:t>حذف خودکار</a:t>
            </a:r>
            <a:endParaRPr lang="fa-IR" sz="1100" dirty="0"/>
          </a:p>
        </p:txBody>
      </p:sp>
      <p:sp>
        <p:nvSpPr>
          <p:cNvPr id="12" name="Shape 9"/>
          <p:cNvSpPr/>
          <p:nvPr/>
        </p:nvSpPr>
        <p:spPr>
          <a:xfrm>
            <a:off x="3657600" y="5623560"/>
            <a:ext cx="182880" cy="182880"/>
          </a:xfrm>
          <a:prstGeom prst="ellipse">
            <a:avLst/>
          </a:prstGeom>
          <a:solidFill>
            <a:srgbClr val="EA580C"/>
          </a:solidFill>
          <a:ln w="12700">
            <a:solidFill>
              <a:srgbClr val="EA580C"/>
            </a:solidFill>
            <a:prstDash val="solid"/>
          </a:ln>
        </p:spPr>
      </p:sp>
      <p:sp>
        <p:nvSpPr>
          <p:cNvPr id="13" name="Text 10"/>
          <p:cNvSpPr txBox="1"/>
          <p:nvPr/>
        </p:nvSpPr>
        <p:spPr>
          <a:xfrm>
            <a:off x="2423160" y="5550408"/>
            <a:ext cx="1188720" cy="329184"/>
          </a:xfrm>
          <a:prstGeom prst="rect">
            <a:avLst/>
          </a:prstGeom>
          <a:noFill/>
          <a:ln/>
        </p:spPr>
        <p:txBody>
          <a:bodyPr wrap="square" lIns="0" tIns="0" rIns="0" bIns="0" rtlCol="0" anchor="t"/>
          <a:lstStyle/>
          <a:p>
            <a:pPr marL="0" indent="0" algn="r" rtl="1">
              <a:buNone/>
            </a:pPr>
            <a:r>
              <a:rPr lang="fa-IR" altLang="en-US" sz="1100" dirty="0">
                <a:solidFill>
                  <a:srgbClr val="475569"/>
                </a:solidFill>
                <a:latin typeface="Vazirmatn" pitchFamily="34" charset="0"/>
                <a:ea typeface="Vazirmatn" pitchFamily="34" charset="-122"/>
                <a:cs typeface="Vazirmatn" pitchFamily="34" charset="-120"/>
              </a:rPr>
              <a:t>نیازمند الگوی درست</a:t>
            </a:r>
            <a:endParaRPr lang="fa-IR" sz="1100" dirty="0"/>
          </a:p>
        </p:txBody>
      </p:sp>
      <p:sp>
        <p:nvSpPr>
          <p:cNvPr id="14" name="Shape 11"/>
          <p:cNvSpPr/>
          <p:nvPr/>
        </p:nvSpPr>
        <p:spPr>
          <a:xfrm>
            <a:off x="5257800" y="5623560"/>
            <a:ext cx="182880" cy="182880"/>
          </a:xfrm>
          <a:prstGeom prst="ellipse">
            <a:avLst/>
          </a:prstGeom>
          <a:solidFill>
            <a:srgbClr val="94A3B8"/>
          </a:solidFill>
          <a:ln w="12700">
            <a:solidFill>
              <a:srgbClr val="94A3B8"/>
            </a:solidFill>
            <a:prstDash val="solid"/>
          </a:ln>
        </p:spPr>
      </p:sp>
      <p:sp>
        <p:nvSpPr>
          <p:cNvPr id="15" name="Text 12"/>
          <p:cNvSpPr txBox="1"/>
          <p:nvPr/>
        </p:nvSpPr>
        <p:spPr>
          <a:xfrm>
            <a:off x="4023360" y="5550408"/>
            <a:ext cx="1188720" cy="329184"/>
          </a:xfrm>
          <a:prstGeom prst="rect">
            <a:avLst/>
          </a:prstGeom>
          <a:noFill/>
          <a:ln/>
        </p:spPr>
        <p:txBody>
          <a:bodyPr wrap="square" lIns="0" tIns="0" rIns="0" bIns="0" rtlCol="0" anchor="t"/>
          <a:lstStyle/>
          <a:p>
            <a:pPr marL="0" indent="0" algn="r" rtl="1">
              <a:buNone/>
            </a:pPr>
            <a:r>
              <a:rPr lang="fa-IR" altLang="en-US" sz="1100" dirty="0">
                <a:solidFill>
                  <a:srgbClr val="475569"/>
                </a:solidFill>
                <a:latin typeface="Vazirmatn" pitchFamily="34" charset="0"/>
                <a:ea typeface="Vazirmatn" pitchFamily="34" charset="-122"/>
                <a:cs typeface="Vazirmatn" pitchFamily="34" charset="-120"/>
              </a:rPr>
              <a:t>بی‌تأثیر</a:t>
            </a:r>
            <a:endParaRPr lang="fa-IR" sz="1100" dirty="0"/>
          </a:p>
        </p:txBody>
      </p:sp>
      <p:sp>
        <p:nvSpPr>
          <p:cNvPr id="16" name="Shape 13"/>
          <p:cNvSpPr/>
          <p:nvPr/>
        </p:nvSpPr>
        <p:spPr>
          <a:xfrm>
            <a:off x="6035040" y="1600200"/>
            <a:ext cx="5608015" cy="960120"/>
          </a:xfrm>
          <a:prstGeom prst="roundRect">
            <a:avLst>
              <a:gd name="adj" fmla="val 11429"/>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17" name="Text 14"/>
          <p:cNvSpPr txBox="1"/>
          <p:nvPr/>
        </p:nvSpPr>
        <p:spPr>
          <a:xfrm>
            <a:off x="10408615" y="1600200"/>
            <a:ext cx="1051560" cy="960120"/>
          </a:xfrm>
          <a:prstGeom prst="rect">
            <a:avLst/>
          </a:prstGeom>
          <a:noFill/>
          <a:ln/>
        </p:spPr>
        <p:txBody>
          <a:bodyPr wrap="square" lIns="0" tIns="0" rIns="0" bIns="0" rtlCol="0" anchor="ctr"/>
          <a:lstStyle/>
          <a:p>
            <a:pPr marL="0" indent="0" algn="ctr" rtl="1">
              <a:buNone/>
            </a:pPr>
            <a:r>
              <a:rPr lang="fa-IR" altLang="en-US" sz="3000" b="1" dirty="0">
                <a:solidFill>
                  <a:srgbClr val="0D9488"/>
                </a:solidFill>
                <a:latin typeface="Vazirmatn" pitchFamily="34" charset="0"/>
                <a:ea typeface="Vazirmatn" pitchFamily="34" charset="-122"/>
                <a:cs typeface="Vazirmatn" pitchFamily="34" charset="-120"/>
              </a:rPr>
              <a:t>۸۲</a:t>
            </a:r>
            <a:endParaRPr lang="fa-IR" sz="3000" dirty="0"/>
          </a:p>
        </p:txBody>
      </p:sp>
      <p:sp>
        <p:nvSpPr>
          <p:cNvPr id="18" name="Text 15"/>
          <p:cNvSpPr txBox="1"/>
          <p:nvPr/>
        </p:nvSpPr>
        <p:spPr>
          <a:xfrm>
            <a:off x="6263640" y="1709928"/>
            <a:ext cx="4053535" cy="365760"/>
          </a:xfrm>
          <a:prstGeom prst="rect">
            <a:avLst/>
          </a:prstGeom>
          <a:noFill/>
          <a:ln/>
        </p:spPr>
        <p:txBody>
          <a:bodyPr wrap="square" lIns="0" tIns="0" rIns="0" bIns="0" rtlCol="0" anchor="t"/>
          <a:lstStyle/>
          <a:p>
            <a:pPr marL="0" indent="0" algn="r" rtl="1">
              <a:buNone/>
            </a:pPr>
            <a:r>
              <a:rPr lang="fa-IR" altLang="en-US" sz="1600" b="1" dirty="0">
                <a:solidFill>
                  <a:srgbClr val="0F172A"/>
                </a:solidFill>
                <a:latin typeface="Vazirmatn" pitchFamily="34" charset="0"/>
                <a:ea typeface="Vazirmatn" pitchFamily="34" charset="-122"/>
                <a:cs typeface="Vazirmatn" pitchFamily="34" charset="-120"/>
              </a:rPr>
              <a:t>به‌طور خودکار حذف می‌شوند</a:t>
            </a:r>
            <a:endParaRPr lang="fa-IR" sz="1600" dirty="0"/>
          </a:p>
        </p:txBody>
      </p:sp>
      <p:sp>
        <p:nvSpPr>
          <p:cNvPr id="19" name="Text 16"/>
          <p:cNvSpPr txBox="1"/>
          <p:nvPr/>
        </p:nvSpPr>
        <p:spPr>
          <a:xfrm>
            <a:off x="6263640" y="2103120"/>
            <a:ext cx="4053535" cy="365760"/>
          </a:xfrm>
          <a:prstGeom prst="rect">
            <a:avLst/>
          </a:prstGeom>
          <a:noFill/>
          <a:ln/>
        </p:spPr>
        <p:txBody>
          <a:bodyPr wrap="square" lIns="0" tIns="0" rIns="0" bIns="0" rtlCol="0" anchor="t"/>
          <a:lstStyle/>
          <a:p>
            <a:pPr marL="0" indent="0" algn="r" rtl="1">
              <a:buNone/>
            </a:pPr>
            <a:r>
              <a:rPr lang="fa-IR" altLang="en-US" sz="1300" dirty="0">
                <a:solidFill>
                  <a:srgbClr val="475569"/>
                </a:solidFill>
                <a:latin typeface="Vazirmatn" pitchFamily="34" charset="0"/>
                <a:ea typeface="Vazirmatn" pitchFamily="34" charset="-122"/>
                <a:cs typeface="Vazirmatn" pitchFamily="34" charset="-120"/>
              </a:rPr>
              <a:t>خطاهای حافظه: UAF، سرریز، اشاره‌گر null</a:t>
            </a:r>
            <a:endParaRPr lang="fa-IR" sz="1300" dirty="0"/>
          </a:p>
        </p:txBody>
      </p:sp>
      <p:sp>
        <p:nvSpPr>
          <p:cNvPr id="20" name="Shape 17"/>
          <p:cNvSpPr/>
          <p:nvPr/>
        </p:nvSpPr>
        <p:spPr>
          <a:xfrm>
            <a:off x="6035040" y="2697480"/>
            <a:ext cx="5608015" cy="960120"/>
          </a:xfrm>
          <a:prstGeom prst="roundRect">
            <a:avLst>
              <a:gd name="adj" fmla="val 11429"/>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21" name="Text 18"/>
          <p:cNvSpPr txBox="1"/>
          <p:nvPr/>
        </p:nvSpPr>
        <p:spPr>
          <a:xfrm>
            <a:off x="10408615" y="2697480"/>
            <a:ext cx="1051560" cy="960120"/>
          </a:xfrm>
          <a:prstGeom prst="rect">
            <a:avLst/>
          </a:prstGeom>
          <a:noFill/>
          <a:ln/>
        </p:spPr>
        <p:txBody>
          <a:bodyPr wrap="square" lIns="0" tIns="0" rIns="0" bIns="0" rtlCol="0" anchor="ctr"/>
          <a:lstStyle/>
          <a:p>
            <a:pPr marL="0" indent="0" algn="ctr" rtl="1">
              <a:buNone/>
            </a:pPr>
            <a:r>
              <a:rPr lang="fa-IR" altLang="en-US" sz="3000" b="1" dirty="0">
                <a:solidFill>
                  <a:srgbClr val="EA580C"/>
                </a:solidFill>
                <a:latin typeface="Vazirmatn" pitchFamily="34" charset="0"/>
                <a:ea typeface="Vazirmatn" pitchFamily="34" charset="-122"/>
                <a:cs typeface="Vazirmatn" pitchFamily="34" charset="-120"/>
              </a:rPr>
              <a:t>۱۱۳</a:t>
            </a:r>
            <a:endParaRPr lang="fa-IR" sz="3000" dirty="0"/>
          </a:p>
        </p:txBody>
      </p:sp>
      <p:sp>
        <p:nvSpPr>
          <p:cNvPr id="22" name="Text 19"/>
          <p:cNvSpPr txBox="1"/>
          <p:nvPr/>
        </p:nvSpPr>
        <p:spPr>
          <a:xfrm>
            <a:off x="6263640" y="2807208"/>
            <a:ext cx="4053535" cy="365760"/>
          </a:xfrm>
          <a:prstGeom prst="rect">
            <a:avLst/>
          </a:prstGeom>
          <a:noFill/>
          <a:ln/>
        </p:spPr>
        <p:txBody>
          <a:bodyPr wrap="square" lIns="0" tIns="0" rIns="0" bIns="0" rtlCol="0" anchor="t"/>
          <a:lstStyle/>
          <a:p>
            <a:pPr marL="0" indent="0" algn="r" rtl="1">
              <a:buNone/>
            </a:pPr>
            <a:r>
              <a:rPr lang="fa-IR" altLang="en-US" sz="1600" b="1" dirty="0">
                <a:solidFill>
                  <a:srgbClr val="0F172A"/>
                </a:solidFill>
                <a:latin typeface="Vazirmatn" pitchFamily="34" charset="0"/>
                <a:ea typeface="Vazirmatn" pitchFamily="34" charset="-122"/>
                <a:cs typeface="Vazirmatn" pitchFamily="34" charset="-120"/>
              </a:rPr>
              <a:t>فقط با انضباط برنامه‌نویس</a:t>
            </a:r>
            <a:endParaRPr lang="fa-IR" sz="1600" dirty="0"/>
          </a:p>
        </p:txBody>
      </p:sp>
      <p:sp>
        <p:nvSpPr>
          <p:cNvPr id="23" name="Text 20"/>
          <p:cNvSpPr txBox="1"/>
          <p:nvPr/>
        </p:nvSpPr>
        <p:spPr>
          <a:xfrm>
            <a:off x="6263640" y="3200400"/>
            <a:ext cx="4053535" cy="365760"/>
          </a:xfrm>
          <a:prstGeom prst="rect">
            <a:avLst/>
          </a:prstGeom>
          <a:noFill/>
          <a:ln/>
        </p:spPr>
        <p:txBody>
          <a:bodyPr wrap="square" lIns="0" tIns="0" rIns="0" bIns="0" rtlCol="0" anchor="t"/>
          <a:lstStyle/>
          <a:p>
            <a:pPr marL="0" indent="0" algn="r" rtl="1">
              <a:buNone/>
            </a:pPr>
            <a:r>
              <a:rPr lang="fa-IR" altLang="en-US" sz="1300" dirty="0">
                <a:solidFill>
                  <a:srgbClr val="475569"/>
                </a:solidFill>
                <a:latin typeface="Vazirmatn" pitchFamily="34" charset="0"/>
                <a:ea typeface="Vazirmatn" pitchFamily="34" charset="-122"/>
                <a:cs typeface="Vazirmatn" pitchFamily="34" charset="-120"/>
              </a:rPr>
              <a:t>بررسی سرریز عدد صحیح، Drop درست، شمارش ارجاع</a:t>
            </a:r>
            <a:endParaRPr lang="fa-IR" sz="1300" dirty="0"/>
          </a:p>
        </p:txBody>
      </p:sp>
      <p:sp>
        <p:nvSpPr>
          <p:cNvPr id="24" name="Shape 21"/>
          <p:cNvSpPr/>
          <p:nvPr/>
        </p:nvSpPr>
        <p:spPr>
          <a:xfrm>
            <a:off x="6035040" y="3794760"/>
            <a:ext cx="5608015" cy="960120"/>
          </a:xfrm>
          <a:prstGeom prst="roundRect">
            <a:avLst>
              <a:gd name="adj" fmla="val 11429"/>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25" name="Text 22"/>
          <p:cNvSpPr txBox="1"/>
          <p:nvPr/>
        </p:nvSpPr>
        <p:spPr>
          <a:xfrm>
            <a:off x="10408615" y="3794760"/>
            <a:ext cx="1051560" cy="960120"/>
          </a:xfrm>
          <a:prstGeom prst="rect">
            <a:avLst/>
          </a:prstGeom>
          <a:noFill/>
          <a:ln/>
        </p:spPr>
        <p:txBody>
          <a:bodyPr wrap="square" lIns="0" tIns="0" rIns="0" bIns="0" rtlCol="0" anchor="ctr"/>
          <a:lstStyle/>
          <a:p>
            <a:pPr marL="0" indent="0" algn="ctr" rtl="1">
              <a:buNone/>
            </a:pPr>
            <a:r>
              <a:rPr lang="fa-IR" altLang="en-US" sz="3000" b="1" dirty="0">
                <a:solidFill>
                  <a:srgbClr val="475569"/>
                </a:solidFill>
                <a:latin typeface="Vazirmatn" pitchFamily="34" charset="0"/>
                <a:ea typeface="Vazirmatn" pitchFamily="34" charset="-122"/>
                <a:cs typeface="Vazirmatn" pitchFamily="34" charset="-120"/>
              </a:rPr>
              <a:t>۴۵</a:t>
            </a:r>
            <a:endParaRPr lang="fa-IR" sz="3000" dirty="0"/>
          </a:p>
        </p:txBody>
      </p:sp>
      <p:sp>
        <p:nvSpPr>
          <p:cNvPr id="26" name="Text 23"/>
          <p:cNvSpPr txBox="1"/>
          <p:nvPr/>
        </p:nvSpPr>
        <p:spPr>
          <a:xfrm>
            <a:off x="6263640" y="3904488"/>
            <a:ext cx="4053535" cy="365760"/>
          </a:xfrm>
          <a:prstGeom prst="rect">
            <a:avLst/>
          </a:prstGeom>
          <a:noFill/>
          <a:ln/>
        </p:spPr>
        <p:txBody>
          <a:bodyPr wrap="square" lIns="0" tIns="0" rIns="0" bIns="0" rtlCol="0" anchor="t"/>
          <a:lstStyle/>
          <a:p>
            <a:pPr marL="0" indent="0" algn="r" rtl="1">
              <a:buNone/>
            </a:pPr>
            <a:r>
              <a:rPr lang="fa-IR" altLang="en-US" sz="1600" b="1" dirty="0">
                <a:solidFill>
                  <a:srgbClr val="0F172A"/>
                </a:solidFill>
                <a:latin typeface="Vazirmatn" pitchFamily="34" charset="0"/>
                <a:ea typeface="Vazirmatn" pitchFamily="34" charset="-122"/>
                <a:cs typeface="Vazirmatn" pitchFamily="34" charset="-120"/>
              </a:rPr>
              <a:t>تحت تأثیر Rust نیستند</a:t>
            </a:r>
            <a:endParaRPr lang="fa-IR" sz="1600" dirty="0"/>
          </a:p>
        </p:txBody>
      </p:sp>
      <p:sp>
        <p:nvSpPr>
          <p:cNvPr id="27" name="Text 24"/>
          <p:cNvSpPr txBox="1"/>
          <p:nvPr/>
        </p:nvSpPr>
        <p:spPr>
          <a:xfrm>
            <a:off x="6263640" y="4297680"/>
            <a:ext cx="4053535" cy="365760"/>
          </a:xfrm>
          <a:prstGeom prst="rect">
            <a:avLst/>
          </a:prstGeom>
          <a:noFill/>
          <a:ln/>
        </p:spPr>
        <p:txBody>
          <a:bodyPr wrap="square" lIns="0" tIns="0" rIns="0" bIns="0" rtlCol="0" anchor="t"/>
          <a:lstStyle/>
          <a:p>
            <a:pPr marL="0" indent="0" algn="r" rtl="1">
              <a:buNone/>
            </a:pPr>
            <a:r>
              <a:rPr lang="fa-IR" altLang="en-US" sz="1300" dirty="0">
                <a:solidFill>
                  <a:srgbClr val="475569"/>
                </a:solidFill>
                <a:latin typeface="Vazirmatn" pitchFamily="34" charset="0"/>
                <a:ea typeface="Vazirmatn" pitchFamily="34" charset="-122"/>
                <a:cs typeface="Vazirmatn" pitchFamily="34" charset="-120"/>
              </a:rPr>
              <a:t>نقض پروتکل و خطاهای منطقی</a:t>
            </a:r>
            <a:endParaRPr lang="fa-IR" sz="1300" dirty="0"/>
          </a:p>
        </p:txBody>
      </p:sp>
      <p:sp>
        <p:nvSpPr>
          <p:cNvPr id="28" name="Shape 25"/>
          <p:cNvSpPr/>
          <p:nvPr/>
        </p:nvSpPr>
        <p:spPr>
          <a:xfrm>
            <a:off x="6035040" y="4937760"/>
            <a:ext cx="5608015" cy="1188720"/>
          </a:xfrm>
          <a:prstGeom prst="roundRect">
            <a:avLst>
              <a:gd name="adj" fmla="val 9231"/>
            </a:avLst>
          </a:prstGeom>
          <a:solidFill>
            <a:srgbClr val="FFEDD5"/>
          </a:solidFill>
          <a:ln w="12700">
            <a:solidFill>
              <a:srgbClr val="FFEDD5"/>
            </a:solidFill>
            <a:prstDash val="solid"/>
          </a:ln>
          <a:effectLst>
            <a:outerShdw blurRad="101600" dist="25400" dir="5400000" algn="bl" rotWithShape="0">
              <a:srgbClr val="0F172A">
                <a:alpha val="8000"/>
              </a:srgbClr>
            </a:outerShdw>
          </a:effectLst>
        </p:spPr>
      </p:sp>
      <p:sp>
        <p:nvSpPr>
          <p:cNvPr id="29" name="Text 26"/>
          <p:cNvSpPr txBox="1"/>
          <p:nvPr/>
        </p:nvSpPr>
        <p:spPr>
          <a:xfrm>
            <a:off x="6309360" y="4937760"/>
            <a:ext cx="5059375" cy="1188720"/>
          </a:xfrm>
          <a:prstGeom prst="rect">
            <a:avLst/>
          </a:prstGeom>
          <a:noFill/>
          <a:ln/>
        </p:spPr>
        <p:txBody>
          <a:bodyPr wrap="square" lIns="0" tIns="0" rIns="0" bIns="0" rtlCol="0" anchor="ctr"/>
          <a:lstStyle/>
          <a:p>
            <a:pPr marL="0" indent="0" algn="r" rtl="1">
              <a:buNone/>
            </a:pPr>
            <a:r>
              <a:rPr lang="fa-IR" altLang="en-US" sz="1400" b="1" dirty="0">
                <a:solidFill>
                  <a:srgbClr val="9A3412"/>
                </a:solidFill>
                <a:latin typeface="Vazirmatn" pitchFamily="34" charset="0"/>
                <a:ea typeface="Vazirmatn" pitchFamily="34" charset="-122"/>
                <a:cs typeface="Vazirmatn" pitchFamily="34" charset="-120"/>
              </a:rPr>
              <a:t>مرز با C پر از کد unsafe است (Binder، NVMe، AGX)؛ امنیت کل سیستم به همین مرز وابسته است. سربار اجرایی تقریباً صفر، هزینه‌ی اصلی بازنویسی است.</a:t>
            </a:r>
            <a:endParaRPr lang="fa-IR" sz="1400" dirty="0"/>
          </a:p>
        </p:txBody>
      </p:sp>
      <p:sp>
        <p:nvSpPr>
          <p:cNvPr id="30"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4A3B8"/>
                </a:solidFill>
                <a:latin typeface="Vazirmatn"/>
                <a:ea typeface="Vazirmatn"/>
                <a:cs typeface="Vazirmatn"/>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47472"/>
            <a:ext cx="11094415" cy="640080"/>
          </a:xfrm>
          <a:prstGeom prst="rect">
            <a:avLst/>
          </a:prstGeom>
          <a:noFill/>
          <a:ln/>
        </p:spPr>
        <p:txBody>
          <a:bodyPr wrap="square" lIns="0" tIns="0" rIns="0" bIns="0" rtlCol="0" anchor="ctr"/>
          <a:lstStyle/>
          <a:p>
            <a:pPr marL="0" indent="0" algn="r" rtl="1">
              <a:buNone/>
            </a:pPr>
            <a:r>
              <a:rPr lang="fa-IR" altLang="en-US" sz="3000" b="1" dirty="0">
                <a:solidFill>
                  <a:srgbClr val="0F172A"/>
                </a:solidFill>
                <a:latin typeface="Vazirmatn" pitchFamily="34" charset="0"/>
                <a:ea typeface="Vazirmatn" pitchFamily="34" charset="-122"/>
                <a:cs typeface="Vazirmatn" pitchFamily="34" charset="-120"/>
              </a:rPr>
              <a:t>مقایسه در سه معیار</a:t>
            </a:r>
            <a:endParaRPr lang="fa-IR" sz="3000" dirty="0"/>
          </a:p>
        </p:txBody>
      </p:sp>
      <p:sp>
        <p:nvSpPr>
          <p:cNvPr id="3" name="Text 1"/>
          <p:cNvSpPr txBox="1"/>
          <p:nvPr/>
        </p:nvSpPr>
        <p:spPr>
          <a:xfrm>
            <a:off x="548640" y="969264"/>
            <a:ext cx="8168335" cy="365760"/>
          </a:xfrm>
          <a:prstGeom prst="rect">
            <a:avLst/>
          </a:prstGeom>
          <a:noFill/>
          <a:ln/>
        </p:spPr>
        <p:txBody>
          <a:bodyPr wrap="square" lIns="0" tIns="0" rIns="0" bIns="0" rtlCol="0" anchor="ctr"/>
          <a:lstStyle/>
          <a:p>
            <a:pPr marL="0" indent="0" algn="r" rtl="1">
              <a:buNone/>
            </a:pPr>
            <a:r>
              <a:rPr lang="fa-IR" altLang="en-US" sz="1500" dirty="0">
                <a:solidFill>
                  <a:srgbClr val="475569"/>
                </a:solidFill>
                <a:latin typeface="Vazirmatn" pitchFamily="34" charset="0"/>
                <a:ea typeface="Vazirmatn" pitchFamily="34" charset="-122"/>
                <a:cs typeface="Vazirmatn" pitchFamily="34" charset="-120"/>
              </a:rPr>
              <a:t>ارزیابی کیفی ما از هر رویکرد · ●●● یعنی بهترین</a:t>
            </a:r>
            <a:endParaRPr lang="fa-IR" sz="1500" dirty="0"/>
          </a:p>
        </p:txBody>
      </p:sp>
      <p:sp>
        <p:nvSpPr>
          <p:cNvPr id="4" name="Text 2"/>
          <p:cNvSpPr txBox="1"/>
          <p:nvPr/>
        </p:nvSpPr>
        <p:spPr>
          <a:xfrm>
            <a:off x="8899855" y="1600200"/>
            <a:ext cx="2743200" cy="411480"/>
          </a:xfrm>
          <a:prstGeom prst="rect">
            <a:avLst/>
          </a:prstGeom>
          <a:noFill/>
          <a:ln/>
        </p:spPr>
        <p:txBody>
          <a:bodyPr wrap="square" lIns="0" tIns="0" rIns="0" bIns="0" rtlCol="0" anchor="ctr"/>
          <a:lstStyle/>
          <a:p>
            <a:pPr marL="0" indent="0" algn="r" rtl="1">
              <a:buNone/>
            </a:pPr>
            <a:r>
              <a:rPr lang="fa-IR" altLang="en-US" sz="1400" b="1" dirty="0">
                <a:solidFill>
                  <a:srgbClr val="475569"/>
                </a:solidFill>
                <a:latin typeface="Vazirmatn" pitchFamily="34" charset="0"/>
                <a:ea typeface="Vazirmatn" pitchFamily="34" charset="-122"/>
                <a:cs typeface="Vazirmatn" pitchFamily="34" charset="-120"/>
              </a:rPr>
              <a:t>رویکرد</a:t>
            </a:r>
            <a:endParaRPr lang="fa-IR" sz="1400" dirty="0"/>
          </a:p>
        </p:txBody>
      </p:sp>
      <p:sp>
        <p:nvSpPr>
          <p:cNvPr id="5" name="Text 3"/>
          <p:cNvSpPr txBox="1"/>
          <p:nvPr/>
        </p:nvSpPr>
        <p:spPr>
          <a:xfrm>
            <a:off x="6355080" y="1600200"/>
            <a:ext cx="1188720" cy="411480"/>
          </a:xfrm>
          <a:prstGeom prst="rect">
            <a:avLst/>
          </a:prstGeom>
          <a:noFill/>
          <a:ln/>
        </p:spPr>
        <p:txBody>
          <a:bodyPr wrap="square" lIns="0" tIns="0" rIns="0" bIns="0" rtlCol="0" anchor="ctr"/>
          <a:lstStyle/>
          <a:p>
            <a:pPr marL="0" indent="0" algn="ctr" rtl="1">
              <a:buNone/>
            </a:pPr>
            <a:r>
              <a:rPr lang="fa-IR" altLang="en-US" sz="1400" b="1" dirty="0">
                <a:solidFill>
                  <a:srgbClr val="475569"/>
                </a:solidFill>
                <a:latin typeface="Vazirmatn" pitchFamily="34" charset="0"/>
                <a:ea typeface="Vazirmatn" pitchFamily="34" charset="-122"/>
                <a:cs typeface="Vazirmatn" pitchFamily="34" charset="-120"/>
              </a:rPr>
              <a:t>امنیت</a:t>
            </a:r>
            <a:endParaRPr lang="fa-IR" sz="1400" dirty="0"/>
          </a:p>
        </p:txBody>
      </p:sp>
      <p:sp>
        <p:nvSpPr>
          <p:cNvPr id="6" name="Text 4"/>
          <p:cNvSpPr txBox="1"/>
          <p:nvPr/>
        </p:nvSpPr>
        <p:spPr>
          <a:xfrm>
            <a:off x="5074920" y="1600200"/>
            <a:ext cx="1188720" cy="411480"/>
          </a:xfrm>
          <a:prstGeom prst="rect">
            <a:avLst/>
          </a:prstGeom>
          <a:noFill/>
          <a:ln/>
        </p:spPr>
        <p:txBody>
          <a:bodyPr wrap="square" lIns="0" tIns="0" rIns="0" bIns="0" rtlCol="0" anchor="ctr"/>
          <a:lstStyle/>
          <a:p>
            <a:pPr marL="0" indent="0" algn="ctr" rtl="1">
              <a:buNone/>
            </a:pPr>
            <a:r>
              <a:rPr lang="fa-IR" altLang="en-US" sz="1400" b="1" dirty="0">
                <a:solidFill>
                  <a:srgbClr val="475569"/>
                </a:solidFill>
                <a:latin typeface="Vazirmatn" pitchFamily="34" charset="0"/>
                <a:ea typeface="Vazirmatn" pitchFamily="34" charset="-122"/>
                <a:cs typeface="Vazirmatn" pitchFamily="34" charset="-120"/>
              </a:rPr>
              <a:t>سربار کم</a:t>
            </a:r>
            <a:endParaRPr lang="fa-IR" sz="1400" dirty="0"/>
          </a:p>
        </p:txBody>
      </p:sp>
      <p:sp>
        <p:nvSpPr>
          <p:cNvPr id="7" name="Text 5"/>
          <p:cNvSpPr txBox="1"/>
          <p:nvPr/>
        </p:nvSpPr>
        <p:spPr>
          <a:xfrm>
            <a:off x="3794760" y="1600200"/>
            <a:ext cx="1188720" cy="411480"/>
          </a:xfrm>
          <a:prstGeom prst="rect">
            <a:avLst/>
          </a:prstGeom>
          <a:noFill/>
          <a:ln/>
        </p:spPr>
        <p:txBody>
          <a:bodyPr wrap="square" lIns="0" tIns="0" rIns="0" bIns="0" rtlCol="0" anchor="ctr"/>
          <a:lstStyle/>
          <a:p>
            <a:pPr marL="0" indent="0" algn="ctr" rtl="1">
              <a:buNone/>
            </a:pPr>
            <a:r>
              <a:rPr lang="fa-IR" altLang="en-US" sz="1400" b="1" dirty="0">
                <a:solidFill>
                  <a:srgbClr val="475569"/>
                </a:solidFill>
                <a:latin typeface="Vazirmatn" pitchFamily="34" charset="0"/>
                <a:ea typeface="Vazirmatn" pitchFamily="34" charset="-122"/>
                <a:cs typeface="Vazirmatn" pitchFamily="34" charset="-120"/>
              </a:rPr>
              <a:t>استقرار</a:t>
            </a:r>
            <a:endParaRPr lang="fa-IR" sz="1400" dirty="0"/>
          </a:p>
        </p:txBody>
      </p:sp>
      <p:sp>
        <p:nvSpPr>
          <p:cNvPr id="8" name="Text 6"/>
          <p:cNvSpPr txBox="1"/>
          <p:nvPr/>
        </p:nvSpPr>
        <p:spPr>
          <a:xfrm>
            <a:off x="548640" y="1600200"/>
            <a:ext cx="3154680" cy="411480"/>
          </a:xfrm>
          <a:prstGeom prst="rect">
            <a:avLst/>
          </a:prstGeom>
          <a:noFill/>
          <a:ln/>
        </p:spPr>
        <p:txBody>
          <a:bodyPr wrap="square" lIns="0" tIns="0" rIns="0" bIns="0" rtlCol="0" anchor="ctr"/>
          <a:lstStyle/>
          <a:p>
            <a:pPr marL="0" indent="0" algn="r" rtl="1">
              <a:buNone/>
            </a:pPr>
            <a:r>
              <a:rPr lang="fa-IR" altLang="en-US" sz="1400" b="1" dirty="0">
                <a:solidFill>
                  <a:srgbClr val="475569"/>
                </a:solidFill>
                <a:latin typeface="Vazirmatn" pitchFamily="34" charset="0"/>
                <a:ea typeface="Vazirmatn" pitchFamily="34" charset="-122"/>
                <a:cs typeface="Vazirmatn" pitchFamily="34" charset="-120"/>
              </a:rPr>
              <a:t>محدودیت اصلی</a:t>
            </a:r>
            <a:endParaRPr lang="fa-IR" sz="1400" dirty="0"/>
          </a:p>
        </p:txBody>
      </p:sp>
      <p:sp>
        <p:nvSpPr>
          <p:cNvPr id="9" name="Shape 7"/>
          <p:cNvSpPr/>
          <p:nvPr/>
        </p:nvSpPr>
        <p:spPr>
          <a:xfrm>
            <a:off x="548640" y="2103120"/>
            <a:ext cx="11094415" cy="676656"/>
          </a:xfrm>
          <a:prstGeom prst="roundRect">
            <a:avLst>
              <a:gd name="adj" fmla="val 16216"/>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10" name="Shape 8"/>
          <p:cNvSpPr/>
          <p:nvPr/>
        </p:nvSpPr>
        <p:spPr>
          <a:xfrm>
            <a:off x="11231575" y="2322576"/>
            <a:ext cx="237744" cy="237744"/>
          </a:xfrm>
          <a:prstGeom prst="ellipse">
            <a:avLst/>
          </a:prstGeom>
          <a:solidFill>
            <a:srgbClr val="E11D48"/>
          </a:solidFill>
          <a:ln w="12700">
            <a:solidFill>
              <a:srgbClr val="E11D48"/>
            </a:solidFill>
            <a:prstDash val="solid"/>
          </a:ln>
        </p:spPr>
      </p:sp>
      <p:sp>
        <p:nvSpPr>
          <p:cNvPr id="11" name="Text 9"/>
          <p:cNvSpPr txBox="1"/>
          <p:nvPr/>
        </p:nvSpPr>
        <p:spPr>
          <a:xfrm>
            <a:off x="8899855" y="2157984"/>
            <a:ext cx="2240280" cy="329184"/>
          </a:xfrm>
          <a:prstGeom prst="rect">
            <a:avLst/>
          </a:prstGeom>
          <a:noFill/>
          <a:ln/>
        </p:spPr>
        <p:txBody>
          <a:bodyPr wrap="square" lIns="0" tIns="0" rIns="0" bIns="0" rtlCol="0" anchor="t"/>
          <a:lstStyle/>
          <a:p>
            <a:pPr marL="0" indent="0" algn="r" rtl="1">
              <a:buNone/>
            </a:pPr>
            <a:r>
              <a:rPr lang="fa-IR" altLang="en-US" sz="1600" b="1" dirty="0">
                <a:solidFill>
                  <a:srgbClr val="0F172A"/>
                </a:solidFill>
                <a:latin typeface="Vazirmatn" pitchFamily="34" charset="0"/>
                <a:ea typeface="Vazirmatn" pitchFamily="34" charset="-122"/>
                <a:cs typeface="Vazirmatn" pitchFamily="34" charset="-120"/>
              </a:rPr>
              <a:t>دفاع RetSpill</a:t>
            </a:r>
            <a:endParaRPr lang="fa-IR" sz="1600" dirty="0"/>
          </a:p>
        </p:txBody>
      </p:sp>
      <p:sp>
        <p:nvSpPr>
          <p:cNvPr id="12" name="Text 10"/>
          <p:cNvSpPr txBox="1"/>
          <p:nvPr/>
        </p:nvSpPr>
        <p:spPr>
          <a:xfrm>
            <a:off x="8899855" y="2468880"/>
            <a:ext cx="2240280" cy="274320"/>
          </a:xfrm>
          <a:prstGeom prst="rect">
            <a:avLst/>
          </a:prstGeom>
          <a:noFill/>
          <a:ln/>
        </p:spPr>
        <p:txBody>
          <a:bodyPr wrap="square" lIns="0" tIns="0" rIns="0" bIns="0" rtlCol="0" anchor="t"/>
          <a:lstStyle/>
          <a:p>
            <a:pPr marL="0" indent="0" algn="r" rtl="1">
              <a:buNone/>
            </a:pPr>
            <a:r>
              <a:rPr lang="fa-IR" altLang="en-US" sz="1100" dirty="0">
                <a:solidFill>
                  <a:srgbClr val="475569"/>
                </a:solidFill>
                <a:latin typeface="Vazirmatn" pitchFamily="34" charset="0"/>
                <a:ea typeface="Vazirmatn" pitchFamily="34" charset="-122"/>
                <a:cs typeface="Vazirmatn" pitchFamily="34" charset="-120"/>
              </a:rPr>
              <a:t>سخت‌سازی پشته</a:t>
            </a:r>
            <a:endParaRPr lang="fa-IR" sz="1100" dirty="0"/>
          </a:p>
        </p:txBody>
      </p:sp>
      <p:sp>
        <p:nvSpPr>
          <p:cNvPr id="13" name="Shape 11"/>
          <p:cNvSpPr/>
          <p:nvPr/>
        </p:nvSpPr>
        <p:spPr>
          <a:xfrm>
            <a:off x="6601968" y="2331720"/>
            <a:ext cx="201168" cy="201168"/>
          </a:xfrm>
          <a:prstGeom prst="ellipse">
            <a:avLst/>
          </a:prstGeom>
          <a:solidFill>
            <a:srgbClr val="E11D48"/>
          </a:solidFill>
          <a:ln w="15875">
            <a:solidFill>
              <a:srgbClr val="E11D48"/>
            </a:solidFill>
            <a:prstDash val="solid"/>
          </a:ln>
        </p:spPr>
      </p:sp>
      <p:sp>
        <p:nvSpPr>
          <p:cNvPr id="14" name="Shape 12"/>
          <p:cNvSpPr/>
          <p:nvPr/>
        </p:nvSpPr>
        <p:spPr>
          <a:xfrm>
            <a:off x="6876288" y="2331720"/>
            <a:ext cx="201168" cy="201168"/>
          </a:xfrm>
          <a:prstGeom prst="ellipse">
            <a:avLst/>
          </a:prstGeom>
          <a:solidFill>
            <a:srgbClr val="E11D48"/>
          </a:solidFill>
          <a:ln w="15875">
            <a:solidFill>
              <a:srgbClr val="E11D48"/>
            </a:solidFill>
            <a:prstDash val="solid"/>
          </a:ln>
        </p:spPr>
      </p:sp>
      <p:sp>
        <p:nvSpPr>
          <p:cNvPr id="15" name="Shape 13"/>
          <p:cNvSpPr/>
          <p:nvPr/>
        </p:nvSpPr>
        <p:spPr>
          <a:xfrm>
            <a:off x="7150608" y="2331720"/>
            <a:ext cx="201168" cy="201168"/>
          </a:xfrm>
          <a:prstGeom prst="ellipse">
            <a:avLst/>
          </a:prstGeom>
          <a:solidFill>
            <a:srgbClr val="FFFFFF"/>
          </a:solidFill>
          <a:ln w="15875">
            <a:solidFill>
              <a:srgbClr val="CBD5E1"/>
            </a:solidFill>
            <a:prstDash val="solid"/>
          </a:ln>
        </p:spPr>
      </p:sp>
      <p:sp>
        <p:nvSpPr>
          <p:cNvPr id="16" name="Shape 14"/>
          <p:cNvSpPr/>
          <p:nvPr/>
        </p:nvSpPr>
        <p:spPr>
          <a:xfrm>
            <a:off x="5321808" y="2331720"/>
            <a:ext cx="201168" cy="201168"/>
          </a:xfrm>
          <a:prstGeom prst="ellipse">
            <a:avLst/>
          </a:prstGeom>
          <a:solidFill>
            <a:srgbClr val="E11D48"/>
          </a:solidFill>
          <a:ln w="15875">
            <a:solidFill>
              <a:srgbClr val="E11D48"/>
            </a:solidFill>
            <a:prstDash val="solid"/>
          </a:ln>
        </p:spPr>
      </p:sp>
      <p:sp>
        <p:nvSpPr>
          <p:cNvPr id="17" name="Shape 15"/>
          <p:cNvSpPr/>
          <p:nvPr/>
        </p:nvSpPr>
        <p:spPr>
          <a:xfrm>
            <a:off x="5596128" y="2331720"/>
            <a:ext cx="201168" cy="201168"/>
          </a:xfrm>
          <a:prstGeom prst="ellipse">
            <a:avLst/>
          </a:prstGeom>
          <a:solidFill>
            <a:srgbClr val="E11D48"/>
          </a:solidFill>
          <a:ln w="15875">
            <a:solidFill>
              <a:srgbClr val="E11D48"/>
            </a:solidFill>
            <a:prstDash val="solid"/>
          </a:ln>
        </p:spPr>
      </p:sp>
      <p:sp>
        <p:nvSpPr>
          <p:cNvPr id="18" name="Shape 16"/>
          <p:cNvSpPr/>
          <p:nvPr/>
        </p:nvSpPr>
        <p:spPr>
          <a:xfrm>
            <a:off x="5870448" y="2331720"/>
            <a:ext cx="201168" cy="201168"/>
          </a:xfrm>
          <a:prstGeom prst="ellipse">
            <a:avLst/>
          </a:prstGeom>
          <a:solidFill>
            <a:srgbClr val="E11D48"/>
          </a:solidFill>
          <a:ln w="15875">
            <a:solidFill>
              <a:srgbClr val="E11D48"/>
            </a:solidFill>
            <a:prstDash val="solid"/>
          </a:ln>
        </p:spPr>
      </p:sp>
      <p:sp>
        <p:nvSpPr>
          <p:cNvPr id="19" name="Shape 17"/>
          <p:cNvSpPr/>
          <p:nvPr/>
        </p:nvSpPr>
        <p:spPr>
          <a:xfrm>
            <a:off x="4041648" y="2331720"/>
            <a:ext cx="201168" cy="201168"/>
          </a:xfrm>
          <a:prstGeom prst="ellipse">
            <a:avLst/>
          </a:prstGeom>
          <a:solidFill>
            <a:srgbClr val="E11D48"/>
          </a:solidFill>
          <a:ln w="15875">
            <a:solidFill>
              <a:srgbClr val="E11D48"/>
            </a:solidFill>
            <a:prstDash val="solid"/>
          </a:ln>
        </p:spPr>
      </p:sp>
      <p:sp>
        <p:nvSpPr>
          <p:cNvPr id="20" name="Shape 18"/>
          <p:cNvSpPr/>
          <p:nvPr/>
        </p:nvSpPr>
        <p:spPr>
          <a:xfrm>
            <a:off x="4315968" y="2331720"/>
            <a:ext cx="201168" cy="201168"/>
          </a:xfrm>
          <a:prstGeom prst="ellipse">
            <a:avLst/>
          </a:prstGeom>
          <a:solidFill>
            <a:srgbClr val="E11D48"/>
          </a:solidFill>
          <a:ln w="15875">
            <a:solidFill>
              <a:srgbClr val="E11D48"/>
            </a:solidFill>
            <a:prstDash val="solid"/>
          </a:ln>
        </p:spPr>
      </p:sp>
      <p:sp>
        <p:nvSpPr>
          <p:cNvPr id="21" name="Shape 19"/>
          <p:cNvSpPr/>
          <p:nvPr/>
        </p:nvSpPr>
        <p:spPr>
          <a:xfrm>
            <a:off x="4590288" y="2331720"/>
            <a:ext cx="201168" cy="201168"/>
          </a:xfrm>
          <a:prstGeom prst="ellipse">
            <a:avLst/>
          </a:prstGeom>
          <a:solidFill>
            <a:srgbClr val="E11D48"/>
          </a:solidFill>
          <a:ln w="15875">
            <a:solidFill>
              <a:srgbClr val="E11D48"/>
            </a:solidFill>
            <a:prstDash val="solid"/>
          </a:ln>
        </p:spPr>
      </p:sp>
      <p:sp>
        <p:nvSpPr>
          <p:cNvPr id="22" name="Text 20"/>
          <p:cNvSpPr txBox="1"/>
          <p:nvPr/>
        </p:nvSpPr>
        <p:spPr>
          <a:xfrm>
            <a:off x="731520" y="2103120"/>
            <a:ext cx="2971800" cy="676656"/>
          </a:xfrm>
          <a:prstGeom prst="rect">
            <a:avLst/>
          </a:prstGeom>
          <a:noFill/>
          <a:ln/>
        </p:spPr>
        <p:txBody>
          <a:bodyPr wrap="square" lIns="0" tIns="0" rIns="0" bIns="0" rtlCol="0" anchor="ctr"/>
          <a:lstStyle/>
          <a:p>
            <a:pPr marL="0" indent="0" algn="r" rtl="1">
              <a:buNone/>
            </a:pPr>
            <a:r>
              <a:rPr lang="fa-IR" altLang="en-US" sz="1200" dirty="0">
                <a:solidFill>
                  <a:srgbClr val="475569"/>
                </a:solidFill>
                <a:latin typeface="Vazirmatn" pitchFamily="34" charset="0"/>
                <a:ea typeface="Vazirmatn" pitchFamily="34" charset="-122"/>
                <a:cs typeface="Vazirmatn" pitchFamily="34" charset="-120"/>
              </a:rPr>
              <a:t>فقط مسیر داده‌ی پشته را می‌بندد</a:t>
            </a:r>
            <a:endParaRPr lang="fa-IR" sz="1200" dirty="0"/>
          </a:p>
        </p:txBody>
      </p:sp>
      <p:sp>
        <p:nvSpPr>
          <p:cNvPr id="23" name="Shape 21"/>
          <p:cNvSpPr/>
          <p:nvPr/>
        </p:nvSpPr>
        <p:spPr>
          <a:xfrm>
            <a:off x="548640" y="2889504"/>
            <a:ext cx="11094415" cy="676656"/>
          </a:xfrm>
          <a:prstGeom prst="roundRect">
            <a:avLst>
              <a:gd name="adj" fmla="val 16216"/>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24" name="Shape 22"/>
          <p:cNvSpPr/>
          <p:nvPr/>
        </p:nvSpPr>
        <p:spPr>
          <a:xfrm>
            <a:off x="11231575" y="3108960"/>
            <a:ext cx="237744" cy="237744"/>
          </a:xfrm>
          <a:prstGeom prst="ellipse">
            <a:avLst/>
          </a:prstGeom>
          <a:solidFill>
            <a:srgbClr val="7C3AED"/>
          </a:solidFill>
          <a:ln w="12700">
            <a:solidFill>
              <a:srgbClr val="7C3AED"/>
            </a:solidFill>
            <a:prstDash val="solid"/>
          </a:ln>
        </p:spPr>
      </p:sp>
      <p:sp>
        <p:nvSpPr>
          <p:cNvPr id="25" name="Text 23"/>
          <p:cNvSpPr txBox="1"/>
          <p:nvPr/>
        </p:nvSpPr>
        <p:spPr>
          <a:xfrm>
            <a:off x="8899855" y="2944368"/>
            <a:ext cx="2240280" cy="329184"/>
          </a:xfrm>
          <a:prstGeom prst="rect">
            <a:avLst/>
          </a:prstGeom>
          <a:noFill/>
          <a:ln/>
        </p:spPr>
        <p:txBody>
          <a:bodyPr wrap="square" lIns="0" tIns="0" rIns="0" bIns="0" rtlCol="0" anchor="t"/>
          <a:lstStyle/>
          <a:p>
            <a:pPr marL="0" indent="0" algn="r" rtl="1">
              <a:buNone/>
            </a:pPr>
            <a:r>
              <a:rPr lang="fa-IR" altLang="en-US" sz="1600" b="1" dirty="0">
                <a:solidFill>
                  <a:srgbClr val="0F172A"/>
                </a:solidFill>
                <a:latin typeface="Vazirmatn" pitchFamily="34" charset="0"/>
                <a:ea typeface="Vazirmatn" pitchFamily="34" charset="-122"/>
                <a:cs typeface="Vazirmatn" pitchFamily="34" charset="-120"/>
              </a:rPr>
              <a:t>Safeslab</a:t>
            </a:r>
            <a:endParaRPr lang="fa-IR" sz="1600" dirty="0"/>
          </a:p>
        </p:txBody>
      </p:sp>
      <p:sp>
        <p:nvSpPr>
          <p:cNvPr id="26" name="Text 24"/>
          <p:cNvSpPr txBox="1"/>
          <p:nvPr/>
        </p:nvSpPr>
        <p:spPr>
          <a:xfrm>
            <a:off x="8899855" y="3255264"/>
            <a:ext cx="2240280" cy="274320"/>
          </a:xfrm>
          <a:prstGeom prst="rect">
            <a:avLst/>
          </a:prstGeom>
          <a:noFill/>
          <a:ln/>
        </p:spPr>
        <p:txBody>
          <a:bodyPr wrap="square" lIns="0" tIns="0" rIns="0" bIns="0" rtlCol="0" anchor="t"/>
          <a:lstStyle/>
          <a:p>
            <a:pPr marL="0" indent="0" algn="r" rtl="1">
              <a:buNone/>
            </a:pPr>
            <a:r>
              <a:rPr lang="fa-IR" altLang="en-US" sz="1100" dirty="0">
                <a:solidFill>
                  <a:srgbClr val="475569"/>
                </a:solidFill>
                <a:latin typeface="Vazirmatn" pitchFamily="34" charset="0"/>
                <a:ea typeface="Vazirmatn" pitchFamily="34" charset="-122"/>
                <a:cs typeface="Vazirmatn" pitchFamily="34" charset="-120"/>
              </a:rPr>
              <a:t>MPK + heap</a:t>
            </a:r>
            <a:endParaRPr lang="fa-IR" sz="1100" dirty="0"/>
          </a:p>
        </p:txBody>
      </p:sp>
      <p:sp>
        <p:nvSpPr>
          <p:cNvPr id="27" name="Shape 25"/>
          <p:cNvSpPr/>
          <p:nvPr/>
        </p:nvSpPr>
        <p:spPr>
          <a:xfrm>
            <a:off x="6601968" y="3118104"/>
            <a:ext cx="201168" cy="201168"/>
          </a:xfrm>
          <a:prstGeom prst="ellipse">
            <a:avLst/>
          </a:prstGeom>
          <a:solidFill>
            <a:srgbClr val="7C3AED"/>
          </a:solidFill>
          <a:ln w="15875">
            <a:solidFill>
              <a:srgbClr val="7C3AED"/>
            </a:solidFill>
            <a:prstDash val="solid"/>
          </a:ln>
        </p:spPr>
      </p:sp>
      <p:sp>
        <p:nvSpPr>
          <p:cNvPr id="28" name="Shape 26"/>
          <p:cNvSpPr/>
          <p:nvPr/>
        </p:nvSpPr>
        <p:spPr>
          <a:xfrm>
            <a:off x="6876288" y="3118104"/>
            <a:ext cx="201168" cy="201168"/>
          </a:xfrm>
          <a:prstGeom prst="ellipse">
            <a:avLst/>
          </a:prstGeom>
          <a:solidFill>
            <a:srgbClr val="7C3AED"/>
          </a:solidFill>
          <a:ln w="15875">
            <a:solidFill>
              <a:srgbClr val="7C3AED"/>
            </a:solidFill>
            <a:prstDash val="solid"/>
          </a:ln>
        </p:spPr>
      </p:sp>
      <p:sp>
        <p:nvSpPr>
          <p:cNvPr id="29" name="Shape 27"/>
          <p:cNvSpPr/>
          <p:nvPr/>
        </p:nvSpPr>
        <p:spPr>
          <a:xfrm>
            <a:off x="7150608" y="3118104"/>
            <a:ext cx="201168" cy="201168"/>
          </a:xfrm>
          <a:prstGeom prst="ellipse">
            <a:avLst/>
          </a:prstGeom>
          <a:solidFill>
            <a:srgbClr val="7C3AED"/>
          </a:solidFill>
          <a:ln w="15875">
            <a:solidFill>
              <a:srgbClr val="7C3AED"/>
            </a:solidFill>
            <a:prstDash val="solid"/>
          </a:ln>
        </p:spPr>
      </p:sp>
      <p:sp>
        <p:nvSpPr>
          <p:cNvPr id="30" name="Shape 28"/>
          <p:cNvSpPr/>
          <p:nvPr/>
        </p:nvSpPr>
        <p:spPr>
          <a:xfrm>
            <a:off x="5321808" y="3118104"/>
            <a:ext cx="201168" cy="201168"/>
          </a:xfrm>
          <a:prstGeom prst="ellipse">
            <a:avLst/>
          </a:prstGeom>
          <a:solidFill>
            <a:srgbClr val="7C3AED"/>
          </a:solidFill>
          <a:ln w="15875">
            <a:solidFill>
              <a:srgbClr val="7C3AED"/>
            </a:solidFill>
            <a:prstDash val="solid"/>
          </a:ln>
        </p:spPr>
      </p:sp>
      <p:sp>
        <p:nvSpPr>
          <p:cNvPr id="31" name="Shape 29"/>
          <p:cNvSpPr/>
          <p:nvPr/>
        </p:nvSpPr>
        <p:spPr>
          <a:xfrm>
            <a:off x="5596128" y="3118104"/>
            <a:ext cx="201168" cy="201168"/>
          </a:xfrm>
          <a:prstGeom prst="ellipse">
            <a:avLst/>
          </a:prstGeom>
          <a:solidFill>
            <a:srgbClr val="7C3AED"/>
          </a:solidFill>
          <a:ln w="15875">
            <a:solidFill>
              <a:srgbClr val="7C3AED"/>
            </a:solidFill>
            <a:prstDash val="solid"/>
          </a:ln>
        </p:spPr>
      </p:sp>
      <p:sp>
        <p:nvSpPr>
          <p:cNvPr id="32" name="Shape 30"/>
          <p:cNvSpPr/>
          <p:nvPr/>
        </p:nvSpPr>
        <p:spPr>
          <a:xfrm>
            <a:off x="5870448" y="3118104"/>
            <a:ext cx="201168" cy="201168"/>
          </a:xfrm>
          <a:prstGeom prst="ellipse">
            <a:avLst/>
          </a:prstGeom>
          <a:solidFill>
            <a:srgbClr val="FFFFFF"/>
          </a:solidFill>
          <a:ln w="15875">
            <a:solidFill>
              <a:srgbClr val="CBD5E1"/>
            </a:solidFill>
            <a:prstDash val="solid"/>
          </a:ln>
        </p:spPr>
      </p:sp>
      <p:sp>
        <p:nvSpPr>
          <p:cNvPr id="33" name="Shape 31"/>
          <p:cNvSpPr/>
          <p:nvPr/>
        </p:nvSpPr>
        <p:spPr>
          <a:xfrm>
            <a:off x="4041648" y="3118104"/>
            <a:ext cx="201168" cy="201168"/>
          </a:xfrm>
          <a:prstGeom prst="ellipse">
            <a:avLst/>
          </a:prstGeom>
          <a:solidFill>
            <a:srgbClr val="7C3AED"/>
          </a:solidFill>
          <a:ln w="15875">
            <a:solidFill>
              <a:srgbClr val="7C3AED"/>
            </a:solidFill>
            <a:prstDash val="solid"/>
          </a:ln>
        </p:spPr>
      </p:sp>
      <p:sp>
        <p:nvSpPr>
          <p:cNvPr id="34" name="Shape 32"/>
          <p:cNvSpPr/>
          <p:nvPr/>
        </p:nvSpPr>
        <p:spPr>
          <a:xfrm>
            <a:off x="4315968" y="3118104"/>
            <a:ext cx="201168" cy="201168"/>
          </a:xfrm>
          <a:prstGeom prst="ellipse">
            <a:avLst/>
          </a:prstGeom>
          <a:solidFill>
            <a:srgbClr val="FFFFFF"/>
          </a:solidFill>
          <a:ln w="15875">
            <a:solidFill>
              <a:srgbClr val="CBD5E1"/>
            </a:solidFill>
            <a:prstDash val="solid"/>
          </a:ln>
        </p:spPr>
      </p:sp>
      <p:sp>
        <p:nvSpPr>
          <p:cNvPr id="35" name="Shape 33"/>
          <p:cNvSpPr/>
          <p:nvPr/>
        </p:nvSpPr>
        <p:spPr>
          <a:xfrm>
            <a:off x="4590288" y="3118104"/>
            <a:ext cx="201168" cy="201168"/>
          </a:xfrm>
          <a:prstGeom prst="ellipse">
            <a:avLst/>
          </a:prstGeom>
          <a:solidFill>
            <a:srgbClr val="FFFFFF"/>
          </a:solidFill>
          <a:ln w="15875">
            <a:solidFill>
              <a:srgbClr val="CBD5E1"/>
            </a:solidFill>
            <a:prstDash val="solid"/>
          </a:ln>
        </p:spPr>
      </p:sp>
      <p:sp>
        <p:nvSpPr>
          <p:cNvPr id="36" name="Text 34"/>
          <p:cNvSpPr txBox="1"/>
          <p:nvPr/>
        </p:nvSpPr>
        <p:spPr>
          <a:xfrm>
            <a:off x="731520" y="2889504"/>
            <a:ext cx="2971800" cy="676656"/>
          </a:xfrm>
          <a:prstGeom prst="rect">
            <a:avLst/>
          </a:prstGeom>
          <a:noFill/>
          <a:ln/>
        </p:spPr>
        <p:txBody>
          <a:bodyPr wrap="square" lIns="0" tIns="0" rIns="0" bIns="0" rtlCol="0" anchor="ctr"/>
          <a:lstStyle/>
          <a:p>
            <a:pPr marL="0" indent="0" algn="r" rtl="1">
              <a:buNone/>
            </a:pPr>
            <a:r>
              <a:rPr lang="fa-IR" altLang="en-US" sz="1200" dirty="0">
                <a:solidFill>
                  <a:srgbClr val="475569"/>
                </a:solidFill>
                <a:latin typeface="Vazirmatn" pitchFamily="34" charset="0"/>
                <a:ea typeface="Vazirmatn" pitchFamily="34" charset="-122"/>
                <a:cs typeface="Vazirmatn" pitchFamily="34" charset="-120"/>
              </a:rPr>
              <a:t>وابسته به MPK اینتل؛ حافظه‌ی بیشتر</a:t>
            </a:r>
            <a:endParaRPr lang="fa-IR" sz="1200" dirty="0"/>
          </a:p>
        </p:txBody>
      </p:sp>
      <p:sp>
        <p:nvSpPr>
          <p:cNvPr id="37" name="Shape 35"/>
          <p:cNvSpPr/>
          <p:nvPr/>
        </p:nvSpPr>
        <p:spPr>
          <a:xfrm>
            <a:off x="548640" y="3675888"/>
            <a:ext cx="11094415" cy="676656"/>
          </a:xfrm>
          <a:prstGeom prst="roundRect">
            <a:avLst>
              <a:gd name="adj" fmla="val 16216"/>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38" name="Shape 36"/>
          <p:cNvSpPr/>
          <p:nvPr/>
        </p:nvSpPr>
        <p:spPr>
          <a:xfrm>
            <a:off x="11231575" y="3895344"/>
            <a:ext cx="237744" cy="237744"/>
          </a:xfrm>
          <a:prstGeom prst="ellipse">
            <a:avLst/>
          </a:prstGeom>
          <a:solidFill>
            <a:srgbClr val="7C3AED"/>
          </a:solidFill>
          <a:ln w="12700">
            <a:solidFill>
              <a:srgbClr val="7C3AED"/>
            </a:solidFill>
            <a:prstDash val="solid"/>
          </a:ln>
        </p:spPr>
      </p:sp>
      <p:sp>
        <p:nvSpPr>
          <p:cNvPr id="39" name="Text 37"/>
          <p:cNvSpPr txBox="1"/>
          <p:nvPr/>
        </p:nvSpPr>
        <p:spPr>
          <a:xfrm>
            <a:off x="8899855" y="3730752"/>
            <a:ext cx="2240280" cy="329184"/>
          </a:xfrm>
          <a:prstGeom prst="rect">
            <a:avLst/>
          </a:prstGeom>
          <a:noFill/>
          <a:ln/>
        </p:spPr>
        <p:txBody>
          <a:bodyPr wrap="square" lIns="0" tIns="0" rIns="0" bIns="0" rtlCol="0" anchor="t"/>
          <a:lstStyle/>
          <a:p>
            <a:pPr marL="0" indent="0" algn="r" rtl="1">
              <a:buNone/>
            </a:pPr>
            <a:r>
              <a:rPr lang="fa-IR" altLang="en-US" sz="1600" b="1" dirty="0">
                <a:solidFill>
                  <a:srgbClr val="0F172A"/>
                </a:solidFill>
                <a:latin typeface="Vazirmatn" pitchFamily="34" charset="0"/>
                <a:ea typeface="Vazirmatn" pitchFamily="34" charset="-122"/>
                <a:cs typeface="Vazirmatn" pitchFamily="34" charset="-120"/>
              </a:rPr>
              <a:t>μSwitch</a:t>
            </a:r>
            <a:endParaRPr lang="fa-IR" sz="1600" dirty="0"/>
          </a:p>
        </p:txBody>
      </p:sp>
      <p:sp>
        <p:nvSpPr>
          <p:cNvPr id="40" name="Text 38"/>
          <p:cNvSpPr txBox="1"/>
          <p:nvPr/>
        </p:nvSpPr>
        <p:spPr>
          <a:xfrm>
            <a:off x="8899855" y="4041648"/>
            <a:ext cx="2240280" cy="274320"/>
          </a:xfrm>
          <a:prstGeom prst="rect">
            <a:avLst/>
          </a:prstGeom>
          <a:noFill/>
          <a:ln/>
        </p:spPr>
        <p:txBody>
          <a:bodyPr wrap="square" lIns="0" tIns="0" rIns="0" bIns="0" rtlCol="0" anchor="t"/>
          <a:lstStyle/>
          <a:p>
            <a:pPr marL="0" indent="0" algn="r" rtl="1">
              <a:buNone/>
            </a:pPr>
            <a:r>
              <a:rPr lang="fa-IR" altLang="en-US" sz="1100" dirty="0">
                <a:solidFill>
                  <a:srgbClr val="475569"/>
                </a:solidFill>
                <a:latin typeface="Vazirmatn" pitchFamily="34" charset="0"/>
                <a:ea typeface="Vazirmatn" pitchFamily="34" charset="-122"/>
                <a:cs typeface="Vazirmatn" pitchFamily="34" charset="-120"/>
              </a:rPr>
              <a:t>MPK + هسته</a:t>
            </a:r>
            <a:endParaRPr lang="fa-IR" sz="1100" dirty="0"/>
          </a:p>
        </p:txBody>
      </p:sp>
      <p:sp>
        <p:nvSpPr>
          <p:cNvPr id="41" name="Shape 39"/>
          <p:cNvSpPr/>
          <p:nvPr/>
        </p:nvSpPr>
        <p:spPr>
          <a:xfrm>
            <a:off x="6601968" y="3904488"/>
            <a:ext cx="201168" cy="201168"/>
          </a:xfrm>
          <a:prstGeom prst="ellipse">
            <a:avLst/>
          </a:prstGeom>
          <a:solidFill>
            <a:srgbClr val="7C3AED"/>
          </a:solidFill>
          <a:ln w="15875">
            <a:solidFill>
              <a:srgbClr val="7C3AED"/>
            </a:solidFill>
            <a:prstDash val="solid"/>
          </a:ln>
        </p:spPr>
      </p:sp>
      <p:sp>
        <p:nvSpPr>
          <p:cNvPr id="42" name="Shape 40"/>
          <p:cNvSpPr/>
          <p:nvPr/>
        </p:nvSpPr>
        <p:spPr>
          <a:xfrm>
            <a:off x="6876288" y="3904488"/>
            <a:ext cx="201168" cy="201168"/>
          </a:xfrm>
          <a:prstGeom prst="ellipse">
            <a:avLst/>
          </a:prstGeom>
          <a:solidFill>
            <a:srgbClr val="7C3AED"/>
          </a:solidFill>
          <a:ln w="15875">
            <a:solidFill>
              <a:srgbClr val="7C3AED"/>
            </a:solidFill>
            <a:prstDash val="solid"/>
          </a:ln>
        </p:spPr>
      </p:sp>
      <p:sp>
        <p:nvSpPr>
          <p:cNvPr id="43" name="Shape 41"/>
          <p:cNvSpPr/>
          <p:nvPr/>
        </p:nvSpPr>
        <p:spPr>
          <a:xfrm>
            <a:off x="7150608" y="3904488"/>
            <a:ext cx="201168" cy="201168"/>
          </a:xfrm>
          <a:prstGeom prst="ellipse">
            <a:avLst/>
          </a:prstGeom>
          <a:solidFill>
            <a:srgbClr val="FFFFFF"/>
          </a:solidFill>
          <a:ln w="15875">
            <a:solidFill>
              <a:srgbClr val="CBD5E1"/>
            </a:solidFill>
            <a:prstDash val="solid"/>
          </a:ln>
        </p:spPr>
      </p:sp>
      <p:sp>
        <p:nvSpPr>
          <p:cNvPr id="44" name="Shape 42"/>
          <p:cNvSpPr/>
          <p:nvPr/>
        </p:nvSpPr>
        <p:spPr>
          <a:xfrm>
            <a:off x="5321808" y="3904488"/>
            <a:ext cx="201168" cy="201168"/>
          </a:xfrm>
          <a:prstGeom prst="ellipse">
            <a:avLst/>
          </a:prstGeom>
          <a:solidFill>
            <a:srgbClr val="7C3AED"/>
          </a:solidFill>
          <a:ln w="15875">
            <a:solidFill>
              <a:srgbClr val="7C3AED"/>
            </a:solidFill>
            <a:prstDash val="solid"/>
          </a:ln>
        </p:spPr>
      </p:sp>
      <p:sp>
        <p:nvSpPr>
          <p:cNvPr id="45" name="Shape 43"/>
          <p:cNvSpPr/>
          <p:nvPr/>
        </p:nvSpPr>
        <p:spPr>
          <a:xfrm>
            <a:off x="5596128" y="3904488"/>
            <a:ext cx="201168" cy="201168"/>
          </a:xfrm>
          <a:prstGeom prst="ellipse">
            <a:avLst/>
          </a:prstGeom>
          <a:solidFill>
            <a:srgbClr val="7C3AED"/>
          </a:solidFill>
          <a:ln w="15875">
            <a:solidFill>
              <a:srgbClr val="7C3AED"/>
            </a:solidFill>
            <a:prstDash val="solid"/>
          </a:ln>
        </p:spPr>
      </p:sp>
      <p:sp>
        <p:nvSpPr>
          <p:cNvPr id="46" name="Shape 44"/>
          <p:cNvSpPr/>
          <p:nvPr/>
        </p:nvSpPr>
        <p:spPr>
          <a:xfrm>
            <a:off x="5870448" y="3904488"/>
            <a:ext cx="201168" cy="201168"/>
          </a:xfrm>
          <a:prstGeom prst="ellipse">
            <a:avLst/>
          </a:prstGeom>
          <a:solidFill>
            <a:srgbClr val="7C3AED"/>
          </a:solidFill>
          <a:ln w="15875">
            <a:solidFill>
              <a:srgbClr val="7C3AED"/>
            </a:solidFill>
            <a:prstDash val="solid"/>
          </a:ln>
        </p:spPr>
      </p:sp>
      <p:sp>
        <p:nvSpPr>
          <p:cNvPr id="47" name="Shape 45"/>
          <p:cNvSpPr/>
          <p:nvPr/>
        </p:nvSpPr>
        <p:spPr>
          <a:xfrm>
            <a:off x="4041648" y="3904488"/>
            <a:ext cx="201168" cy="201168"/>
          </a:xfrm>
          <a:prstGeom prst="ellipse">
            <a:avLst/>
          </a:prstGeom>
          <a:solidFill>
            <a:srgbClr val="7C3AED"/>
          </a:solidFill>
          <a:ln w="15875">
            <a:solidFill>
              <a:srgbClr val="7C3AED"/>
            </a:solidFill>
            <a:prstDash val="solid"/>
          </a:ln>
        </p:spPr>
      </p:sp>
      <p:sp>
        <p:nvSpPr>
          <p:cNvPr id="48" name="Shape 46"/>
          <p:cNvSpPr/>
          <p:nvPr/>
        </p:nvSpPr>
        <p:spPr>
          <a:xfrm>
            <a:off x="4315968" y="3904488"/>
            <a:ext cx="201168" cy="201168"/>
          </a:xfrm>
          <a:prstGeom prst="ellipse">
            <a:avLst/>
          </a:prstGeom>
          <a:solidFill>
            <a:srgbClr val="FFFFFF"/>
          </a:solidFill>
          <a:ln w="15875">
            <a:solidFill>
              <a:srgbClr val="CBD5E1"/>
            </a:solidFill>
            <a:prstDash val="solid"/>
          </a:ln>
        </p:spPr>
      </p:sp>
      <p:sp>
        <p:nvSpPr>
          <p:cNvPr id="49" name="Shape 47"/>
          <p:cNvSpPr/>
          <p:nvPr/>
        </p:nvSpPr>
        <p:spPr>
          <a:xfrm>
            <a:off x="4590288" y="3904488"/>
            <a:ext cx="201168" cy="201168"/>
          </a:xfrm>
          <a:prstGeom prst="ellipse">
            <a:avLst/>
          </a:prstGeom>
          <a:solidFill>
            <a:srgbClr val="FFFFFF"/>
          </a:solidFill>
          <a:ln w="15875">
            <a:solidFill>
              <a:srgbClr val="CBD5E1"/>
            </a:solidFill>
            <a:prstDash val="solid"/>
          </a:ln>
        </p:spPr>
      </p:sp>
      <p:sp>
        <p:nvSpPr>
          <p:cNvPr id="50" name="Text 48"/>
          <p:cNvSpPr txBox="1"/>
          <p:nvPr/>
        </p:nvSpPr>
        <p:spPr>
          <a:xfrm>
            <a:off x="731520" y="3675888"/>
            <a:ext cx="2971800" cy="676656"/>
          </a:xfrm>
          <a:prstGeom prst="rect">
            <a:avLst/>
          </a:prstGeom>
          <a:noFill/>
          <a:ln/>
        </p:spPr>
        <p:txBody>
          <a:bodyPr wrap="square" lIns="0" tIns="0" rIns="0" bIns="0" rtlCol="0" anchor="ctr"/>
          <a:lstStyle/>
          <a:p>
            <a:pPr marL="0" indent="0" algn="r" rtl="1">
              <a:buNone/>
            </a:pPr>
            <a:r>
              <a:rPr lang="fa-IR" altLang="en-US" sz="1200" dirty="0">
                <a:solidFill>
                  <a:srgbClr val="475569"/>
                </a:solidFill>
                <a:latin typeface="Vazirmatn" pitchFamily="34" charset="0"/>
                <a:ea typeface="Vazirmatn" pitchFamily="34" charset="-122"/>
                <a:cs typeface="Vazirmatn" pitchFamily="34" charset="-120"/>
              </a:rPr>
              <a:t>از برنامه محافظت می‌کند، نه هسته</a:t>
            </a:r>
            <a:endParaRPr lang="fa-IR" sz="1200" dirty="0"/>
          </a:p>
        </p:txBody>
      </p:sp>
      <p:sp>
        <p:nvSpPr>
          <p:cNvPr id="51" name="Shape 49"/>
          <p:cNvSpPr/>
          <p:nvPr/>
        </p:nvSpPr>
        <p:spPr>
          <a:xfrm>
            <a:off x="548640" y="4462272"/>
            <a:ext cx="11094415" cy="676656"/>
          </a:xfrm>
          <a:prstGeom prst="roundRect">
            <a:avLst>
              <a:gd name="adj" fmla="val 16216"/>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52" name="Shape 50"/>
          <p:cNvSpPr/>
          <p:nvPr/>
        </p:nvSpPr>
        <p:spPr>
          <a:xfrm>
            <a:off x="11231575" y="4681728"/>
            <a:ext cx="237744" cy="237744"/>
          </a:xfrm>
          <a:prstGeom prst="ellipse">
            <a:avLst/>
          </a:prstGeom>
          <a:solidFill>
            <a:srgbClr val="0D9488"/>
          </a:solidFill>
          <a:ln w="12700">
            <a:solidFill>
              <a:srgbClr val="0D9488"/>
            </a:solidFill>
            <a:prstDash val="solid"/>
          </a:ln>
        </p:spPr>
      </p:sp>
      <p:sp>
        <p:nvSpPr>
          <p:cNvPr id="53" name="Text 51"/>
          <p:cNvSpPr txBox="1"/>
          <p:nvPr/>
        </p:nvSpPr>
        <p:spPr>
          <a:xfrm>
            <a:off x="8899855" y="4517136"/>
            <a:ext cx="2240280" cy="329184"/>
          </a:xfrm>
          <a:prstGeom prst="rect">
            <a:avLst/>
          </a:prstGeom>
          <a:noFill/>
          <a:ln/>
        </p:spPr>
        <p:txBody>
          <a:bodyPr wrap="square" lIns="0" tIns="0" rIns="0" bIns="0" rtlCol="0" anchor="t"/>
          <a:lstStyle/>
          <a:p>
            <a:pPr marL="0" indent="0" algn="r" rtl="1">
              <a:buNone/>
            </a:pPr>
            <a:r>
              <a:rPr lang="fa-IR" altLang="en-US" sz="1600" b="1" dirty="0">
                <a:solidFill>
                  <a:srgbClr val="0F172A"/>
                </a:solidFill>
                <a:latin typeface="Vazirmatn" pitchFamily="34" charset="0"/>
                <a:ea typeface="Vazirmatn" pitchFamily="34" charset="-122"/>
                <a:cs typeface="Vazirmatn" pitchFamily="34" charset="-120"/>
              </a:rPr>
              <a:t>ISLAB</a:t>
            </a:r>
            <a:endParaRPr lang="fa-IR" sz="1600" dirty="0"/>
          </a:p>
        </p:txBody>
      </p:sp>
      <p:sp>
        <p:nvSpPr>
          <p:cNvPr id="54" name="Text 52"/>
          <p:cNvSpPr txBox="1"/>
          <p:nvPr/>
        </p:nvSpPr>
        <p:spPr>
          <a:xfrm>
            <a:off x="8899855" y="4828032"/>
            <a:ext cx="2240280" cy="274320"/>
          </a:xfrm>
          <a:prstGeom prst="rect">
            <a:avLst/>
          </a:prstGeom>
          <a:noFill/>
          <a:ln/>
        </p:spPr>
        <p:txBody>
          <a:bodyPr wrap="square" lIns="0" tIns="0" rIns="0" bIns="0" rtlCol="0" anchor="t"/>
          <a:lstStyle/>
          <a:p>
            <a:pPr marL="0" indent="0" algn="r" rtl="1">
              <a:buNone/>
            </a:pPr>
            <a:r>
              <a:rPr lang="fa-IR" altLang="en-US" sz="1100" dirty="0">
                <a:solidFill>
                  <a:srgbClr val="475569"/>
                </a:solidFill>
                <a:latin typeface="Vazirmatn" pitchFamily="34" charset="0"/>
                <a:ea typeface="Vazirmatn" pitchFamily="34" charset="-122"/>
                <a:cs typeface="Vazirmatn" pitchFamily="34" charset="-120"/>
              </a:rPr>
              <a:t>تخصیص‌دهنده</a:t>
            </a:r>
            <a:endParaRPr lang="fa-IR" sz="1100" dirty="0"/>
          </a:p>
        </p:txBody>
      </p:sp>
      <p:sp>
        <p:nvSpPr>
          <p:cNvPr id="55" name="Shape 53"/>
          <p:cNvSpPr/>
          <p:nvPr/>
        </p:nvSpPr>
        <p:spPr>
          <a:xfrm>
            <a:off x="6601968" y="4690872"/>
            <a:ext cx="201168" cy="201168"/>
          </a:xfrm>
          <a:prstGeom prst="ellipse">
            <a:avLst/>
          </a:prstGeom>
          <a:solidFill>
            <a:srgbClr val="0D9488"/>
          </a:solidFill>
          <a:ln w="15875">
            <a:solidFill>
              <a:srgbClr val="0D9488"/>
            </a:solidFill>
            <a:prstDash val="solid"/>
          </a:ln>
        </p:spPr>
      </p:sp>
      <p:sp>
        <p:nvSpPr>
          <p:cNvPr id="56" name="Shape 54"/>
          <p:cNvSpPr/>
          <p:nvPr/>
        </p:nvSpPr>
        <p:spPr>
          <a:xfrm>
            <a:off x="6876288" y="4690872"/>
            <a:ext cx="201168" cy="201168"/>
          </a:xfrm>
          <a:prstGeom prst="ellipse">
            <a:avLst/>
          </a:prstGeom>
          <a:solidFill>
            <a:srgbClr val="0D9488"/>
          </a:solidFill>
          <a:ln w="15875">
            <a:solidFill>
              <a:srgbClr val="0D9488"/>
            </a:solidFill>
            <a:prstDash val="solid"/>
          </a:ln>
        </p:spPr>
      </p:sp>
      <p:sp>
        <p:nvSpPr>
          <p:cNvPr id="57" name="Shape 55"/>
          <p:cNvSpPr/>
          <p:nvPr/>
        </p:nvSpPr>
        <p:spPr>
          <a:xfrm>
            <a:off x="7150608" y="4690872"/>
            <a:ext cx="201168" cy="201168"/>
          </a:xfrm>
          <a:prstGeom prst="ellipse">
            <a:avLst/>
          </a:prstGeom>
          <a:solidFill>
            <a:srgbClr val="FFFFFF"/>
          </a:solidFill>
          <a:ln w="15875">
            <a:solidFill>
              <a:srgbClr val="CBD5E1"/>
            </a:solidFill>
            <a:prstDash val="solid"/>
          </a:ln>
        </p:spPr>
      </p:sp>
      <p:sp>
        <p:nvSpPr>
          <p:cNvPr id="58" name="Shape 56"/>
          <p:cNvSpPr/>
          <p:nvPr/>
        </p:nvSpPr>
        <p:spPr>
          <a:xfrm>
            <a:off x="5321808" y="4690872"/>
            <a:ext cx="201168" cy="201168"/>
          </a:xfrm>
          <a:prstGeom prst="ellipse">
            <a:avLst/>
          </a:prstGeom>
          <a:solidFill>
            <a:srgbClr val="0D9488"/>
          </a:solidFill>
          <a:ln w="15875">
            <a:solidFill>
              <a:srgbClr val="0D9488"/>
            </a:solidFill>
            <a:prstDash val="solid"/>
          </a:ln>
        </p:spPr>
      </p:sp>
      <p:sp>
        <p:nvSpPr>
          <p:cNvPr id="59" name="Shape 57"/>
          <p:cNvSpPr/>
          <p:nvPr/>
        </p:nvSpPr>
        <p:spPr>
          <a:xfrm>
            <a:off x="5596128" y="4690872"/>
            <a:ext cx="201168" cy="201168"/>
          </a:xfrm>
          <a:prstGeom prst="ellipse">
            <a:avLst/>
          </a:prstGeom>
          <a:solidFill>
            <a:srgbClr val="0D9488"/>
          </a:solidFill>
          <a:ln w="15875">
            <a:solidFill>
              <a:srgbClr val="0D9488"/>
            </a:solidFill>
            <a:prstDash val="solid"/>
          </a:ln>
        </p:spPr>
      </p:sp>
      <p:sp>
        <p:nvSpPr>
          <p:cNvPr id="60" name="Shape 58"/>
          <p:cNvSpPr/>
          <p:nvPr/>
        </p:nvSpPr>
        <p:spPr>
          <a:xfrm>
            <a:off x="5870448" y="4690872"/>
            <a:ext cx="201168" cy="201168"/>
          </a:xfrm>
          <a:prstGeom prst="ellipse">
            <a:avLst/>
          </a:prstGeom>
          <a:solidFill>
            <a:srgbClr val="0D9488"/>
          </a:solidFill>
          <a:ln w="15875">
            <a:solidFill>
              <a:srgbClr val="0D9488"/>
            </a:solidFill>
            <a:prstDash val="solid"/>
          </a:ln>
        </p:spPr>
      </p:sp>
      <p:sp>
        <p:nvSpPr>
          <p:cNvPr id="61" name="Shape 59"/>
          <p:cNvSpPr/>
          <p:nvPr/>
        </p:nvSpPr>
        <p:spPr>
          <a:xfrm>
            <a:off x="4041648" y="4690872"/>
            <a:ext cx="201168" cy="201168"/>
          </a:xfrm>
          <a:prstGeom prst="ellipse">
            <a:avLst/>
          </a:prstGeom>
          <a:solidFill>
            <a:srgbClr val="0D9488"/>
          </a:solidFill>
          <a:ln w="15875">
            <a:solidFill>
              <a:srgbClr val="0D9488"/>
            </a:solidFill>
            <a:prstDash val="solid"/>
          </a:ln>
        </p:spPr>
      </p:sp>
      <p:sp>
        <p:nvSpPr>
          <p:cNvPr id="62" name="Shape 60"/>
          <p:cNvSpPr/>
          <p:nvPr/>
        </p:nvSpPr>
        <p:spPr>
          <a:xfrm>
            <a:off x="4315968" y="4690872"/>
            <a:ext cx="201168" cy="201168"/>
          </a:xfrm>
          <a:prstGeom prst="ellipse">
            <a:avLst/>
          </a:prstGeom>
          <a:solidFill>
            <a:srgbClr val="0D9488"/>
          </a:solidFill>
          <a:ln w="15875">
            <a:solidFill>
              <a:srgbClr val="0D9488"/>
            </a:solidFill>
            <a:prstDash val="solid"/>
          </a:ln>
        </p:spPr>
      </p:sp>
      <p:sp>
        <p:nvSpPr>
          <p:cNvPr id="63" name="Shape 61"/>
          <p:cNvSpPr/>
          <p:nvPr/>
        </p:nvSpPr>
        <p:spPr>
          <a:xfrm>
            <a:off x="4590288" y="4690872"/>
            <a:ext cx="201168" cy="201168"/>
          </a:xfrm>
          <a:prstGeom prst="ellipse">
            <a:avLst/>
          </a:prstGeom>
          <a:solidFill>
            <a:srgbClr val="0D9488"/>
          </a:solidFill>
          <a:ln w="15875">
            <a:solidFill>
              <a:srgbClr val="0D9488"/>
            </a:solidFill>
            <a:prstDash val="solid"/>
          </a:ln>
        </p:spPr>
      </p:sp>
      <p:sp>
        <p:nvSpPr>
          <p:cNvPr id="64" name="Text 62"/>
          <p:cNvSpPr txBox="1"/>
          <p:nvPr/>
        </p:nvSpPr>
        <p:spPr>
          <a:xfrm>
            <a:off x="731520" y="4462272"/>
            <a:ext cx="2971800" cy="676656"/>
          </a:xfrm>
          <a:prstGeom prst="rect">
            <a:avLst/>
          </a:prstGeom>
          <a:noFill/>
          <a:ln/>
        </p:spPr>
        <p:txBody>
          <a:bodyPr wrap="square" lIns="0" tIns="0" rIns="0" bIns="0" rtlCol="0" anchor="ctr"/>
          <a:lstStyle/>
          <a:p>
            <a:pPr marL="0" indent="0" algn="r" rtl="1">
              <a:buNone/>
            </a:pPr>
            <a:r>
              <a:rPr lang="fa-IR" altLang="en-US" sz="1200" dirty="0">
                <a:solidFill>
                  <a:srgbClr val="475569"/>
                </a:solidFill>
                <a:latin typeface="Vazirmatn" pitchFamily="34" charset="0"/>
                <a:ea typeface="Vazirmatn" pitchFamily="34" charset="-122"/>
                <a:cs typeface="Vazirmatn" pitchFamily="34" charset="-120"/>
              </a:rPr>
              <a:t>kSMAP در برابر code-reuse آسیب‌پذیر</a:t>
            </a:r>
            <a:endParaRPr lang="fa-IR" sz="1200" dirty="0"/>
          </a:p>
        </p:txBody>
      </p:sp>
      <p:sp>
        <p:nvSpPr>
          <p:cNvPr id="65" name="Shape 63"/>
          <p:cNvSpPr/>
          <p:nvPr/>
        </p:nvSpPr>
        <p:spPr>
          <a:xfrm>
            <a:off x="548640" y="5248656"/>
            <a:ext cx="11094415" cy="676656"/>
          </a:xfrm>
          <a:prstGeom prst="roundRect">
            <a:avLst>
              <a:gd name="adj" fmla="val 16216"/>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66" name="Shape 64"/>
          <p:cNvSpPr/>
          <p:nvPr/>
        </p:nvSpPr>
        <p:spPr>
          <a:xfrm>
            <a:off x="11231575" y="5468112"/>
            <a:ext cx="237744" cy="237744"/>
          </a:xfrm>
          <a:prstGeom prst="ellipse">
            <a:avLst/>
          </a:prstGeom>
          <a:solidFill>
            <a:srgbClr val="EA580C"/>
          </a:solidFill>
          <a:ln w="12700">
            <a:solidFill>
              <a:srgbClr val="EA580C"/>
            </a:solidFill>
            <a:prstDash val="solid"/>
          </a:ln>
        </p:spPr>
      </p:sp>
      <p:sp>
        <p:nvSpPr>
          <p:cNvPr id="67" name="Text 65"/>
          <p:cNvSpPr txBox="1"/>
          <p:nvPr/>
        </p:nvSpPr>
        <p:spPr>
          <a:xfrm>
            <a:off x="8899855" y="5303520"/>
            <a:ext cx="2240280" cy="329184"/>
          </a:xfrm>
          <a:prstGeom prst="rect">
            <a:avLst/>
          </a:prstGeom>
          <a:noFill/>
          <a:ln/>
        </p:spPr>
        <p:txBody>
          <a:bodyPr wrap="square" lIns="0" tIns="0" rIns="0" bIns="0" rtlCol="0" anchor="t"/>
          <a:lstStyle/>
          <a:p>
            <a:pPr marL="0" indent="0" algn="r" rtl="1">
              <a:buNone/>
            </a:pPr>
            <a:r>
              <a:rPr lang="fa-IR" altLang="en-US" sz="1600" b="1" dirty="0">
                <a:solidFill>
                  <a:srgbClr val="0F172A"/>
                </a:solidFill>
                <a:latin typeface="Vazirmatn" pitchFamily="34" charset="0"/>
                <a:ea typeface="Vazirmatn" pitchFamily="34" charset="-122"/>
                <a:cs typeface="Vazirmatn" pitchFamily="34" charset="-120"/>
              </a:rPr>
              <a:t>Rust for Linux</a:t>
            </a:r>
            <a:endParaRPr lang="fa-IR" sz="1600" dirty="0"/>
          </a:p>
        </p:txBody>
      </p:sp>
      <p:sp>
        <p:nvSpPr>
          <p:cNvPr id="68" name="Text 66"/>
          <p:cNvSpPr txBox="1"/>
          <p:nvPr/>
        </p:nvSpPr>
        <p:spPr>
          <a:xfrm>
            <a:off x="8899855" y="5614416"/>
            <a:ext cx="2240280" cy="274320"/>
          </a:xfrm>
          <a:prstGeom prst="rect">
            <a:avLst/>
          </a:prstGeom>
          <a:noFill/>
          <a:ln/>
        </p:spPr>
        <p:txBody>
          <a:bodyPr wrap="square" lIns="0" tIns="0" rIns="0" bIns="0" rtlCol="0" anchor="t"/>
          <a:lstStyle/>
          <a:p>
            <a:pPr marL="0" indent="0" algn="r" rtl="1">
              <a:buNone/>
            </a:pPr>
            <a:r>
              <a:rPr lang="fa-IR" altLang="en-US" sz="1100" dirty="0">
                <a:solidFill>
                  <a:srgbClr val="475569"/>
                </a:solidFill>
                <a:latin typeface="Vazirmatn" pitchFamily="34" charset="0"/>
                <a:ea typeface="Vazirmatn" pitchFamily="34" charset="-122"/>
                <a:cs typeface="Vazirmatn" pitchFamily="34" charset="-120"/>
              </a:rPr>
              <a:t>زبان امن</a:t>
            </a:r>
            <a:endParaRPr lang="fa-IR" sz="1100" dirty="0"/>
          </a:p>
        </p:txBody>
      </p:sp>
      <p:sp>
        <p:nvSpPr>
          <p:cNvPr id="69" name="Shape 67"/>
          <p:cNvSpPr/>
          <p:nvPr/>
        </p:nvSpPr>
        <p:spPr>
          <a:xfrm>
            <a:off x="6601968" y="5477256"/>
            <a:ext cx="201168" cy="201168"/>
          </a:xfrm>
          <a:prstGeom prst="ellipse">
            <a:avLst/>
          </a:prstGeom>
          <a:solidFill>
            <a:srgbClr val="EA580C"/>
          </a:solidFill>
          <a:ln w="15875">
            <a:solidFill>
              <a:srgbClr val="EA580C"/>
            </a:solidFill>
            <a:prstDash val="solid"/>
          </a:ln>
        </p:spPr>
      </p:sp>
      <p:sp>
        <p:nvSpPr>
          <p:cNvPr id="70" name="Shape 68"/>
          <p:cNvSpPr/>
          <p:nvPr/>
        </p:nvSpPr>
        <p:spPr>
          <a:xfrm>
            <a:off x="6876288" y="5477256"/>
            <a:ext cx="201168" cy="201168"/>
          </a:xfrm>
          <a:prstGeom prst="ellipse">
            <a:avLst/>
          </a:prstGeom>
          <a:solidFill>
            <a:srgbClr val="EA580C"/>
          </a:solidFill>
          <a:ln w="15875">
            <a:solidFill>
              <a:srgbClr val="EA580C"/>
            </a:solidFill>
            <a:prstDash val="solid"/>
          </a:ln>
        </p:spPr>
      </p:sp>
      <p:sp>
        <p:nvSpPr>
          <p:cNvPr id="71" name="Shape 69"/>
          <p:cNvSpPr/>
          <p:nvPr/>
        </p:nvSpPr>
        <p:spPr>
          <a:xfrm>
            <a:off x="7150608" y="5477256"/>
            <a:ext cx="201168" cy="201168"/>
          </a:xfrm>
          <a:prstGeom prst="ellipse">
            <a:avLst/>
          </a:prstGeom>
          <a:solidFill>
            <a:srgbClr val="EA580C"/>
          </a:solidFill>
          <a:ln w="15875">
            <a:solidFill>
              <a:srgbClr val="EA580C"/>
            </a:solidFill>
            <a:prstDash val="solid"/>
          </a:ln>
        </p:spPr>
      </p:sp>
      <p:sp>
        <p:nvSpPr>
          <p:cNvPr id="72" name="Shape 70"/>
          <p:cNvSpPr/>
          <p:nvPr/>
        </p:nvSpPr>
        <p:spPr>
          <a:xfrm>
            <a:off x="5321808" y="5477256"/>
            <a:ext cx="201168" cy="201168"/>
          </a:xfrm>
          <a:prstGeom prst="ellipse">
            <a:avLst/>
          </a:prstGeom>
          <a:solidFill>
            <a:srgbClr val="EA580C"/>
          </a:solidFill>
          <a:ln w="15875">
            <a:solidFill>
              <a:srgbClr val="EA580C"/>
            </a:solidFill>
            <a:prstDash val="solid"/>
          </a:ln>
        </p:spPr>
      </p:sp>
      <p:sp>
        <p:nvSpPr>
          <p:cNvPr id="73" name="Shape 71"/>
          <p:cNvSpPr/>
          <p:nvPr/>
        </p:nvSpPr>
        <p:spPr>
          <a:xfrm>
            <a:off x="5596128" y="5477256"/>
            <a:ext cx="201168" cy="201168"/>
          </a:xfrm>
          <a:prstGeom prst="ellipse">
            <a:avLst/>
          </a:prstGeom>
          <a:solidFill>
            <a:srgbClr val="EA580C"/>
          </a:solidFill>
          <a:ln w="15875">
            <a:solidFill>
              <a:srgbClr val="EA580C"/>
            </a:solidFill>
            <a:prstDash val="solid"/>
          </a:ln>
        </p:spPr>
      </p:sp>
      <p:sp>
        <p:nvSpPr>
          <p:cNvPr id="74" name="Shape 72"/>
          <p:cNvSpPr/>
          <p:nvPr/>
        </p:nvSpPr>
        <p:spPr>
          <a:xfrm>
            <a:off x="5870448" y="5477256"/>
            <a:ext cx="201168" cy="201168"/>
          </a:xfrm>
          <a:prstGeom prst="ellipse">
            <a:avLst/>
          </a:prstGeom>
          <a:solidFill>
            <a:srgbClr val="EA580C"/>
          </a:solidFill>
          <a:ln w="15875">
            <a:solidFill>
              <a:srgbClr val="EA580C"/>
            </a:solidFill>
            <a:prstDash val="solid"/>
          </a:ln>
        </p:spPr>
      </p:sp>
      <p:sp>
        <p:nvSpPr>
          <p:cNvPr id="75" name="Shape 73"/>
          <p:cNvSpPr/>
          <p:nvPr/>
        </p:nvSpPr>
        <p:spPr>
          <a:xfrm>
            <a:off x="4041648" y="5477256"/>
            <a:ext cx="201168" cy="201168"/>
          </a:xfrm>
          <a:prstGeom prst="ellipse">
            <a:avLst/>
          </a:prstGeom>
          <a:solidFill>
            <a:srgbClr val="EA580C"/>
          </a:solidFill>
          <a:ln w="15875">
            <a:solidFill>
              <a:srgbClr val="EA580C"/>
            </a:solidFill>
            <a:prstDash val="solid"/>
          </a:ln>
        </p:spPr>
      </p:sp>
      <p:sp>
        <p:nvSpPr>
          <p:cNvPr id="76" name="Shape 74"/>
          <p:cNvSpPr/>
          <p:nvPr/>
        </p:nvSpPr>
        <p:spPr>
          <a:xfrm>
            <a:off x="4315968" y="5477256"/>
            <a:ext cx="201168" cy="201168"/>
          </a:xfrm>
          <a:prstGeom prst="ellipse">
            <a:avLst/>
          </a:prstGeom>
          <a:solidFill>
            <a:srgbClr val="EA580C"/>
          </a:solidFill>
          <a:ln w="15875">
            <a:solidFill>
              <a:srgbClr val="EA580C"/>
            </a:solidFill>
            <a:prstDash val="solid"/>
          </a:ln>
        </p:spPr>
      </p:sp>
      <p:sp>
        <p:nvSpPr>
          <p:cNvPr id="77" name="Shape 75"/>
          <p:cNvSpPr/>
          <p:nvPr/>
        </p:nvSpPr>
        <p:spPr>
          <a:xfrm>
            <a:off x="4590288" y="5477256"/>
            <a:ext cx="201168" cy="201168"/>
          </a:xfrm>
          <a:prstGeom prst="ellipse">
            <a:avLst/>
          </a:prstGeom>
          <a:solidFill>
            <a:srgbClr val="FFFFFF"/>
          </a:solidFill>
          <a:ln w="15875">
            <a:solidFill>
              <a:srgbClr val="CBD5E1"/>
            </a:solidFill>
            <a:prstDash val="solid"/>
          </a:ln>
        </p:spPr>
      </p:sp>
      <p:sp>
        <p:nvSpPr>
          <p:cNvPr id="78" name="Text 76"/>
          <p:cNvSpPr txBox="1"/>
          <p:nvPr/>
        </p:nvSpPr>
        <p:spPr>
          <a:xfrm>
            <a:off x="731520" y="5248656"/>
            <a:ext cx="2971800" cy="676656"/>
          </a:xfrm>
          <a:prstGeom prst="rect">
            <a:avLst/>
          </a:prstGeom>
          <a:noFill/>
          <a:ln/>
        </p:spPr>
        <p:txBody>
          <a:bodyPr wrap="square" lIns="0" tIns="0" rIns="0" bIns="0" rtlCol="0" anchor="ctr"/>
          <a:lstStyle/>
          <a:p>
            <a:pPr marL="0" indent="0" algn="r" rtl="1">
              <a:buNone/>
            </a:pPr>
            <a:r>
              <a:rPr lang="fa-IR" altLang="en-US" sz="1200" dirty="0">
                <a:solidFill>
                  <a:srgbClr val="475569"/>
                </a:solidFill>
                <a:latin typeface="Vazirmatn" pitchFamily="34" charset="0"/>
                <a:ea typeface="Vazirmatn" pitchFamily="34" charset="-122"/>
                <a:cs typeface="Vazirmatn" pitchFamily="34" charset="-120"/>
              </a:rPr>
              <a:t>فقط کد جدید؛ ۴۵ از ۲۴۰ حل نمی‌شود</a:t>
            </a:r>
            <a:endParaRPr lang="fa-IR" sz="1200" dirty="0"/>
          </a:p>
        </p:txBody>
      </p:sp>
      <p:sp>
        <p:nvSpPr>
          <p:cNvPr id="79" name="Text 77"/>
          <p:cNvSpPr txBox="1"/>
          <p:nvPr/>
        </p:nvSpPr>
        <p:spPr>
          <a:xfrm>
            <a:off x="548640" y="6035040"/>
            <a:ext cx="11094415" cy="320040"/>
          </a:xfrm>
          <a:prstGeom prst="rect">
            <a:avLst/>
          </a:prstGeom>
          <a:noFill/>
          <a:ln/>
        </p:spPr>
        <p:txBody>
          <a:bodyPr wrap="square" lIns="0" tIns="0" rIns="0" bIns="0" rtlCol="0" anchor="t"/>
          <a:lstStyle/>
          <a:p>
            <a:pPr marL="0" indent="0" algn="ctr" rtl="1">
              <a:buNone/>
            </a:pPr>
            <a:r>
              <a:rPr lang="fa-IR" altLang="en-US" sz="1500" b="1" dirty="0">
                <a:solidFill>
                  <a:srgbClr val="0F172A"/>
                </a:solidFill>
                <a:latin typeface="Vazirmatn" pitchFamily="34" charset="0"/>
                <a:ea typeface="Vazirmatn" pitchFamily="34" charset="-122"/>
                <a:cs typeface="Vazirmatn" pitchFamily="34" charset="-120"/>
              </a:rPr>
              <a:t>هیچ رویکردی در هر سه معیار کامل نیست.</a:t>
            </a:r>
            <a:endParaRPr lang="fa-IR" sz="1500" dirty="0"/>
          </a:p>
        </p:txBody>
      </p:sp>
      <p:sp>
        <p:nvSpPr>
          <p:cNvPr id="80"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4A3B8"/>
                </a:solidFill>
                <a:latin typeface="Vazirmatn"/>
                <a:ea typeface="Vazirmatn"/>
                <a:cs typeface="Vazirmatn"/>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47472"/>
            <a:ext cx="11094415" cy="640080"/>
          </a:xfrm>
          <a:prstGeom prst="rect">
            <a:avLst/>
          </a:prstGeom>
          <a:noFill/>
          <a:ln/>
        </p:spPr>
        <p:txBody>
          <a:bodyPr wrap="square" lIns="0" tIns="0" rIns="0" bIns="0" rtlCol="0" anchor="ctr"/>
          <a:lstStyle/>
          <a:p>
            <a:pPr marL="0" indent="0" algn="r" rtl="1">
              <a:buNone/>
            </a:pPr>
            <a:r>
              <a:rPr lang="fa-IR" altLang="en-US" sz="3000" b="1" dirty="0">
                <a:solidFill>
                  <a:srgbClr val="0F172A"/>
                </a:solidFill>
                <a:latin typeface="Vazirmatn" pitchFamily="34" charset="0"/>
                <a:ea typeface="Vazirmatn" pitchFamily="34" charset="-122"/>
                <a:cs typeface="Vazirmatn" pitchFamily="34" charset="-120"/>
              </a:rPr>
              <a:t>سربار گزارش‌شده توسط نویسندگان</a:t>
            </a:r>
            <a:endParaRPr lang="fa-IR" sz="3000" dirty="0"/>
          </a:p>
        </p:txBody>
      </p:sp>
      <p:sp>
        <p:nvSpPr>
          <p:cNvPr id="3" name="Text 1"/>
          <p:cNvSpPr txBox="1"/>
          <p:nvPr/>
        </p:nvSpPr>
        <p:spPr>
          <a:xfrm>
            <a:off x="548640" y="969264"/>
            <a:ext cx="8168335" cy="365760"/>
          </a:xfrm>
          <a:prstGeom prst="rect">
            <a:avLst/>
          </a:prstGeom>
          <a:noFill/>
          <a:ln/>
        </p:spPr>
        <p:txBody>
          <a:bodyPr wrap="square" lIns="0" tIns="0" rIns="0" bIns="0" rtlCol="0" anchor="ctr"/>
          <a:lstStyle/>
          <a:p>
            <a:pPr marL="0" indent="0" algn="r" rtl="1">
              <a:buNone/>
            </a:pPr>
            <a:r>
              <a:rPr lang="fa-IR" altLang="en-US" sz="1500" dirty="0">
                <a:solidFill>
                  <a:srgbClr val="475569"/>
                </a:solidFill>
                <a:latin typeface="Vazirmatn" pitchFamily="34" charset="0"/>
                <a:ea typeface="Vazirmatn" pitchFamily="34" charset="-122"/>
                <a:cs typeface="Vazirmatn" pitchFamily="34" charset="-120"/>
              </a:rPr>
              <a:t>همه زیر ۸٪، اما روی بنچمارک‌های متفاوت</a:t>
            </a:r>
            <a:endParaRPr lang="fa-IR" sz="1500" dirty="0"/>
          </a:p>
        </p:txBody>
      </p:sp>
      <p:sp>
        <p:nvSpPr>
          <p:cNvPr id="4" name="Shape 2"/>
          <p:cNvSpPr/>
          <p:nvPr/>
        </p:nvSpPr>
        <p:spPr>
          <a:xfrm>
            <a:off x="4480560" y="1600200"/>
            <a:ext cx="7162495" cy="4526280"/>
          </a:xfrm>
          <a:prstGeom prst="roundRect">
            <a:avLst>
              <a:gd name="adj" fmla="val 2424"/>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graphicFrame>
        <p:nvGraphicFramePr>
          <p:cNvPr id="5" name="Chart 0"/>
          <p:cNvGraphicFramePr/>
          <p:nvPr/>
        </p:nvGraphicFramePr>
        <p:xfrm>
          <a:off x="4663440" y="1737360"/>
          <a:ext cx="6796735"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4663440" y="5852160"/>
            <a:ext cx="6796735" cy="256032"/>
          </a:xfrm>
          <a:prstGeom prst="rect">
            <a:avLst/>
          </a:prstGeom>
          <a:noFill/>
          <a:ln/>
        </p:spPr>
        <p:txBody>
          <a:bodyPr wrap="square" lIns="0" tIns="0" rIns="0" bIns="0" rtlCol="0" anchor="t"/>
          <a:lstStyle/>
          <a:p>
            <a:pPr marL="0" indent="0" algn="r" rtl="1">
              <a:buNone/>
            </a:pPr>
            <a:r>
              <a:rPr lang="fa-IR" altLang="en-US" sz="1000" dirty="0">
                <a:solidFill>
                  <a:srgbClr val="94A3B8"/>
                </a:solidFill>
                <a:latin typeface="Vazirmatn" pitchFamily="34" charset="0"/>
                <a:ea typeface="Vazirmatn" pitchFamily="34" charset="-122"/>
                <a:cs typeface="Vazirmatn" pitchFamily="34" charset="-120"/>
              </a:rPr>
              <a:t>اعداد گزارش‌شده توسط نویسندگان؛ مقدار Rust تقریبی است</a:t>
            </a:r>
            <a:endParaRPr lang="fa-IR" sz="1000" dirty="0"/>
          </a:p>
        </p:txBody>
      </p:sp>
      <p:sp>
        <p:nvSpPr>
          <p:cNvPr id="7" name="Shape 4"/>
          <p:cNvSpPr/>
          <p:nvPr/>
        </p:nvSpPr>
        <p:spPr>
          <a:xfrm>
            <a:off x="548640" y="1600200"/>
            <a:ext cx="3703320" cy="4526280"/>
          </a:xfrm>
          <a:prstGeom prst="roundRect">
            <a:avLst>
              <a:gd name="adj" fmla="val 2963"/>
            </a:avLst>
          </a:prstGeom>
          <a:solidFill>
            <a:srgbClr val="0B1220"/>
          </a:solidFill>
          <a:ln w="12700">
            <a:solidFill>
              <a:srgbClr val="0B1220"/>
            </a:solidFill>
            <a:prstDash val="solid"/>
          </a:ln>
          <a:effectLst>
            <a:outerShdw blurRad="101600" dist="25400" dir="5400000" algn="bl" rotWithShape="0">
              <a:srgbClr val="0F172A">
                <a:alpha val="8000"/>
              </a:srgbClr>
            </a:outerShdw>
          </a:effectLst>
        </p:spPr>
      </p:sp>
      <p:sp>
        <p:nvSpPr>
          <p:cNvPr id="8" name="Shape 5"/>
          <p:cNvSpPr/>
          <p:nvPr/>
        </p:nvSpPr>
        <p:spPr>
          <a:xfrm>
            <a:off x="3337560" y="1874520"/>
            <a:ext cx="640080" cy="640080"/>
          </a:xfrm>
          <a:prstGeom prst="ellipse">
            <a:avLst/>
          </a:prstGeom>
          <a:solidFill>
            <a:srgbClr val="EA580C"/>
          </a:solidFill>
          <a:ln w="12700">
            <a:solidFill>
              <a:srgbClr val="EA580C"/>
            </a:solidFill>
            <a:prstDash val="solid"/>
          </a:ln>
        </p:spPr>
      </p:sp>
      <p:pic>
        <p:nvPicPr>
          <p:cNvPr id="9" name="Image 0" descr="preencoded.png"/>
          <p:cNvPicPr>
            <a:picLocks noChangeAspect="1"/>
          </p:cNvPicPr>
          <p:nvPr/>
        </p:nvPicPr>
        <p:blipFill>
          <a:blip r:embed="rId4"/>
          <a:stretch>
            <a:fillRect/>
          </a:stretch>
        </p:blipFill>
        <p:spPr>
          <a:xfrm>
            <a:off x="3478378" y="2015338"/>
            <a:ext cx="358445" cy="358445"/>
          </a:xfrm>
          <a:prstGeom prst="rect">
            <a:avLst/>
          </a:prstGeom>
        </p:spPr>
      </p:pic>
      <p:sp>
        <p:nvSpPr>
          <p:cNvPr id="10" name="Text 6"/>
          <p:cNvSpPr txBox="1"/>
          <p:nvPr/>
        </p:nvSpPr>
        <p:spPr>
          <a:xfrm>
            <a:off x="822960" y="1938528"/>
            <a:ext cx="2377440" cy="457200"/>
          </a:xfrm>
          <a:prstGeom prst="rect">
            <a:avLst/>
          </a:prstGeom>
          <a:noFill/>
          <a:ln/>
        </p:spPr>
        <p:txBody>
          <a:bodyPr wrap="square" lIns="0" tIns="0" rIns="0" bIns="0" rtlCol="0" anchor="t"/>
          <a:lstStyle/>
          <a:p>
            <a:pPr marL="0" indent="0" algn="r" rtl="1">
              <a:buNone/>
            </a:pPr>
            <a:r>
              <a:rPr lang="fa-IR" altLang="en-US" sz="2000" b="1" dirty="0">
                <a:solidFill>
                  <a:srgbClr val="FFFFFF"/>
                </a:solidFill>
                <a:latin typeface="Vazirmatn" pitchFamily="34" charset="0"/>
                <a:ea typeface="Vazirmatn" pitchFamily="34" charset="-122"/>
                <a:cs typeface="Vazirmatn" pitchFamily="34" charset="-120"/>
              </a:rPr>
              <a:t>هشدار مقایسه</a:t>
            </a:r>
            <a:endParaRPr lang="fa-IR" sz="2000" dirty="0"/>
          </a:p>
        </p:txBody>
      </p:sp>
      <p:sp>
        <p:nvSpPr>
          <p:cNvPr id="11" name="Text 7"/>
          <p:cNvSpPr txBox="1"/>
          <p:nvPr/>
        </p:nvSpPr>
        <p:spPr>
          <a:xfrm>
            <a:off x="822960" y="2743200"/>
            <a:ext cx="3154680" cy="3108960"/>
          </a:xfrm>
          <a:prstGeom prst="rect">
            <a:avLst/>
          </a:prstGeom>
          <a:noFill/>
          <a:ln/>
        </p:spPr>
        <p:txBody>
          <a:bodyPr wrap="square" lIns="0" tIns="0" rIns="0" bIns="0" rtlCol="0" anchor="t"/>
          <a:lstStyle/>
          <a:p>
            <a:pPr marL="228600" indent="-228600" algn="r">
              <a:spcAft>
                <a:spcPts val="1200"/>
              </a:spcAft>
              <a:buSzPct val="100000"/>
              <a:buChar char="•"/>
            </a:pPr>
            <a:r>
              <a:rPr lang="fa-IR" altLang="en-US" sz="1400" dirty="0">
                <a:solidFill>
                  <a:srgbClr val="E2E8F0"/>
                </a:solidFill>
                <a:latin typeface="Vazirmatn" pitchFamily="34" charset="0"/>
                <a:ea typeface="Vazirmatn" pitchFamily="34" charset="-122"/>
                <a:cs typeface="Vazirmatn" pitchFamily="34" charset="-120"/>
              </a:rPr>
              <a:t>هر مقاله بنچمارک، سخت‌افزار و نسخه‌ی هسته‌ی خودش را دارد</a:t>
            </a:r>
            <a:endParaRPr lang="fa-IR" sz="1400" dirty="0"/>
          </a:p>
          <a:p>
            <a:pPr marL="228600" indent="-228600" algn="r">
              <a:spcAft>
                <a:spcPts val="1200"/>
              </a:spcAft>
              <a:buSzPct val="100000"/>
              <a:buChar char="•"/>
            </a:pPr>
            <a:r>
              <a:rPr lang="fa-IR" altLang="en-US" sz="1400" dirty="0">
                <a:solidFill>
                  <a:srgbClr val="E2E8F0"/>
                </a:solidFill>
                <a:latin typeface="Vazirmatn" pitchFamily="34" charset="0"/>
                <a:ea typeface="Vazirmatn" pitchFamily="34" charset="-122"/>
                <a:cs typeface="Vazirmatn" pitchFamily="34" charset="-120"/>
              </a:rPr>
              <a:t>μSwitch روی Firefox، ISLAB روی Phoronix، Safeslab روی LMbench</a:t>
            </a:r>
            <a:endParaRPr lang="fa-IR" sz="1400" dirty="0"/>
          </a:p>
          <a:p>
            <a:pPr marL="228600" indent="-228600" algn="r">
              <a:spcAft>
                <a:spcPts val="1200"/>
              </a:spcAft>
              <a:buSzPct val="100000"/>
              <a:buChar char="•"/>
            </a:pPr>
            <a:r>
              <a:rPr lang="fa-IR" altLang="en-US" sz="1400" dirty="0">
                <a:solidFill>
                  <a:srgbClr val="E2E8F0"/>
                </a:solidFill>
                <a:latin typeface="Vazirmatn" pitchFamily="34" charset="0"/>
                <a:ea typeface="Vazirmatn" pitchFamily="34" charset="-122"/>
                <a:cs typeface="Vazirmatn" pitchFamily="34" charset="-120"/>
              </a:rPr>
              <a:t>نبود محک یکسان خودش یک نقد به این حوزه است</a:t>
            </a:r>
            <a:endParaRPr lang="fa-IR" sz="14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4A3B8"/>
                </a:solidFill>
                <a:latin typeface="Vazirmatn"/>
                <a:ea typeface="Vazirmatn"/>
                <a:cs typeface="Vazirmatn"/>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47472"/>
            <a:ext cx="11094415" cy="640080"/>
          </a:xfrm>
          <a:prstGeom prst="rect">
            <a:avLst/>
          </a:prstGeom>
          <a:noFill/>
          <a:ln/>
        </p:spPr>
        <p:txBody>
          <a:bodyPr wrap="square" lIns="0" tIns="0" rIns="0" bIns="0" rtlCol="0" anchor="ctr"/>
          <a:lstStyle/>
          <a:p>
            <a:pPr marL="0" indent="0" algn="r" rtl="1">
              <a:buNone/>
            </a:pPr>
            <a:r>
              <a:rPr lang="fa-IR" altLang="en-US" sz="3000" b="1" dirty="0">
                <a:solidFill>
                  <a:srgbClr val="0F172A"/>
                </a:solidFill>
                <a:latin typeface="Vazirmatn" pitchFamily="34" charset="0"/>
                <a:ea typeface="Vazirmatn" pitchFamily="34" charset="-122"/>
                <a:cs typeface="Vazirmatn" pitchFamily="34" charset="-120"/>
              </a:rPr>
              <a:t>تحلیل انتقادی</a:t>
            </a:r>
            <a:endParaRPr lang="fa-IR" sz="3000" dirty="0"/>
          </a:p>
        </p:txBody>
      </p:sp>
      <p:sp>
        <p:nvSpPr>
          <p:cNvPr id="3" name="Text 1"/>
          <p:cNvSpPr txBox="1"/>
          <p:nvPr/>
        </p:nvSpPr>
        <p:spPr>
          <a:xfrm>
            <a:off x="548640" y="969264"/>
            <a:ext cx="8168335" cy="365760"/>
          </a:xfrm>
          <a:prstGeom prst="rect">
            <a:avLst/>
          </a:prstGeom>
          <a:noFill/>
          <a:ln/>
        </p:spPr>
        <p:txBody>
          <a:bodyPr wrap="square" lIns="0" tIns="0" rIns="0" bIns="0" rtlCol="0" anchor="ctr"/>
          <a:lstStyle/>
          <a:p>
            <a:pPr marL="0" indent="0" algn="r" rtl="1">
              <a:buNone/>
            </a:pPr>
            <a:r>
              <a:rPr lang="fa-IR" altLang="en-US" sz="1500" dirty="0">
                <a:solidFill>
                  <a:srgbClr val="475569"/>
                </a:solidFill>
                <a:latin typeface="Vazirmatn" pitchFamily="34" charset="0"/>
                <a:ea typeface="Vazirmatn" pitchFamily="34" charset="-122"/>
                <a:cs typeface="Vazirmatn" pitchFamily="34" charset="-120"/>
              </a:rPr>
              <a:t>چهار ضعف مشترک و یک نقطه‌ی قوت مشترک</a:t>
            </a:r>
            <a:endParaRPr lang="fa-IR" sz="1500" dirty="0"/>
          </a:p>
        </p:txBody>
      </p:sp>
      <p:sp>
        <p:nvSpPr>
          <p:cNvPr id="4" name="Shape 2"/>
          <p:cNvSpPr/>
          <p:nvPr/>
        </p:nvSpPr>
        <p:spPr>
          <a:xfrm>
            <a:off x="6233008" y="1600200"/>
            <a:ext cx="5410048" cy="1417320"/>
          </a:xfrm>
          <a:prstGeom prst="roundRect">
            <a:avLst>
              <a:gd name="adj" fmla="val 7742"/>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5" name="Shape 3"/>
          <p:cNvSpPr/>
          <p:nvPr/>
        </p:nvSpPr>
        <p:spPr>
          <a:xfrm>
            <a:off x="10774375" y="1874520"/>
            <a:ext cx="640080" cy="640080"/>
          </a:xfrm>
          <a:prstGeom prst="ellipse">
            <a:avLst/>
          </a:prstGeom>
          <a:solidFill>
            <a:srgbClr val="7C3AED"/>
          </a:solidFill>
          <a:ln w="12700">
            <a:solidFill>
              <a:srgbClr val="7C3AED"/>
            </a:solidFill>
            <a:prstDash val="solid"/>
          </a:ln>
        </p:spPr>
      </p:sp>
      <p:pic>
        <p:nvPicPr>
          <p:cNvPr id="6" name="Image 0" descr="preencoded.png"/>
          <p:cNvPicPr>
            <a:picLocks noChangeAspect="1"/>
          </p:cNvPicPr>
          <p:nvPr/>
        </p:nvPicPr>
        <p:blipFill>
          <a:blip r:embed="rId3"/>
          <a:stretch>
            <a:fillRect/>
          </a:stretch>
        </p:blipFill>
        <p:spPr>
          <a:xfrm>
            <a:off x="10915193" y="2015338"/>
            <a:ext cx="358445" cy="358445"/>
          </a:xfrm>
          <a:prstGeom prst="rect">
            <a:avLst/>
          </a:prstGeom>
        </p:spPr>
      </p:pic>
      <p:sp>
        <p:nvSpPr>
          <p:cNvPr id="7" name="Text 4"/>
          <p:cNvSpPr txBox="1"/>
          <p:nvPr/>
        </p:nvSpPr>
        <p:spPr>
          <a:xfrm>
            <a:off x="6507328" y="1801368"/>
            <a:ext cx="4084168" cy="411480"/>
          </a:xfrm>
          <a:prstGeom prst="rect">
            <a:avLst/>
          </a:prstGeom>
          <a:noFill/>
          <a:ln/>
        </p:spPr>
        <p:txBody>
          <a:bodyPr wrap="square" lIns="0" tIns="0" rIns="0" bIns="0" rtlCol="0" anchor="t"/>
          <a:lstStyle/>
          <a:p>
            <a:pPr marL="0" indent="0" algn="r" rtl="1">
              <a:buNone/>
            </a:pPr>
            <a:r>
              <a:rPr lang="fa-IR" altLang="en-US" sz="1800" b="1" dirty="0">
                <a:solidFill>
                  <a:srgbClr val="0F172A"/>
                </a:solidFill>
                <a:latin typeface="Vazirmatn" pitchFamily="34" charset="0"/>
                <a:ea typeface="Vazirmatn" pitchFamily="34" charset="-122"/>
                <a:cs typeface="Vazirmatn" pitchFamily="34" charset="-120"/>
              </a:rPr>
              <a:t>وابستگی سخت‌افزاری</a:t>
            </a:r>
            <a:endParaRPr lang="fa-IR" sz="1800" dirty="0"/>
          </a:p>
        </p:txBody>
      </p:sp>
      <p:sp>
        <p:nvSpPr>
          <p:cNvPr id="8" name="Text 5"/>
          <p:cNvSpPr txBox="1"/>
          <p:nvPr/>
        </p:nvSpPr>
        <p:spPr>
          <a:xfrm>
            <a:off x="6507328" y="2240280"/>
            <a:ext cx="4084168" cy="685800"/>
          </a:xfrm>
          <a:prstGeom prst="rect">
            <a:avLst/>
          </a:prstGeom>
          <a:noFill/>
          <a:ln/>
        </p:spPr>
        <p:txBody>
          <a:bodyPr wrap="square" lIns="0" tIns="0" rIns="0" bIns="0" rtlCol="0" anchor="t"/>
          <a:lstStyle/>
          <a:p>
            <a:pPr marL="0" indent="0" algn="r" rtl="1">
              <a:buNone/>
            </a:pPr>
            <a:r>
              <a:rPr lang="fa-IR" altLang="en-US" sz="1300" dirty="0">
                <a:solidFill>
                  <a:srgbClr val="475569"/>
                </a:solidFill>
                <a:latin typeface="Vazirmatn" pitchFamily="34" charset="0"/>
                <a:ea typeface="Vazirmatn" pitchFamily="34" charset="-122"/>
                <a:cs typeface="Vazirmatn" pitchFamily="34" charset="-120"/>
              </a:rPr>
              <a:t>MPK فقط روی Intel جدید؛ PKS در دسترس نبود و Safeslab از PKU در حالت هسته استفاده کرد</a:t>
            </a:r>
            <a:endParaRPr lang="fa-IR" sz="1300" dirty="0"/>
          </a:p>
        </p:txBody>
      </p:sp>
      <p:sp>
        <p:nvSpPr>
          <p:cNvPr id="9" name="Shape 6"/>
          <p:cNvSpPr/>
          <p:nvPr/>
        </p:nvSpPr>
        <p:spPr>
          <a:xfrm>
            <a:off x="548640" y="1600200"/>
            <a:ext cx="5410048" cy="1417320"/>
          </a:xfrm>
          <a:prstGeom prst="roundRect">
            <a:avLst>
              <a:gd name="adj" fmla="val 7742"/>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10" name="Shape 7"/>
          <p:cNvSpPr/>
          <p:nvPr/>
        </p:nvSpPr>
        <p:spPr>
          <a:xfrm>
            <a:off x="5090008" y="1874520"/>
            <a:ext cx="640080" cy="640080"/>
          </a:xfrm>
          <a:prstGeom prst="ellipse">
            <a:avLst/>
          </a:prstGeom>
          <a:solidFill>
            <a:srgbClr val="E11D48"/>
          </a:solidFill>
          <a:ln w="12700">
            <a:solidFill>
              <a:srgbClr val="E11D48"/>
            </a:solidFill>
            <a:prstDash val="solid"/>
          </a:ln>
        </p:spPr>
      </p:sp>
      <p:pic>
        <p:nvPicPr>
          <p:cNvPr id="11" name="Image 1" descr="preencoded.png"/>
          <p:cNvPicPr>
            <a:picLocks noChangeAspect="1"/>
          </p:cNvPicPr>
          <p:nvPr/>
        </p:nvPicPr>
        <p:blipFill>
          <a:blip r:embed="rId4"/>
          <a:stretch>
            <a:fillRect/>
          </a:stretch>
        </p:blipFill>
        <p:spPr>
          <a:xfrm>
            <a:off x="5230825" y="2015338"/>
            <a:ext cx="358445" cy="358445"/>
          </a:xfrm>
          <a:prstGeom prst="rect">
            <a:avLst/>
          </a:prstGeom>
        </p:spPr>
      </p:pic>
      <p:sp>
        <p:nvSpPr>
          <p:cNvPr id="12" name="Text 8"/>
          <p:cNvSpPr txBox="1"/>
          <p:nvPr/>
        </p:nvSpPr>
        <p:spPr>
          <a:xfrm>
            <a:off x="822960" y="1801368"/>
            <a:ext cx="4084168" cy="411480"/>
          </a:xfrm>
          <a:prstGeom prst="rect">
            <a:avLst/>
          </a:prstGeom>
          <a:noFill/>
          <a:ln/>
        </p:spPr>
        <p:txBody>
          <a:bodyPr wrap="square" lIns="0" tIns="0" rIns="0" bIns="0" rtlCol="0" anchor="t"/>
          <a:lstStyle/>
          <a:p>
            <a:pPr marL="0" indent="0" algn="r" rtl="1">
              <a:buNone/>
            </a:pPr>
            <a:r>
              <a:rPr lang="fa-IR" altLang="en-US" sz="1800" b="1" dirty="0">
                <a:solidFill>
                  <a:srgbClr val="0F172A"/>
                </a:solidFill>
                <a:latin typeface="Vazirmatn" pitchFamily="34" charset="0"/>
                <a:ea typeface="Vazirmatn" pitchFamily="34" charset="-122"/>
                <a:cs typeface="Vazirmatn" pitchFamily="34" charset="-120"/>
              </a:rPr>
              <a:t>ناسازگاری مدل تهدید</a:t>
            </a:r>
            <a:endParaRPr lang="fa-IR" sz="1800" dirty="0"/>
          </a:p>
        </p:txBody>
      </p:sp>
      <p:sp>
        <p:nvSpPr>
          <p:cNvPr id="13" name="Text 9"/>
          <p:cNvSpPr txBox="1"/>
          <p:nvPr/>
        </p:nvSpPr>
        <p:spPr>
          <a:xfrm>
            <a:off x="822960" y="2240280"/>
            <a:ext cx="4084168" cy="685800"/>
          </a:xfrm>
          <a:prstGeom prst="rect">
            <a:avLst/>
          </a:prstGeom>
          <a:noFill/>
          <a:ln/>
        </p:spPr>
        <p:txBody>
          <a:bodyPr wrap="square" lIns="0" tIns="0" rIns="0" bIns="0" rtlCol="0" anchor="t"/>
          <a:lstStyle/>
          <a:p>
            <a:pPr marL="0" indent="0" algn="r" rtl="1">
              <a:buNone/>
            </a:pPr>
            <a:r>
              <a:rPr lang="fa-IR" altLang="en-US" sz="1300" dirty="0">
                <a:solidFill>
                  <a:srgbClr val="475569"/>
                </a:solidFill>
                <a:latin typeface="Vazirmatn" pitchFamily="34" charset="0"/>
                <a:ea typeface="Vazirmatn" pitchFamily="34" charset="-122"/>
                <a:cs typeface="Vazirmatn" pitchFamily="34" charset="-120"/>
              </a:rPr>
              <a:t>بیشتر دفاع‌ها فرض می‌کنند مهاجم CFH ندارد؛ RetSpill نشان داد این فرض نقض می‌شود</a:t>
            </a:r>
            <a:endParaRPr lang="fa-IR" sz="1300" dirty="0"/>
          </a:p>
        </p:txBody>
      </p:sp>
      <p:sp>
        <p:nvSpPr>
          <p:cNvPr id="14" name="Shape 10"/>
          <p:cNvSpPr/>
          <p:nvPr/>
        </p:nvSpPr>
        <p:spPr>
          <a:xfrm>
            <a:off x="6233008" y="3200400"/>
            <a:ext cx="5410048" cy="1417320"/>
          </a:xfrm>
          <a:prstGeom prst="roundRect">
            <a:avLst>
              <a:gd name="adj" fmla="val 7742"/>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15" name="Shape 11"/>
          <p:cNvSpPr/>
          <p:nvPr/>
        </p:nvSpPr>
        <p:spPr>
          <a:xfrm>
            <a:off x="10774375" y="3474720"/>
            <a:ext cx="640080" cy="640080"/>
          </a:xfrm>
          <a:prstGeom prst="ellipse">
            <a:avLst/>
          </a:prstGeom>
          <a:solidFill>
            <a:srgbClr val="EA580C"/>
          </a:solidFill>
          <a:ln w="12700">
            <a:solidFill>
              <a:srgbClr val="EA580C"/>
            </a:solidFill>
            <a:prstDash val="solid"/>
          </a:ln>
        </p:spPr>
      </p:sp>
      <p:pic>
        <p:nvPicPr>
          <p:cNvPr id="16" name="Image 2" descr="preencoded.png"/>
          <p:cNvPicPr>
            <a:picLocks noChangeAspect="1"/>
          </p:cNvPicPr>
          <p:nvPr/>
        </p:nvPicPr>
        <p:blipFill>
          <a:blip r:embed="rId5"/>
          <a:stretch>
            <a:fillRect/>
          </a:stretch>
        </p:blipFill>
        <p:spPr>
          <a:xfrm>
            <a:off x="10915193" y="3615538"/>
            <a:ext cx="358445" cy="358445"/>
          </a:xfrm>
          <a:prstGeom prst="rect">
            <a:avLst/>
          </a:prstGeom>
        </p:spPr>
      </p:pic>
      <p:sp>
        <p:nvSpPr>
          <p:cNvPr id="17" name="Text 12"/>
          <p:cNvSpPr txBox="1"/>
          <p:nvPr/>
        </p:nvSpPr>
        <p:spPr>
          <a:xfrm>
            <a:off x="6507328" y="3401568"/>
            <a:ext cx="4084168" cy="411480"/>
          </a:xfrm>
          <a:prstGeom prst="rect">
            <a:avLst/>
          </a:prstGeom>
          <a:noFill/>
          <a:ln/>
        </p:spPr>
        <p:txBody>
          <a:bodyPr wrap="square" lIns="0" tIns="0" rIns="0" bIns="0" rtlCol="0" anchor="t"/>
          <a:lstStyle/>
          <a:p>
            <a:pPr marL="0" indent="0" algn="r" rtl="1">
              <a:buNone/>
            </a:pPr>
            <a:r>
              <a:rPr lang="fa-IR" altLang="en-US" sz="1800" b="1" dirty="0">
                <a:solidFill>
                  <a:srgbClr val="0F172A"/>
                </a:solidFill>
                <a:latin typeface="Vazirmatn" pitchFamily="34" charset="0"/>
                <a:ea typeface="Vazirmatn" pitchFamily="34" charset="-122"/>
                <a:cs typeface="Vazirmatn" pitchFamily="34" charset="-120"/>
              </a:rPr>
              <a:t>ارزیابی ناهمگون</a:t>
            </a:r>
            <a:endParaRPr lang="fa-IR" sz="1800" dirty="0"/>
          </a:p>
        </p:txBody>
      </p:sp>
      <p:sp>
        <p:nvSpPr>
          <p:cNvPr id="18" name="Text 13"/>
          <p:cNvSpPr txBox="1"/>
          <p:nvPr/>
        </p:nvSpPr>
        <p:spPr>
          <a:xfrm>
            <a:off x="6507328" y="3840480"/>
            <a:ext cx="4084168" cy="685800"/>
          </a:xfrm>
          <a:prstGeom prst="rect">
            <a:avLst/>
          </a:prstGeom>
          <a:noFill/>
          <a:ln/>
        </p:spPr>
        <p:txBody>
          <a:bodyPr wrap="square" lIns="0" tIns="0" rIns="0" bIns="0" rtlCol="0" anchor="t"/>
          <a:lstStyle/>
          <a:p>
            <a:pPr marL="0" indent="0" algn="r" rtl="1">
              <a:buNone/>
            </a:pPr>
            <a:r>
              <a:rPr lang="fa-IR" altLang="en-US" sz="1300" dirty="0">
                <a:solidFill>
                  <a:srgbClr val="475569"/>
                </a:solidFill>
                <a:latin typeface="Vazirmatn" pitchFamily="34" charset="0"/>
                <a:ea typeface="Vazirmatn" pitchFamily="34" charset="-122"/>
                <a:cs typeface="Vazirmatn" pitchFamily="34" charset="-120"/>
              </a:rPr>
              <a:t>بنچمارک، سخت‌افزار و نسخه‌ی هسته‌ی متفاوت؛ مقایسه‌ی مستقیم ممکن نیست</a:t>
            </a:r>
            <a:endParaRPr lang="fa-IR" sz="1300" dirty="0"/>
          </a:p>
        </p:txBody>
      </p:sp>
      <p:sp>
        <p:nvSpPr>
          <p:cNvPr id="19" name="Shape 14"/>
          <p:cNvSpPr/>
          <p:nvPr/>
        </p:nvSpPr>
        <p:spPr>
          <a:xfrm>
            <a:off x="548640" y="3200400"/>
            <a:ext cx="5410048" cy="1417320"/>
          </a:xfrm>
          <a:prstGeom prst="roundRect">
            <a:avLst>
              <a:gd name="adj" fmla="val 7742"/>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sp>
      <p:sp>
        <p:nvSpPr>
          <p:cNvPr id="20" name="Shape 15"/>
          <p:cNvSpPr/>
          <p:nvPr/>
        </p:nvSpPr>
        <p:spPr>
          <a:xfrm>
            <a:off x="5090008" y="3474720"/>
            <a:ext cx="640080" cy="640080"/>
          </a:xfrm>
          <a:prstGeom prst="ellipse">
            <a:avLst/>
          </a:prstGeom>
          <a:solidFill>
            <a:srgbClr val="0D9488"/>
          </a:solidFill>
          <a:ln w="12700">
            <a:solidFill>
              <a:srgbClr val="0D9488"/>
            </a:solidFill>
            <a:prstDash val="solid"/>
          </a:ln>
        </p:spPr>
      </p:sp>
      <p:pic>
        <p:nvPicPr>
          <p:cNvPr id="21" name="Image 3" descr="preencoded.png"/>
          <p:cNvPicPr>
            <a:picLocks noChangeAspect="1"/>
          </p:cNvPicPr>
          <p:nvPr/>
        </p:nvPicPr>
        <p:blipFill>
          <a:blip r:embed="rId6"/>
          <a:stretch>
            <a:fillRect/>
          </a:stretch>
        </p:blipFill>
        <p:spPr>
          <a:xfrm>
            <a:off x="5230825" y="3615538"/>
            <a:ext cx="358445" cy="358445"/>
          </a:xfrm>
          <a:prstGeom prst="rect">
            <a:avLst/>
          </a:prstGeom>
        </p:spPr>
      </p:pic>
      <p:sp>
        <p:nvSpPr>
          <p:cNvPr id="22" name="Text 16"/>
          <p:cNvSpPr txBox="1"/>
          <p:nvPr/>
        </p:nvSpPr>
        <p:spPr>
          <a:xfrm>
            <a:off x="822960" y="3401568"/>
            <a:ext cx="4084168" cy="411480"/>
          </a:xfrm>
          <a:prstGeom prst="rect">
            <a:avLst/>
          </a:prstGeom>
          <a:noFill/>
          <a:ln/>
        </p:spPr>
        <p:txBody>
          <a:bodyPr wrap="square" lIns="0" tIns="0" rIns="0" bIns="0" rtlCol="0" anchor="t"/>
          <a:lstStyle/>
          <a:p>
            <a:pPr marL="0" indent="0" algn="r" rtl="1">
              <a:buNone/>
            </a:pPr>
            <a:r>
              <a:rPr lang="fa-IR" altLang="en-US" sz="1800" b="1" dirty="0">
                <a:solidFill>
                  <a:srgbClr val="0F172A"/>
                </a:solidFill>
                <a:latin typeface="Vazirmatn" pitchFamily="34" charset="0"/>
                <a:ea typeface="Vazirmatn" pitchFamily="34" charset="-122"/>
                <a:cs typeface="Vazirmatn" pitchFamily="34" charset="-120"/>
              </a:rPr>
              <a:t>فاصله با هسته‌ی اصلی</a:t>
            </a:r>
            <a:endParaRPr lang="fa-IR" sz="1800" dirty="0"/>
          </a:p>
        </p:txBody>
      </p:sp>
      <p:sp>
        <p:nvSpPr>
          <p:cNvPr id="23" name="Text 17"/>
          <p:cNvSpPr txBox="1"/>
          <p:nvPr/>
        </p:nvSpPr>
        <p:spPr>
          <a:xfrm>
            <a:off x="822960" y="3840480"/>
            <a:ext cx="4084168" cy="685800"/>
          </a:xfrm>
          <a:prstGeom prst="rect">
            <a:avLst/>
          </a:prstGeom>
          <a:noFill/>
          <a:ln/>
        </p:spPr>
        <p:txBody>
          <a:bodyPr wrap="square" lIns="0" tIns="0" rIns="0" bIns="0" rtlCol="0" anchor="t"/>
          <a:lstStyle/>
          <a:p>
            <a:pPr marL="0" indent="0" algn="r" rtl="1">
              <a:buNone/>
            </a:pPr>
            <a:r>
              <a:rPr lang="fa-IR" altLang="en-US" sz="1300" dirty="0">
                <a:solidFill>
                  <a:srgbClr val="475569"/>
                </a:solidFill>
                <a:latin typeface="Vazirmatn" pitchFamily="34" charset="0"/>
                <a:ea typeface="Vazirmatn" pitchFamily="34" charset="-122"/>
                <a:cs typeface="Vazirmatn" pitchFamily="34" charset="-120"/>
              </a:rPr>
              <a:t>به‌جز زیرساخت Rust (از نسخه‌ی ۶٫۱)، هیچ‌کدام در لینوکس رسمی ادغام نشده‌اند</a:t>
            </a:r>
            <a:endParaRPr lang="fa-IR" sz="1300" dirty="0"/>
          </a:p>
        </p:txBody>
      </p:sp>
      <p:sp>
        <p:nvSpPr>
          <p:cNvPr id="24" name="Shape 18"/>
          <p:cNvSpPr/>
          <p:nvPr/>
        </p:nvSpPr>
        <p:spPr>
          <a:xfrm>
            <a:off x="548640" y="4892040"/>
            <a:ext cx="11094415" cy="1234440"/>
          </a:xfrm>
          <a:prstGeom prst="roundRect">
            <a:avLst>
              <a:gd name="adj" fmla="val 8889"/>
            </a:avLst>
          </a:prstGeom>
          <a:solidFill>
            <a:srgbClr val="CCFBF1"/>
          </a:solidFill>
          <a:ln w="12700">
            <a:solidFill>
              <a:srgbClr val="CCFBF1"/>
            </a:solidFill>
            <a:prstDash val="solid"/>
          </a:ln>
          <a:effectLst>
            <a:outerShdw blurRad="101600" dist="25400" dir="5400000" algn="bl" rotWithShape="0">
              <a:srgbClr val="0F172A">
                <a:alpha val="8000"/>
              </a:srgbClr>
            </a:outerShdw>
          </a:effectLst>
        </p:spPr>
      </p:sp>
      <p:sp>
        <p:nvSpPr>
          <p:cNvPr id="25" name="Shape 19"/>
          <p:cNvSpPr/>
          <p:nvPr/>
        </p:nvSpPr>
        <p:spPr>
          <a:xfrm>
            <a:off x="10728655" y="5184648"/>
            <a:ext cx="640080" cy="640080"/>
          </a:xfrm>
          <a:prstGeom prst="ellipse">
            <a:avLst/>
          </a:prstGeom>
          <a:solidFill>
            <a:srgbClr val="0D9488"/>
          </a:solidFill>
          <a:ln w="12700">
            <a:solidFill>
              <a:srgbClr val="0D9488"/>
            </a:solidFill>
            <a:prstDash val="solid"/>
          </a:ln>
        </p:spPr>
      </p:sp>
      <p:pic>
        <p:nvPicPr>
          <p:cNvPr id="26" name="Image 4" descr="preencoded.png"/>
          <p:cNvPicPr>
            <a:picLocks noChangeAspect="1"/>
          </p:cNvPicPr>
          <p:nvPr/>
        </p:nvPicPr>
        <p:blipFill>
          <a:blip r:embed="rId7"/>
          <a:stretch>
            <a:fillRect/>
          </a:stretch>
        </p:blipFill>
        <p:spPr>
          <a:xfrm>
            <a:off x="10869473" y="5325466"/>
            <a:ext cx="358445" cy="358445"/>
          </a:xfrm>
          <a:prstGeom prst="rect">
            <a:avLst/>
          </a:prstGeom>
        </p:spPr>
      </p:pic>
      <p:sp>
        <p:nvSpPr>
          <p:cNvPr id="27" name="Text 20"/>
          <p:cNvSpPr txBox="1"/>
          <p:nvPr/>
        </p:nvSpPr>
        <p:spPr>
          <a:xfrm>
            <a:off x="868680" y="5001768"/>
            <a:ext cx="9631375" cy="411480"/>
          </a:xfrm>
          <a:prstGeom prst="rect">
            <a:avLst/>
          </a:prstGeom>
          <a:noFill/>
          <a:ln/>
        </p:spPr>
        <p:txBody>
          <a:bodyPr wrap="square" lIns="0" tIns="0" rIns="0" bIns="0" rtlCol="0" anchor="t"/>
          <a:lstStyle/>
          <a:p>
            <a:pPr marL="0" indent="0" algn="r" rtl="1">
              <a:buNone/>
            </a:pPr>
            <a:r>
              <a:rPr lang="fa-IR" altLang="en-US" sz="1800" b="1" dirty="0">
                <a:solidFill>
                  <a:srgbClr val="115E59"/>
                </a:solidFill>
                <a:latin typeface="Vazirmatn" pitchFamily="34" charset="0"/>
                <a:ea typeface="Vazirmatn" pitchFamily="34" charset="-122"/>
                <a:cs typeface="Vazirmatn" pitchFamily="34" charset="-120"/>
              </a:rPr>
              <a:t>نقطه‌ی قوت مشترک</a:t>
            </a:r>
            <a:endParaRPr lang="fa-IR" sz="1800" dirty="0"/>
          </a:p>
        </p:txBody>
      </p:sp>
      <p:sp>
        <p:nvSpPr>
          <p:cNvPr id="28" name="Text 21"/>
          <p:cNvSpPr txBox="1"/>
          <p:nvPr/>
        </p:nvSpPr>
        <p:spPr>
          <a:xfrm>
            <a:off x="868680" y="5413248"/>
            <a:ext cx="9631375" cy="548640"/>
          </a:xfrm>
          <a:prstGeom prst="rect">
            <a:avLst/>
          </a:prstGeom>
          <a:noFill/>
          <a:ln/>
        </p:spPr>
        <p:txBody>
          <a:bodyPr wrap="square" lIns="0" tIns="0" rIns="0" bIns="0" rtlCol="0" anchor="t"/>
          <a:lstStyle/>
          <a:p>
            <a:pPr marL="0" indent="0" algn="r" rtl="1">
              <a:buNone/>
            </a:pPr>
            <a:r>
              <a:rPr lang="fa-IR" altLang="en-US" sz="1400" dirty="0">
                <a:solidFill>
                  <a:srgbClr val="115E59"/>
                </a:solidFill>
                <a:latin typeface="Vazirmatn" pitchFamily="34" charset="0"/>
                <a:ea typeface="Vazirmatn" pitchFamily="34" charset="-122"/>
                <a:cs typeface="Vazirmatn" pitchFamily="34" charset="-120"/>
              </a:rPr>
              <a:t>همه روی هسته‌ی واقعی لینوکس پیاده‌سازی و با exploitها و CVEهای واقعی ارزیابی شده‌اند، نه فقط مدل نظری.</a:t>
            </a:r>
            <a:endParaRPr lang="fa-IR" sz="1400" dirty="0"/>
          </a:p>
        </p:txBody>
      </p:sp>
      <p:sp>
        <p:nvSpPr>
          <p:cNvPr id="29"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4A3B8"/>
                </a:solidFill>
                <a:latin typeface="Vazirmatn"/>
                <a:ea typeface="Vazirmatn"/>
                <a:cs typeface="Vazirmatn"/>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47472"/>
            <a:ext cx="11094415" cy="640080"/>
          </a:xfrm>
          <a:prstGeom prst="rect">
            <a:avLst/>
          </a:prstGeom>
          <a:noFill/>
          <a:ln/>
        </p:spPr>
        <p:txBody>
          <a:bodyPr wrap="square" lIns="0" tIns="0" rIns="0" bIns="0" rtlCol="0" anchor="ctr"/>
          <a:lstStyle/>
          <a:p>
            <a:pPr marL="0" indent="0" algn="r" rtl="1">
              <a:buNone/>
            </a:pPr>
            <a:r>
              <a:rPr lang="fa-IR" altLang="en-US" sz="3000" b="1" dirty="0">
                <a:solidFill>
                  <a:srgbClr val="0F172A"/>
                </a:solidFill>
                <a:latin typeface="Vazirmatn" pitchFamily="34" charset="0"/>
                <a:ea typeface="Vazirmatn" pitchFamily="34" charset="-122"/>
                <a:cs typeface="Vazirmatn" pitchFamily="34" charset="-120"/>
              </a:rPr>
              <a:t>ترکیب: دفاع در عمق</a:t>
            </a:r>
            <a:endParaRPr lang="fa-IR" sz="3000" dirty="0"/>
          </a:p>
        </p:txBody>
      </p:sp>
      <p:sp>
        <p:nvSpPr>
          <p:cNvPr id="3" name="Text 1"/>
          <p:cNvSpPr txBox="1"/>
          <p:nvPr/>
        </p:nvSpPr>
        <p:spPr>
          <a:xfrm>
            <a:off x="548640" y="969264"/>
            <a:ext cx="8168335" cy="365760"/>
          </a:xfrm>
          <a:prstGeom prst="rect">
            <a:avLst/>
          </a:prstGeom>
          <a:noFill/>
          <a:ln/>
        </p:spPr>
        <p:txBody>
          <a:bodyPr wrap="square" lIns="0" tIns="0" rIns="0" bIns="0" rtlCol="0" anchor="ctr"/>
          <a:lstStyle/>
          <a:p>
            <a:pPr marL="0" indent="0" algn="r" rtl="1">
              <a:buNone/>
            </a:pPr>
            <a:r>
              <a:rPr lang="fa-IR" altLang="en-US" sz="1500" dirty="0">
                <a:solidFill>
                  <a:srgbClr val="475569"/>
                </a:solidFill>
                <a:latin typeface="Vazirmatn" pitchFamily="34" charset="0"/>
                <a:ea typeface="Vazirmatn" pitchFamily="34" charset="-122"/>
                <a:cs typeface="Vazirmatn" pitchFamily="34" charset="-120"/>
              </a:rPr>
              <a:t>این رویکردها رقیب نیستند؛ هرکدام یک حلقه از زنجیره‌ی حمله را می‌بندد</a:t>
            </a:r>
            <a:endParaRPr lang="fa-IR" sz="1500" dirty="0"/>
          </a:p>
        </p:txBody>
      </p:sp>
      <p:sp>
        <p:nvSpPr>
          <p:cNvPr id="4" name="Shape 2"/>
          <p:cNvSpPr/>
          <p:nvPr/>
        </p:nvSpPr>
        <p:spPr>
          <a:xfrm>
            <a:off x="4160520" y="1600200"/>
            <a:ext cx="7482535" cy="777240"/>
          </a:xfrm>
          <a:prstGeom prst="roundRect">
            <a:avLst>
              <a:gd name="adj" fmla="val 11765"/>
            </a:avLst>
          </a:prstGeom>
          <a:solidFill>
            <a:srgbClr val="EA580C"/>
          </a:solidFill>
          <a:ln w="12700">
            <a:solidFill>
              <a:srgbClr val="EA580C"/>
            </a:solidFill>
            <a:prstDash val="solid"/>
          </a:ln>
        </p:spPr>
      </p:sp>
      <p:sp>
        <p:nvSpPr>
          <p:cNvPr id="5" name="Text 3"/>
          <p:cNvSpPr txBox="1"/>
          <p:nvPr/>
        </p:nvSpPr>
        <p:spPr>
          <a:xfrm>
            <a:off x="8275914" y="1600200"/>
            <a:ext cx="3092821" cy="777240"/>
          </a:xfrm>
          <a:prstGeom prst="rect">
            <a:avLst/>
          </a:prstGeom>
          <a:noFill/>
          <a:ln/>
        </p:spPr>
        <p:txBody>
          <a:bodyPr wrap="square" lIns="0" tIns="0" rIns="0" bIns="0" rtlCol="0" anchor="ctr"/>
          <a:lstStyle/>
          <a:p>
            <a:pPr marL="0" indent="0" algn="r" rtl="1">
              <a:buNone/>
            </a:pPr>
            <a:r>
              <a:rPr lang="fa-IR" altLang="en-US" sz="1700" b="1" dirty="0">
                <a:solidFill>
                  <a:srgbClr val="FFFFFF"/>
                </a:solidFill>
                <a:latin typeface="Vazirmatn" pitchFamily="34" charset="0"/>
                <a:ea typeface="Vazirmatn" pitchFamily="34" charset="-122"/>
                <a:cs typeface="Vazirmatn" pitchFamily="34" charset="-120"/>
              </a:rPr>
              <a:t>زبان امن</a:t>
            </a:r>
            <a:endParaRPr lang="fa-IR" sz="1700" dirty="0"/>
          </a:p>
        </p:txBody>
      </p:sp>
      <p:sp>
        <p:nvSpPr>
          <p:cNvPr id="6" name="Text 4"/>
          <p:cNvSpPr txBox="1"/>
          <p:nvPr/>
        </p:nvSpPr>
        <p:spPr>
          <a:xfrm>
            <a:off x="4434840" y="1600200"/>
            <a:ext cx="3749634" cy="777240"/>
          </a:xfrm>
          <a:prstGeom prst="rect">
            <a:avLst/>
          </a:prstGeom>
          <a:noFill/>
          <a:ln/>
        </p:spPr>
        <p:txBody>
          <a:bodyPr wrap="square" lIns="0" tIns="0" rIns="0" bIns="0" rtlCol="0" anchor="ctr"/>
          <a:lstStyle/>
          <a:p>
            <a:pPr marL="0" indent="0" algn="r">
              <a:buNone/>
            </a:pPr>
            <a:r>
              <a:rPr lang="fa-IR" altLang="en-US" sz="1200" dirty="0">
                <a:solidFill>
                  <a:srgbClr val="FFFFFF"/>
                </a:solidFill>
                <a:latin typeface="Vazirmatn" pitchFamily="34" charset="0"/>
                <a:ea typeface="Vazirmatn" pitchFamily="34" charset="-122"/>
                <a:cs typeface="Vazirmatn" pitchFamily="34" charset="-120"/>
              </a:rPr>
              <a:t>جلوی نوشته‌شدن باگ را می‌گیرد</a:t>
            </a:r>
            <a:endParaRPr lang="fa-IR" sz="1200" dirty="0"/>
          </a:p>
          <a:p>
            <a:pPr marL="0" indent="0" algn="r">
              <a:buNone/>
            </a:pPr>
            <a:r>
              <a:rPr lang="fa-IR" altLang="en-US" sz="1100" dirty="0">
                <a:solidFill>
                  <a:srgbClr val="F1F5F9"/>
                </a:solidFill>
                <a:latin typeface="Vazirmatn" pitchFamily="34" charset="0"/>
                <a:ea typeface="Vazirmatn" pitchFamily="34" charset="-122"/>
                <a:cs typeface="Vazirmatn" pitchFamily="34" charset="-120"/>
              </a:rPr>
              <a:t>Rust for Linux</a:t>
            </a:r>
            <a:endParaRPr lang="fa-IR" sz="1200" dirty="0"/>
          </a:p>
        </p:txBody>
      </p:sp>
      <p:sp>
        <p:nvSpPr>
          <p:cNvPr id="7" name="Shape 5"/>
          <p:cNvSpPr/>
          <p:nvPr/>
        </p:nvSpPr>
        <p:spPr>
          <a:xfrm>
            <a:off x="4572000" y="2514600"/>
            <a:ext cx="6659575" cy="777240"/>
          </a:xfrm>
          <a:prstGeom prst="roundRect">
            <a:avLst>
              <a:gd name="adj" fmla="val 11765"/>
            </a:avLst>
          </a:prstGeom>
          <a:solidFill>
            <a:srgbClr val="0D9488"/>
          </a:solidFill>
          <a:ln w="12700">
            <a:solidFill>
              <a:srgbClr val="0D9488"/>
            </a:solidFill>
            <a:prstDash val="solid"/>
          </a:ln>
        </p:spPr>
      </p:sp>
      <p:sp>
        <p:nvSpPr>
          <p:cNvPr id="8" name="Text 6"/>
          <p:cNvSpPr txBox="1"/>
          <p:nvPr/>
        </p:nvSpPr>
        <p:spPr>
          <a:xfrm>
            <a:off x="8234766" y="2514600"/>
            <a:ext cx="2722489" cy="777240"/>
          </a:xfrm>
          <a:prstGeom prst="rect">
            <a:avLst/>
          </a:prstGeom>
          <a:noFill/>
          <a:ln/>
        </p:spPr>
        <p:txBody>
          <a:bodyPr wrap="square" lIns="0" tIns="0" rIns="0" bIns="0" rtlCol="0" anchor="ctr"/>
          <a:lstStyle/>
          <a:p>
            <a:pPr marL="0" indent="0" algn="r" rtl="1">
              <a:buNone/>
            </a:pPr>
            <a:r>
              <a:rPr lang="fa-IR" altLang="en-US" sz="1700" b="1" dirty="0">
                <a:solidFill>
                  <a:srgbClr val="FFFFFF"/>
                </a:solidFill>
                <a:latin typeface="Vazirmatn" pitchFamily="34" charset="0"/>
                <a:ea typeface="Vazirmatn" pitchFamily="34" charset="-122"/>
                <a:cs typeface="Vazirmatn" pitchFamily="34" charset="-120"/>
              </a:rPr>
              <a:t>تخصیص‌دهنده‌ی سخت‌شده</a:t>
            </a:r>
            <a:endParaRPr lang="fa-IR" sz="1700" dirty="0"/>
          </a:p>
        </p:txBody>
      </p:sp>
      <p:sp>
        <p:nvSpPr>
          <p:cNvPr id="9" name="Text 7"/>
          <p:cNvSpPr txBox="1"/>
          <p:nvPr/>
        </p:nvSpPr>
        <p:spPr>
          <a:xfrm>
            <a:off x="4846320" y="2514600"/>
            <a:ext cx="3297006" cy="777240"/>
          </a:xfrm>
          <a:prstGeom prst="rect">
            <a:avLst/>
          </a:prstGeom>
          <a:noFill/>
          <a:ln/>
        </p:spPr>
        <p:txBody>
          <a:bodyPr wrap="square" lIns="0" tIns="0" rIns="0" bIns="0" rtlCol="0" anchor="ctr"/>
          <a:lstStyle/>
          <a:p>
            <a:pPr marL="0" indent="0" algn="r">
              <a:buNone/>
            </a:pPr>
            <a:r>
              <a:rPr lang="fa-IR" altLang="en-US" sz="1200" dirty="0">
                <a:solidFill>
                  <a:srgbClr val="FFFFFF"/>
                </a:solidFill>
                <a:latin typeface="Vazirmatn" pitchFamily="34" charset="0"/>
                <a:ea typeface="Vazirmatn" pitchFamily="34" charset="-122"/>
                <a:cs typeface="Vazirmatn" pitchFamily="34" charset="-120"/>
              </a:rPr>
              <a:t>تبدیل باگ به primitive را مهار می‌کند</a:t>
            </a:r>
            <a:endParaRPr lang="fa-IR" sz="1200" dirty="0"/>
          </a:p>
          <a:p>
            <a:pPr marL="0" indent="0" algn="r">
              <a:buNone/>
            </a:pPr>
            <a:r>
              <a:rPr lang="fa-IR" altLang="en-US" sz="1100" dirty="0">
                <a:solidFill>
                  <a:srgbClr val="F1F5F9"/>
                </a:solidFill>
                <a:latin typeface="Vazirmatn" pitchFamily="34" charset="0"/>
                <a:ea typeface="Vazirmatn" pitchFamily="34" charset="-122"/>
                <a:cs typeface="Vazirmatn" pitchFamily="34" charset="-120"/>
              </a:rPr>
              <a:t>ISLAB · Safeslab</a:t>
            </a:r>
            <a:endParaRPr lang="fa-IR" sz="1200" dirty="0"/>
          </a:p>
        </p:txBody>
      </p:sp>
      <p:sp>
        <p:nvSpPr>
          <p:cNvPr id="10" name="Shape 8"/>
          <p:cNvSpPr/>
          <p:nvPr/>
        </p:nvSpPr>
        <p:spPr>
          <a:xfrm>
            <a:off x="4983480" y="3429000"/>
            <a:ext cx="5836615" cy="777240"/>
          </a:xfrm>
          <a:prstGeom prst="roundRect">
            <a:avLst>
              <a:gd name="adj" fmla="val 11765"/>
            </a:avLst>
          </a:prstGeom>
          <a:solidFill>
            <a:srgbClr val="7C3AED"/>
          </a:solidFill>
          <a:ln w="12700">
            <a:solidFill>
              <a:srgbClr val="7C3AED"/>
            </a:solidFill>
            <a:prstDash val="solid"/>
          </a:ln>
        </p:spPr>
      </p:sp>
      <p:sp>
        <p:nvSpPr>
          <p:cNvPr id="11" name="Text 9"/>
          <p:cNvSpPr txBox="1"/>
          <p:nvPr/>
        </p:nvSpPr>
        <p:spPr>
          <a:xfrm>
            <a:off x="8193618" y="3429000"/>
            <a:ext cx="2352157" cy="777240"/>
          </a:xfrm>
          <a:prstGeom prst="rect">
            <a:avLst/>
          </a:prstGeom>
          <a:noFill/>
          <a:ln/>
        </p:spPr>
        <p:txBody>
          <a:bodyPr wrap="square" lIns="0" tIns="0" rIns="0" bIns="0" rtlCol="0" anchor="ctr"/>
          <a:lstStyle/>
          <a:p>
            <a:pPr marL="0" indent="0" algn="r" rtl="1">
              <a:buNone/>
            </a:pPr>
            <a:r>
              <a:rPr lang="fa-IR" altLang="en-US" sz="1700" b="1" dirty="0">
                <a:solidFill>
                  <a:srgbClr val="FFFFFF"/>
                </a:solidFill>
                <a:latin typeface="Vazirmatn" pitchFamily="34" charset="0"/>
                <a:ea typeface="Vazirmatn" pitchFamily="34" charset="-122"/>
                <a:cs typeface="Vazirmatn" pitchFamily="34" charset="-120"/>
              </a:rPr>
              <a:t>ایزوله‌سازی سخت‌افزاری</a:t>
            </a:r>
            <a:endParaRPr lang="fa-IR" sz="1700" dirty="0"/>
          </a:p>
        </p:txBody>
      </p:sp>
      <p:sp>
        <p:nvSpPr>
          <p:cNvPr id="12" name="Text 10"/>
          <p:cNvSpPr txBox="1"/>
          <p:nvPr/>
        </p:nvSpPr>
        <p:spPr>
          <a:xfrm>
            <a:off x="5257800" y="3429000"/>
            <a:ext cx="2844378" cy="777240"/>
          </a:xfrm>
          <a:prstGeom prst="rect">
            <a:avLst/>
          </a:prstGeom>
          <a:noFill/>
          <a:ln/>
        </p:spPr>
        <p:txBody>
          <a:bodyPr wrap="square" lIns="0" tIns="0" rIns="0" bIns="0" rtlCol="0" anchor="ctr"/>
          <a:lstStyle/>
          <a:p>
            <a:pPr marL="0" indent="0" algn="r">
              <a:buNone/>
            </a:pPr>
            <a:r>
              <a:rPr lang="fa-IR" altLang="en-US" sz="1200" dirty="0">
                <a:solidFill>
                  <a:srgbClr val="FFFFFF"/>
                </a:solidFill>
                <a:latin typeface="Vazirmatn" pitchFamily="34" charset="0"/>
                <a:ea typeface="Vazirmatn" pitchFamily="34" charset="-122"/>
                <a:cs typeface="Vazirmatn" pitchFamily="34" charset="-120"/>
              </a:rPr>
              <a:t>دامنه‌ی دسترسی را محدود می‌کند</a:t>
            </a:r>
            <a:endParaRPr lang="fa-IR" sz="1200" dirty="0"/>
          </a:p>
          <a:p>
            <a:pPr marL="0" indent="0" algn="r">
              <a:buNone/>
            </a:pPr>
            <a:r>
              <a:rPr lang="fa-IR" altLang="en-US" sz="1100" dirty="0">
                <a:solidFill>
                  <a:srgbClr val="F1F5F9"/>
                </a:solidFill>
                <a:latin typeface="Vazirmatn" pitchFamily="34" charset="0"/>
                <a:ea typeface="Vazirmatn" pitchFamily="34" charset="-122"/>
                <a:cs typeface="Vazirmatn" pitchFamily="34" charset="-120"/>
              </a:rPr>
              <a:t>Safeslab · μSwitch</a:t>
            </a:r>
            <a:endParaRPr lang="fa-IR" sz="1200" dirty="0"/>
          </a:p>
        </p:txBody>
      </p:sp>
      <p:sp>
        <p:nvSpPr>
          <p:cNvPr id="13" name="Shape 11"/>
          <p:cNvSpPr/>
          <p:nvPr/>
        </p:nvSpPr>
        <p:spPr>
          <a:xfrm>
            <a:off x="5394960" y="4343400"/>
            <a:ext cx="5013655" cy="777240"/>
          </a:xfrm>
          <a:prstGeom prst="roundRect">
            <a:avLst>
              <a:gd name="adj" fmla="val 11765"/>
            </a:avLst>
          </a:prstGeom>
          <a:solidFill>
            <a:srgbClr val="E11D48"/>
          </a:solidFill>
          <a:ln w="12700">
            <a:solidFill>
              <a:srgbClr val="E11D48"/>
            </a:solidFill>
            <a:prstDash val="solid"/>
          </a:ln>
        </p:spPr>
      </p:sp>
      <p:sp>
        <p:nvSpPr>
          <p:cNvPr id="14" name="Text 12"/>
          <p:cNvSpPr txBox="1"/>
          <p:nvPr/>
        </p:nvSpPr>
        <p:spPr>
          <a:xfrm>
            <a:off x="8152470" y="4343400"/>
            <a:ext cx="1981825" cy="777240"/>
          </a:xfrm>
          <a:prstGeom prst="rect">
            <a:avLst/>
          </a:prstGeom>
          <a:noFill/>
          <a:ln/>
        </p:spPr>
        <p:txBody>
          <a:bodyPr wrap="square" lIns="0" tIns="0" rIns="0" bIns="0" rtlCol="0" anchor="ctr"/>
          <a:lstStyle/>
          <a:p>
            <a:pPr marL="0" indent="0" algn="r" rtl="1">
              <a:buNone/>
            </a:pPr>
            <a:r>
              <a:rPr lang="fa-IR" altLang="en-US" sz="1700" b="1" dirty="0">
                <a:solidFill>
                  <a:srgbClr val="FFFFFF"/>
                </a:solidFill>
                <a:latin typeface="Vazirmatn" pitchFamily="34" charset="0"/>
                <a:ea typeface="Vazirmatn" pitchFamily="34" charset="-122"/>
                <a:cs typeface="Vazirmatn" pitchFamily="34" charset="-120"/>
              </a:rPr>
              <a:t>سخت‌سازی پشته / CFI</a:t>
            </a:r>
            <a:endParaRPr lang="fa-IR" sz="1700" dirty="0"/>
          </a:p>
        </p:txBody>
      </p:sp>
      <p:sp>
        <p:nvSpPr>
          <p:cNvPr id="15" name="Text 13"/>
          <p:cNvSpPr txBox="1"/>
          <p:nvPr/>
        </p:nvSpPr>
        <p:spPr>
          <a:xfrm>
            <a:off x="5669280" y="4343400"/>
            <a:ext cx="2391750" cy="777240"/>
          </a:xfrm>
          <a:prstGeom prst="rect">
            <a:avLst/>
          </a:prstGeom>
          <a:noFill/>
          <a:ln/>
        </p:spPr>
        <p:txBody>
          <a:bodyPr wrap="square" lIns="0" tIns="0" rIns="0" bIns="0" rtlCol="0" anchor="ctr"/>
          <a:lstStyle/>
          <a:p>
            <a:pPr marL="0" indent="0" algn="r">
              <a:buNone/>
            </a:pPr>
            <a:r>
              <a:rPr lang="fa-IR" altLang="en-US" sz="1200" dirty="0">
                <a:solidFill>
                  <a:srgbClr val="FFFFFF"/>
                </a:solidFill>
                <a:latin typeface="Vazirmatn" pitchFamily="34" charset="0"/>
                <a:ea typeface="Vazirmatn" pitchFamily="34" charset="-122"/>
                <a:cs typeface="Vazirmatn" pitchFamily="34" charset="-120"/>
              </a:rPr>
              <a:t>ارتقای دسترسی را می‌بندد</a:t>
            </a:r>
            <a:endParaRPr lang="fa-IR" sz="1200" dirty="0"/>
          </a:p>
          <a:p>
            <a:pPr marL="0" indent="0" algn="r">
              <a:buNone/>
            </a:pPr>
            <a:r>
              <a:rPr lang="fa-IR" altLang="en-US" sz="1100" dirty="0">
                <a:solidFill>
                  <a:srgbClr val="F1F5F9"/>
                </a:solidFill>
                <a:latin typeface="Vazirmatn" pitchFamily="34" charset="0"/>
                <a:ea typeface="Vazirmatn" pitchFamily="34" charset="-122"/>
                <a:cs typeface="Vazirmatn" pitchFamily="34" charset="-120"/>
              </a:rPr>
              <a:t>دفاع RetSpill</a:t>
            </a:r>
            <a:endParaRPr lang="fa-IR" sz="1200" dirty="0"/>
          </a:p>
        </p:txBody>
      </p:sp>
      <p:sp>
        <p:nvSpPr>
          <p:cNvPr id="16" name="Text 14"/>
          <p:cNvSpPr txBox="1"/>
          <p:nvPr/>
        </p:nvSpPr>
        <p:spPr>
          <a:xfrm>
            <a:off x="4160520" y="5303520"/>
            <a:ext cx="7482535" cy="365760"/>
          </a:xfrm>
          <a:prstGeom prst="rect">
            <a:avLst/>
          </a:prstGeom>
          <a:noFill/>
          <a:ln/>
        </p:spPr>
        <p:txBody>
          <a:bodyPr wrap="square" lIns="0" tIns="0" rIns="0" bIns="0" rtlCol="0" anchor="t"/>
          <a:lstStyle/>
          <a:p>
            <a:pPr marL="0" indent="0" algn="ctr" rtl="1">
              <a:buNone/>
            </a:pPr>
            <a:r>
              <a:rPr lang="fa-IR" altLang="en-US" sz="1300" dirty="0">
                <a:solidFill>
                  <a:srgbClr val="475569"/>
                </a:solidFill>
                <a:latin typeface="Vazirmatn" pitchFamily="34" charset="0"/>
                <a:ea typeface="Vazirmatn" pitchFamily="34" charset="-122"/>
                <a:cs typeface="Vazirmatn" pitchFamily="34" charset="-120"/>
              </a:rPr>
              <a:t>↓ هر لایه، شکست لایه‌ی قبلی را جبران می‌کند</a:t>
            </a:r>
            <a:endParaRPr lang="fa-IR" sz="1300" dirty="0"/>
          </a:p>
        </p:txBody>
      </p:sp>
      <p:sp>
        <p:nvSpPr>
          <p:cNvPr id="17" name="Shape 15"/>
          <p:cNvSpPr/>
          <p:nvPr/>
        </p:nvSpPr>
        <p:spPr>
          <a:xfrm>
            <a:off x="548640" y="1600200"/>
            <a:ext cx="3383280" cy="4526280"/>
          </a:xfrm>
          <a:prstGeom prst="roundRect">
            <a:avLst>
              <a:gd name="adj" fmla="val 3243"/>
            </a:avLst>
          </a:prstGeom>
          <a:solidFill>
            <a:srgbClr val="0B1220"/>
          </a:solidFill>
          <a:ln w="12700">
            <a:solidFill>
              <a:srgbClr val="0B1220"/>
            </a:solidFill>
            <a:prstDash val="solid"/>
          </a:ln>
          <a:effectLst>
            <a:outerShdw blurRad="101600" dist="25400" dir="5400000" algn="bl" rotWithShape="0">
              <a:srgbClr val="0F172A">
                <a:alpha val="8000"/>
              </a:srgbClr>
            </a:outerShdw>
          </a:effectLst>
        </p:spPr>
      </p:sp>
      <p:sp>
        <p:nvSpPr>
          <p:cNvPr id="18" name="Shape 16"/>
          <p:cNvSpPr/>
          <p:nvPr/>
        </p:nvSpPr>
        <p:spPr>
          <a:xfrm>
            <a:off x="3017520" y="1874520"/>
            <a:ext cx="640080" cy="640080"/>
          </a:xfrm>
          <a:prstGeom prst="ellipse">
            <a:avLst/>
          </a:prstGeom>
          <a:solidFill>
            <a:srgbClr val="22D3EE"/>
          </a:solidFill>
          <a:ln w="12700">
            <a:solidFill>
              <a:srgbClr val="22D3EE"/>
            </a:solidFill>
            <a:prstDash val="solid"/>
          </a:ln>
        </p:spPr>
      </p:sp>
      <p:pic>
        <p:nvPicPr>
          <p:cNvPr id="19" name="Image 0" descr="preencoded.png"/>
          <p:cNvPicPr>
            <a:picLocks noChangeAspect="1"/>
          </p:cNvPicPr>
          <p:nvPr/>
        </p:nvPicPr>
        <p:blipFill>
          <a:blip r:embed="rId3"/>
          <a:stretch>
            <a:fillRect/>
          </a:stretch>
        </p:blipFill>
        <p:spPr>
          <a:xfrm>
            <a:off x="3158338" y="2015338"/>
            <a:ext cx="358445" cy="358445"/>
          </a:xfrm>
          <a:prstGeom prst="rect">
            <a:avLst/>
          </a:prstGeom>
        </p:spPr>
      </p:pic>
      <p:sp>
        <p:nvSpPr>
          <p:cNvPr id="20" name="Text 17"/>
          <p:cNvSpPr txBox="1"/>
          <p:nvPr/>
        </p:nvSpPr>
        <p:spPr>
          <a:xfrm>
            <a:off x="822960" y="1938528"/>
            <a:ext cx="2103120" cy="457200"/>
          </a:xfrm>
          <a:prstGeom prst="rect">
            <a:avLst/>
          </a:prstGeom>
          <a:noFill/>
          <a:ln/>
        </p:spPr>
        <p:txBody>
          <a:bodyPr wrap="square" lIns="0" tIns="0" rIns="0" bIns="0" rtlCol="0" anchor="t"/>
          <a:lstStyle/>
          <a:p>
            <a:pPr marL="0" indent="0" algn="r" rtl="1">
              <a:buNone/>
            </a:pPr>
            <a:r>
              <a:rPr lang="fa-IR" altLang="en-US" sz="2000" b="1" dirty="0">
                <a:solidFill>
                  <a:srgbClr val="FFFFFF"/>
                </a:solidFill>
                <a:latin typeface="Vazirmatn" pitchFamily="34" charset="0"/>
                <a:ea typeface="Vazirmatn" pitchFamily="34" charset="-122"/>
                <a:cs typeface="Vazirmatn" pitchFamily="34" charset="-120"/>
              </a:rPr>
              <a:t>شکاف‌های باز</a:t>
            </a:r>
            <a:endParaRPr lang="fa-IR" sz="2000" dirty="0"/>
          </a:p>
        </p:txBody>
      </p:sp>
      <p:sp>
        <p:nvSpPr>
          <p:cNvPr id="21" name="Text 18"/>
          <p:cNvSpPr txBox="1"/>
          <p:nvPr/>
        </p:nvSpPr>
        <p:spPr>
          <a:xfrm>
            <a:off x="822960" y="2743200"/>
            <a:ext cx="2834640" cy="3108960"/>
          </a:xfrm>
          <a:prstGeom prst="rect">
            <a:avLst/>
          </a:prstGeom>
          <a:noFill/>
          <a:ln/>
        </p:spPr>
        <p:txBody>
          <a:bodyPr wrap="square" lIns="0" tIns="0" rIns="0" bIns="0" rtlCol="0" anchor="t"/>
          <a:lstStyle/>
          <a:p>
            <a:pPr marL="228600" indent="-228600" algn="r">
              <a:spcAft>
                <a:spcPts val="1200"/>
              </a:spcAft>
              <a:buSzPct val="100000"/>
              <a:buChar char="•"/>
            </a:pPr>
            <a:r>
              <a:rPr lang="fa-IR" altLang="en-US" sz="1400" dirty="0">
                <a:solidFill>
                  <a:srgbClr val="E2E8F0"/>
                </a:solidFill>
                <a:latin typeface="Vazirmatn" pitchFamily="34" charset="0"/>
                <a:ea typeface="Vazirmatn" pitchFamily="34" charset="-122"/>
                <a:cs typeface="Vazirmatn" pitchFamily="34" charset="-120"/>
              </a:rPr>
              <a:t>پشتیبانی ARM (مثلاً MTE)</a:t>
            </a:r>
            <a:endParaRPr lang="fa-IR" sz="1400" dirty="0"/>
          </a:p>
          <a:p>
            <a:pPr marL="228600" indent="-228600" algn="r">
              <a:spcAft>
                <a:spcPts val="1200"/>
              </a:spcAft>
              <a:buSzPct val="100000"/>
              <a:buChar char="•"/>
            </a:pPr>
            <a:r>
              <a:rPr lang="fa-IR" altLang="en-US" sz="1400" dirty="0">
                <a:solidFill>
                  <a:srgbClr val="E2E8F0"/>
                </a:solidFill>
                <a:latin typeface="Vazirmatn" pitchFamily="34" charset="0"/>
                <a:ea typeface="Vazirmatn" pitchFamily="34" charset="-122"/>
                <a:cs typeface="Vazirmatn" pitchFamily="34" charset="-120"/>
              </a:rPr>
              <a:t>محک یکسان برای مقایسه</a:t>
            </a:r>
            <a:endParaRPr lang="fa-IR" sz="1400" dirty="0"/>
          </a:p>
          <a:p>
            <a:pPr marL="228600" indent="-228600" algn="r">
              <a:spcAft>
                <a:spcPts val="1200"/>
              </a:spcAft>
              <a:buSzPct val="100000"/>
              <a:buChar char="•"/>
            </a:pPr>
            <a:r>
              <a:rPr lang="fa-IR" altLang="en-US" sz="1400" dirty="0">
                <a:solidFill>
                  <a:srgbClr val="E2E8F0"/>
                </a:solidFill>
                <a:latin typeface="Vazirmatn" pitchFamily="34" charset="0"/>
                <a:ea typeface="Vazirmatn" pitchFamily="34" charset="-122"/>
                <a:cs typeface="Vazirmatn" pitchFamily="34" charset="-120"/>
              </a:rPr>
              <a:t>راستی‌آزمایی صوری مرز unsafe در Rust</a:t>
            </a:r>
            <a:endParaRPr lang="fa-IR" sz="1400" dirty="0"/>
          </a:p>
          <a:p>
            <a:pPr marL="228600" indent="-228600" algn="r">
              <a:spcAft>
                <a:spcPts val="1200"/>
              </a:spcAft>
              <a:buSzPct val="100000"/>
              <a:buChar char="•"/>
            </a:pPr>
            <a:r>
              <a:rPr lang="fa-IR" altLang="en-US" sz="1400" dirty="0">
                <a:solidFill>
                  <a:srgbClr val="E2E8F0"/>
                </a:solidFill>
                <a:latin typeface="Vazirmatn" pitchFamily="34" charset="0"/>
                <a:ea typeface="Vazirmatn" pitchFamily="34" charset="-122"/>
                <a:cs typeface="Vazirmatn" pitchFamily="34" charset="-120"/>
              </a:rPr>
              <a:t>استفاده از PKS برای حفاظت داخل هسته</a:t>
            </a:r>
            <a:endParaRPr lang="fa-IR" sz="14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4A3B8"/>
                </a:solidFill>
                <a:latin typeface="Vazirmatn"/>
                <a:ea typeface="Vazirmatn"/>
                <a:cs typeface="Vazirmatn"/>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548640"/>
            <a:ext cx="11094415" cy="731520"/>
          </a:xfrm>
          <a:prstGeom prst="rect">
            <a:avLst/>
          </a:prstGeom>
          <a:noFill/>
          <a:ln/>
        </p:spPr>
        <p:txBody>
          <a:bodyPr wrap="square" lIns="0" tIns="0" rIns="0" bIns="0" rtlCol="0" anchor="t"/>
          <a:lstStyle/>
          <a:p>
            <a:pPr marL="0" indent="0" algn="ctr" rtl="1">
              <a:buNone/>
            </a:pPr>
            <a:r>
              <a:rPr lang="fa-IR" altLang="en-US" sz="3600" b="1" dirty="0">
                <a:solidFill>
                  <a:srgbClr val="FFFFFF"/>
                </a:solidFill>
                <a:latin typeface="Vazirmatn" pitchFamily="34" charset="0"/>
                <a:ea typeface="Vazirmatn" pitchFamily="34" charset="-122"/>
                <a:cs typeface="Vazirmatn" pitchFamily="34" charset="-120"/>
              </a:rPr>
              <a:t>جمع‌بندی</a:t>
            </a:r>
            <a:endParaRPr lang="fa-IR" sz="3600" dirty="0"/>
          </a:p>
        </p:txBody>
      </p:sp>
      <p:sp>
        <p:nvSpPr>
          <p:cNvPr id="3" name="Shape 1"/>
          <p:cNvSpPr/>
          <p:nvPr/>
        </p:nvSpPr>
        <p:spPr>
          <a:xfrm>
            <a:off x="8214055" y="1828800"/>
            <a:ext cx="3429000" cy="3108960"/>
          </a:xfrm>
          <a:prstGeom prst="roundRect">
            <a:avLst>
              <a:gd name="adj" fmla="val 4118"/>
            </a:avLst>
          </a:prstGeom>
          <a:solidFill>
            <a:srgbClr val="16213A"/>
          </a:solidFill>
          <a:ln w="12700">
            <a:solidFill>
              <a:srgbClr val="1E293B"/>
            </a:solidFill>
            <a:prstDash val="solid"/>
          </a:ln>
        </p:spPr>
      </p:sp>
      <p:sp>
        <p:nvSpPr>
          <p:cNvPr id="4" name="Text 2"/>
          <p:cNvSpPr txBox="1"/>
          <p:nvPr/>
        </p:nvSpPr>
        <p:spPr>
          <a:xfrm>
            <a:off x="8396935" y="2148840"/>
            <a:ext cx="3063240" cy="1097280"/>
          </a:xfrm>
          <a:prstGeom prst="rect">
            <a:avLst/>
          </a:prstGeom>
          <a:noFill/>
          <a:ln/>
        </p:spPr>
        <p:txBody>
          <a:bodyPr wrap="square" lIns="0" tIns="0" rIns="0" bIns="0" rtlCol="0" anchor="ctr"/>
          <a:lstStyle/>
          <a:p>
            <a:pPr marL="0" indent="0" algn="ctr" rtl="1">
              <a:buNone/>
            </a:pPr>
            <a:r>
              <a:rPr lang="fa-IR" altLang="en-US" sz="4800" b="1" dirty="0">
                <a:solidFill>
                  <a:srgbClr val="22D3EE"/>
                </a:solidFill>
                <a:latin typeface="Vazirmatn" pitchFamily="34" charset="0"/>
                <a:ea typeface="Vazirmatn" pitchFamily="34" charset="-122"/>
                <a:cs typeface="Vazirmatn" pitchFamily="34" charset="-120"/>
              </a:rPr>
              <a:t>&lt;۸٪</a:t>
            </a:r>
            <a:endParaRPr lang="fa-IR" sz="4800" dirty="0"/>
          </a:p>
        </p:txBody>
      </p:sp>
      <p:sp>
        <p:nvSpPr>
          <p:cNvPr id="5" name="Text 3"/>
          <p:cNvSpPr txBox="1"/>
          <p:nvPr/>
        </p:nvSpPr>
        <p:spPr>
          <a:xfrm>
            <a:off x="8488375" y="3429000"/>
            <a:ext cx="2880360" cy="1280160"/>
          </a:xfrm>
          <a:prstGeom prst="rect">
            <a:avLst/>
          </a:prstGeom>
          <a:noFill/>
          <a:ln/>
        </p:spPr>
        <p:txBody>
          <a:bodyPr wrap="square" lIns="0" tIns="0" rIns="0" bIns="0" rtlCol="0" anchor="t"/>
          <a:lstStyle/>
          <a:p>
            <a:pPr marL="0" indent="0" algn="ctr" rtl="1">
              <a:buNone/>
            </a:pPr>
            <a:r>
              <a:rPr lang="fa-IR" altLang="en-US" sz="1600" dirty="0">
                <a:solidFill>
                  <a:srgbClr val="E2E8F0"/>
                </a:solidFill>
                <a:latin typeface="Vazirmatn" pitchFamily="34" charset="0"/>
                <a:ea typeface="Vazirmatn" pitchFamily="34" charset="-122"/>
                <a:cs typeface="Vazirmatn" pitchFamily="34" charset="-120"/>
              </a:rPr>
              <a:t>سخت‌سازی هسته دیگر گران نیست</a:t>
            </a:r>
            <a:endParaRPr lang="fa-IR" sz="1600" dirty="0"/>
          </a:p>
        </p:txBody>
      </p:sp>
      <p:sp>
        <p:nvSpPr>
          <p:cNvPr id="6" name="Shape 4"/>
          <p:cNvSpPr/>
          <p:nvPr/>
        </p:nvSpPr>
        <p:spPr>
          <a:xfrm>
            <a:off x="4465015" y="1828800"/>
            <a:ext cx="3429000" cy="3108960"/>
          </a:xfrm>
          <a:prstGeom prst="roundRect">
            <a:avLst>
              <a:gd name="adj" fmla="val 4118"/>
            </a:avLst>
          </a:prstGeom>
          <a:solidFill>
            <a:srgbClr val="16213A"/>
          </a:solidFill>
          <a:ln w="12700">
            <a:solidFill>
              <a:srgbClr val="1E293B"/>
            </a:solidFill>
            <a:prstDash val="solid"/>
          </a:ln>
        </p:spPr>
      </p:sp>
      <p:sp>
        <p:nvSpPr>
          <p:cNvPr id="7" name="Text 5"/>
          <p:cNvSpPr txBox="1"/>
          <p:nvPr/>
        </p:nvSpPr>
        <p:spPr>
          <a:xfrm>
            <a:off x="4647895" y="2148840"/>
            <a:ext cx="3063240" cy="1097280"/>
          </a:xfrm>
          <a:prstGeom prst="rect">
            <a:avLst/>
          </a:prstGeom>
          <a:noFill/>
          <a:ln/>
        </p:spPr>
        <p:txBody>
          <a:bodyPr wrap="square" lIns="0" tIns="0" rIns="0" bIns="0" rtlCol="0" anchor="ctr"/>
          <a:lstStyle/>
          <a:p>
            <a:pPr marL="0" indent="0" algn="ctr" rtl="1">
              <a:buNone/>
            </a:pPr>
            <a:r>
              <a:rPr lang="fa-IR" altLang="en-US" sz="4800" b="1" dirty="0">
                <a:solidFill>
                  <a:srgbClr val="FB7185"/>
                </a:solidFill>
                <a:latin typeface="Vazirmatn" pitchFamily="34" charset="0"/>
                <a:ea typeface="Vazirmatn" pitchFamily="34" charset="-122"/>
                <a:cs typeface="Vazirmatn" pitchFamily="34" charset="-120"/>
              </a:rPr>
              <a:t>چندلایه</a:t>
            </a:r>
            <a:endParaRPr lang="fa-IR" sz="4800" dirty="0"/>
          </a:p>
        </p:txBody>
      </p:sp>
      <p:sp>
        <p:nvSpPr>
          <p:cNvPr id="8" name="Text 6"/>
          <p:cNvSpPr txBox="1"/>
          <p:nvPr/>
        </p:nvSpPr>
        <p:spPr>
          <a:xfrm>
            <a:off x="4739335" y="3429000"/>
            <a:ext cx="2880360" cy="1280160"/>
          </a:xfrm>
          <a:prstGeom prst="rect">
            <a:avLst/>
          </a:prstGeom>
          <a:noFill/>
          <a:ln/>
        </p:spPr>
        <p:txBody>
          <a:bodyPr wrap="square" lIns="0" tIns="0" rIns="0" bIns="0" rtlCol="0" anchor="t"/>
          <a:lstStyle/>
          <a:p>
            <a:pPr marL="0" indent="0" algn="ctr" rtl="1">
              <a:buNone/>
            </a:pPr>
            <a:r>
              <a:rPr lang="fa-IR" altLang="en-US" sz="1600" dirty="0">
                <a:solidFill>
                  <a:srgbClr val="E2E8F0"/>
                </a:solidFill>
                <a:latin typeface="Vazirmatn" pitchFamily="34" charset="0"/>
                <a:ea typeface="Vazirmatn" pitchFamily="34" charset="-122"/>
                <a:cs typeface="Vazirmatn" pitchFamily="34" charset="-120"/>
              </a:rPr>
              <a:t>هیچ دفاع منفردی کافی نیست؛ مهاجم از شکاف‌ها عبور می‌کند</a:t>
            </a:r>
            <a:endParaRPr lang="fa-IR" sz="1600" dirty="0"/>
          </a:p>
        </p:txBody>
      </p:sp>
      <p:sp>
        <p:nvSpPr>
          <p:cNvPr id="9" name="Shape 7"/>
          <p:cNvSpPr/>
          <p:nvPr/>
        </p:nvSpPr>
        <p:spPr>
          <a:xfrm>
            <a:off x="715975" y="1828800"/>
            <a:ext cx="3429000" cy="3108960"/>
          </a:xfrm>
          <a:prstGeom prst="roundRect">
            <a:avLst>
              <a:gd name="adj" fmla="val 4118"/>
            </a:avLst>
          </a:prstGeom>
          <a:solidFill>
            <a:srgbClr val="16213A"/>
          </a:solidFill>
          <a:ln w="12700">
            <a:solidFill>
              <a:srgbClr val="1E293B"/>
            </a:solidFill>
            <a:prstDash val="solid"/>
          </a:ln>
        </p:spPr>
      </p:sp>
      <p:sp>
        <p:nvSpPr>
          <p:cNvPr id="10" name="Text 8"/>
          <p:cNvSpPr txBox="1"/>
          <p:nvPr/>
        </p:nvSpPr>
        <p:spPr>
          <a:xfrm>
            <a:off x="898855" y="2148840"/>
            <a:ext cx="3063240" cy="1097280"/>
          </a:xfrm>
          <a:prstGeom prst="rect">
            <a:avLst/>
          </a:prstGeom>
          <a:noFill/>
          <a:ln/>
        </p:spPr>
        <p:txBody>
          <a:bodyPr wrap="square" lIns="0" tIns="0" rIns="0" bIns="0" rtlCol="0" anchor="ctr"/>
          <a:lstStyle/>
          <a:p>
            <a:pPr marL="0" indent="0" algn="ctr">
              <a:buNone/>
            </a:pPr>
            <a:r>
              <a:rPr lang="en-US" altLang="en-US" sz="4800" b="1" dirty="0">
                <a:solidFill>
                  <a:srgbClr val="FDBA74"/>
                </a:solidFill>
                <a:latin typeface="Vazirmatn" pitchFamily="34" charset="0"/>
                <a:ea typeface="Vazirmatn" pitchFamily="34" charset="-122"/>
                <a:cs typeface="Vazirmatn" pitchFamily="34" charset="-120"/>
              </a:rPr>
              <a:t>Rust</a:t>
            </a:r>
            <a:endParaRPr lang="en-US" sz="4800" dirty="0"/>
          </a:p>
        </p:txBody>
      </p:sp>
      <p:sp>
        <p:nvSpPr>
          <p:cNvPr id="11" name="Text 9"/>
          <p:cNvSpPr txBox="1"/>
          <p:nvPr/>
        </p:nvSpPr>
        <p:spPr>
          <a:xfrm>
            <a:off x="990295" y="3429000"/>
            <a:ext cx="2880360" cy="1280160"/>
          </a:xfrm>
          <a:prstGeom prst="rect">
            <a:avLst/>
          </a:prstGeom>
          <a:noFill/>
          <a:ln/>
        </p:spPr>
        <p:txBody>
          <a:bodyPr wrap="square" lIns="0" tIns="0" rIns="0" bIns="0" rtlCol="0" anchor="t"/>
          <a:lstStyle/>
          <a:p>
            <a:pPr marL="0" indent="0" algn="ctr" rtl="1">
              <a:buNone/>
            </a:pPr>
            <a:r>
              <a:rPr lang="fa-IR" altLang="en-US" sz="1600" dirty="0">
                <a:solidFill>
                  <a:srgbClr val="E2E8F0"/>
                </a:solidFill>
                <a:latin typeface="Vazirmatn" pitchFamily="34" charset="0"/>
                <a:ea typeface="Vazirmatn" pitchFamily="34" charset="-122"/>
                <a:cs typeface="Vazirmatn" pitchFamily="34" charset="-120"/>
              </a:rPr>
              <a:t>آینده با زبان امن است، اما تا آن روز به دفاع‌های heap و سخت‌افزاری نیاز داریم</a:t>
            </a:r>
            <a:endParaRPr lang="fa-IR" sz="1600" dirty="0"/>
          </a:p>
        </p:txBody>
      </p:sp>
      <p:sp>
        <p:nvSpPr>
          <p:cNvPr id="12" name="Text 10"/>
          <p:cNvSpPr txBox="1"/>
          <p:nvPr/>
        </p:nvSpPr>
        <p:spPr>
          <a:xfrm>
            <a:off x="548640" y="5440680"/>
            <a:ext cx="11094415" cy="457200"/>
          </a:xfrm>
          <a:prstGeom prst="rect">
            <a:avLst/>
          </a:prstGeom>
          <a:noFill/>
          <a:ln/>
        </p:spPr>
        <p:txBody>
          <a:bodyPr wrap="square" lIns="0" tIns="0" rIns="0" bIns="0" rtlCol="0" anchor="t"/>
          <a:lstStyle/>
          <a:p>
            <a:pPr marL="0" indent="0" algn="ctr" rtl="1">
              <a:buNone/>
            </a:pPr>
            <a:r>
              <a:rPr lang="fa-IR" altLang="en-US" sz="1800" b="1" dirty="0">
                <a:solidFill>
                  <a:srgbClr val="22D3EE"/>
                </a:solidFill>
                <a:latin typeface="Vazirmatn" pitchFamily="34" charset="0"/>
                <a:ea typeface="Vazirmatn" pitchFamily="34" charset="-122"/>
                <a:cs typeface="Vazirmatn" pitchFamily="34" charset="-120"/>
              </a:rPr>
              <a:t>سخت‌سازی هسته = ترکیب لایه‌ها، نه انتخاب یکی</a:t>
            </a:r>
            <a:endParaRPr lang="fa-IR"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545775" y="640080"/>
            <a:ext cx="914400" cy="914400"/>
          </a:xfrm>
          <a:prstGeom prst="rect">
            <a:avLst/>
          </a:prstGeom>
        </p:spPr>
      </p:pic>
      <p:sp>
        <p:nvSpPr>
          <p:cNvPr id="3" name="Text 0"/>
          <p:cNvSpPr txBox="1"/>
          <p:nvPr/>
        </p:nvSpPr>
        <p:spPr>
          <a:xfrm>
            <a:off x="4572000" y="594360"/>
            <a:ext cx="5699455" cy="548640"/>
          </a:xfrm>
          <a:prstGeom prst="rect">
            <a:avLst/>
          </a:prstGeom>
          <a:noFill/>
          <a:ln/>
        </p:spPr>
        <p:txBody>
          <a:bodyPr wrap="square" lIns="0" tIns="0" rIns="0" bIns="0" rtlCol="0" anchor="t"/>
          <a:lstStyle/>
          <a:p>
            <a:pPr marL="0" indent="0" algn="r" rtl="1">
              <a:buNone/>
            </a:pPr>
            <a:r>
              <a:rPr lang="fa-IR" altLang="en-US" sz="3200" b="1" dirty="0">
                <a:solidFill>
                  <a:srgbClr val="FFFFFF"/>
                </a:solidFill>
                <a:latin typeface="Vazirmatn" pitchFamily="34" charset="0"/>
                <a:ea typeface="Vazirmatn" pitchFamily="34" charset="-122"/>
                <a:cs typeface="Vazirmatn" pitchFamily="34" charset="-120"/>
              </a:rPr>
              <a:t>ممنون از توجه شما</a:t>
            </a:r>
            <a:endParaRPr lang="fa-IR" sz="3200" dirty="0"/>
          </a:p>
        </p:txBody>
      </p:sp>
      <p:sp>
        <p:nvSpPr>
          <p:cNvPr id="4" name="Text 1"/>
          <p:cNvSpPr txBox="1"/>
          <p:nvPr/>
        </p:nvSpPr>
        <p:spPr>
          <a:xfrm>
            <a:off x="4572000" y="1143000"/>
            <a:ext cx="5699455" cy="411480"/>
          </a:xfrm>
          <a:prstGeom prst="rect">
            <a:avLst/>
          </a:prstGeom>
          <a:noFill/>
          <a:ln/>
        </p:spPr>
        <p:txBody>
          <a:bodyPr wrap="square" lIns="0" tIns="0" rIns="0" bIns="0" rtlCol="0" anchor="t"/>
          <a:lstStyle/>
          <a:p>
            <a:pPr marL="0" indent="0" algn="r" rtl="1">
              <a:buNone/>
            </a:pPr>
            <a:r>
              <a:rPr lang="fa-IR" altLang="en-US" sz="1600" dirty="0">
                <a:solidFill>
                  <a:srgbClr val="22D3EE"/>
                </a:solidFill>
                <a:latin typeface="Vazirmatn" pitchFamily="34" charset="0"/>
                <a:ea typeface="Vazirmatn" pitchFamily="34" charset="-122"/>
                <a:cs typeface="Vazirmatn" pitchFamily="34" charset="-120"/>
              </a:rPr>
              <a:t>پرسش و پاسخ · سید پارسا بنی‌طبا و امین آذرپی</a:t>
            </a:r>
            <a:endParaRPr lang="fa-IR" sz="1600" dirty="0"/>
          </a:p>
        </p:txBody>
      </p:sp>
      <p:sp>
        <p:nvSpPr>
          <p:cNvPr id="5" name="Text 2"/>
          <p:cNvSpPr txBox="1"/>
          <p:nvPr/>
        </p:nvSpPr>
        <p:spPr>
          <a:xfrm>
            <a:off x="548640" y="2148840"/>
            <a:ext cx="11094415" cy="411480"/>
          </a:xfrm>
          <a:prstGeom prst="rect">
            <a:avLst/>
          </a:prstGeom>
          <a:noFill/>
          <a:ln/>
        </p:spPr>
        <p:txBody>
          <a:bodyPr wrap="square" lIns="0" tIns="0" rIns="0" bIns="0" rtlCol="0" anchor="t"/>
          <a:lstStyle/>
          <a:p>
            <a:pPr marL="0" indent="0" algn="r" rtl="1">
              <a:buNone/>
            </a:pPr>
            <a:r>
              <a:rPr lang="fa-IR" altLang="en-US" sz="1800" b="1" dirty="0">
                <a:solidFill>
                  <a:srgbClr val="FFFFFF"/>
                </a:solidFill>
                <a:latin typeface="Vazirmatn" pitchFamily="34" charset="0"/>
                <a:ea typeface="Vazirmatn" pitchFamily="34" charset="-122"/>
                <a:cs typeface="Vazirmatn" pitchFamily="34" charset="-120"/>
              </a:rPr>
              <a:t>منابع</a:t>
            </a:r>
            <a:endParaRPr lang="fa-IR" sz="1800" dirty="0"/>
          </a:p>
        </p:txBody>
      </p:sp>
      <p:sp>
        <p:nvSpPr>
          <p:cNvPr id="6" name="Text 3"/>
          <p:cNvSpPr txBox="1"/>
          <p:nvPr/>
        </p:nvSpPr>
        <p:spPr>
          <a:xfrm>
            <a:off x="548640" y="2651760"/>
            <a:ext cx="11094415" cy="3291840"/>
          </a:xfrm>
          <a:prstGeom prst="rect">
            <a:avLst/>
          </a:prstGeom>
          <a:noFill/>
          <a:ln/>
        </p:spPr>
        <p:txBody>
          <a:bodyPr wrap="square" lIns="0" tIns="0" rIns="0" bIns="0" rtlCol="0" anchor="t"/>
          <a:lstStyle/>
          <a:p>
            <a:pPr marL="0" indent="0" algn="l">
              <a:spcAft>
                <a:spcPts val="1000"/>
              </a:spcAft>
              <a:buNone/>
            </a:pPr>
            <a:r>
              <a:rPr lang="en-US" altLang="en-US" sz="1300" dirty="0">
                <a:solidFill>
                  <a:srgbClr val="CBD5E1"/>
                </a:solidFill>
                <a:latin typeface="Vazirmatn" pitchFamily="34" charset="0"/>
                <a:ea typeface="Vazirmatn" pitchFamily="34" charset="-122"/>
                <a:cs typeface="Vazirmatn" pitchFamily="34" charset="-120"/>
              </a:rPr>
              <a:t>[1] K. Zeng et al., "RetSpill: Igniting User-Controlled Data to Burn Away Linux Kernel Protections," ACM CCS 2023.</a:t>
            </a:r>
            <a:endParaRPr lang="en-US" sz="1300" dirty="0"/>
          </a:p>
          <a:p>
            <a:pPr marL="0" indent="0" algn="l">
              <a:spcAft>
                <a:spcPts val="1000"/>
              </a:spcAft>
              <a:buNone/>
            </a:pPr>
            <a:r>
              <a:rPr lang="en-US" altLang="en-US" sz="1300" dirty="0">
                <a:solidFill>
                  <a:srgbClr val="CBD5E1"/>
                </a:solidFill>
                <a:latin typeface="Vazirmatn" pitchFamily="34" charset="0"/>
                <a:ea typeface="Vazirmatn" pitchFamily="34" charset="-122"/>
                <a:cs typeface="Vazirmatn" pitchFamily="34" charset="-120"/>
              </a:rPr>
              <a:t>[2] M. Momeu et al., "Safeslab: Mitigating Use-After-Free Vulnerabilities via Memory Protection Keys," ACM CCS 2024.</a:t>
            </a:r>
            <a:endParaRPr lang="en-US" sz="1300" dirty="0"/>
          </a:p>
          <a:p>
            <a:pPr marL="0" indent="0" algn="l">
              <a:spcAft>
                <a:spcPts val="1000"/>
              </a:spcAft>
              <a:buNone/>
            </a:pPr>
            <a:r>
              <a:rPr lang="en-US" altLang="en-US" sz="1300" dirty="0">
                <a:solidFill>
                  <a:srgbClr val="CBD5E1"/>
                </a:solidFill>
                <a:latin typeface="Vazirmatn" pitchFamily="34" charset="0"/>
                <a:ea typeface="Vazirmatn" pitchFamily="34" charset="-122"/>
                <a:cs typeface="Vazirmatn" pitchFamily="34" charset="-120"/>
              </a:rPr>
              <a:t>[3] D. Peng et al., "μSwitch: Fast Kernel Context Isolation with Implicit Context Switches," IEEE S&amp;P 2023.</a:t>
            </a:r>
            <a:endParaRPr lang="en-US" sz="1300" dirty="0"/>
          </a:p>
          <a:p>
            <a:pPr marL="0" indent="0" algn="l">
              <a:spcAft>
                <a:spcPts val="1000"/>
              </a:spcAft>
              <a:buNone/>
            </a:pPr>
            <a:r>
              <a:rPr lang="en-US" altLang="en-US" sz="1300" dirty="0">
                <a:solidFill>
                  <a:srgbClr val="CBD5E1"/>
                </a:solidFill>
                <a:latin typeface="Vazirmatn" pitchFamily="34" charset="0"/>
                <a:ea typeface="Vazirmatn" pitchFamily="34" charset="-122"/>
                <a:cs typeface="Vazirmatn" pitchFamily="34" charset="-120"/>
              </a:rPr>
              <a:t>[4] M. Momeu et al., "ISLAB: Immutable Memory Management Metadata for Commodity Operating System Kernels," ACM AsiaCCS 2024.</a:t>
            </a:r>
            <a:endParaRPr lang="en-US" sz="1300" dirty="0"/>
          </a:p>
          <a:p>
            <a:pPr marL="0" indent="0" algn="l">
              <a:spcAft>
                <a:spcPts val="1000"/>
              </a:spcAft>
              <a:buNone/>
            </a:pPr>
            <a:r>
              <a:rPr lang="en-US" altLang="en-US" sz="1300" dirty="0">
                <a:solidFill>
                  <a:srgbClr val="CBD5E1"/>
                </a:solidFill>
                <a:latin typeface="Vazirmatn" pitchFamily="34" charset="0"/>
                <a:ea typeface="Vazirmatn" pitchFamily="34" charset="-122"/>
                <a:cs typeface="Vazirmatn" pitchFamily="34" charset="-120"/>
              </a:rPr>
              <a:t>[5] Z. Li et al., "Rust for Linux: Understanding the Security Impact of Rust in the Linux Kernel," ACSAC 2024.</a:t>
            </a:r>
            <a:endParaRPr lang="en-US" sz="1300" dirty="0"/>
          </a:p>
        </p:txBody>
      </p:sp>
      <p:sp>
        <p:nvSpPr>
          <p:cNvPr id="7" name="Text 4"/>
          <p:cNvSpPr txBox="1"/>
          <p:nvPr/>
        </p:nvSpPr>
        <p:spPr>
          <a:xfrm>
            <a:off x="548640" y="6172200"/>
            <a:ext cx="11094415" cy="320040"/>
          </a:xfrm>
          <a:prstGeom prst="rect">
            <a:avLst/>
          </a:prstGeom>
          <a:noFill/>
          <a:ln/>
        </p:spPr>
        <p:txBody>
          <a:bodyPr wrap="square" lIns="0" tIns="0" rIns="0" bIns="0" rtlCol="0" anchor="t"/>
          <a:lstStyle/>
          <a:p>
            <a:pPr marL="0" indent="0" algn="ctr" rtl="1">
              <a:buNone/>
            </a:pPr>
            <a:r>
              <a:rPr lang="fa-IR" altLang="en-US" sz="1200" dirty="0">
                <a:solidFill>
                  <a:srgbClr val="94A3B8"/>
                </a:solidFill>
                <a:latin typeface="Vazirmatn" pitchFamily="34" charset="0"/>
                <a:ea typeface="Vazirmatn" pitchFamily="34" charset="-122"/>
                <a:cs typeface="Vazirmatn" pitchFamily="34" charset="-120"/>
              </a:rPr>
              <a:t>دانشگاه آزاد اسلامی واحد تهران مرکزی · استاد: جناب آقای دکتر روانمهر</a:t>
            </a:r>
            <a:endParaRPr lang="fa-IR"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Vazirmat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Vazirmat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3516</Words>
  <Application>Microsoft Macintosh PowerPoint</Application>
  <PresentationFormat>Widescreen</PresentationFormat>
  <Paragraphs>343</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Vazirmatn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مقاوم‌سازی هسته‌ی لینوکس در برابر حملات خرابی حافظه</dc:title>
  <dc:subject>PptxGenJS Presentation</dc:subject>
  <dc:creator>سید پارسا بنی‌طبا، امین آذرپی</dc:creator>
  <cp:lastModifiedBy>Parsa Banitaba</cp:lastModifiedBy>
  <cp:revision>2</cp:revision>
  <dcterms:created xsi:type="dcterms:W3CDTF">2026-10-04T05:49:33Z</dcterms:created>
  <dcterms:modified xsi:type="dcterms:W3CDTF">2026-10-04T06:03:30Z</dcterms:modified>
</cp:coreProperties>
</file>