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43"/>
    <p:restoredTop sz="94610"/>
  </p:normalViewPr>
  <p:slideViewPr>
    <p:cSldViewPr snapToGrid="0" snapToObjects="1">
      <p:cViewPr varScale="1">
        <p:scale>
          <a:sx n="104" d="100"/>
          <a:sy n="104" d="100"/>
        </p:scale>
        <p:origin x="232"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سهمیه</c:v>
                </c:pt>
              </c:strCache>
            </c:strRef>
          </c:tx>
          <c:spPr>
            <a:solidFill>
              <a:srgbClr val="E8D5C4"/>
            </a:solidFill>
            <a:effectLst/>
          </c:spPr>
          <c:invertIfNegative val="0"/>
          <c:dPt>
            <c:idx val="0"/>
            <c:invertIfNegative val="0"/>
            <c:bubble3D val="0"/>
            <c:extLst>
              <c:ext xmlns:c16="http://schemas.microsoft.com/office/drawing/2014/chart" uri="{C3380CC4-5D6E-409C-BE32-E72D297353CC}">
                <c16:uniqueId val="{00000001-0D02-EA4B-BBC7-910122FA0B0B}"/>
              </c:ext>
            </c:extLst>
          </c:dPt>
          <c:dPt>
            <c:idx val="1"/>
            <c:invertIfNegative val="0"/>
            <c:bubble3D val="0"/>
            <c:spPr>
              <a:solidFill>
                <a:srgbClr val="D97757"/>
              </a:solidFill>
              <a:effectLst/>
            </c:spPr>
            <c:extLst>
              <c:ext xmlns:c16="http://schemas.microsoft.com/office/drawing/2014/chart" uri="{C3380CC4-5D6E-409C-BE32-E72D297353CC}">
                <c16:uniqueId val="{00000003-0D02-EA4B-BBC7-910122FA0B0B}"/>
              </c:ext>
            </c:extLst>
          </c:dPt>
          <c:dPt>
            <c:idx val="2"/>
            <c:invertIfNegative val="0"/>
            <c:bubble3D val="0"/>
            <c:spPr>
              <a:solidFill>
                <a:srgbClr val="C15F3C"/>
              </a:solidFill>
              <a:effectLst/>
            </c:spPr>
            <c:extLst>
              <c:ext xmlns:c16="http://schemas.microsoft.com/office/drawing/2014/chart" uri="{C3380CC4-5D6E-409C-BE32-E72D297353CC}">
                <c16:uniqueId val="{00000005-0D02-EA4B-BBC7-910122FA0B0B}"/>
              </c:ext>
            </c:extLst>
          </c:dPt>
          <c:dPt>
            <c:idx val="3"/>
            <c:invertIfNegative val="0"/>
            <c:bubble3D val="0"/>
            <c:spPr>
              <a:solidFill>
                <a:srgbClr val="8C3B22"/>
              </a:solidFill>
              <a:effectLst/>
            </c:spPr>
            <c:extLst>
              <c:ext xmlns:c16="http://schemas.microsoft.com/office/drawing/2014/chart" uri="{C3380CC4-5D6E-409C-BE32-E72D297353CC}">
                <c16:uniqueId val="{00000007-0D02-EA4B-BBC7-910122FA0B0B}"/>
              </c:ext>
            </c:extLst>
          </c:dPt>
          <c:dLbls>
            <c:numFmt formatCode="#,##0" sourceLinked="0"/>
            <c:spPr>
              <a:noFill/>
              <a:ln>
                <a:noFill/>
              </a:ln>
              <a:effectLst/>
            </c:spPr>
            <c:txPr>
              <a:bodyPr/>
              <a:lstStyle/>
              <a:p>
                <a:pPr rtl="1">
                  <a:defRPr sz="1600" b="0" i="0" u="none" strike="noStrike">
                    <a:solidFill>
                      <a:srgbClr val="1F1E1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Free</c:v>
                </c:pt>
                <c:pt idx="1">
                  <c:v>Pro</c:v>
                </c:pt>
                <c:pt idx="2">
                  <c:v>Max 5x</c:v>
                </c:pt>
                <c:pt idx="3">
                  <c:v>Max 20x</c:v>
                </c:pt>
              </c:strCache>
            </c:strRef>
          </c:cat>
          <c:val>
            <c:numRef>
              <c:f>Sheet1!$B$2:$B$5</c:f>
              <c:numCache>
                <c:formatCode>General</c:formatCode>
                <c:ptCount val="4"/>
                <c:pt idx="0">
                  <c:v>1</c:v>
                </c:pt>
                <c:pt idx="1">
                  <c:v>5</c:v>
                </c:pt>
                <c:pt idx="2">
                  <c:v>25</c:v>
                </c:pt>
                <c:pt idx="3">
                  <c:v>100</c:v>
                </c:pt>
              </c:numCache>
            </c:numRef>
          </c:val>
          <c:extLst>
            <c:ext xmlns:c16="http://schemas.microsoft.com/office/drawing/2014/chart" uri="{C3380CC4-5D6E-409C-BE32-E72D297353CC}">
              <c16:uniqueId val="{00000008-0D02-EA4B-BBC7-910122FA0B0B}"/>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b"/>
        <c:numFmt formatCode="General" sourceLinked="1"/>
        <c:majorTickMark val="out"/>
        <c:minorTickMark val="none"/>
        <c:tickLblPos val="low"/>
        <c:spPr>
          <a:ln w="12700" cap="flat">
            <a:solidFill>
              <a:srgbClr val="888888"/>
            </a:solidFill>
            <a:prstDash val="solid"/>
            <a:round/>
          </a:ln>
        </c:spPr>
        <c:txPr>
          <a:bodyPr/>
          <a:lstStyle/>
          <a:p>
            <a:pPr rtl="1">
              <a:defRPr sz="1600" b="0" i="0" u="none" strike="noStrike">
                <a:solidFill>
                  <a:srgbClr val="1F1E1D"/>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r"/>
        <c:majorGridlines>
          <c:spPr>
            <a:ln w="6350" cap="flat">
              <a:solidFill>
                <a:srgbClr val="E3DE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rtl="1">
              <a:defRPr sz="1200" b="0" i="0" u="none" strike="noStrike">
                <a:solidFill>
                  <a:srgbClr val="5E5D59"/>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پلن پایه</c:v>
                </c:pt>
              </c:strCache>
            </c:strRef>
          </c:tx>
          <c:spPr>
            <a:solidFill>
              <a:srgbClr val="E5B49A"/>
            </a:solidFill>
            <a:effectLst/>
          </c:spPr>
          <c:invertIfNegative val="0"/>
          <c:dLbls>
            <c:numFmt formatCode="#,##0" sourceLinked="0"/>
            <c:spPr>
              <a:noFill/>
              <a:ln>
                <a:noFill/>
              </a:ln>
              <a:effectLst/>
            </c:spPr>
            <c:txPr>
              <a:bodyPr/>
              <a:lstStyle/>
              <a:p>
                <a:pPr rtl="1">
                  <a:defRPr sz="12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Claude</c:v>
                </c:pt>
                <c:pt idx="1">
                  <c:v>ChatGPT</c:v>
                </c:pt>
                <c:pt idx="2">
                  <c:v>Gemini</c:v>
                </c:pt>
              </c:strCache>
            </c:strRef>
          </c:cat>
          <c:val>
            <c:numRef>
              <c:f>Sheet1!$B$2:$B$4</c:f>
              <c:numCache>
                <c:formatCode>General</c:formatCode>
                <c:ptCount val="3"/>
                <c:pt idx="0">
                  <c:v>20</c:v>
                </c:pt>
                <c:pt idx="1">
                  <c:v>20</c:v>
                </c:pt>
                <c:pt idx="2">
                  <c:v>19.989999999999998</c:v>
                </c:pt>
              </c:numCache>
            </c:numRef>
          </c:val>
          <c:extLst>
            <c:ext xmlns:c16="http://schemas.microsoft.com/office/drawing/2014/chart" uri="{C3380CC4-5D6E-409C-BE32-E72D297353CC}">
              <c16:uniqueId val="{00000000-3916-AD4A-B9E6-D52748C636CA}"/>
            </c:ext>
          </c:extLst>
        </c:ser>
        <c:ser>
          <c:idx val="1"/>
          <c:order val="1"/>
          <c:tx>
            <c:strRef>
              <c:f>Sheet1!$C$1</c:f>
              <c:strCache>
                <c:ptCount val="1"/>
                <c:pt idx="0">
                  <c:v>پلن حرفه‌ای</c:v>
                </c:pt>
              </c:strCache>
            </c:strRef>
          </c:tx>
          <c:spPr>
            <a:solidFill>
              <a:srgbClr val="C15F3C"/>
            </a:solidFill>
            <a:effectLst/>
          </c:spPr>
          <c:invertIfNegative val="0"/>
          <c:dLbls>
            <c:numFmt formatCode="#,##0" sourceLinked="0"/>
            <c:spPr>
              <a:noFill/>
              <a:ln>
                <a:noFill/>
              </a:ln>
              <a:effectLst/>
            </c:spPr>
            <c:txPr>
              <a:bodyPr/>
              <a:lstStyle/>
              <a:p>
                <a:pPr rtl="1">
                  <a:defRPr sz="12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Claude</c:v>
                </c:pt>
                <c:pt idx="1">
                  <c:v>ChatGPT</c:v>
                </c:pt>
                <c:pt idx="2">
                  <c:v>Gemini</c:v>
                </c:pt>
              </c:strCache>
            </c:strRef>
          </c:cat>
          <c:val>
            <c:numRef>
              <c:f>Sheet1!$C$2:$C$4</c:f>
              <c:numCache>
                <c:formatCode>General</c:formatCode>
                <c:ptCount val="3"/>
                <c:pt idx="0">
                  <c:v>200</c:v>
                </c:pt>
                <c:pt idx="1">
                  <c:v>200</c:v>
                </c:pt>
                <c:pt idx="2">
                  <c:v>249.99</c:v>
                </c:pt>
              </c:numCache>
            </c:numRef>
          </c:val>
          <c:extLst>
            <c:ext xmlns:c16="http://schemas.microsoft.com/office/drawing/2014/chart" uri="{C3380CC4-5D6E-409C-BE32-E72D297353CC}">
              <c16:uniqueId val="{00000001-3916-AD4A-B9E6-D52748C636CA}"/>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b"/>
        <c:numFmt formatCode="General" sourceLinked="1"/>
        <c:majorTickMark val="out"/>
        <c:minorTickMark val="none"/>
        <c:tickLblPos val="low"/>
        <c:spPr>
          <a:ln w="12700" cap="flat">
            <a:solidFill>
              <a:srgbClr val="888888"/>
            </a:solidFill>
            <a:prstDash val="solid"/>
            <a:round/>
          </a:ln>
        </c:spPr>
        <c:txPr>
          <a:bodyPr/>
          <a:lstStyle/>
          <a:p>
            <a:pPr rtl="1">
              <a:defRPr sz="1400" b="0" i="0" u="none" strike="noStrike">
                <a:solidFill>
                  <a:srgbClr val="1F1E1D"/>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r"/>
        <c:majorGridlines>
          <c:spPr>
            <a:ln w="6350" cap="flat">
              <a:solidFill>
                <a:srgbClr val="E3DE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rtl="1">
              <a:defRPr sz="1200" b="0" i="0" u="none" strike="noStrike">
                <a:solidFill>
                  <a:srgbClr val="5E5D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rtl="1">
            <a:defRPr>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2923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سلام و وقت بخیر خدمت استاد گرامی، جناب آقای دکتر صادقی، و دوستان عزیز. من سید پارسا بنی‌طبا هستم و امروز می‌خواهم درباره‌ی Claude صحبت کنم؛ دستیار هوش مصنوعی شرکت Anthropic که این روزها یکی از قوی‌ترین مدل‌های زبانی دنیاست. در حدود پانزده تا بیست دقیقه می‌گوییم Claude چیست، از کجا آمده، چه مدل‌هایی دارد، به چه کاری می‌آید و در آخر هم روش عملی خرید اشتراکش از داخل ایران را توضیح می‌دهم.</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مسیر ارائه این‌طور است: اول با شرکت Anthropic و داستان پیدایشش آشنا می‌شویم. بعد خط زمانی مدل‌های Claude را مرور می‌کنیم و خانواده‌های فعلی مدل‌ها را می‌شناسیم. سپس قابلیت‌ها و محصولات Claude را می‌بینیم، بعد پلن‌ها و نحوه‌ی محاسبه‌ی محدودیت مصرف را توضیح می‌دهم و Claude را با رقبا مقایسه می‌کنیم. در پایان روش خرید با گیفت‌کارت اپل و چند نکته‌ی کاربردی برای استفاده‌ی بهتر را می‌گویم.</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شرکت Anthropic در سال ۲۰۲۱ در سان‌فرانسیسکو تأسیس شد. بنیان‌گذارانش، داریو آمودی و خواهرش دانیلا آمودی، به همراه چند نفر دیگر، قبلاً از پژوهشگران ارشد OpenAI بودند. دلیل جدا شدنشان این بود که می‌خواستند ایمنی هوش مصنوعی در مرکز کار باشد، نه در حاشیه. Anthropic به صورت Public Benefit Corporation ثبت شده، یعنی شرکتی که علاوه بر سود، موظف به منفعت عمومی هم هست. یکی از نوآوری‌های مهم این شرکت روشی به نام Constitutional AI یا هوش مصنوعی مبتنی بر قانون اساسی است؛ یعنی مدل بر اساس مجموعه‌ای از اصول نوشته‌شده آموزش می‌بیند تا مفید، صادق و بی‌خطر باشد. امروز Anthropic یکی از سه شرکت پیشروی دنیا در هوش مصنوعی است.</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اولین نسخه‌ی Claude در مارس ۲۰۲۳ عرضه شد. چند ماه بعد Claude 2 آمد که پنجره‌ی متنی بسیار بزرگی داشت. در مارس ۲۰۲۴ خانواده‌ی Claude 3 با سه سطح Haiku، Sonnet و Opus معرفی شد و همان سال Claude 3.5 Sonnet به محبوب‌ترین مدل برنامه‌نویسی تبدیل شد. در ۲۰۲۵، همراه با Claude 3.7، ابزار Claude Code برای برنامه‌نویس‌ها آمد و در مه ۲۰۲۵ نسل Claude 4 منتشر شد. سال ۲۰۲۶ پرخبرترین سال بود: Opus 4.6 در فوریه، معرفی نسل Mythos در آوریل، عرضه‌ی عمومی Claude Fable 5 در ژوئن، Opus 5 در ژوئیه، و در سپتامبر Fable 5.1، Opus 5.5 و Sonnet 5.5. یعنی تقریباً هر چند ماه یک جهش جدید داشتیم.</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یک مدل تنها نیست، بلکه چند خانواده دارد که نامشان از قالب‌های ادبی گرفته شده. Haiku کوچک‌ترین و سریع‌ترین است، مثل شعر کوتاه ژاپنی؛ برای کارهای ساده و پرحجم. Sonnet مدل همه‌کاره و متعادل است، برای کارهای روزمره، کدنویسی و نوشتن. Opus مدل قدرتمند برای کارهای پیچیده و استدلال عمیق است. و بالاترین سطح، Mythos است که فعلاً فقط در اختیار سازمان‌های منتخب است؛ نسخه‌ی عمومی همین سطح با محافظت‌های ایمنی بیشتر، Claude Fable نام دارد. قاعده‌ی کلی ساده است: هرچه بالاتر می‌رویم، توانایی بیشتر ولی هزینه و مصرف سهمیه هم بیشتر.</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مدل‌های فعلی که الان می‌شود استفاده کرد این‌ها هستند: Claude Fable 5.1 که از اول سپتامبر ۲۰۲۶ قوی‌ترین مدل عمومی است، با پنجره‌ی یک میلیون توکنی. Claude Opus 5.5 که بیست‌ودوم سپتامبر آمد؛ در بیشتر کارها هم‌سطح Fable است ولی ارزان‌تر. Claude Sonnet 5.5 که همین هفته‌ی گذشته منتشر شد و برای کارهای روزمره سریع است. و Claude Haiku 4.5 برای سرعت بالا و هزینه‌ی کم. نکته اینکه یک میلیون توکن یعنی تقریباً چند کتاب کامل را می‌شود یک‌جا به مدل داد.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حالا ببینیم Claude چه کارهایی می‌کند. اول، درک متن‌های خیلی طولانی؛ می‌شود کل یک پایان‌نامه یا کد یک پروژه را به آن داد. دوم، برنامه‌نویسی که نقطه‌ی قوت اصلی Claude است. سوم، دیدن تصویر و فایل؛ عکس، PDF و جدول را می‌خواند. چهارم، جست‌وجوی وب و پژوهش عمیق با ذکر منبع. پنجم، ساختن خروجی آماده مثل سند، اسلاید، صفحه‌ی وب و نمودار. ششم، حافظه و پروژه‌ها؛ یعنی زمینه‌ی کار شما را به خاطر می‌سپارد. و هفتم، کار به صورت عامل یا Agent؛ یعنی کارهای چندمرحله‌ای را خودش جلو می‌برد.</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را از چند راه می‌شود استفاده کرد. اپلیکیشن اصلی Claude روی وب، ویندوز، مک، اندروید و iOS در دسترس است. Claude Code ابزار برنامه‌نویسی است که در ترمینال و محیط توسعه کار می‌کند و خودش کد می‌نویسد، تست می‌کند و اصلاح می‌کند. Claude in Chrome افزونه‌ای است که داخل مرورگر کارها را انجام می‌دهد. Claude for Microsoft 365 داخل Word و Excel و PowerPoint کار می‌کند. و برای توسعه‌دهندگان، API هست که می‌شود Claude را در نرم‌افزار خودمان به کار ببریم.</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فقط یک چت‌بات نیست و خروجی کامل می‌سازد. Claude Design که از آوریل ۲۰۲۶ آمده، با یک توضیح ساده پوستر، طرح اپلیکیشن، پروتوتایپ و اسلاید طراحی می‌کند. Docs و Slides سند و ارائه‌ی زنده می‌سازند که قابل ویرایش و اشتراک است و خروجی Word و PDF و PowerPoint می‌دهد. Artifacts صفحه‌ها و ابزارهای تعاملی کنار گفتگو هستند. Projects فایل‌ها و دستورهای ثابت هر موضوع را نگه می‌دارد. Memory ترجیحات شما را به خاطر می‌سپارد. Research پژوهش عمیق چندمنبعی انجام می‌دهد. Skills دستورالعمل‌های آماده برای کارهای تکراری است. و با Scheduled tasks می‌شود یک کار را برای زمان مشخص زمان‌بندی کرد؛ مثلاً هر صبح خلاصه‌ی خبرها.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نمای کلی اپ Claude روی مک است. سمت چپ سایدبار را داریم: گفتگوها، پروژه‌ها، Artifacts، Design و Code. وسط صفحه گفتگو است و وقتی Claude یک خروجی کامل می‌سازد، به شکل Artifact نمایش داده می‌شود. پایین صفحه کادر نوشتن پیام است؛ با دکمه‌ی به‌علاوه فایل و عکس اضافه می‌کنیم و از منوی کناری مدل را انتخاب می‌کنیم. یک ترفند کاربردی: در مک با کلید Option و Space می‌شود Claude را از هر جایی سریع باز کرد.</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روند کار در Claude Design ساده است: اول درخواستتان را به زبان ساده و حتی فارسی می‌نویسید، مثلاً یک پوستر برای سمینار هوش مصنوعی دانشگاه. Claude چند نسخه‌ی مختلف می‌سازد. شما نسخه‌ی دلخواه را انتخاب می‌کنید و با پیام بعدی یا ویرایش مستقیم اصلاحش می‌کنید. در آخر خروجی PDF یا تصویر می‌گیرید یا لینکش را به اشتراک می‌گذارید. یعنی بدون بلد بودن فتوشاپ یا فیگما، طرح حرفه‌ای دارید.</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ابزار برنامه‌نویسی عاملی Claude است. یعنی فقط کد پیشنهاد نمی‌دهد، بلکه خودش فایل‌های پروژه را می‌خواند، ویرایش می‌کند، دستور اجرا می‌کند، تست می‌گیرد و اگر خطا بود رفعش می‌کند. با git هم کار می‌کند و می‌تواند Pull Request بسازد. در ترمینال، محیط‌هایی مثل VS Code، وب و اپ دسکتاپ در دسترس است. نکته‌ی مهم اینکه سهمیه‌ی Claude Code با اپ Claude مشترک است و با دستور اسلش یوزج می‌توانید مصرفتان را ببینید.</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یکی از مهم‌ترین نوآوری‌های Anthropic، پروتکل MCP یا Model Context Protocol است که نوامبر ۲۰۲۴ به صورت استاندارد باز منتشر شد. بهترین تشبیهش پورت USB-C است: همان‌طور که یک پورت واحد همه‌ی دستگاه‌ها را وصل می‌کند، MCP هم یک زبان مشترک است که هر ابزار و سرویسی را به هوش مصنوعی وصل می‌کند؛ مثل گوگل درایو، جیمیل، گیت‌هاب، فیگما، اسلک یا پایگاه داده. MCP دو شکل دارد: Connectorهای آماده در خود اپ که روی ابر کار می‌کنند، و سرورهای محلی که روی کامپیوتر خودتان اجرا می‌شوند. چون استاندارد باز است، شرکت‌های دیگر هم آن را پذیرفته‌اند و هر برنامه‌نویسی می‌تواند سرور MCP خودش را بسازد.</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عمل استفاده از MCP خیلی ساده است. در تنظیمات اپ به بخش Connectors می‌روید، روی سرویس موردنظر می‌زنید و وارد حسابتان می‌شوید. از آن به بعد می‌توانید مستقیم بپرسید: ایمیل‌های مهم امروزم چیه؟ یا این فایل درایو را خلاصه کن. Claude خودش به سرویس وصل می‌شود و جواب می‌دهد. با گزینه‌ی Add custom connector هم می‌شود سرورهای MCP دلخواه را اضافه کرد.</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خب، یک دانشجو یا کارمند با Claude چه کار می‌کند؟ برای درس: توضیح مفاهیم سخت، خلاصه‌ی مقاله، ساختن کوییز برای امتحان. برای برنامه‌نویسی: نوشتن و دیباگ کد، توضیح کد دیگران، ساختن پروژه از صفر. برای نوشتن: ایمیل رسمی، رزومه، ترجمه و ویرایش متن. برای پژوهش: جست‌وجو در منابع و جمع‌بندی با رفرنس. و برای کار روزمره: برنامه‌ریزی، تحلیل اکسل و ساختن ارائه. همین ارائه هم با کمک Claude ساخته شده است.</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پنج پلن اصلی دارد. پلن Free رایگان است و برای استفاده‌ی سبک کافی است. پلن Pro ماهی بیست دلار است، یا هفده دلار در صورت پرداخت سالانه؛ حداقل پنج برابر Free مصرف می‌دهد و Claude Code و مدل‌های Opus هم دارد. پلن Max دو سطح دارد: Max 5x با صد دلار در ماه که پنج برابر Pro است، و Max 20x با دویست دلار که بیست برابر Pro است؛ این دو اولویت دسترسی در ساعات شلوغ هم دارند. برای سازمان‌ها هم پلن Team و Enterprise هست. برای بیشتر دانشجوها، Pro بهترین انتخاب است.</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نمودار مقایسه‌ی تقریبی سهمیه‌ی هر پلن را نسبت به Free نشان می‌دهد. اگر Free را یک واحد در نظر بگیریم، Pro حداقل پنج واحد است، Max 5x حدود بیست‌وپنج واحد و Max 20x حدود صد واحد. یعنی با هر پله، مقدار کاری که در هر بازه‌ی پنج‌ساعته می‌توانید انجام دهید چند برابر می‌شود.</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مهم‌ترین نکته‌ای که خیلی‌ها نمی‌دانند، نحوه‌ی حساب شدن محدودیت است. Claude دو نوع محدودیت دارد. اول محدودیت جلسه‌ی پنج‌ساعته: از لحظه‌ای که اولین پیام را می‌فرستید، یک بازه‌ی پنج‌ساعته شروع می‌شود و هر پیام از سهمیه‌ی این بازه کم می‌کند. وقتی پنج ساعت تمام شد، سهمیه دوباره پر می‌شود. دوم محدودیت هفتگی: یک سقف کلی هم برای کل هفته هست که روی همه‌ی مدل‌ها و همه‌ی ابزارها، یعنی اپ و Claude Code، مشترک است. پس حتی اگر هر پنج ساعت سهمیه‌تان پر شود، ممکن است وسط هفته به سقف هفتگی برسید. نکته‌ی دیگر اینکه مصرف به اندازه‌ی کار بستگی دارد، نه تعداد پیام؛ مکالمه‌ی طولانی، فایل‌های بزرگ و مدل‌های قوی‌تر مثل Opus سهمیه را سریع‌تر مصرف می‌کنند. در صورت تمام شدن، در پلن‌های پولی می‌شود Extra usage را فعال کرد و با نرخ API ادامه داد. در سال ۲۰۲۶ هم Anthropic چند بار این سقف‌ها را بالا برده است.</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حالا ببینیم این محدودیت‌ها را کجا می‌شود دید. در تنظیمات اپ، بخش Usage، اولین نوار مربوط به جلسه‌ی فعلی است؛ درصد مصرف و اینکه چند ساعت دیگر ریست می‌شود. پایین‌تر بخش محدودیت هفتگی است که مصرف کل مدل‌ها و روز ریست شدن را نشان می‌دهد؛ مدل Fable هم سهمیه‌ی جداگانه دارد. در انتها گزینه‌ی Extra usage هست که اگر روشنش کنید، بعد از اتمام سهمیه با نرخ API ادامه می‌دهید. در Claude Code هم همین اطلاعات با دستور اسلش یوزج نمایش داده می‌شود.</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حالا Claude را کنار رقبا بگذاریم. از نظر قیمت پلن پایه، تقریباً همه حدود بیست دلار هستند: Claude Pro، ChatGPT Plus و Google AI Pro. در سطح حرفه‌ای، Claude Max 20x و ChatGPT Pro هر دو دویست دلارند و پلن Ultra گوگل گران‌تر است. اما تفاوت اصلی در نقاط قوت است: Claude معمولاً در برنامه‌نویسی، نوشتن طبیعی و کار با متن‌های طولانی جزو بهترین‌هاست. ChatGPT در تولید تصویر و صدا قوی‌تر است و Gemini در یکپارچگی با سرویس‌های گوگل. یک ضعف Claude هم این است که تولید تصویر ندارد. البته قیمت‌ها و رتبه‌ها مدام تغییر می‌کنند، پس همیشه آخرین اطلاعات را چک کنید.</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 اما بخش عملی: چطور از ایران اشتراک بخریم؟ چون کارت‌های بانکی ایرانی در سایت کار نمی‌کنند، یکی از ساده‌ترین روش‌ها پرداخت داخل اپلیکیشن iOS با شارژ اپل آیدی است. مرحله‌ی اول: یک Apple ID با ریجن آمریکا داشته باشید. مرحله‌ی دوم: از فروشگاه‌های معتبر ایرانی یک گیفت‌کارت اپل آمریکا به اندازه‌ی کافی بخرید؛ برای Pro حداقل بیست دلار به‌علاوه‌ی مالیات احتمالی، که بهتر است کمی بیشتر شارژ کنید. مرحله‌ی سوم: در App Store روی پروفایل بزنید و گزینه‌ی Redeem Gift Card را انتخاب کنید و کد را وارد کنید تا موجودی اپل آیدی شارژ شود. مرحله‌ی چهارم: اپ Claude را از App Store نصب کنید و وارد حساب Claude خود شوید. مرحله‌ی پنجم: در تنظیمات اپ گزینه‌ی Upgrade را بزنید، پلن را انتخاب کنید و با موجودی اپل آیدی پرداخت کنید. حالا اشتراک روی همه‌ی دستگاه‌ها، حتی وب و کامپیوتر، فعال است.</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چند نکته‌ی مهم: قیمت داخل اپ iOS معمولاً کمی بیشتر از سایت است، چون اپل کارمزد دارد. تمدید خودکار است؛ پس قبل از تاریخ تمدید، موجودی اپل آیدی را شارژ کنید، وگرنه اشتراک قطع می‌شود. برای لغو هم باید از بخش Subscriptions در تنظیمات آیفون اقدام کنید، نه از سایت Claude. و نکته‌ی آخر: ایران جزو کشورهای پشتیبانی‌شده‌ی Claude نیست، پس استفاده از آن با رعایت قوانین سرویس و مسئولیت خود کاربر است و ممکن است حساب محدود شود؛ گیفت‌کارت را هم فقط از فروشنده‌های معتبر بخرید.</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چند نکته‌ی جالب درباره‌ی Claude: نام Claude به احترام کلود شانون انتخاب شده؛ پدر نظریه‌ی اطلاعات که پایه‌ی ریاضی همه‌ی ارتباطات دیجیتال را گذاشت. Anthropic برای Claude یک سند به نام قانون اساسی منتشر کرده که شخصیت و ارزش‌هایش را توضیح می‌دهد و هرکس می‌تواند آن را بخواند. پنجره‌ی یک میلیون توکنی یعنی چیزی حدود هفتصد و پنجاه هزار کلمه؛ تقریباً کل مجموعه‌ی هری پاتر در یک گفتگو. Claude می‌تواند بدون اینکه شما کاری کنید، کارهای چندساعته را خودش انجام دهد؛ مثلاً یک برنامه را بنویسد، تست کند و ایراداتش را رفع کند. و نکته‌ی آخر: Anthropic در پژوهش‌هایی به نام تفسیرپذیری، داخل مغز مدل را بررسی می‌کند تا بفهمد مدل واقعاً چطور فکر می‌کند.</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یکی از جذاب‌ترین اتفاقات ۲۰۲۶، معرفی نسل Mythos بود. این مدل آن‌قدر در امنیت سایبری قوی بود که Anthropic تصمیم گرفت اول آن را فقط به سازمان‌های مورد اعتماد بدهد، در قالب برنامه‌ای به نام Project Glasswing، تا آسیب‌پذیری‌های نرم‌افزارهای مهم را قبل از هکرها پیدا و رفع کنند. بعد نسخه‌ی عمومی‌اش با محافظت‌های بیشتر به نام Fable عرضه شد. این نشان می‌دهد که با قوی‌تر شدن هوش مصنوعی، مسئله‌ی ایمنی و عرضه‌ی مسئولانه چقدر مهم شده. آینده‌ی Claude هم به سمت عامل‌های مستقل‌تر، کار طولانی‌تر و همکاری نزدیک‌تر با انسان می‌رود.</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چند نکته برای اینکه از Claude بهترین نتیجه را بگیرید: اول، دقیق و کامل بنویسید چه می‌خواهید؛ هدف، مخاطب و قالب خروجی را بگویید. دوم، مثال بدهید؛ یک نمونه‌ی خوب از ده خط توضیح بهتر است. سوم، برای هر موضوع جدید یک گفتگوی جدید باز کنید تا سهمیه کمتر مصرف شود. چهارم، از Projects برای فایل‌ها و دستورهای ثابت استفاده کنید. و پنجم، همیشه خروجی را بررسی کنید؛ هوش مصنوعی هم ممکن است اشتباه کند.</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جمع‌بندی کنم: Claude محصول شرکت Anthropic است که از ۲۰۲۱ با تمرکز بر ایمنی شروع کرد و امروز در خط مقدم هوش مصنوعی است. چند خانواده مدل دارد، از Haiku سریع تا Fable قدرتمند. پلن رایگان دارد و Pro با بیست دلار برای بیشتر ما کافی است. محدودیتش بر اساس بازه‌ی پنج‌ساعته و سقف هفتگی حساب می‌شود. و از ایران هم می‌شود با گیفت‌کارت اپل و اپ iOS خریدش. ممنون از توجه شما و استاد گرامی؛ اگر سؤالی هست در خدمتم.</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9F5"/>
        </a:solidFill>
        <a:effectLst/>
      </p:bgPr>
    </p:bg>
    <p:spTree>
      <p:nvGrpSpPr>
        <p:cNvPr id="1" name=""/>
        <p:cNvGrpSpPr/>
        <p:nvPr/>
      </p:nvGrpSpPr>
      <p:grpSpPr>
        <a:xfrm>
          <a:off x="0" y="0"/>
          <a:ext cx="0" cy="0"/>
          <a:chOff x="0" y="0"/>
          <a:chExt cx="0" cy="0"/>
        </a:xfrm>
      </p:grpSpPr>
      <p:sp>
        <p:nvSpPr>
          <p:cNvPr id="3" name="Text 1"/>
          <p:cNvSpPr/>
          <p:nvPr/>
        </p:nvSpPr>
        <p:spPr>
          <a:xfrm>
            <a:off x="6248400" y="6355080"/>
            <a:ext cx="5486400" cy="320040"/>
          </a:xfrm>
          <a:prstGeom prst="rect">
            <a:avLst/>
          </a:prstGeom>
          <a:noFill/>
          <a:ln/>
        </p:spPr>
        <p:txBody>
          <a:bodyPr wrap="square" rtlCol="0" anchor="ctr"/>
          <a:lstStyle/>
          <a:p>
            <a:pPr marL="0" indent="0" algn="r" rtl="0">
              <a:buNone/>
            </a:pPr>
            <a:r>
              <a:rPr lang="en-US" sz="1000" dirty="0">
                <a:solidFill>
                  <a:srgbClr val="5E5D59"/>
                </a:solidFill>
                <a:latin typeface="Vazirmatn" pitchFamily="34" charset="0"/>
                <a:ea typeface="Vazirmatn" pitchFamily="34" charset="-122"/>
                <a:cs typeface="Vazirmatn" pitchFamily="34" charset="-120"/>
              </a:rPr>
              <a:t>Claude  |  سید پارسا بنی طبا</a:t>
            </a:r>
            <a:endParaRPr lang="en-US" sz="1000" dirty="0"/>
          </a:p>
        </p:txBody>
      </p:sp>
      <p:sp>
        <p:nvSpPr>
          <p:cNvPr id="25" name="Slide Number Placeholder 0"/>
          <p:cNvSpPr>
            <a:spLocks noGrp="1"/>
          </p:cNvSpPr>
          <p:nvPr>
            <p:ph type="sldNum" sz="quarter" idx="4294967295"/>
          </p:nvPr>
        </p:nvSpPr>
        <p:spPr>
          <a:xfrm>
            <a:off x="1133856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1E1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5.png"/><Relationship Id="rId5" Type="http://schemas.openxmlformats.org/officeDocument/2006/relationships/image" Target="../media/image12.png"/><Relationship Id="rId10" Type="http://schemas.openxmlformats.org/officeDocument/2006/relationships/image" Target="../media/image24.png"/><Relationship Id="rId4" Type="http://schemas.openxmlformats.org/officeDocument/2006/relationships/image" Target="../media/image21.pn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png"/><Relationship Id="rId7"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1.png"/><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2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png"/><Relationship Id="rId7"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png"/><Relationship Id="rId7"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3.png"/><Relationship Id="rId7"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0" y="0"/>
            <a:ext cx="4206240" cy="6858000"/>
          </a:xfrm>
          <a:prstGeom prst="rect">
            <a:avLst/>
          </a:prstGeom>
          <a:solidFill>
            <a:srgbClr val="D97757"/>
          </a:solidFill>
          <a:ln/>
        </p:spPr>
      </p:sp>
      <p:pic>
        <p:nvPicPr>
          <p:cNvPr id="4" name="Image 0" descr="preencoded.png"/>
          <p:cNvPicPr>
            <a:picLocks noChangeAspect="1"/>
          </p:cNvPicPr>
          <p:nvPr/>
        </p:nvPicPr>
        <p:blipFill>
          <a:blip r:embed="rId3"/>
          <a:stretch>
            <a:fillRect/>
          </a:stretch>
        </p:blipFill>
        <p:spPr>
          <a:xfrm>
            <a:off x="822960" y="2148840"/>
            <a:ext cx="2560320" cy="2560320"/>
          </a:xfrm>
          <a:prstGeom prst="rect">
            <a:avLst/>
          </a:prstGeom>
        </p:spPr>
      </p:pic>
      <p:sp>
        <p:nvSpPr>
          <p:cNvPr id="5" name="Shape 1"/>
          <p:cNvSpPr/>
          <p:nvPr/>
        </p:nvSpPr>
        <p:spPr>
          <a:xfrm>
            <a:off x="10561320" y="411480"/>
            <a:ext cx="1234440" cy="2103120"/>
          </a:xfrm>
          <a:prstGeom prst="roundRect">
            <a:avLst>
              <a:gd name="adj" fmla="val 8889"/>
            </a:avLst>
          </a:prstGeom>
          <a:solidFill>
            <a:srgbClr val="FAF9F5"/>
          </a:solidFill>
          <a:ln w="12700">
            <a:solidFill>
              <a:srgbClr val="FAF9F5"/>
            </a:solidFill>
            <a:prstDash val="solid"/>
          </a:ln>
        </p:spPr>
      </p:sp>
      <p:pic>
        <p:nvPicPr>
          <p:cNvPr id="6" name="Image 1" descr="لوگوی دانشگاه آزاد اسلامی واحد تهران مرکزی"/>
          <p:cNvPicPr>
            <a:picLocks noChangeAspect="1"/>
          </p:cNvPicPr>
          <p:nvPr/>
        </p:nvPicPr>
        <p:blipFill>
          <a:blip r:embed="rId4"/>
          <a:stretch>
            <a:fillRect/>
          </a:stretch>
        </p:blipFill>
        <p:spPr>
          <a:xfrm>
            <a:off x="10661904" y="502920"/>
            <a:ext cx="1033272" cy="1920240"/>
          </a:xfrm>
          <a:prstGeom prst="rect">
            <a:avLst/>
          </a:prstGeom>
        </p:spPr>
      </p:pic>
      <p:sp>
        <p:nvSpPr>
          <p:cNvPr id="7" name="Text 2"/>
          <p:cNvSpPr txBox="1"/>
          <p:nvPr/>
        </p:nvSpPr>
        <p:spPr>
          <a:xfrm>
            <a:off x="4754880" y="548640"/>
            <a:ext cx="5577840" cy="822960"/>
          </a:xfrm>
          <a:prstGeom prst="rect">
            <a:avLst/>
          </a:prstGeom>
          <a:noFill/>
          <a:ln/>
        </p:spPr>
        <p:txBody>
          <a:bodyPr wrap="square" lIns="0" tIns="0" rIns="0" bIns="0" rtlCol="0" anchor="t"/>
          <a:lstStyle/>
          <a:p>
            <a:pPr marL="0" indent="0" algn="r" rtl="1">
              <a:buNone/>
            </a:pPr>
            <a:r>
              <a:rPr lang="en-US" sz="1500" dirty="0">
                <a:solidFill>
                  <a:srgbClr val="B0AEA5"/>
                </a:solidFill>
                <a:latin typeface="Vazirmatn" pitchFamily="34" charset="0"/>
                <a:ea typeface="Vazirmatn" pitchFamily="34" charset="-122"/>
                <a:cs typeface="Vazirmatn" pitchFamily="34" charset="-120"/>
              </a:rPr>
              <a:t>دانشگاه آزاد اسلامی</a:t>
            </a:r>
            <a:endParaRPr lang="en-US" sz="1500" dirty="0"/>
          </a:p>
          <a:p>
            <a:pPr marL="0" indent="0" algn="r" rtl="1">
              <a:buNone/>
            </a:pPr>
            <a:r>
              <a:rPr lang="en-US" sz="1500" dirty="0">
                <a:solidFill>
                  <a:srgbClr val="B0AEA5"/>
                </a:solidFill>
                <a:latin typeface="Vazirmatn" pitchFamily="34" charset="0"/>
                <a:ea typeface="Vazirmatn" pitchFamily="34" charset="-122"/>
                <a:cs typeface="Vazirmatn" pitchFamily="34" charset="-120"/>
              </a:rPr>
              <a:t>واحد تهران مرکزی</a:t>
            </a:r>
            <a:endParaRPr lang="en-US" sz="1500" dirty="0"/>
          </a:p>
        </p:txBody>
      </p:sp>
      <p:sp>
        <p:nvSpPr>
          <p:cNvPr id="8" name="Text 3"/>
          <p:cNvSpPr txBox="1"/>
          <p:nvPr/>
        </p:nvSpPr>
        <p:spPr>
          <a:xfrm>
            <a:off x="4754880" y="1828800"/>
            <a:ext cx="5577840" cy="1188720"/>
          </a:xfrm>
          <a:prstGeom prst="rect">
            <a:avLst/>
          </a:prstGeom>
          <a:noFill/>
          <a:ln/>
        </p:spPr>
        <p:txBody>
          <a:bodyPr wrap="square" lIns="0" tIns="0" rIns="0" bIns="0" rtlCol="0" anchor="t"/>
          <a:lstStyle/>
          <a:p>
            <a:pPr marL="0" indent="0" algn="r">
              <a:buNone/>
            </a:pPr>
            <a:r>
              <a:rPr lang="en-US" sz="7200" b="1" dirty="0">
                <a:solidFill>
                  <a:srgbClr val="FAF9F5"/>
                </a:solidFill>
                <a:latin typeface="Vazirmatn" pitchFamily="34" charset="0"/>
                <a:ea typeface="Vazirmatn" pitchFamily="34" charset="-122"/>
                <a:cs typeface="Vazirmatn" pitchFamily="34" charset="-120"/>
              </a:rPr>
              <a:t>Claude</a:t>
            </a:r>
            <a:endParaRPr lang="en-US" sz="7200" dirty="0"/>
          </a:p>
        </p:txBody>
      </p:sp>
      <p:sp>
        <p:nvSpPr>
          <p:cNvPr id="9" name="Text 4"/>
          <p:cNvSpPr txBox="1"/>
          <p:nvPr/>
        </p:nvSpPr>
        <p:spPr>
          <a:xfrm>
            <a:off x="4754880" y="3063240"/>
            <a:ext cx="5577840" cy="640080"/>
          </a:xfrm>
          <a:prstGeom prst="rect">
            <a:avLst/>
          </a:prstGeom>
          <a:noFill/>
          <a:ln/>
        </p:spPr>
        <p:txBody>
          <a:bodyPr wrap="square" lIns="0" tIns="0" rIns="0" bIns="0" rtlCol="0" anchor="t"/>
          <a:lstStyle/>
          <a:p>
            <a:pPr marL="0" indent="0" algn="r" rtl="1">
              <a:buNone/>
            </a:pPr>
            <a:r>
              <a:rPr lang="en-US" sz="2400" dirty="0">
                <a:solidFill>
                  <a:srgbClr val="D97757"/>
                </a:solidFill>
                <a:latin typeface="Vazirmatn" pitchFamily="34" charset="0"/>
                <a:ea typeface="Vazirmatn" pitchFamily="34" charset="-122"/>
                <a:cs typeface="Vazirmatn" pitchFamily="34" charset="-120"/>
              </a:rPr>
              <a:t>دستیار هوش مصنوعی Anthropic؛ از پیدایش تا امروز</a:t>
            </a:r>
            <a:endParaRPr lang="en-US" sz="2400" dirty="0"/>
          </a:p>
        </p:txBody>
      </p:sp>
      <p:sp>
        <p:nvSpPr>
          <p:cNvPr id="10" name="Shape 5"/>
          <p:cNvSpPr/>
          <p:nvPr/>
        </p:nvSpPr>
        <p:spPr>
          <a:xfrm>
            <a:off x="8503920" y="4114800"/>
            <a:ext cx="3200400" cy="0"/>
          </a:xfrm>
          <a:prstGeom prst="line">
            <a:avLst/>
          </a:prstGeom>
          <a:noFill/>
          <a:ln w="12700">
            <a:solidFill>
              <a:srgbClr val="5E5D59"/>
            </a:solidFill>
            <a:prstDash val="solid"/>
          </a:ln>
        </p:spPr>
      </p:sp>
      <p:sp>
        <p:nvSpPr>
          <p:cNvPr id="11" name="Text 6"/>
          <p:cNvSpPr txBox="1"/>
          <p:nvPr/>
        </p:nvSpPr>
        <p:spPr>
          <a:xfrm>
            <a:off x="4754880" y="4343400"/>
            <a:ext cx="6949440" cy="1371600"/>
          </a:xfrm>
          <a:prstGeom prst="rect">
            <a:avLst/>
          </a:prstGeom>
          <a:noFill/>
          <a:ln/>
        </p:spPr>
        <p:txBody>
          <a:bodyPr wrap="square" lIns="0" tIns="0" rIns="0" bIns="0" rtlCol="0" anchor="t"/>
          <a:lstStyle/>
          <a:p>
            <a:pPr marL="0" indent="0" algn="r" rtl="1">
              <a:spcAft>
                <a:spcPts val="600"/>
              </a:spcAft>
              <a:buNone/>
            </a:pPr>
            <a:r>
              <a:rPr lang="en-US" sz="1800" dirty="0">
                <a:solidFill>
                  <a:srgbClr val="F0EEE6"/>
                </a:solidFill>
                <a:latin typeface="Vazirmatn" pitchFamily="34" charset="0"/>
                <a:ea typeface="Vazirmatn" pitchFamily="34" charset="-122"/>
                <a:cs typeface="Vazirmatn" pitchFamily="34" charset="-120"/>
              </a:rPr>
              <a:t>ارائه‌دهنده: سید پارسا بنی‌طبا</a:t>
            </a:r>
            <a:endParaRPr lang="en-US" sz="1800" dirty="0"/>
          </a:p>
          <a:p>
            <a:pPr marL="0" indent="0" algn="r" rtl="1">
              <a:spcAft>
                <a:spcPts val="600"/>
              </a:spcAft>
              <a:buNone/>
            </a:pPr>
            <a:r>
              <a:rPr lang="en-US" sz="1800" dirty="0">
                <a:solidFill>
                  <a:srgbClr val="F0EEE6"/>
                </a:solidFill>
                <a:latin typeface="Vazirmatn" pitchFamily="34" charset="0"/>
                <a:ea typeface="Vazirmatn" pitchFamily="34" charset="-122"/>
                <a:cs typeface="Vazirmatn" pitchFamily="34" charset="-120"/>
              </a:rPr>
              <a:t>استاد: جناب آقای دکتر صادقی</a:t>
            </a:r>
            <a:endParaRPr lang="en-US" sz="1800" dirty="0"/>
          </a:p>
          <a:p>
            <a:pPr marL="0" indent="0" algn="r" rtl="1">
              <a:spcAft>
                <a:spcPts val="600"/>
              </a:spcAft>
              <a:buNone/>
            </a:pPr>
            <a:r>
              <a:rPr lang="en-US" sz="1800" dirty="0">
                <a:solidFill>
                  <a:srgbClr val="F0EEE6"/>
                </a:solidFill>
                <a:latin typeface="Vazirmatn" pitchFamily="34" charset="0"/>
                <a:ea typeface="Vazirmatn" pitchFamily="34" charset="-122"/>
                <a:cs typeface="Vazirmatn" pitchFamily="34" charset="-120"/>
              </a:rPr>
              <a:t>مهر ۱۴۰۵</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فهرست مطالب</a:t>
            </a:r>
            <a:endParaRPr lang="en-US" sz="3000" dirty="0"/>
          </a:p>
        </p:txBody>
      </p:sp>
      <p:sp>
        <p:nvSpPr>
          <p:cNvPr id="5" name="Shape 1"/>
          <p:cNvSpPr/>
          <p:nvPr/>
        </p:nvSpPr>
        <p:spPr>
          <a:xfrm>
            <a:off x="6309360" y="1600200"/>
            <a:ext cx="5303520" cy="914400"/>
          </a:xfrm>
          <a:prstGeom prst="roundRect">
            <a:avLst>
              <a:gd name="adj" fmla="val 12000"/>
            </a:avLst>
          </a:prstGeom>
          <a:solidFill>
            <a:srgbClr val="FFFFFF"/>
          </a:solidFill>
          <a:ln w="12700">
            <a:solidFill>
              <a:srgbClr val="E3DED3"/>
            </a:solidFill>
            <a:prstDash val="solid"/>
          </a:ln>
        </p:spPr>
      </p:sp>
      <p:sp>
        <p:nvSpPr>
          <p:cNvPr id="6" name="Shape 2"/>
          <p:cNvSpPr/>
          <p:nvPr/>
        </p:nvSpPr>
        <p:spPr>
          <a:xfrm>
            <a:off x="10835640" y="1783080"/>
            <a:ext cx="548640" cy="548640"/>
          </a:xfrm>
          <a:prstGeom prst="ellipse">
            <a:avLst/>
          </a:prstGeom>
          <a:solidFill>
            <a:srgbClr val="D97757"/>
          </a:solidFill>
          <a:ln/>
        </p:spPr>
      </p:sp>
      <p:sp>
        <p:nvSpPr>
          <p:cNvPr id="7" name="Text 3"/>
          <p:cNvSpPr txBox="1"/>
          <p:nvPr/>
        </p:nvSpPr>
        <p:spPr>
          <a:xfrm>
            <a:off x="10835640" y="178308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۱</a:t>
            </a:r>
            <a:endParaRPr lang="en-US" sz="1800" dirty="0"/>
          </a:p>
        </p:txBody>
      </p:sp>
      <p:sp>
        <p:nvSpPr>
          <p:cNvPr id="8" name="Text 4"/>
          <p:cNvSpPr txBox="1"/>
          <p:nvPr/>
        </p:nvSpPr>
        <p:spPr>
          <a:xfrm>
            <a:off x="6583680" y="1783080"/>
            <a:ext cx="4114800" cy="548640"/>
          </a:xfrm>
          <a:prstGeom prst="rect">
            <a:avLst/>
          </a:prstGeom>
          <a:noFill/>
          <a:ln/>
        </p:spPr>
        <p:txBody>
          <a:bodyPr wrap="square" lIns="0" tIns="0" rIns="0" bIns="0" rtlCol="0" anchor="ctr"/>
          <a:lstStyle/>
          <a:p>
            <a:pPr marL="0" indent="0" algn="r" rtl="1">
              <a:buNone/>
            </a:pPr>
            <a:r>
              <a:rPr lang="en-US" sz="1900" dirty="0">
                <a:solidFill>
                  <a:srgbClr val="1F1E1D"/>
                </a:solidFill>
                <a:latin typeface="Vazirmatn" pitchFamily="34" charset="0"/>
                <a:ea typeface="Vazirmatn" pitchFamily="34" charset="-122"/>
                <a:cs typeface="Vazirmatn" pitchFamily="34" charset="-120"/>
              </a:rPr>
              <a:t>Anthropic؛ شرکت سازنده</a:t>
            </a:r>
            <a:endParaRPr lang="en-US" sz="1900" dirty="0"/>
          </a:p>
        </p:txBody>
      </p:sp>
      <p:sp>
        <p:nvSpPr>
          <p:cNvPr id="9" name="Shape 5"/>
          <p:cNvSpPr/>
          <p:nvPr/>
        </p:nvSpPr>
        <p:spPr>
          <a:xfrm>
            <a:off x="6309360" y="2697480"/>
            <a:ext cx="5303520" cy="914400"/>
          </a:xfrm>
          <a:prstGeom prst="roundRect">
            <a:avLst>
              <a:gd name="adj" fmla="val 12000"/>
            </a:avLst>
          </a:prstGeom>
          <a:solidFill>
            <a:srgbClr val="FFFFFF"/>
          </a:solidFill>
          <a:ln w="12700">
            <a:solidFill>
              <a:srgbClr val="E3DED3"/>
            </a:solidFill>
            <a:prstDash val="solid"/>
          </a:ln>
        </p:spPr>
      </p:sp>
      <p:sp>
        <p:nvSpPr>
          <p:cNvPr id="10" name="Shape 6"/>
          <p:cNvSpPr/>
          <p:nvPr/>
        </p:nvSpPr>
        <p:spPr>
          <a:xfrm>
            <a:off x="10835640" y="2880360"/>
            <a:ext cx="548640" cy="548640"/>
          </a:xfrm>
          <a:prstGeom prst="ellipse">
            <a:avLst/>
          </a:prstGeom>
          <a:solidFill>
            <a:srgbClr val="D97757"/>
          </a:solidFill>
          <a:ln/>
        </p:spPr>
      </p:sp>
      <p:sp>
        <p:nvSpPr>
          <p:cNvPr id="11" name="Text 7"/>
          <p:cNvSpPr txBox="1"/>
          <p:nvPr/>
        </p:nvSpPr>
        <p:spPr>
          <a:xfrm>
            <a:off x="10835640" y="288036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۲</a:t>
            </a:r>
            <a:endParaRPr lang="en-US" sz="1800" dirty="0"/>
          </a:p>
        </p:txBody>
      </p:sp>
      <p:sp>
        <p:nvSpPr>
          <p:cNvPr id="12" name="Text 8"/>
          <p:cNvSpPr txBox="1"/>
          <p:nvPr/>
        </p:nvSpPr>
        <p:spPr>
          <a:xfrm>
            <a:off x="6583680" y="2880360"/>
            <a:ext cx="4114800" cy="548640"/>
          </a:xfrm>
          <a:prstGeom prst="rect">
            <a:avLst/>
          </a:prstGeom>
          <a:noFill/>
          <a:ln/>
        </p:spPr>
        <p:txBody>
          <a:bodyPr wrap="square" lIns="0" tIns="0" rIns="0" bIns="0" rtlCol="0" anchor="ctr"/>
          <a:lstStyle/>
          <a:p>
            <a:pPr marL="0" indent="0" algn="r" rtl="1">
              <a:buNone/>
            </a:pPr>
            <a:r>
              <a:rPr lang="en-US" sz="1900" dirty="0">
                <a:solidFill>
                  <a:srgbClr val="1F1E1D"/>
                </a:solidFill>
                <a:latin typeface="Vazirmatn" pitchFamily="34" charset="0"/>
                <a:ea typeface="Vazirmatn" pitchFamily="34" charset="-122"/>
                <a:cs typeface="Vazirmatn" pitchFamily="34" charset="-120"/>
              </a:rPr>
              <a:t>خط زمانی و خانواده‌های مدل</a:t>
            </a:r>
            <a:endParaRPr lang="en-US" sz="1900" dirty="0"/>
          </a:p>
        </p:txBody>
      </p:sp>
      <p:sp>
        <p:nvSpPr>
          <p:cNvPr id="13" name="Shape 9"/>
          <p:cNvSpPr/>
          <p:nvPr/>
        </p:nvSpPr>
        <p:spPr>
          <a:xfrm>
            <a:off x="6309360" y="3794760"/>
            <a:ext cx="5303520" cy="914400"/>
          </a:xfrm>
          <a:prstGeom prst="roundRect">
            <a:avLst>
              <a:gd name="adj" fmla="val 12000"/>
            </a:avLst>
          </a:prstGeom>
          <a:solidFill>
            <a:srgbClr val="FFFFFF"/>
          </a:solidFill>
          <a:ln w="12700">
            <a:solidFill>
              <a:srgbClr val="E3DED3"/>
            </a:solidFill>
            <a:prstDash val="solid"/>
          </a:ln>
        </p:spPr>
      </p:sp>
      <p:sp>
        <p:nvSpPr>
          <p:cNvPr id="14" name="Shape 10"/>
          <p:cNvSpPr/>
          <p:nvPr/>
        </p:nvSpPr>
        <p:spPr>
          <a:xfrm>
            <a:off x="10835640" y="3977640"/>
            <a:ext cx="548640" cy="548640"/>
          </a:xfrm>
          <a:prstGeom prst="ellipse">
            <a:avLst/>
          </a:prstGeom>
          <a:solidFill>
            <a:srgbClr val="D97757"/>
          </a:solidFill>
          <a:ln/>
        </p:spPr>
      </p:sp>
      <p:sp>
        <p:nvSpPr>
          <p:cNvPr id="15" name="Text 11"/>
          <p:cNvSpPr txBox="1"/>
          <p:nvPr/>
        </p:nvSpPr>
        <p:spPr>
          <a:xfrm>
            <a:off x="10835640" y="397764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۳</a:t>
            </a:r>
            <a:endParaRPr lang="en-US" sz="1800" dirty="0"/>
          </a:p>
        </p:txBody>
      </p:sp>
      <p:sp>
        <p:nvSpPr>
          <p:cNvPr id="16" name="Text 12"/>
          <p:cNvSpPr txBox="1"/>
          <p:nvPr/>
        </p:nvSpPr>
        <p:spPr>
          <a:xfrm>
            <a:off x="6583680" y="3977640"/>
            <a:ext cx="4114800" cy="548640"/>
          </a:xfrm>
          <a:prstGeom prst="rect">
            <a:avLst/>
          </a:prstGeom>
          <a:noFill/>
          <a:ln/>
        </p:spPr>
        <p:txBody>
          <a:bodyPr wrap="square" lIns="0" tIns="0" rIns="0" bIns="0" rtlCol="0" anchor="ctr"/>
          <a:lstStyle/>
          <a:p>
            <a:pPr marL="0" indent="0" algn="r" rtl="1">
              <a:buNone/>
            </a:pPr>
            <a:r>
              <a:rPr lang="en-US" sz="1900" dirty="0">
                <a:solidFill>
                  <a:srgbClr val="1F1E1D"/>
                </a:solidFill>
                <a:latin typeface="Vazirmatn" pitchFamily="34" charset="0"/>
                <a:ea typeface="Vazirmatn" pitchFamily="34" charset="-122"/>
                <a:cs typeface="Vazirmatn" pitchFamily="34" charset="-120"/>
              </a:rPr>
              <a:t>قابلیت‌ها، محصولات، Design و MCP</a:t>
            </a:r>
            <a:endParaRPr lang="en-US" sz="1900" dirty="0"/>
          </a:p>
        </p:txBody>
      </p:sp>
      <p:sp>
        <p:nvSpPr>
          <p:cNvPr id="17" name="Shape 13"/>
          <p:cNvSpPr/>
          <p:nvPr/>
        </p:nvSpPr>
        <p:spPr>
          <a:xfrm>
            <a:off x="6309360" y="4892040"/>
            <a:ext cx="5303520" cy="914400"/>
          </a:xfrm>
          <a:prstGeom prst="roundRect">
            <a:avLst>
              <a:gd name="adj" fmla="val 12000"/>
            </a:avLst>
          </a:prstGeom>
          <a:solidFill>
            <a:srgbClr val="FFFFFF"/>
          </a:solidFill>
          <a:ln w="12700">
            <a:solidFill>
              <a:srgbClr val="E3DED3"/>
            </a:solidFill>
            <a:prstDash val="solid"/>
          </a:ln>
        </p:spPr>
      </p:sp>
      <p:sp>
        <p:nvSpPr>
          <p:cNvPr id="18" name="Shape 14"/>
          <p:cNvSpPr/>
          <p:nvPr/>
        </p:nvSpPr>
        <p:spPr>
          <a:xfrm>
            <a:off x="10835640" y="5074920"/>
            <a:ext cx="548640" cy="548640"/>
          </a:xfrm>
          <a:prstGeom prst="ellipse">
            <a:avLst/>
          </a:prstGeom>
          <a:solidFill>
            <a:srgbClr val="D97757"/>
          </a:solidFill>
          <a:ln/>
        </p:spPr>
      </p:sp>
      <p:sp>
        <p:nvSpPr>
          <p:cNvPr id="19" name="Text 15"/>
          <p:cNvSpPr txBox="1"/>
          <p:nvPr/>
        </p:nvSpPr>
        <p:spPr>
          <a:xfrm>
            <a:off x="10835640" y="507492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۴</a:t>
            </a:r>
            <a:endParaRPr lang="en-US" sz="1800" dirty="0"/>
          </a:p>
        </p:txBody>
      </p:sp>
      <p:sp>
        <p:nvSpPr>
          <p:cNvPr id="20" name="Text 16"/>
          <p:cNvSpPr txBox="1"/>
          <p:nvPr/>
        </p:nvSpPr>
        <p:spPr>
          <a:xfrm>
            <a:off x="6583680" y="5074920"/>
            <a:ext cx="4114800" cy="548640"/>
          </a:xfrm>
          <a:prstGeom prst="rect">
            <a:avLst/>
          </a:prstGeom>
          <a:noFill/>
          <a:ln/>
        </p:spPr>
        <p:txBody>
          <a:bodyPr wrap="square" lIns="0" tIns="0" rIns="0" bIns="0" rtlCol="0" anchor="ctr"/>
          <a:lstStyle/>
          <a:p>
            <a:pPr marL="0" indent="0" algn="r" rtl="1">
              <a:buNone/>
            </a:pPr>
            <a:r>
              <a:rPr lang="en-US" sz="1900" dirty="0">
                <a:solidFill>
                  <a:srgbClr val="1F1E1D"/>
                </a:solidFill>
                <a:latin typeface="Vazirmatn" pitchFamily="34" charset="0"/>
                <a:ea typeface="Vazirmatn" pitchFamily="34" charset="-122"/>
                <a:cs typeface="Vazirmatn" pitchFamily="34" charset="-120"/>
              </a:rPr>
              <a:t>کاربردها</a:t>
            </a:r>
            <a:endParaRPr lang="en-US" sz="1900" dirty="0"/>
          </a:p>
        </p:txBody>
      </p:sp>
      <p:sp>
        <p:nvSpPr>
          <p:cNvPr id="21" name="Shape 17"/>
          <p:cNvSpPr/>
          <p:nvPr/>
        </p:nvSpPr>
        <p:spPr>
          <a:xfrm>
            <a:off x="548640" y="1600200"/>
            <a:ext cx="5303520" cy="914400"/>
          </a:xfrm>
          <a:prstGeom prst="roundRect">
            <a:avLst>
              <a:gd name="adj" fmla="val 12000"/>
            </a:avLst>
          </a:prstGeom>
          <a:solidFill>
            <a:srgbClr val="FFFFFF"/>
          </a:solidFill>
          <a:ln w="12700">
            <a:solidFill>
              <a:srgbClr val="E3DED3"/>
            </a:solidFill>
            <a:prstDash val="solid"/>
          </a:ln>
        </p:spPr>
      </p:sp>
      <p:sp>
        <p:nvSpPr>
          <p:cNvPr id="22" name="Shape 18"/>
          <p:cNvSpPr/>
          <p:nvPr/>
        </p:nvSpPr>
        <p:spPr>
          <a:xfrm>
            <a:off x="5074920" y="1783080"/>
            <a:ext cx="548640" cy="548640"/>
          </a:xfrm>
          <a:prstGeom prst="ellipse">
            <a:avLst/>
          </a:prstGeom>
          <a:solidFill>
            <a:srgbClr val="D97757"/>
          </a:solidFill>
          <a:ln/>
        </p:spPr>
      </p:sp>
      <p:sp>
        <p:nvSpPr>
          <p:cNvPr id="23" name="Text 19"/>
          <p:cNvSpPr txBox="1"/>
          <p:nvPr/>
        </p:nvSpPr>
        <p:spPr>
          <a:xfrm>
            <a:off x="5074920" y="178308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۵</a:t>
            </a:r>
            <a:endParaRPr lang="en-US" sz="1800" dirty="0"/>
          </a:p>
        </p:txBody>
      </p:sp>
      <p:sp>
        <p:nvSpPr>
          <p:cNvPr id="24" name="Text 20"/>
          <p:cNvSpPr txBox="1"/>
          <p:nvPr/>
        </p:nvSpPr>
        <p:spPr>
          <a:xfrm>
            <a:off x="822960" y="1783080"/>
            <a:ext cx="4114800" cy="548640"/>
          </a:xfrm>
          <a:prstGeom prst="rect">
            <a:avLst/>
          </a:prstGeom>
          <a:noFill/>
          <a:ln/>
        </p:spPr>
        <p:txBody>
          <a:bodyPr wrap="square" lIns="0" tIns="0" rIns="0" bIns="0" rtlCol="0" anchor="ctr"/>
          <a:lstStyle/>
          <a:p>
            <a:pPr marL="0" indent="0" algn="r" rtl="1">
              <a:buNone/>
            </a:pPr>
            <a:r>
              <a:rPr lang="en-US" sz="1900" dirty="0">
                <a:solidFill>
                  <a:srgbClr val="1F1E1D"/>
                </a:solidFill>
                <a:latin typeface="Vazirmatn" pitchFamily="34" charset="0"/>
                <a:ea typeface="Vazirmatn" pitchFamily="34" charset="-122"/>
                <a:cs typeface="Vazirmatn" pitchFamily="34" charset="-120"/>
              </a:rPr>
              <a:t>پلن‌ها و محدودیت مصرف</a:t>
            </a:r>
            <a:endParaRPr lang="en-US" sz="1900" dirty="0"/>
          </a:p>
        </p:txBody>
      </p:sp>
      <p:sp>
        <p:nvSpPr>
          <p:cNvPr id="25" name="Shape 21"/>
          <p:cNvSpPr/>
          <p:nvPr/>
        </p:nvSpPr>
        <p:spPr>
          <a:xfrm>
            <a:off x="548640" y="2697480"/>
            <a:ext cx="5303520" cy="914400"/>
          </a:xfrm>
          <a:prstGeom prst="roundRect">
            <a:avLst>
              <a:gd name="adj" fmla="val 12000"/>
            </a:avLst>
          </a:prstGeom>
          <a:solidFill>
            <a:srgbClr val="FFFFFF"/>
          </a:solidFill>
          <a:ln w="12700">
            <a:solidFill>
              <a:srgbClr val="E3DED3"/>
            </a:solidFill>
            <a:prstDash val="solid"/>
          </a:ln>
        </p:spPr>
      </p:sp>
      <p:sp>
        <p:nvSpPr>
          <p:cNvPr id="26" name="Shape 22"/>
          <p:cNvSpPr/>
          <p:nvPr/>
        </p:nvSpPr>
        <p:spPr>
          <a:xfrm>
            <a:off x="5074920" y="2880360"/>
            <a:ext cx="548640" cy="548640"/>
          </a:xfrm>
          <a:prstGeom prst="ellipse">
            <a:avLst/>
          </a:prstGeom>
          <a:solidFill>
            <a:srgbClr val="D97757"/>
          </a:solidFill>
          <a:ln/>
        </p:spPr>
      </p:sp>
      <p:sp>
        <p:nvSpPr>
          <p:cNvPr id="27" name="Text 23"/>
          <p:cNvSpPr txBox="1"/>
          <p:nvPr/>
        </p:nvSpPr>
        <p:spPr>
          <a:xfrm>
            <a:off x="5074920" y="288036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۶</a:t>
            </a:r>
            <a:endParaRPr lang="en-US" sz="1800" dirty="0"/>
          </a:p>
        </p:txBody>
      </p:sp>
      <p:sp>
        <p:nvSpPr>
          <p:cNvPr id="28" name="Text 24"/>
          <p:cNvSpPr txBox="1"/>
          <p:nvPr/>
        </p:nvSpPr>
        <p:spPr>
          <a:xfrm>
            <a:off x="822960" y="2880360"/>
            <a:ext cx="4114800" cy="548640"/>
          </a:xfrm>
          <a:prstGeom prst="rect">
            <a:avLst/>
          </a:prstGeom>
          <a:noFill/>
          <a:ln/>
        </p:spPr>
        <p:txBody>
          <a:bodyPr wrap="square" lIns="0" tIns="0" rIns="0" bIns="0" rtlCol="0" anchor="ctr"/>
          <a:lstStyle/>
          <a:p>
            <a:pPr marL="0" indent="0" algn="r" rtl="1">
              <a:buNone/>
            </a:pPr>
            <a:r>
              <a:rPr lang="en-US" sz="1900" dirty="0">
                <a:solidFill>
                  <a:srgbClr val="1F1E1D"/>
                </a:solidFill>
                <a:latin typeface="Vazirmatn" pitchFamily="34" charset="0"/>
                <a:ea typeface="Vazirmatn" pitchFamily="34" charset="-122"/>
                <a:cs typeface="Vazirmatn" pitchFamily="34" charset="-120"/>
              </a:rPr>
              <a:t>مقایسه با رقبا</a:t>
            </a:r>
            <a:endParaRPr lang="en-US" sz="1900" dirty="0"/>
          </a:p>
        </p:txBody>
      </p:sp>
      <p:sp>
        <p:nvSpPr>
          <p:cNvPr id="29" name="Shape 25"/>
          <p:cNvSpPr/>
          <p:nvPr/>
        </p:nvSpPr>
        <p:spPr>
          <a:xfrm>
            <a:off x="548640" y="3794760"/>
            <a:ext cx="5303520" cy="914400"/>
          </a:xfrm>
          <a:prstGeom prst="roundRect">
            <a:avLst>
              <a:gd name="adj" fmla="val 12000"/>
            </a:avLst>
          </a:prstGeom>
          <a:solidFill>
            <a:srgbClr val="FFFFFF"/>
          </a:solidFill>
          <a:ln w="12700">
            <a:solidFill>
              <a:srgbClr val="E3DED3"/>
            </a:solidFill>
            <a:prstDash val="solid"/>
          </a:ln>
        </p:spPr>
      </p:sp>
      <p:sp>
        <p:nvSpPr>
          <p:cNvPr id="30" name="Shape 26"/>
          <p:cNvSpPr/>
          <p:nvPr/>
        </p:nvSpPr>
        <p:spPr>
          <a:xfrm>
            <a:off x="5074920" y="3977640"/>
            <a:ext cx="548640" cy="548640"/>
          </a:xfrm>
          <a:prstGeom prst="ellipse">
            <a:avLst/>
          </a:prstGeom>
          <a:solidFill>
            <a:srgbClr val="D97757"/>
          </a:solidFill>
          <a:ln/>
        </p:spPr>
      </p:sp>
      <p:sp>
        <p:nvSpPr>
          <p:cNvPr id="31" name="Text 27"/>
          <p:cNvSpPr txBox="1"/>
          <p:nvPr/>
        </p:nvSpPr>
        <p:spPr>
          <a:xfrm>
            <a:off x="5074920" y="397764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۷</a:t>
            </a:r>
            <a:endParaRPr lang="en-US" sz="1800" dirty="0"/>
          </a:p>
        </p:txBody>
      </p:sp>
      <p:sp>
        <p:nvSpPr>
          <p:cNvPr id="32" name="Text 28"/>
          <p:cNvSpPr txBox="1"/>
          <p:nvPr/>
        </p:nvSpPr>
        <p:spPr>
          <a:xfrm>
            <a:off x="822960" y="3977640"/>
            <a:ext cx="4114800" cy="548640"/>
          </a:xfrm>
          <a:prstGeom prst="rect">
            <a:avLst/>
          </a:prstGeom>
          <a:noFill/>
          <a:ln/>
        </p:spPr>
        <p:txBody>
          <a:bodyPr wrap="square" lIns="0" tIns="0" rIns="0" bIns="0" rtlCol="0" anchor="ctr"/>
          <a:lstStyle/>
          <a:p>
            <a:pPr marL="0" indent="0" algn="r" rtl="1">
              <a:buNone/>
            </a:pPr>
            <a:r>
              <a:rPr lang="en-US" sz="1900" dirty="0">
                <a:solidFill>
                  <a:srgbClr val="1F1E1D"/>
                </a:solidFill>
                <a:latin typeface="Vazirmatn" pitchFamily="34" charset="0"/>
                <a:ea typeface="Vazirmatn" pitchFamily="34" charset="-122"/>
                <a:cs typeface="Vazirmatn" pitchFamily="34" charset="-120"/>
              </a:rPr>
              <a:t>خرید از ایران با گیفت‌کارت اپل</a:t>
            </a:r>
            <a:endParaRPr lang="en-US" sz="1900" dirty="0"/>
          </a:p>
        </p:txBody>
      </p:sp>
      <p:sp>
        <p:nvSpPr>
          <p:cNvPr id="33" name="Shape 29"/>
          <p:cNvSpPr/>
          <p:nvPr/>
        </p:nvSpPr>
        <p:spPr>
          <a:xfrm>
            <a:off x="548640" y="4892040"/>
            <a:ext cx="5303520" cy="914400"/>
          </a:xfrm>
          <a:prstGeom prst="roundRect">
            <a:avLst>
              <a:gd name="adj" fmla="val 12000"/>
            </a:avLst>
          </a:prstGeom>
          <a:solidFill>
            <a:srgbClr val="FFFFFF"/>
          </a:solidFill>
          <a:ln w="12700">
            <a:solidFill>
              <a:srgbClr val="E3DED3"/>
            </a:solidFill>
            <a:prstDash val="solid"/>
          </a:ln>
        </p:spPr>
      </p:sp>
      <p:sp>
        <p:nvSpPr>
          <p:cNvPr id="34" name="Shape 30"/>
          <p:cNvSpPr/>
          <p:nvPr/>
        </p:nvSpPr>
        <p:spPr>
          <a:xfrm>
            <a:off x="5074920" y="5074920"/>
            <a:ext cx="548640" cy="548640"/>
          </a:xfrm>
          <a:prstGeom prst="ellipse">
            <a:avLst/>
          </a:prstGeom>
          <a:solidFill>
            <a:srgbClr val="D97757"/>
          </a:solidFill>
          <a:ln/>
        </p:spPr>
      </p:sp>
      <p:sp>
        <p:nvSpPr>
          <p:cNvPr id="35" name="Text 31"/>
          <p:cNvSpPr txBox="1"/>
          <p:nvPr/>
        </p:nvSpPr>
        <p:spPr>
          <a:xfrm>
            <a:off x="5074920" y="507492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۸</a:t>
            </a:r>
            <a:endParaRPr lang="en-US" sz="1800" dirty="0"/>
          </a:p>
        </p:txBody>
      </p:sp>
      <p:sp>
        <p:nvSpPr>
          <p:cNvPr id="36" name="Text 32"/>
          <p:cNvSpPr txBox="1"/>
          <p:nvPr/>
        </p:nvSpPr>
        <p:spPr>
          <a:xfrm>
            <a:off x="822960" y="5074920"/>
            <a:ext cx="4114800" cy="548640"/>
          </a:xfrm>
          <a:prstGeom prst="rect">
            <a:avLst/>
          </a:prstGeom>
          <a:noFill/>
          <a:ln/>
        </p:spPr>
        <p:txBody>
          <a:bodyPr wrap="square" lIns="0" tIns="0" rIns="0" bIns="0" rtlCol="0" anchor="ctr"/>
          <a:lstStyle/>
          <a:p>
            <a:pPr marL="0" indent="0" algn="r" rtl="1">
              <a:buNone/>
            </a:pPr>
            <a:r>
              <a:rPr lang="en-US" sz="1900" dirty="0">
                <a:solidFill>
                  <a:srgbClr val="1F1E1D"/>
                </a:solidFill>
                <a:latin typeface="Vazirmatn" pitchFamily="34" charset="0"/>
                <a:ea typeface="Vazirmatn" pitchFamily="34" charset="-122"/>
                <a:cs typeface="Vazirmatn" pitchFamily="34" charset="-120"/>
              </a:rPr>
              <a:t>نکات و جمع‌بندی</a:t>
            </a:r>
            <a:endParaRPr lang="en-US" sz="1900" dirty="0"/>
          </a:p>
        </p:txBody>
      </p:sp>
      <p:sp>
        <p:nvSpPr>
          <p:cNvPr id="4"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3170118">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Anthropic؛ شرکت سازنده‌ی Claude</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تأسیس ۲۰۲۱ · سان‌فرانسیسکو · شرکت با منفعت عمومی (PBC)</a:t>
            </a:r>
            <a:endParaRPr lang="en-US" sz="1400" dirty="0"/>
          </a:p>
        </p:txBody>
      </p:sp>
      <p:sp>
        <p:nvSpPr>
          <p:cNvPr id="6" name="Shape 2"/>
          <p:cNvSpPr/>
          <p:nvPr/>
        </p:nvSpPr>
        <p:spPr>
          <a:xfrm>
            <a:off x="8915400" y="1691640"/>
            <a:ext cx="2606040" cy="4206240"/>
          </a:xfrm>
          <a:prstGeom prst="roundRect">
            <a:avLst>
              <a:gd name="adj" fmla="val 4211"/>
            </a:avLst>
          </a:prstGeom>
          <a:solidFill>
            <a:srgbClr val="FFFFFF"/>
          </a:solidFill>
          <a:ln w="12700">
            <a:solidFill>
              <a:srgbClr val="E3DED3"/>
            </a:solidFill>
            <a:prstDash val="solid"/>
          </a:ln>
        </p:spPr>
      </p:sp>
      <p:pic>
        <p:nvPicPr>
          <p:cNvPr id="7" name="Image 1" descr="preencoded.png"/>
          <p:cNvPicPr>
            <a:picLocks noChangeAspect="1"/>
          </p:cNvPicPr>
          <p:nvPr/>
        </p:nvPicPr>
        <p:blipFill>
          <a:blip r:embed="rId4"/>
          <a:stretch>
            <a:fillRect/>
          </a:stretch>
        </p:blipFill>
        <p:spPr>
          <a:xfrm>
            <a:off x="9806940" y="2377440"/>
            <a:ext cx="822960" cy="822960"/>
          </a:xfrm>
          <a:prstGeom prst="rect">
            <a:avLst/>
          </a:prstGeom>
        </p:spPr>
      </p:pic>
      <p:sp>
        <p:nvSpPr>
          <p:cNvPr id="8" name="Text 3"/>
          <p:cNvSpPr txBox="1"/>
          <p:nvPr/>
        </p:nvSpPr>
        <p:spPr>
          <a:xfrm>
            <a:off x="9098280" y="3383280"/>
            <a:ext cx="2240280" cy="502920"/>
          </a:xfrm>
          <a:prstGeom prst="rect">
            <a:avLst/>
          </a:prstGeom>
          <a:noFill/>
          <a:ln/>
        </p:spPr>
        <p:txBody>
          <a:bodyPr wrap="square" lIns="0" tIns="0" rIns="0" bIns="0" rtlCol="0" anchor="t"/>
          <a:lstStyle/>
          <a:p>
            <a:pPr marL="0" indent="0" algn="ctr" rtl="1">
              <a:buNone/>
            </a:pPr>
            <a:r>
              <a:rPr lang="en-US" sz="1900" b="1" dirty="0">
                <a:solidFill>
                  <a:srgbClr val="1F1E1D"/>
                </a:solidFill>
                <a:latin typeface="Vazirmatn" pitchFamily="34" charset="0"/>
                <a:ea typeface="Vazirmatn" pitchFamily="34" charset="-122"/>
                <a:cs typeface="Vazirmatn" pitchFamily="34" charset="-120"/>
              </a:rPr>
              <a:t>بنیان‌گذاران</a:t>
            </a:r>
            <a:endParaRPr lang="en-US" sz="1900" dirty="0"/>
          </a:p>
        </p:txBody>
      </p:sp>
      <p:sp>
        <p:nvSpPr>
          <p:cNvPr id="9" name="Text 4"/>
          <p:cNvSpPr txBox="1"/>
          <p:nvPr/>
        </p:nvSpPr>
        <p:spPr>
          <a:xfrm>
            <a:off x="9098280" y="3977640"/>
            <a:ext cx="2240280" cy="2194560"/>
          </a:xfrm>
          <a:prstGeom prst="rect">
            <a:avLst/>
          </a:prstGeom>
          <a:noFill/>
          <a:ln/>
        </p:spPr>
        <p:txBody>
          <a:bodyPr wrap="square" lIns="0" tIns="0" rIns="0" bIns="0" rtlCol="0" anchor="t"/>
          <a:lstStyle/>
          <a:p>
            <a:pPr marL="0" indent="0" algn="ctr" rtl="1">
              <a:buNone/>
            </a:pPr>
            <a:r>
              <a:rPr lang="en-US" sz="1500" dirty="0">
                <a:solidFill>
                  <a:srgbClr val="5E5D59"/>
                </a:solidFill>
                <a:latin typeface="Vazirmatn" pitchFamily="34" charset="0"/>
                <a:ea typeface="Vazirmatn" pitchFamily="34" charset="-122"/>
                <a:cs typeface="Vazirmatn" pitchFamily="34" charset="-120"/>
              </a:rPr>
              <a:t>داریو و دانیلا آمودی و جمعی از پژوهشگران سابق OpenAI</a:t>
            </a:r>
            <a:endParaRPr lang="en-US" sz="1500" dirty="0"/>
          </a:p>
        </p:txBody>
      </p:sp>
      <p:sp>
        <p:nvSpPr>
          <p:cNvPr id="10" name="Shape 5"/>
          <p:cNvSpPr/>
          <p:nvPr/>
        </p:nvSpPr>
        <p:spPr>
          <a:xfrm>
            <a:off x="6126480" y="1691640"/>
            <a:ext cx="2606040" cy="4206240"/>
          </a:xfrm>
          <a:prstGeom prst="roundRect">
            <a:avLst>
              <a:gd name="adj" fmla="val 4211"/>
            </a:avLst>
          </a:prstGeom>
          <a:solidFill>
            <a:srgbClr val="FFFFFF"/>
          </a:solidFill>
          <a:ln w="12700">
            <a:solidFill>
              <a:srgbClr val="E3DED3"/>
            </a:solidFill>
            <a:prstDash val="solid"/>
          </a:ln>
        </p:spPr>
      </p:sp>
      <p:pic>
        <p:nvPicPr>
          <p:cNvPr id="11" name="Image 2" descr="preencoded.png"/>
          <p:cNvPicPr>
            <a:picLocks noChangeAspect="1"/>
          </p:cNvPicPr>
          <p:nvPr/>
        </p:nvPicPr>
        <p:blipFill>
          <a:blip r:embed="rId5"/>
          <a:stretch>
            <a:fillRect/>
          </a:stretch>
        </p:blipFill>
        <p:spPr>
          <a:xfrm>
            <a:off x="7018020" y="2377440"/>
            <a:ext cx="822960" cy="822960"/>
          </a:xfrm>
          <a:prstGeom prst="rect">
            <a:avLst/>
          </a:prstGeom>
        </p:spPr>
      </p:pic>
      <p:sp>
        <p:nvSpPr>
          <p:cNvPr id="12" name="Text 6"/>
          <p:cNvSpPr txBox="1"/>
          <p:nvPr/>
        </p:nvSpPr>
        <p:spPr>
          <a:xfrm>
            <a:off x="6309360" y="3383280"/>
            <a:ext cx="2240280" cy="502920"/>
          </a:xfrm>
          <a:prstGeom prst="rect">
            <a:avLst/>
          </a:prstGeom>
          <a:noFill/>
          <a:ln/>
        </p:spPr>
        <p:txBody>
          <a:bodyPr wrap="square" lIns="0" tIns="0" rIns="0" bIns="0" rtlCol="0" anchor="t"/>
          <a:lstStyle/>
          <a:p>
            <a:pPr marL="0" indent="0" algn="ctr" rtl="1">
              <a:buNone/>
            </a:pPr>
            <a:r>
              <a:rPr lang="en-US" sz="1900" b="1" dirty="0">
                <a:solidFill>
                  <a:srgbClr val="1F1E1D"/>
                </a:solidFill>
                <a:latin typeface="Vazirmatn" pitchFamily="34" charset="0"/>
                <a:ea typeface="Vazirmatn" pitchFamily="34" charset="-122"/>
                <a:cs typeface="Vazirmatn" pitchFamily="34" charset="-120"/>
              </a:rPr>
              <a:t>مأموریت</a:t>
            </a:r>
            <a:endParaRPr lang="en-US" sz="1900" dirty="0"/>
          </a:p>
        </p:txBody>
      </p:sp>
      <p:sp>
        <p:nvSpPr>
          <p:cNvPr id="13" name="Text 7"/>
          <p:cNvSpPr txBox="1"/>
          <p:nvPr/>
        </p:nvSpPr>
        <p:spPr>
          <a:xfrm>
            <a:off x="6309360" y="3977640"/>
            <a:ext cx="2240280" cy="2194560"/>
          </a:xfrm>
          <a:prstGeom prst="rect">
            <a:avLst/>
          </a:prstGeom>
          <a:noFill/>
          <a:ln/>
        </p:spPr>
        <p:txBody>
          <a:bodyPr wrap="square" lIns="0" tIns="0" rIns="0" bIns="0" rtlCol="0" anchor="t"/>
          <a:lstStyle/>
          <a:p>
            <a:pPr marL="0" indent="0" algn="ctr" rtl="1">
              <a:buNone/>
            </a:pPr>
            <a:r>
              <a:rPr lang="en-US" sz="1500" dirty="0">
                <a:solidFill>
                  <a:srgbClr val="5E5D59"/>
                </a:solidFill>
                <a:latin typeface="Vazirmatn" pitchFamily="34" charset="0"/>
                <a:ea typeface="Vazirmatn" pitchFamily="34" charset="-122"/>
                <a:cs typeface="Vazirmatn" pitchFamily="34" charset="-120"/>
              </a:rPr>
              <a:t>ساخت هوش مصنوعی ایمن، قابل‌اعتماد و قابل‌تفسیر</a:t>
            </a:r>
            <a:endParaRPr lang="en-US" sz="1500" dirty="0"/>
          </a:p>
        </p:txBody>
      </p:sp>
      <p:sp>
        <p:nvSpPr>
          <p:cNvPr id="14" name="Shape 8"/>
          <p:cNvSpPr/>
          <p:nvPr/>
        </p:nvSpPr>
        <p:spPr>
          <a:xfrm>
            <a:off x="3337560" y="1691640"/>
            <a:ext cx="2606040" cy="4206240"/>
          </a:xfrm>
          <a:prstGeom prst="roundRect">
            <a:avLst>
              <a:gd name="adj" fmla="val 4211"/>
            </a:avLst>
          </a:prstGeom>
          <a:solidFill>
            <a:srgbClr val="FFFFFF"/>
          </a:solidFill>
          <a:ln w="12700">
            <a:solidFill>
              <a:srgbClr val="E3DED3"/>
            </a:solidFill>
            <a:prstDash val="solid"/>
          </a:ln>
        </p:spPr>
      </p:sp>
      <p:pic>
        <p:nvPicPr>
          <p:cNvPr id="15" name="Image 3" descr="preencoded.png"/>
          <p:cNvPicPr>
            <a:picLocks noChangeAspect="1"/>
          </p:cNvPicPr>
          <p:nvPr/>
        </p:nvPicPr>
        <p:blipFill>
          <a:blip r:embed="rId6"/>
          <a:stretch>
            <a:fillRect/>
          </a:stretch>
        </p:blipFill>
        <p:spPr>
          <a:xfrm>
            <a:off x="4229100" y="2377440"/>
            <a:ext cx="822960" cy="822960"/>
          </a:xfrm>
          <a:prstGeom prst="rect">
            <a:avLst/>
          </a:prstGeom>
        </p:spPr>
      </p:pic>
      <p:sp>
        <p:nvSpPr>
          <p:cNvPr id="16" name="Text 9"/>
          <p:cNvSpPr txBox="1"/>
          <p:nvPr/>
        </p:nvSpPr>
        <p:spPr>
          <a:xfrm>
            <a:off x="3520440" y="3383280"/>
            <a:ext cx="2240280" cy="502920"/>
          </a:xfrm>
          <a:prstGeom prst="rect">
            <a:avLst/>
          </a:prstGeom>
          <a:noFill/>
          <a:ln/>
        </p:spPr>
        <p:txBody>
          <a:bodyPr wrap="square" lIns="0" tIns="0" rIns="0" bIns="0" rtlCol="0" anchor="t"/>
          <a:lstStyle/>
          <a:p>
            <a:pPr marL="0" indent="0" algn="ctr" rtl="1">
              <a:buNone/>
            </a:pPr>
            <a:r>
              <a:rPr lang="en-US" sz="1900" b="1" dirty="0">
                <a:solidFill>
                  <a:srgbClr val="1F1E1D"/>
                </a:solidFill>
                <a:latin typeface="Vazirmatn" pitchFamily="34" charset="0"/>
                <a:ea typeface="Vazirmatn" pitchFamily="34" charset="-122"/>
                <a:cs typeface="Vazirmatn" pitchFamily="34" charset="-120"/>
              </a:rPr>
              <a:t>Constitutional AI</a:t>
            </a:r>
            <a:endParaRPr lang="en-US" sz="1900" dirty="0"/>
          </a:p>
        </p:txBody>
      </p:sp>
      <p:sp>
        <p:nvSpPr>
          <p:cNvPr id="17" name="Text 10"/>
          <p:cNvSpPr txBox="1"/>
          <p:nvPr/>
        </p:nvSpPr>
        <p:spPr>
          <a:xfrm>
            <a:off x="3520440" y="3977640"/>
            <a:ext cx="2240280" cy="2194560"/>
          </a:xfrm>
          <a:prstGeom prst="rect">
            <a:avLst/>
          </a:prstGeom>
          <a:noFill/>
          <a:ln/>
        </p:spPr>
        <p:txBody>
          <a:bodyPr wrap="square" lIns="0" tIns="0" rIns="0" bIns="0" rtlCol="0" anchor="t"/>
          <a:lstStyle/>
          <a:p>
            <a:pPr marL="0" indent="0" algn="ctr" rtl="1">
              <a:buNone/>
            </a:pPr>
            <a:r>
              <a:rPr lang="en-US" sz="1500" dirty="0">
                <a:solidFill>
                  <a:srgbClr val="5E5D59"/>
                </a:solidFill>
                <a:latin typeface="Vazirmatn" pitchFamily="34" charset="0"/>
                <a:ea typeface="Vazirmatn" pitchFamily="34" charset="-122"/>
                <a:cs typeface="Vazirmatn" pitchFamily="34" charset="-120"/>
              </a:rPr>
              <a:t>آموزش مدل بر پایه‌ی مجموعه‌ای از اصول نوشته‌شده: مفید، صادق، بی‌خطر</a:t>
            </a:r>
            <a:endParaRPr lang="en-US" sz="1500" dirty="0"/>
          </a:p>
        </p:txBody>
      </p:sp>
      <p:sp>
        <p:nvSpPr>
          <p:cNvPr id="18" name="Shape 11"/>
          <p:cNvSpPr/>
          <p:nvPr/>
        </p:nvSpPr>
        <p:spPr>
          <a:xfrm>
            <a:off x="548640" y="1691640"/>
            <a:ext cx="2606040" cy="4206240"/>
          </a:xfrm>
          <a:prstGeom prst="roundRect">
            <a:avLst>
              <a:gd name="adj" fmla="val 4211"/>
            </a:avLst>
          </a:prstGeom>
          <a:solidFill>
            <a:srgbClr val="FFFFFF"/>
          </a:solidFill>
          <a:ln w="12700">
            <a:solidFill>
              <a:srgbClr val="E3DED3"/>
            </a:solidFill>
            <a:prstDash val="solid"/>
          </a:ln>
        </p:spPr>
      </p:sp>
      <p:pic>
        <p:nvPicPr>
          <p:cNvPr id="19" name="Image 4" descr="preencoded.png"/>
          <p:cNvPicPr>
            <a:picLocks noChangeAspect="1"/>
          </p:cNvPicPr>
          <p:nvPr/>
        </p:nvPicPr>
        <p:blipFill>
          <a:blip r:embed="rId7"/>
          <a:stretch>
            <a:fillRect/>
          </a:stretch>
        </p:blipFill>
        <p:spPr>
          <a:xfrm>
            <a:off x="1440180" y="2377440"/>
            <a:ext cx="822960" cy="822960"/>
          </a:xfrm>
          <a:prstGeom prst="rect">
            <a:avLst/>
          </a:prstGeom>
        </p:spPr>
      </p:pic>
      <p:sp>
        <p:nvSpPr>
          <p:cNvPr id="20" name="Text 12"/>
          <p:cNvSpPr txBox="1"/>
          <p:nvPr/>
        </p:nvSpPr>
        <p:spPr>
          <a:xfrm>
            <a:off x="731520" y="3383280"/>
            <a:ext cx="2240280" cy="502920"/>
          </a:xfrm>
          <a:prstGeom prst="rect">
            <a:avLst/>
          </a:prstGeom>
          <a:noFill/>
          <a:ln/>
        </p:spPr>
        <p:txBody>
          <a:bodyPr wrap="square" lIns="0" tIns="0" rIns="0" bIns="0" rtlCol="0" anchor="t"/>
          <a:lstStyle/>
          <a:p>
            <a:pPr marL="0" indent="0" algn="ctr" rtl="1">
              <a:buNone/>
            </a:pPr>
            <a:r>
              <a:rPr lang="en-US" sz="1900" b="1" dirty="0">
                <a:solidFill>
                  <a:srgbClr val="1F1E1D"/>
                </a:solidFill>
                <a:latin typeface="Vazirmatn" pitchFamily="34" charset="0"/>
                <a:ea typeface="Vazirmatn" pitchFamily="34" charset="-122"/>
                <a:cs typeface="Vazirmatn" pitchFamily="34" charset="-120"/>
              </a:rPr>
              <a:t>امروز</a:t>
            </a:r>
            <a:endParaRPr lang="en-US" sz="1900" dirty="0"/>
          </a:p>
        </p:txBody>
      </p:sp>
      <p:sp>
        <p:nvSpPr>
          <p:cNvPr id="21" name="Text 13"/>
          <p:cNvSpPr txBox="1"/>
          <p:nvPr/>
        </p:nvSpPr>
        <p:spPr>
          <a:xfrm>
            <a:off x="731520" y="3977640"/>
            <a:ext cx="2240280" cy="2194560"/>
          </a:xfrm>
          <a:prstGeom prst="rect">
            <a:avLst/>
          </a:prstGeom>
          <a:noFill/>
          <a:ln/>
        </p:spPr>
        <p:txBody>
          <a:bodyPr wrap="square" lIns="0" tIns="0" rIns="0" bIns="0" rtlCol="0" anchor="t"/>
          <a:lstStyle/>
          <a:p>
            <a:pPr marL="0" indent="0" algn="ctr" rtl="1">
              <a:buNone/>
            </a:pPr>
            <a:r>
              <a:rPr lang="en-US" sz="1500" dirty="0">
                <a:solidFill>
                  <a:srgbClr val="5E5D59"/>
                </a:solidFill>
                <a:latin typeface="Vazirmatn" pitchFamily="34" charset="0"/>
                <a:ea typeface="Vazirmatn" pitchFamily="34" charset="-122"/>
                <a:cs typeface="Vazirmatn" pitchFamily="34" charset="-120"/>
              </a:rPr>
              <a:t>یکی از سه آزمایشگاه پیشروی هوش مصنوعی جهان</a:t>
            </a:r>
            <a:endParaRPr lang="en-US" sz="15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16200000">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خط زمانی Claude</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از اولین نسخه تا امروز</a:t>
            </a:r>
            <a:endParaRPr lang="en-US" sz="1400" dirty="0"/>
          </a:p>
        </p:txBody>
      </p:sp>
      <p:sp>
        <p:nvSpPr>
          <p:cNvPr id="6" name="Shape 2"/>
          <p:cNvSpPr/>
          <p:nvPr/>
        </p:nvSpPr>
        <p:spPr>
          <a:xfrm>
            <a:off x="731520" y="3657600"/>
            <a:ext cx="10698480" cy="0"/>
          </a:xfrm>
          <a:prstGeom prst="line">
            <a:avLst/>
          </a:prstGeom>
          <a:noFill/>
          <a:ln w="38100">
            <a:solidFill>
              <a:srgbClr val="D97757"/>
            </a:solidFill>
            <a:prstDash val="solid"/>
          </a:ln>
        </p:spPr>
      </p:sp>
      <p:sp>
        <p:nvSpPr>
          <p:cNvPr id="7" name="Shape 3"/>
          <p:cNvSpPr/>
          <p:nvPr/>
        </p:nvSpPr>
        <p:spPr>
          <a:xfrm>
            <a:off x="11311128" y="3529584"/>
            <a:ext cx="256032" cy="256032"/>
          </a:xfrm>
          <a:prstGeom prst="ellipse">
            <a:avLst/>
          </a:prstGeom>
          <a:solidFill>
            <a:srgbClr val="D97757"/>
          </a:solidFill>
          <a:ln w="25400">
            <a:solidFill>
              <a:srgbClr val="FAF9F5"/>
            </a:solidFill>
            <a:prstDash val="solid"/>
          </a:ln>
        </p:spPr>
      </p:sp>
      <p:sp>
        <p:nvSpPr>
          <p:cNvPr id="8" name="Text 4"/>
          <p:cNvSpPr txBox="1"/>
          <p:nvPr/>
        </p:nvSpPr>
        <p:spPr>
          <a:xfrm>
            <a:off x="10835640" y="2103120"/>
            <a:ext cx="1234440" cy="365760"/>
          </a:xfrm>
          <a:prstGeom prst="rect">
            <a:avLst/>
          </a:prstGeom>
          <a:noFill/>
          <a:ln/>
        </p:spPr>
        <p:txBody>
          <a:bodyPr wrap="square" lIns="0" tIns="0" rIns="0" bIns="0" rtlCol="0" anchor="t"/>
          <a:lstStyle/>
          <a:p>
            <a:pPr marL="0" indent="0" algn="ctr" rtl="1">
              <a:buNone/>
            </a:pPr>
            <a:r>
              <a:rPr lang="en-US" sz="1300" b="1" dirty="0">
                <a:solidFill>
                  <a:srgbClr val="C15F3C"/>
                </a:solidFill>
                <a:latin typeface="Vazirmatn" pitchFamily="34" charset="0"/>
                <a:ea typeface="Vazirmatn" pitchFamily="34" charset="-122"/>
                <a:cs typeface="Vazirmatn" pitchFamily="34" charset="-120"/>
              </a:rPr>
              <a:t>مارس ۲۰۲۳</a:t>
            </a:r>
            <a:endParaRPr lang="en-US" sz="1300" dirty="0"/>
          </a:p>
        </p:txBody>
      </p:sp>
      <p:sp>
        <p:nvSpPr>
          <p:cNvPr id="9" name="Text 5"/>
          <p:cNvSpPr txBox="1"/>
          <p:nvPr/>
        </p:nvSpPr>
        <p:spPr>
          <a:xfrm>
            <a:off x="10789920" y="2468880"/>
            <a:ext cx="1325880" cy="914400"/>
          </a:xfrm>
          <a:prstGeom prst="rect">
            <a:avLst/>
          </a:prstGeom>
          <a:noFill/>
          <a:ln/>
        </p:spPr>
        <p:txBody>
          <a:bodyPr wrap="square" lIns="0" tIns="0" rIns="0" bIns="0" rtlCol="0" anchor="t"/>
          <a:lstStyle/>
          <a:p>
            <a:pPr marL="0" indent="0" algn="ctr">
              <a:buNone/>
            </a:pPr>
            <a:r>
              <a:rPr lang="en-US" sz="1300" dirty="0">
                <a:solidFill>
                  <a:srgbClr val="1F1E1D"/>
                </a:solidFill>
                <a:latin typeface="Vazirmatn" pitchFamily="34" charset="0"/>
                <a:ea typeface="Vazirmatn" pitchFamily="34" charset="-122"/>
                <a:cs typeface="Vazirmatn" pitchFamily="34" charset="-120"/>
              </a:rPr>
              <a:t>Claude 1</a:t>
            </a:r>
            <a:endParaRPr lang="en-US" sz="1300" dirty="0"/>
          </a:p>
        </p:txBody>
      </p:sp>
      <p:sp>
        <p:nvSpPr>
          <p:cNvPr id="10" name="Shape 6"/>
          <p:cNvSpPr/>
          <p:nvPr/>
        </p:nvSpPr>
        <p:spPr>
          <a:xfrm>
            <a:off x="10168128" y="3529584"/>
            <a:ext cx="256032" cy="256032"/>
          </a:xfrm>
          <a:prstGeom prst="ellipse">
            <a:avLst/>
          </a:prstGeom>
          <a:solidFill>
            <a:srgbClr val="D97757"/>
          </a:solidFill>
          <a:ln w="25400">
            <a:solidFill>
              <a:srgbClr val="FAF9F5"/>
            </a:solidFill>
            <a:prstDash val="solid"/>
          </a:ln>
        </p:spPr>
      </p:sp>
      <p:sp>
        <p:nvSpPr>
          <p:cNvPr id="11" name="Text 7"/>
          <p:cNvSpPr txBox="1"/>
          <p:nvPr/>
        </p:nvSpPr>
        <p:spPr>
          <a:xfrm>
            <a:off x="9692640" y="3977640"/>
            <a:ext cx="1234440" cy="365760"/>
          </a:xfrm>
          <a:prstGeom prst="rect">
            <a:avLst/>
          </a:prstGeom>
          <a:noFill/>
          <a:ln/>
        </p:spPr>
        <p:txBody>
          <a:bodyPr wrap="square" lIns="0" tIns="0" rIns="0" bIns="0" rtlCol="0" anchor="t"/>
          <a:lstStyle/>
          <a:p>
            <a:pPr marL="0" indent="0" algn="ctr" rtl="1">
              <a:buNone/>
            </a:pPr>
            <a:r>
              <a:rPr lang="en-US" sz="1300" b="1" dirty="0">
                <a:solidFill>
                  <a:srgbClr val="C15F3C"/>
                </a:solidFill>
                <a:latin typeface="Vazirmatn" pitchFamily="34" charset="0"/>
                <a:ea typeface="Vazirmatn" pitchFamily="34" charset="-122"/>
                <a:cs typeface="Vazirmatn" pitchFamily="34" charset="-120"/>
              </a:rPr>
              <a:t>ژوئیه ۲۰۲۳</a:t>
            </a:r>
            <a:endParaRPr lang="en-US" sz="1300" dirty="0"/>
          </a:p>
        </p:txBody>
      </p:sp>
      <p:sp>
        <p:nvSpPr>
          <p:cNvPr id="12" name="Text 8"/>
          <p:cNvSpPr txBox="1"/>
          <p:nvPr/>
        </p:nvSpPr>
        <p:spPr>
          <a:xfrm>
            <a:off x="9646920" y="4343400"/>
            <a:ext cx="1325880" cy="914400"/>
          </a:xfrm>
          <a:prstGeom prst="rect">
            <a:avLst/>
          </a:prstGeom>
          <a:noFill/>
          <a:ln/>
        </p:spPr>
        <p:txBody>
          <a:bodyPr wrap="square" lIns="0" tIns="0" rIns="0" bIns="0" rtlCol="0" anchor="t"/>
          <a:lstStyle/>
          <a:p>
            <a:pPr marL="0" indent="0" algn="ctr">
              <a:buNone/>
            </a:pPr>
            <a:r>
              <a:rPr lang="en-US" sz="1300" dirty="0">
                <a:solidFill>
                  <a:srgbClr val="1F1E1D"/>
                </a:solidFill>
                <a:latin typeface="Vazirmatn" pitchFamily="34" charset="0"/>
                <a:ea typeface="Vazirmatn" pitchFamily="34" charset="-122"/>
                <a:cs typeface="Vazirmatn" pitchFamily="34" charset="-120"/>
              </a:rPr>
              <a:t>Claude 2</a:t>
            </a:r>
            <a:endParaRPr lang="en-US" sz="1300" dirty="0"/>
          </a:p>
        </p:txBody>
      </p:sp>
      <p:sp>
        <p:nvSpPr>
          <p:cNvPr id="13" name="Shape 9"/>
          <p:cNvSpPr/>
          <p:nvPr/>
        </p:nvSpPr>
        <p:spPr>
          <a:xfrm>
            <a:off x="9025128" y="3529584"/>
            <a:ext cx="256032" cy="256032"/>
          </a:xfrm>
          <a:prstGeom prst="ellipse">
            <a:avLst/>
          </a:prstGeom>
          <a:solidFill>
            <a:srgbClr val="D97757"/>
          </a:solidFill>
          <a:ln w="25400">
            <a:solidFill>
              <a:srgbClr val="FAF9F5"/>
            </a:solidFill>
            <a:prstDash val="solid"/>
          </a:ln>
        </p:spPr>
      </p:sp>
      <p:sp>
        <p:nvSpPr>
          <p:cNvPr id="14" name="Text 10"/>
          <p:cNvSpPr txBox="1"/>
          <p:nvPr/>
        </p:nvSpPr>
        <p:spPr>
          <a:xfrm>
            <a:off x="8549640" y="2103120"/>
            <a:ext cx="1234440" cy="365760"/>
          </a:xfrm>
          <a:prstGeom prst="rect">
            <a:avLst/>
          </a:prstGeom>
          <a:noFill/>
          <a:ln/>
        </p:spPr>
        <p:txBody>
          <a:bodyPr wrap="square" lIns="0" tIns="0" rIns="0" bIns="0" rtlCol="0" anchor="t"/>
          <a:lstStyle/>
          <a:p>
            <a:pPr marL="0" indent="0" algn="ctr" rtl="1">
              <a:buNone/>
            </a:pPr>
            <a:r>
              <a:rPr lang="en-US" sz="1300" b="1" dirty="0">
                <a:solidFill>
                  <a:srgbClr val="C15F3C"/>
                </a:solidFill>
                <a:latin typeface="Vazirmatn" pitchFamily="34" charset="0"/>
                <a:ea typeface="Vazirmatn" pitchFamily="34" charset="-122"/>
                <a:cs typeface="Vazirmatn" pitchFamily="34" charset="-120"/>
              </a:rPr>
              <a:t>مارس ۲۰۲۴</a:t>
            </a:r>
            <a:endParaRPr lang="en-US" sz="1300" dirty="0"/>
          </a:p>
        </p:txBody>
      </p:sp>
      <p:sp>
        <p:nvSpPr>
          <p:cNvPr id="15" name="Text 11"/>
          <p:cNvSpPr txBox="1"/>
          <p:nvPr/>
        </p:nvSpPr>
        <p:spPr>
          <a:xfrm>
            <a:off x="8205597" y="2468880"/>
            <a:ext cx="1922526" cy="914400"/>
          </a:xfrm>
          <a:prstGeom prst="rect">
            <a:avLst/>
          </a:prstGeom>
          <a:noFill/>
          <a:ln/>
        </p:spPr>
        <p:txBody>
          <a:bodyPr wrap="square" lIns="0" tIns="0" rIns="0" bIns="0" rtlCol="0" anchor="t"/>
          <a:lstStyle/>
          <a:p>
            <a:pPr marL="0" indent="0" algn="ctr">
              <a:buNone/>
            </a:pPr>
            <a:r>
              <a:rPr lang="en-US" sz="1300" dirty="0">
                <a:solidFill>
                  <a:srgbClr val="1F1E1D"/>
                </a:solidFill>
                <a:latin typeface="Vazirmatn" pitchFamily="34" charset="0"/>
                <a:ea typeface="Vazirmatn" pitchFamily="34" charset="-122"/>
                <a:cs typeface="Vazirmatn" pitchFamily="34" charset="-120"/>
              </a:rPr>
              <a:t>Claude 3</a:t>
            </a:r>
            <a:endParaRPr lang="en-US" sz="1300" dirty="0"/>
          </a:p>
          <a:p>
            <a:pPr marL="0" indent="0" algn="ctr">
              <a:buNone/>
            </a:pPr>
            <a:r>
              <a:rPr lang="en-US" sz="1300" dirty="0">
                <a:solidFill>
                  <a:srgbClr val="1F1E1D"/>
                </a:solidFill>
                <a:latin typeface="Vazirmatn" pitchFamily="34" charset="0"/>
                <a:ea typeface="Vazirmatn" pitchFamily="34" charset="-122"/>
                <a:cs typeface="Vazirmatn" pitchFamily="34" charset="-120"/>
              </a:rPr>
              <a:t>Haiku·Sonnet·Opus</a:t>
            </a:r>
            <a:endParaRPr lang="en-US" sz="1300" dirty="0"/>
          </a:p>
        </p:txBody>
      </p:sp>
      <p:sp>
        <p:nvSpPr>
          <p:cNvPr id="16" name="Shape 12"/>
          <p:cNvSpPr/>
          <p:nvPr/>
        </p:nvSpPr>
        <p:spPr>
          <a:xfrm>
            <a:off x="7882128" y="3529584"/>
            <a:ext cx="256032" cy="256032"/>
          </a:xfrm>
          <a:prstGeom prst="ellipse">
            <a:avLst/>
          </a:prstGeom>
          <a:solidFill>
            <a:srgbClr val="D97757"/>
          </a:solidFill>
          <a:ln w="25400">
            <a:solidFill>
              <a:srgbClr val="FAF9F5"/>
            </a:solidFill>
            <a:prstDash val="solid"/>
          </a:ln>
        </p:spPr>
      </p:sp>
      <p:sp>
        <p:nvSpPr>
          <p:cNvPr id="17" name="Text 13"/>
          <p:cNvSpPr txBox="1"/>
          <p:nvPr/>
        </p:nvSpPr>
        <p:spPr>
          <a:xfrm>
            <a:off x="7406640" y="3977640"/>
            <a:ext cx="1234440" cy="365760"/>
          </a:xfrm>
          <a:prstGeom prst="rect">
            <a:avLst/>
          </a:prstGeom>
          <a:noFill/>
          <a:ln/>
        </p:spPr>
        <p:txBody>
          <a:bodyPr wrap="square" lIns="0" tIns="0" rIns="0" bIns="0" rtlCol="0" anchor="t"/>
          <a:lstStyle/>
          <a:p>
            <a:pPr marL="0" indent="0" algn="ctr" rtl="1">
              <a:buNone/>
            </a:pPr>
            <a:r>
              <a:rPr lang="en-US" sz="1300" b="1" dirty="0">
                <a:solidFill>
                  <a:srgbClr val="C15F3C"/>
                </a:solidFill>
                <a:latin typeface="Vazirmatn" pitchFamily="34" charset="0"/>
                <a:ea typeface="Vazirmatn" pitchFamily="34" charset="-122"/>
                <a:cs typeface="Vazirmatn" pitchFamily="34" charset="-120"/>
              </a:rPr>
              <a:t>ژوئن ۲۰۲۴</a:t>
            </a:r>
            <a:endParaRPr lang="en-US" sz="1300" dirty="0"/>
          </a:p>
        </p:txBody>
      </p:sp>
      <p:sp>
        <p:nvSpPr>
          <p:cNvPr id="18" name="Text 14"/>
          <p:cNvSpPr txBox="1"/>
          <p:nvPr/>
        </p:nvSpPr>
        <p:spPr>
          <a:xfrm>
            <a:off x="7360920" y="4343400"/>
            <a:ext cx="1325880" cy="914400"/>
          </a:xfrm>
          <a:prstGeom prst="rect">
            <a:avLst/>
          </a:prstGeom>
          <a:noFill/>
          <a:ln/>
        </p:spPr>
        <p:txBody>
          <a:bodyPr wrap="square" lIns="0" tIns="0" rIns="0" bIns="0" rtlCol="0" anchor="t"/>
          <a:lstStyle/>
          <a:p>
            <a:pPr marL="0" indent="0" algn="ctr">
              <a:buNone/>
            </a:pPr>
            <a:r>
              <a:rPr lang="en-US" sz="1300" dirty="0">
                <a:solidFill>
                  <a:srgbClr val="1F1E1D"/>
                </a:solidFill>
                <a:latin typeface="Vazirmatn" pitchFamily="34" charset="0"/>
                <a:ea typeface="Vazirmatn" pitchFamily="34" charset="-122"/>
                <a:cs typeface="Vazirmatn" pitchFamily="34" charset="-120"/>
              </a:rPr>
              <a:t>Claude 3.5 Sonnet</a:t>
            </a:r>
            <a:endParaRPr lang="en-US" sz="1300" dirty="0"/>
          </a:p>
        </p:txBody>
      </p:sp>
      <p:sp>
        <p:nvSpPr>
          <p:cNvPr id="19" name="Shape 15"/>
          <p:cNvSpPr/>
          <p:nvPr/>
        </p:nvSpPr>
        <p:spPr>
          <a:xfrm>
            <a:off x="6739128" y="3529584"/>
            <a:ext cx="256032" cy="256032"/>
          </a:xfrm>
          <a:prstGeom prst="ellipse">
            <a:avLst/>
          </a:prstGeom>
          <a:solidFill>
            <a:srgbClr val="D97757"/>
          </a:solidFill>
          <a:ln w="25400">
            <a:solidFill>
              <a:srgbClr val="FAF9F5"/>
            </a:solidFill>
            <a:prstDash val="solid"/>
          </a:ln>
        </p:spPr>
      </p:sp>
      <p:sp>
        <p:nvSpPr>
          <p:cNvPr id="20" name="Text 16"/>
          <p:cNvSpPr txBox="1"/>
          <p:nvPr/>
        </p:nvSpPr>
        <p:spPr>
          <a:xfrm>
            <a:off x="6263640" y="2103120"/>
            <a:ext cx="1234440" cy="365760"/>
          </a:xfrm>
          <a:prstGeom prst="rect">
            <a:avLst/>
          </a:prstGeom>
          <a:noFill/>
          <a:ln/>
        </p:spPr>
        <p:txBody>
          <a:bodyPr wrap="square" lIns="0" tIns="0" rIns="0" bIns="0" rtlCol="0" anchor="t"/>
          <a:lstStyle/>
          <a:p>
            <a:pPr marL="0" indent="0" algn="ctr" rtl="1">
              <a:buNone/>
            </a:pPr>
            <a:r>
              <a:rPr lang="en-US" sz="1300" b="1" dirty="0">
                <a:solidFill>
                  <a:srgbClr val="C15F3C"/>
                </a:solidFill>
                <a:latin typeface="Vazirmatn" pitchFamily="34" charset="0"/>
                <a:ea typeface="Vazirmatn" pitchFamily="34" charset="-122"/>
                <a:cs typeface="Vazirmatn" pitchFamily="34" charset="-120"/>
              </a:rPr>
              <a:t>فوریه ۲۰۲۵</a:t>
            </a:r>
            <a:endParaRPr lang="en-US" sz="1300" dirty="0"/>
          </a:p>
        </p:txBody>
      </p:sp>
      <p:sp>
        <p:nvSpPr>
          <p:cNvPr id="21" name="Text 17"/>
          <p:cNvSpPr txBox="1"/>
          <p:nvPr/>
        </p:nvSpPr>
        <p:spPr>
          <a:xfrm>
            <a:off x="6217920" y="2468880"/>
            <a:ext cx="1325880" cy="914400"/>
          </a:xfrm>
          <a:prstGeom prst="rect">
            <a:avLst/>
          </a:prstGeom>
          <a:noFill/>
          <a:ln/>
        </p:spPr>
        <p:txBody>
          <a:bodyPr wrap="square" lIns="0" tIns="0" rIns="0" bIns="0" rtlCol="0" anchor="t"/>
          <a:lstStyle/>
          <a:p>
            <a:pPr marL="0" indent="0" algn="ctr">
              <a:buNone/>
            </a:pPr>
            <a:r>
              <a:rPr lang="en-US" sz="1300" dirty="0">
                <a:solidFill>
                  <a:srgbClr val="1F1E1D"/>
                </a:solidFill>
                <a:latin typeface="Vazirmatn" pitchFamily="34" charset="0"/>
                <a:ea typeface="Vazirmatn" pitchFamily="34" charset="-122"/>
                <a:cs typeface="Vazirmatn" pitchFamily="34" charset="-120"/>
              </a:rPr>
              <a:t>Claude 3.7 +</a:t>
            </a:r>
            <a:endParaRPr lang="en-US" sz="1300" dirty="0"/>
          </a:p>
          <a:p>
            <a:pPr marL="0" indent="0" algn="ctr">
              <a:buNone/>
            </a:pPr>
            <a:r>
              <a:rPr lang="en-US" sz="1300" dirty="0">
                <a:solidFill>
                  <a:srgbClr val="1F1E1D"/>
                </a:solidFill>
                <a:latin typeface="Vazirmatn" pitchFamily="34" charset="0"/>
                <a:ea typeface="Vazirmatn" pitchFamily="34" charset="-122"/>
                <a:cs typeface="Vazirmatn" pitchFamily="34" charset="-120"/>
              </a:rPr>
              <a:t>Claude Code</a:t>
            </a:r>
            <a:endParaRPr lang="en-US" sz="1300" dirty="0"/>
          </a:p>
        </p:txBody>
      </p:sp>
      <p:sp>
        <p:nvSpPr>
          <p:cNvPr id="22" name="Shape 18"/>
          <p:cNvSpPr/>
          <p:nvPr/>
        </p:nvSpPr>
        <p:spPr>
          <a:xfrm>
            <a:off x="5596128" y="3529584"/>
            <a:ext cx="256032" cy="256032"/>
          </a:xfrm>
          <a:prstGeom prst="ellipse">
            <a:avLst/>
          </a:prstGeom>
          <a:solidFill>
            <a:srgbClr val="D97757"/>
          </a:solidFill>
          <a:ln w="25400">
            <a:solidFill>
              <a:srgbClr val="FAF9F5"/>
            </a:solidFill>
            <a:prstDash val="solid"/>
          </a:ln>
        </p:spPr>
      </p:sp>
      <p:sp>
        <p:nvSpPr>
          <p:cNvPr id="23" name="Text 19"/>
          <p:cNvSpPr txBox="1"/>
          <p:nvPr/>
        </p:nvSpPr>
        <p:spPr>
          <a:xfrm>
            <a:off x="5120640" y="3977640"/>
            <a:ext cx="1234440" cy="365760"/>
          </a:xfrm>
          <a:prstGeom prst="rect">
            <a:avLst/>
          </a:prstGeom>
          <a:noFill/>
          <a:ln/>
        </p:spPr>
        <p:txBody>
          <a:bodyPr wrap="square" lIns="0" tIns="0" rIns="0" bIns="0" rtlCol="0" anchor="t"/>
          <a:lstStyle/>
          <a:p>
            <a:pPr marL="0" indent="0" algn="ctr" rtl="1">
              <a:buNone/>
            </a:pPr>
            <a:r>
              <a:rPr lang="en-US" sz="1300" b="1" dirty="0">
                <a:solidFill>
                  <a:srgbClr val="C15F3C"/>
                </a:solidFill>
                <a:latin typeface="Vazirmatn" pitchFamily="34" charset="0"/>
                <a:ea typeface="Vazirmatn" pitchFamily="34" charset="-122"/>
                <a:cs typeface="Vazirmatn" pitchFamily="34" charset="-120"/>
              </a:rPr>
              <a:t>مه ۲۰۲۵</a:t>
            </a:r>
            <a:endParaRPr lang="en-US" sz="1300" dirty="0"/>
          </a:p>
        </p:txBody>
      </p:sp>
      <p:sp>
        <p:nvSpPr>
          <p:cNvPr id="24" name="Text 20"/>
          <p:cNvSpPr txBox="1"/>
          <p:nvPr/>
        </p:nvSpPr>
        <p:spPr>
          <a:xfrm>
            <a:off x="5074920" y="4343400"/>
            <a:ext cx="1325880" cy="914400"/>
          </a:xfrm>
          <a:prstGeom prst="rect">
            <a:avLst/>
          </a:prstGeom>
          <a:noFill/>
          <a:ln/>
        </p:spPr>
        <p:txBody>
          <a:bodyPr wrap="square" lIns="0" tIns="0" rIns="0" bIns="0" rtlCol="0" anchor="t"/>
          <a:lstStyle/>
          <a:p>
            <a:pPr marL="0" indent="0" algn="ctr">
              <a:buNone/>
            </a:pPr>
            <a:r>
              <a:rPr lang="en-US" sz="1300" dirty="0">
                <a:solidFill>
                  <a:srgbClr val="1F1E1D"/>
                </a:solidFill>
                <a:latin typeface="Vazirmatn" pitchFamily="34" charset="0"/>
                <a:ea typeface="Vazirmatn" pitchFamily="34" charset="-122"/>
                <a:cs typeface="Vazirmatn" pitchFamily="34" charset="-120"/>
              </a:rPr>
              <a:t>Claude 4</a:t>
            </a:r>
            <a:endParaRPr lang="en-US" sz="1300" dirty="0"/>
          </a:p>
        </p:txBody>
      </p:sp>
      <p:sp>
        <p:nvSpPr>
          <p:cNvPr id="25" name="Shape 21"/>
          <p:cNvSpPr/>
          <p:nvPr/>
        </p:nvSpPr>
        <p:spPr>
          <a:xfrm>
            <a:off x="4453128" y="3529584"/>
            <a:ext cx="256032" cy="256032"/>
          </a:xfrm>
          <a:prstGeom prst="ellipse">
            <a:avLst/>
          </a:prstGeom>
          <a:solidFill>
            <a:srgbClr val="D97757"/>
          </a:solidFill>
          <a:ln w="25400">
            <a:solidFill>
              <a:srgbClr val="FAF9F5"/>
            </a:solidFill>
            <a:prstDash val="solid"/>
          </a:ln>
        </p:spPr>
      </p:sp>
      <p:sp>
        <p:nvSpPr>
          <p:cNvPr id="26" name="Text 22"/>
          <p:cNvSpPr txBox="1"/>
          <p:nvPr/>
        </p:nvSpPr>
        <p:spPr>
          <a:xfrm>
            <a:off x="3977640" y="2103120"/>
            <a:ext cx="1234440" cy="365760"/>
          </a:xfrm>
          <a:prstGeom prst="rect">
            <a:avLst/>
          </a:prstGeom>
          <a:noFill/>
          <a:ln/>
        </p:spPr>
        <p:txBody>
          <a:bodyPr wrap="square" lIns="0" tIns="0" rIns="0" bIns="0" rtlCol="0" anchor="t"/>
          <a:lstStyle/>
          <a:p>
            <a:pPr marL="0" indent="0" algn="ctr" rtl="1">
              <a:buNone/>
            </a:pPr>
            <a:r>
              <a:rPr lang="en-US" sz="1300" b="1" dirty="0">
                <a:solidFill>
                  <a:srgbClr val="C15F3C"/>
                </a:solidFill>
                <a:latin typeface="Vazirmatn" pitchFamily="34" charset="0"/>
                <a:ea typeface="Vazirmatn" pitchFamily="34" charset="-122"/>
                <a:cs typeface="Vazirmatn" pitchFamily="34" charset="-120"/>
              </a:rPr>
              <a:t>فوریه ۲۰۲۶</a:t>
            </a:r>
            <a:endParaRPr lang="en-US" sz="1300" dirty="0"/>
          </a:p>
        </p:txBody>
      </p:sp>
      <p:sp>
        <p:nvSpPr>
          <p:cNvPr id="27" name="Text 23"/>
          <p:cNvSpPr txBox="1"/>
          <p:nvPr/>
        </p:nvSpPr>
        <p:spPr>
          <a:xfrm>
            <a:off x="3931920" y="2468880"/>
            <a:ext cx="1325880" cy="914400"/>
          </a:xfrm>
          <a:prstGeom prst="rect">
            <a:avLst/>
          </a:prstGeom>
          <a:noFill/>
          <a:ln/>
        </p:spPr>
        <p:txBody>
          <a:bodyPr wrap="square" lIns="0" tIns="0" rIns="0" bIns="0" rtlCol="0" anchor="t"/>
          <a:lstStyle/>
          <a:p>
            <a:pPr marL="0" indent="0" algn="ctr">
              <a:buNone/>
            </a:pPr>
            <a:r>
              <a:rPr lang="en-US" sz="1300" dirty="0">
                <a:solidFill>
                  <a:srgbClr val="1F1E1D"/>
                </a:solidFill>
                <a:latin typeface="Vazirmatn" pitchFamily="34" charset="0"/>
                <a:ea typeface="Vazirmatn" pitchFamily="34" charset="-122"/>
                <a:cs typeface="Vazirmatn" pitchFamily="34" charset="-120"/>
              </a:rPr>
              <a:t>Opus 4.6</a:t>
            </a:r>
            <a:endParaRPr lang="en-US" sz="1300" dirty="0"/>
          </a:p>
        </p:txBody>
      </p:sp>
      <p:sp>
        <p:nvSpPr>
          <p:cNvPr id="28" name="Shape 24"/>
          <p:cNvSpPr/>
          <p:nvPr/>
        </p:nvSpPr>
        <p:spPr>
          <a:xfrm>
            <a:off x="3310128" y="3529584"/>
            <a:ext cx="256032" cy="256032"/>
          </a:xfrm>
          <a:prstGeom prst="ellipse">
            <a:avLst/>
          </a:prstGeom>
          <a:solidFill>
            <a:srgbClr val="C15F3C"/>
          </a:solidFill>
          <a:ln w="25400">
            <a:solidFill>
              <a:srgbClr val="FAF9F5"/>
            </a:solidFill>
            <a:prstDash val="solid"/>
          </a:ln>
        </p:spPr>
      </p:sp>
      <p:sp>
        <p:nvSpPr>
          <p:cNvPr id="29" name="Text 25"/>
          <p:cNvSpPr txBox="1"/>
          <p:nvPr/>
        </p:nvSpPr>
        <p:spPr>
          <a:xfrm>
            <a:off x="2834640" y="3977640"/>
            <a:ext cx="1234440" cy="365760"/>
          </a:xfrm>
          <a:prstGeom prst="rect">
            <a:avLst/>
          </a:prstGeom>
          <a:noFill/>
          <a:ln/>
        </p:spPr>
        <p:txBody>
          <a:bodyPr wrap="square" lIns="0" tIns="0" rIns="0" bIns="0" rtlCol="0" anchor="t"/>
          <a:lstStyle/>
          <a:p>
            <a:pPr marL="0" indent="0" algn="ctr" rtl="1">
              <a:buNone/>
            </a:pPr>
            <a:r>
              <a:rPr lang="en-US" sz="1300" b="1" dirty="0">
                <a:solidFill>
                  <a:srgbClr val="C15F3C"/>
                </a:solidFill>
                <a:latin typeface="Vazirmatn" pitchFamily="34" charset="0"/>
                <a:ea typeface="Vazirmatn" pitchFamily="34" charset="-122"/>
                <a:cs typeface="Vazirmatn" pitchFamily="34" charset="-120"/>
              </a:rPr>
              <a:t>ژوئن ۲۰۲۶</a:t>
            </a:r>
            <a:endParaRPr lang="en-US" sz="1300" dirty="0"/>
          </a:p>
        </p:txBody>
      </p:sp>
      <p:sp>
        <p:nvSpPr>
          <p:cNvPr id="30" name="Text 26"/>
          <p:cNvSpPr txBox="1"/>
          <p:nvPr/>
        </p:nvSpPr>
        <p:spPr>
          <a:xfrm>
            <a:off x="2788920" y="4343400"/>
            <a:ext cx="1325880" cy="914400"/>
          </a:xfrm>
          <a:prstGeom prst="rect">
            <a:avLst/>
          </a:prstGeom>
          <a:noFill/>
          <a:ln/>
        </p:spPr>
        <p:txBody>
          <a:bodyPr wrap="square" lIns="0" tIns="0" rIns="0" bIns="0" rtlCol="0" anchor="t"/>
          <a:lstStyle/>
          <a:p>
            <a:pPr marL="0" indent="0" algn="ctr">
              <a:buNone/>
            </a:pPr>
            <a:r>
              <a:rPr lang="en-US" sz="1300" dirty="0">
                <a:solidFill>
                  <a:srgbClr val="1F1E1D"/>
                </a:solidFill>
                <a:latin typeface="Vazirmatn" pitchFamily="34" charset="0"/>
                <a:ea typeface="Vazirmatn" pitchFamily="34" charset="-122"/>
                <a:cs typeface="Vazirmatn" pitchFamily="34" charset="-120"/>
              </a:rPr>
              <a:t>Fable 5 /</a:t>
            </a:r>
            <a:endParaRPr lang="en-US" sz="1300" dirty="0"/>
          </a:p>
          <a:p>
            <a:pPr marL="0" indent="0" algn="ctr">
              <a:buNone/>
            </a:pPr>
            <a:r>
              <a:rPr lang="en-US" sz="1300" dirty="0">
                <a:solidFill>
                  <a:srgbClr val="1F1E1D"/>
                </a:solidFill>
                <a:latin typeface="Vazirmatn" pitchFamily="34" charset="0"/>
                <a:ea typeface="Vazirmatn" pitchFamily="34" charset="-122"/>
                <a:cs typeface="Vazirmatn" pitchFamily="34" charset="-120"/>
              </a:rPr>
              <a:t>Mythos 5</a:t>
            </a:r>
            <a:endParaRPr lang="en-US" sz="1300" dirty="0"/>
          </a:p>
        </p:txBody>
      </p:sp>
      <p:sp>
        <p:nvSpPr>
          <p:cNvPr id="31" name="Shape 27"/>
          <p:cNvSpPr/>
          <p:nvPr/>
        </p:nvSpPr>
        <p:spPr>
          <a:xfrm>
            <a:off x="2167128" y="3529584"/>
            <a:ext cx="256032" cy="256032"/>
          </a:xfrm>
          <a:prstGeom prst="ellipse">
            <a:avLst/>
          </a:prstGeom>
          <a:solidFill>
            <a:srgbClr val="C15F3C"/>
          </a:solidFill>
          <a:ln w="25400">
            <a:solidFill>
              <a:srgbClr val="FAF9F5"/>
            </a:solidFill>
            <a:prstDash val="solid"/>
          </a:ln>
        </p:spPr>
      </p:sp>
      <p:sp>
        <p:nvSpPr>
          <p:cNvPr id="32" name="Text 28"/>
          <p:cNvSpPr txBox="1"/>
          <p:nvPr/>
        </p:nvSpPr>
        <p:spPr>
          <a:xfrm>
            <a:off x="1691640" y="2103120"/>
            <a:ext cx="1234440" cy="365760"/>
          </a:xfrm>
          <a:prstGeom prst="rect">
            <a:avLst/>
          </a:prstGeom>
          <a:noFill/>
          <a:ln/>
        </p:spPr>
        <p:txBody>
          <a:bodyPr wrap="square" lIns="0" tIns="0" rIns="0" bIns="0" rtlCol="0" anchor="t"/>
          <a:lstStyle/>
          <a:p>
            <a:pPr marL="0" indent="0" algn="ctr" rtl="1">
              <a:buNone/>
            </a:pPr>
            <a:r>
              <a:rPr lang="en-US" sz="1300" b="1" dirty="0">
                <a:solidFill>
                  <a:srgbClr val="C15F3C"/>
                </a:solidFill>
                <a:latin typeface="Vazirmatn" pitchFamily="34" charset="0"/>
                <a:ea typeface="Vazirmatn" pitchFamily="34" charset="-122"/>
                <a:cs typeface="Vazirmatn" pitchFamily="34" charset="-120"/>
              </a:rPr>
              <a:t>ژوئیه ۲۰۲۶</a:t>
            </a:r>
            <a:endParaRPr lang="en-US" sz="1300" dirty="0"/>
          </a:p>
        </p:txBody>
      </p:sp>
      <p:sp>
        <p:nvSpPr>
          <p:cNvPr id="33" name="Text 29"/>
          <p:cNvSpPr txBox="1"/>
          <p:nvPr/>
        </p:nvSpPr>
        <p:spPr>
          <a:xfrm>
            <a:off x="1645920" y="2468880"/>
            <a:ext cx="1325880" cy="914400"/>
          </a:xfrm>
          <a:prstGeom prst="rect">
            <a:avLst/>
          </a:prstGeom>
          <a:noFill/>
          <a:ln/>
        </p:spPr>
        <p:txBody>
          <a:bodyPr wrap="square" lIns="0" tIns="0" rIns="0" bIns="0" rtlCol="0" anchor="t"/>
          <a:lstStyle/>
          <a:p>
            <a:pPr marL="0" indent="0" algn="ctr">
              <a:buNone/>
            </a:pPr>
            <a:r>
              <a:rPr lang="en-US" sz="1300" dirty="0">
                <a:solidFill>
                  <a:srgbClr val="1F1E1D"/>
                </a:solidFill>
                <a:latin typeface="Vazirmatn" pitchFamily="34" charset="0"/>
                <a:ea typeface="Vazirmatn" pitchFamily="34" charset="-122"/>
                <a:cs typeface="Vazirmatn" pitchFamily="34" charset="-120"/>
              </a:rPr>
              <a:t>Opus 5</a:t>
            </a:r>
            <a:endParaRPr lang="en-US" sz="1300" dirty="0"/>
          </a:p>
        </p:txBody>
      </p:sp>
      <p:sp>
        <p:nvSpPr>
          <p:cNvPr id="34" name="Shape 30"/>
          <p:cNvSpPr/>
          <p:nvPr/>
        </p:nvSpPr>
        <p:spPr>
          <a:xfrm>
            <a:off x="1024128" y="3529584"/>
            <a:ext cx="256032" cy="256032"/>
          </a:xfrm>
          <a:prstGeom prst="ellipse">
            <a:avLst/>
          </a:prstGeom>
          <a:solidFill>
            <a:srgbClr val="C15F3C"/>
          </a:solidFill>
          <a:ln w="25400">
            <a:solidFill>
              <a:srgbClr val="FAF9F5"/>
            </a:solidFill>
            <a:prstDash val="solid"/>
          </a:ln>
        </p:spPr>
      </p:sp>
      <p:sp>
        <p:nvSpPr>
          <p:cNvPr id="35" name="Text 31"/>
          <p:cNvSpPr txBox="1"/>
          <p:nvPr/>
        </p:nvSpPr>
        <p:spPr>
          <a:xfrm>
            <a:off x="548640" y="3977640"/>
            <a:ext cx="1234440" cy="365760"/>
          </a:xfrm>
          <a:prstGeom prst="rect">
            <a:avLst/>
          </a:prstGeom>
          <a:noFill/>
          <a:ln/>
        </p:spPr>
        <p:txBody>
          <a:bodyPr wrap="square" lIns="0" tIns="0" rIns="0" bIns="0" rtlCol="0" anchor="t"/>
          <a:lstStyle/>
          <a:p>
            <a:pPr marL="0" indent="0" algn="ctr" rtl="1">
              <a:buNone/>
            </a:pPr>
            <a:r>
              <a:rPr lang="en-US" sz="1300" b="1" dirty="0">
                <a:solidFill>
                  <a:srgbClr val="C15F3C"/>
                </a:solidFill>
                <a:latin typeface="Vazirmatn" pitchFamily="34" charset="0"/>
                <a:ea typeface="Vazirmatn" pitchFamily="34" charset="-122"/>
                <a:cs typeface="Vazirmatn" pitchFamily="34" charset="-120"/>
              </a:rPr>
              <a:t>سپتامبر ۲۰۲۶</a:t>
            </a:r>
            <a:endParaRPr lang="en-US" sz="1300" dirty="0"/>
          </a:p>
        </p:txBody>
      </p:sp>
      <p:sp>
        <p:nvSpPr>
          <p:cNvPr id="36" name="Text 32"/>
          <p:cNvSpPr txBox="1"/>
          <p:nvPr/>
        </p:nvSpPr>
        <p:spPr>
          <a:xfrm>
            <a:off x="502920" y="4343400"/>
            <a:ext cx="1325880" cy="914400"/>
          </a:xfrm>
          <a:prstGeom prst="rect">
            <a:avLst/>
          </a:prstGeom>
          <a:noFill/>
          <a:ln/>
        </p:spPr>
        <p:txBody>
          <a:bodyPr wrap="square" lIns="0" tIns="0" rIns="0" bIns="0" rtlCol="0" anchor="t"/>
          <a:lstStyle/>
          <a:p>
            <a:pPr marL="0" indent="0" algn="ctr">
              <a:buNone/>
            </a:pPr>
            <a:r>
              <a:rPr lang="en-US" sz="1300" dirty="0">
                <a:solidFill>
                  <a:srgbClr val="1F1E1D"/>
                </a:solidFill>
                <a:latin typeface="Vazirmatn" pitchFamily="34" charset="0"/>
                <a:ea typeface="Vazirmatn" pitchFamily="34" charset="-122"/>
                <a:cs typeface="Vazirmatn" pitchFamily="34" charset="-120"/>
              </a:rPr>
              <a:t>Fable 5.1</a:t>
            </a:r>
            <a:endParaRPr lang="en-US" sz="1300" dirty="0"/>
          </a:p>
          <a:p>
            <a:pPr marL="0" indent="0" algn="ctr">
              <a:buNone/>
            </a:pPr>
            <a:r>
              <a:rPr lang="en-US" sz="1300" dirty="0">
                <a:solidFill>
                  <a:srgbClr val="1F1E1D"/>
                </a:solidFill>
                <a:latin typeface="Vazirmatn" pitchFamily="34" charset="0"/>
                <a:ea typeface="Vazirmatn" pitchFamily="34" charset="-122"/>
                <a:cs typeface="Vazirmatn" pitchFamily="34" charset="-120"/>
              </a:rPr>
              <a:t>Opus 5.5</a:t>
            </a:r>
            <a:endParaRPr lang="en-US" sz="1300" dirty="0"/>
          </a:p>
          <a:p>
            <a:pPr marL="0" indent="0" algn="ctr">
              <a:buNone/>
            </a:pPr>
            <a:r>
              <a:rPr lang="en-US" sz="1300" dirty="0">
                <a:solidFill>
                  <a:srgbClr val="1F1E1D"/>
                </a:solidFill>
                <a:latin typeface="Vazirmatn" pitchFamily="34" charset="0"/>
                <a:ea typeface="Vazirmatn" pitchFamily="34" charset="-122"/>
                <a:cs typeface="Vazirmatn" pitchFamily="34" charset="-120"/>
              </a:rPr>
              <a:t>Sonnet 5.5</a:t>
            </a:r>
            <a:endParaRPr lang="en-US" sz="1300" dirty="0"/>
          </a:p>
        </p:txBody>
      </p:sp>
      <p:sp>
        <p:nvSpPr>
          <p:cNvPr id="37" name="Text 33"/>
          <p:cNvSpPr txBox="1"/>
          <p:nvPr/>
        </p:nvSpPr>
        <p:spPr>
          <a:xfrm>
            <a:off x="548640" y="5669280"/>
            <a:ext cx="11064240" cy="457200"/>
          </a:xfrm>
          <a:prstGeom prst="rect">
            <a:avLst/>
          </a:prstGeom>
          <a:noFill/>
          <a:ln/>
        </p:spPr>
        <p:txBody>
          <a:bodyPr wrap="square" lIns="0" tIns="0" rIns="0" bIns="0" rtlCol="0" anchor="t"/>
          <a:lstStyle/>
          <a:p>
            <a:pPr marL="0" indent="0" algn="ctr" rtl="1">
              <a:buNone/>
            </a:pPr>
            <a:r>
              <a:rPr lang="en-US" sz="1600" dirty="0">
                <a:solidFill>
                  <a:srgbClr val="5E5D59"/>
                </a:solidFill>
                <a:latin typeface="Vazirmatn" pitchFamily="34" charset="0"/>
                <a:ea typeface="Vazirmatn" pitchFamily="34" charset="-122"/>
                <a:cs typeface="Vazirmatn" pitchFamily="34" charset="-120"/>
              </a:rPr>
              <a:t>۲۰۲۶ پرخبرترین سال Claude بود: هشت عرضه‌ی مدل در نُه ماه</a:t>
            </a:r>
            <a:endParaRPr lang="en-US" sz="1600" dirty="0"/>
          </a:p>
        </p:txBody>
      </p:sp>
      <p:sp>
        <p:nvSpPr>
          <p:cNvPr id="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8397076">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خانواده‌های مدل</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از سریع و ارزان تا قدرتمند و عمیق</a:t>
            </a:r>
            <a:endParaRPr lang="en-US" sz="1400" dirty="0"/>
          </a:p>
        </p:txBody>
      </p:sp>
      <p:sp>
        <p:nvSpPr>
          <p:cNvPr id="6" name="Shape 2"/>
          <p:cNvSpPr/>
          <p:nvPr/>
        </p:nvSpPr>
        <p:spPr>
          <a:xfrm>
            <a:off x="8778240" y="4480560"/>
            <a:ext cx="2560320" cy="1463040"/>
          </a:xfrm>
          <a:prstGeom prst="roundRect">
            <a:avLst>
              <a:gd name="adj" fmla="val 6250"/>
            </a:avLst>
          </a:prstGeom>
          <a:solidFill>
            <a:srgbClr val="E8D5C4"/>
          </a:solidFill>
          <a:ln w="12700">
            <a:solidFill>
              <a:srgbClr val="E8D5C4"/>
            </a:solidFill>
            <a:prstDash val="solid"/>
          </a:ln>
        </p:spPr>
      </p:sp>
      <p:sp>
        <p:nvSpPr>
          <p:cNvPr id="7" name="Text 3"/>
          <p:cNvSpPr txBox="1"/>
          <p:nvPr/>
        </p:nvSpPr>
        <p:spPr>
          <a:xfrm>
            <a:off x="8869680" y="4617720"/>
            <a:ext cx="2377440" cy="502920"/>
          </a:xfrm>
          <a:prstGeom prst="rect">
            <a:avLst/>
          </a:prstGeom>
          <a:noFill/>
          <a:ln/>
        </p:spPr>
        <p:txBody>
          <a:bodyPr wrap="square" lIns="0" tIns="0" rIns="0" bIns="0" rtlCol="0" anchor="t"/>
          <a:lstStyle/>
          <a:p>
            <a:pPr marL="0" indent="0" algn="ctr">
              <a:buNone/>
            </a:pPr>
            <a:r>
              <a:rPr lang="en-US" sz="2200" b="1" dirty="0">
                <a:solidFill>
                  <a:srgbClr val="1F1E1D"/>
                </a:solidFill>
                <a:latin typeface="Vazirmatn" pitchFamily="34" charset="0"/>
                <a:ea typeface="Vazirmatn" pitchFamily="34" charset="-122"/>
                <a:cs typeface="Vazirmatn" pitchFamily="34" charset="-120"/>
              </a:rPr>
              <a:t>Haiku</a:t>
            </a:r>
            <a:endParaRPr lang="en-US" sz="2200" dirty="0"/>
          </a:p>
        </p:txBody>
      </p:sp>
      <p:sp>
        <p:nvSpPr>
          <p:cNvPr id="8" name="Text 4"/>
          <p:cNvSpPr txBox="1"/>
          <p:nvPr/>
        </p:nvSpPr>
        <p:spPr>
          <a:xfrm>
            <a:off x="8869680" y="5138928"/>
            <a:ext cx="2377440" cy="365760"/>
          </a:xfrm>
          <a:prstGeom prst="rect">
            <a:avLst/>
          </a:prstGeom>
          <a:noFill/>
          <a:ln/>
        </p:spPr>
        <p:txBody>
          <a:bodyPr wrap="square" lIns="0" tIns="0" rIns="0" bIns="0" rtlCol="0" anchor="t"/>
          <a:lstStyle/>
          <a:p>
            <a:pPr marL="0" indent="0" algn="ctr" rtl="1">
              <a:buNone/>
            </a:pPr>
            <a:r>
              <a:rPr lang="en-US" sz="1500" b="1" dirty="0">
                <a:solidFill>
                  <a:srgbClr val="1F1E1D"/>
                </a:solidFill>
                <a:latin typeface="Vazirmatn" pitchFamily="34" charset="0"/>
                <a:ea typeface="Vazirmatn" pitchFamily="34" charset="-122"/>
                <a:cs typeface="Vazirmatn" pitchFamily="34" charset="-120"/>
              </a:rPr>
              <a:t>سریع و کم‌هزینه</a:t>
            </a:r>
            <a:endParaRPr lang="en-US" sz="1500" dirty="0"/>
          </a:p>
        </p:txBody>
      </p:sp>
      <p:sp>
        <p:nvSpPr>
          <p:cNvPr id="9" name="Text 5"/>
          <p:cNvSpPr txBox="1"/>
          <p:nvPr/>
        </p:nvSpPr>
        <p:spPr>
          <a:xfrm>
            <a:off x="8915400" y="5504688"/>
            <a:ext cx="2286000" cy="365760"/>
          </a:xfrm>
          <a:prstGeom prst="rect">
            <a:avLst/>
          </a:prstGeom>
          <a:noFill/>
          <a:ln/>
        </p:spPr>
        <p:txBody>
          <a:bodyPr wrap="square" lIns="0" tIns="0" rIns="0" bIns="0" rtlCol="0" anchor="t"/>
          <a:lstStyle/>
          <a:p>
            <a:pPr marL="0" indent="0" algn="ctr" rtl="1">
              <a:buNone/>
            </a:pPr>
            <a:r>
              <a:rPr lang="en-US" sz="1300" dirty="0">
                <a:solidFill>
                  <a:srgbClr val="5E5D59"/>
                </a:solidFill>
                <a:latin typeface="Vazirmatn" pitchFamily="34" charset="0"/>
                <a:ea typeface="Vazirmatn" pitchFamily="34" charset="-122"/>
                <a:cs typeface="Vazirmatn" pitchFamily="34" charset="-120"/>
              </a:rPr>
              <a:t>کارهای ساده و پرحجم</a:t>
            </a:r>
            <a:endParaRPr lang="en-US" sz="1300" dirty="0"/>
          </a:p>
        </p:txBody>
      </p:sp>
      <p:sp>
        <p:nvSpPr>
          <p:cNvPr id="10" name="Shape 6"/>
          <p:cNvSpPr/>
          <p:nvPr/>
        </p:nvSpPr>
        <p:spPr>
          <a:xfrm>
            <a:off x="6035040" y="3657600"/>
            <a:ext cx="2560320" cy="2286000"/>
          </a:xfrm>
          <a:prstGeom prst="roundRect">
            <a:avLst>
              <a:gd name="adj" fmla="val 4000"/>
            </a:avLst>
          </a:prstGeom>
          <a:solidFill>
            <a:srgbClr val="E5B49A"/>
          </a:solidFill>
          <a:ln w="12700">
            <a:solidFill>
              <a:srgbClr val="E5B49A"/>
            </a:solidFill>
            <a:prstDash val="solid"/>
          </a:ln>
        </p:spPr>
      </p:sp>
      <p:sp>
        <p:nvSpPr>
          <p:cNvPr id="11" name="Text 7"/>
          <p:cNvSpPr txBox="1"/>
          <p:nvPr/>
        </p:nvSpPr>
        <p:spPr>
          <a:xfrm>
            <a:off x="6126480" y="3794760"/>
            <a:ext cx="2377440" cy="502920"/>
          </a:xfrm>
          <a:prstGeom prst="rect">
            <a:avLst/>
          </a:prstGeom>
          <a:noFill/>
          <a:ln/>
        </p:spPr>
        <p:txBody>
          <a:bodyPr wrap="square" lIns="0" tIns="0" rIns="0" bIns="0" rtlCol="0" anchor="t"/>
          <a:lstStyle/>
          <a:p>
            <a:pPr marL="0" indent="0" algn="ctr">
              <a:buNone/>
            </a:pPr>
            <a:r>
              <a:rPr lang="en-US" sz="2200" b="1" dirty="0">
                <a:solidFill>
                  <a:srgbClr val="1F1E1D"/>
                </a:solidFill>
                <a:latin typeface="Vazirmatn" pitchFamily="34" charset="0"/>
                <a:ea typeface="Vazirmatn" pitchFamily="34" charset="-122"/>
                <a:cs typeface="Vazirmatn" pitchFamily="34" charset="-120"/>
              </a:rPr>
              <a:t>Sonnet</a:t>
            </a:r>
            <a:endParaRPr lang="en-US" sz="2200" dirty="0"/>
          </a:p>
        </p:txBody>
      </p:sp>
      <p:sp>
        <p:nvSpPr>
          <p:cNvPr id="12" name="Text 8"/>
          <p:cNvSpPr txBox="1"/>
          <p:nvPr/>
        </p:nvSpPr>
        <p:spPr>
          <a:xfrm>
            <a:off x="6126480" y="4315968"/>
            <a:ext cx="2377440" cy="365760"/>
          </a:xfrm>
          <a:prstGeom prst="rect">
            <a:avLst/>
          </a:prstGeom>
          <a:noFill/>
          <a:ln/>
        </p:spPr>
        <p:txBody>
          <a:bodyPr wrap="square" lIns="0" tIns="0" rIns="0" bIns="0" rtlCol="0" anchor="t"/>
          <a:lstStyle/>
          <a:p>
            <a:pPr marL="0" indent="0" algn="ctr" rtl="1">
              <a:buNone/>
            </a:pPr>
            <a:r>
              <a:rPr lang="en-US" sz="1500" b="1" dirty="0">
                <a:solidFill>
                  <a:srgbClr val="1F1E1D"/>
                </a:solidFill>
                <a:latin typeface="Vazirmatn" pitchFamily="34" charset="0"/>
                <a:ea typeface="Vazirmatn" pitchFamily="34" charset="-122"/>
                <a:cs typeface="Vazirmatn" pitchFamily="34" charset="-120"/>
              </a:rPr>
              <a:t>متعادل و همه‌کاره</a:t>
            </a:r>
            <a:endParaRPr lang="en-US" sz="1500" dirty="0"/>
          </a:p>
        </p:txBody>
      </p:sp>
      <p:sp>
        <p:nvSpPr>
          <p:cNvPr id="13" name="Text 9"/>
          <p:cNvSpPr txBox="1"/>
          <p:nvPr/>
        </p:nvSpPr>
        <p:spPr>
          <a:xfrm>
            <a:off x="6172200" y="4681728"/>
            <a:ext cx="2286000" cy="1188720"/>
          </a:xfrm>
          <a:prstGeom prst="rect">
            <a:avLst/>
          </a:prstGeom>
          <a:noFill/>
          <a:ln/>
        </p:spPr>
        <p:txBody>
          <a:bodyPr wrap="square" lIns="0" tIns="0" rIns="0" bIns="0" rtlCol="0" anchor="t"/>
          <a:lstStyle/>
          <a:p>
            <a:pPr marL="0" indent="0" algn="ctr" rtl="1">
              <a:buNone/>
            </a:pPr>
            <a:r>
              <a:rPr lang="en-US" sz="1300" dirty="0">
                <a:solidFill>
                  <a:srgbClr val="5E5D59"/>
                </a:solidFill>
                <a:latin typeface="Vazirmatn" pitchFamily="34" charset="0"/>
                <a:ea typeface="Vazirmatn" pitchFamily="34" charset="-122"/>
                <a:cs typeface="Vazirmatn" pitchFamily="34" charset="-120"/>
              </a:rPr>
              <a:t>کار روزمره، کد، نوشتن</a:t>
            </a:r>
            <a:endParaRPr lang="en-US" sz="1300" dirty="0"/>
          </a:p>
        </p:txBody>
      </p:sp>
      <p:sp>
        <p:nvSpPr>
          <p:cNvPr id="14" name="Shape 10"/>
          <p:cNvSpPr/>
          <p:nvPr/>
        </p:nvSpPr>
        <p:spPr>
          <a:xfrm>
            <a:off x="3291840" y="2834640"/>
            <a:ext cx="2560320" cy="3108960"/>
          </a:xfrm>
          <a:prstGeom prst="roundRect">
            <a:avLst>
              <a:gd name="adj" fmla="val 3571"/>
            </a:avLst>
          </a:prstGeom>
          <a:solidFill>
            <a:srgbClr val="D97757"/>
          </a:solidFill>
          <a:ln w="12700">
            <a:solidFill>
              <a:srgbClr val="D97757"/>
            </a:solidFill>
            <a:prstDash val="solid"/>
          </a:ln>
        </p:spPr>
      </p:sp>
      <p:sp>
        <p:nvSpPr>
          <p:cNvPr id="15" name="Text 11"/>
          <p:cNvSpPr txBox="1"/>
          <p:nvPr/>
        </p:nvSpPr>
        <p:spPr>
          <a:xfrm>
            <a:off x="3383280" y="2971800"/>
            <a:ext cx="2377440" cy="502920"/>
          </a:xfrm>
          <a:prstGeom prst="rect">
            <a:avLst/>
          </a:prstGeom>
          <a:noFill/>
          <a:ln/>
        </p:spPr>
        <p:txBody>
          <a:bodyPr wrap="square" lIns="0" tIns="0" rIns="0" bIns="0" rtlCol="0" anchor="t"/>
          <a:lstStyle/>
          <a:p>
            <a:pPr marL="0" indent="0" algn="ctr">
              <a:buNone/>
            </a:pPr>
            <a:r>
              <a:rPr lang="en-US" sz="2200" b="1" dirty="0">
                <a:solidFill>
                  <a:srgbClr val="FFFFFF"/>
                </a:solidFill>
                <a:latin typeface="Vazirmatn" pitchFamily="34" charset="0"/>
                <a:ea typeface="Vazirmatn" pitchFamily="34" charset="-122"/>
                <a:cs typeface="Vazirmatn" pitchFamily="34" charset="-120"/>
              </a:rPr>
              <a:t>Opus</a:t>
            </a:r>
            <a:endParaRPr lang="en-US" sz="2200" dirty="0"/>
          </a:p>
        </p:txBody>
      </p:sp>
      <p:sp>
        <p:nvSpPr>
          <p:cNvPr id="16" name="Text 12"/>
          <p:cNvSpPr txBox="1"/>
          <p:nvPr/>
        </p:nvSpPr>
        <p:spPr>
          <a:xfrm>
            <a:off x="3383280" y="3493008"/>
            <a:ext cx="2377440" cy="365760"/>
          </a:xfrm>
          <a:prstGeom prst="rect">
            <a:avLst/>
          </a:prstGeom>
          <a:noFill/>
          <a:ln/>
        </p:spPr>
        <p:txBody>
          <a:bodyPr wrap="square" lIns="0" tIns="0" rIns="0" bIns="0" rtlCol="0" anchor="t"/>
          <a:lstStyle/>
          <a:p>
            <a:pPr marL="0" indent="0" algn="ctr" rtl="1">
              <a:buNone/>
            </a:pPr>
            <a:r>
              <a:rPr lang="en-US" sz="1500" b="1" dirty="0">
                <a:solidFill>
                  <a:srgbClr val="FFFFFF"/>
                </a:solidFill>
                <a:latin typeface="Vazirmatn" pitchFamily="34" charset="0"/>
                <a:ea typeface="Vazirmatn" pitchFamily="34" charset="-122"/>
                <a:cs typeface="Vazirmatn" pitchFamily="34" charset="-120"/>
              </a:rPr>
              <a:t>قدرتمند</a:t>
            </a:r>
            <a:endParaRPr lang="en-US" sz="1500" dirty="0"/>
          </a:p>
        </p:txBody>
      </p:sp>
      <p:sp>
        <p:nvSpPr>
          <p:cNvPr id="17" name="Text 13"/>
          <p:cNvSpPr txBox="1"/>
          <p:nvPr/>
        </p:nvSpPr>
        <p:spPr>
          <a:xfrm>
            <a:off x="3429000" y="3858768"/>
            <a:ext cx="2286000" cy="2011680"/>
          </a:xfrm>
          <a:prstGeom prst="rect">
            <a:avLst/>
          </a:prstGeom>
          <a:noFill/>
          <a:ln/>
        </p:spPr>
        <p:txBody>
          <a:bodyPr wrap="square" lIns="0" tIns="0" rIns="0" bIns="0" rtlCol="0" anchor="t"/>
          <a:lstStyle/>
          <a:p>
            <a:pPr marL="0" indent="0" algn="ctr" rtl="1">
              <a:buNone/>
            </a:pPr>
            <a:r>
              <a:rPr lang="en-US" sz="1300" dirty="0">
                <a:solidFill>
                  <a:srgbClr val="FAF9F5"/>
                </a:solidFill>
                <a:latin typeface="Vazirmatn" pitchFamily="34" charset="0"/>
                <a:ea typeface="Vazirmatn" pitchFamily="34" charset="-122"/>
                <a:cs typeface="Vazirmatn" pitchFamily="34" charset="-120"/>
              </a:rPr>
              <a:t>استدلال عمیق و پروژه‌های پیچیده</a:t>
            </a:r>
            <a:endParaRPr lang="en-US" sz="1300" dirty="0"/>
          </a:p>
        </p:txBody>
      </p:sp>
      <p:sp>
        <p:nvSpPr>
          <p:cNvPr id="18" name="Shape 14"/>
          <p:cNvSpPr/>
          <p:nvPr/>
        </p:nvSpPr>
        <p:spPr>
          <a:xfrm>
            <a:off x="548640" y="2011680"/>
            <a:ext cx="2560320" cy="3931920"/>
          </a:xfrm>
          <a:prstGeom prst="roundRect">
            <a:avLst>
              <a:gd name="adj" fmla="val 3571"/>
            </a:avLst>
          </a:prstGeom>
          <a:solidFill>
            <a:srgbClr val="C15F3C"/>
          </a:solidFill>
          <a:ln w="12700">
            <a:solidFill>
              <a:srgbClr val="C15F3C"/>
            </a:solidFill>
            <a:prstDash val="solid"/>
          </a:ln>
        </p:spPr>
      </p:sp>
      <p:sp>
        <p:nvSpPr>
          <p:cNvPr id="19" name="Text 15"/>
          <p:cNvSpPr txBox="1"/>
          <p:nvPr/>
        </p:nvSpPr>
        <p:spPr>
          <a:xfrm>
            <a:off x="640080" y="2148840"/>
            <a:ext cx="2377440" cy="502920"/>
          </a:xfrm>
          <a:prstGeom prst="rect">
            <a:avLst/>
          </a:prstGeom>
          <a:noFill/>
          <a:ln/>
        </p:spPr>
        <p:txBody>
          <a:bodyPr wrap="square" lIns="0" tIns="0" rIns="0" bIns="0" rtlCol="0" anchor="t"/>
          <a:lstStyle/>
          <a:p>
            <a:pPr marL="0" indent="0" algn="ctr">
              <a:buNone/>
            </a:pPr>
            <a:r>
              <a:rPr lang="en-US" sz="2200" b="1" dirty="0">
                <a:solidFill>
                  <a:srgbClr val="FFFFFF"/>
                </a:solidFill>
                <a:latin typeface="Vazirmatn" pitchFamily="34" charset="0"/>
                <a:ea typeface="Vazirmatn" pitchFamily="34" charset="-122"/>
                <a:cs typeface="Vazirmatn" pitchFamily="34" charset="-120"/>
              </a:rPr>
              <a:t>Fable / Mythos</a:t>
            </a:r>
            <a:endParaRPr lang="en-US" sz="2200" dirty="0"/>
          </a:p>
        </p:txBody>
      </p:sp>
      <p:sp>
        <p:nvSpPr>
          <p:cNvPr id="20" name="Text 16"/>
          <p:cNvSpPr txBox="1"/>
          <p:nvPr/>
        </p:nvSpPr>
        <p:spPr>
          <a:xfrm>
            <a:off x="640080" y="2670048"/>
            <a:ext cx="2377440" cy="365760"/>
          </a:xfrm>
          <a:prstGeom prst="rect">
            <a:avLst/>
          </a:prstGeom>
          <a:noFill/>
          <a:ln/>
        </p:spPr>
        <p:txBody>
          <a:bodyPr wrap="square" lIns="0" tIns="0" rIns="0" bIns="0" rtlCol="0" anchor="t"/>
          <a:lstStyle/>
          <a:p>
            <a:pPr marL="0" indent="0" algn="ctr" rtl="1">
              <a:buNone/>
            </a:pPr>
            <a:r>
              <a:rPr lang="en-US" sz="1500" b="1" dirty="0">
                <a:solidFill>
                  <a:srgbClr val="FFFFFF"/>
                </a:solidFill>
                <a:latin typeface="Vazirmatn" pitchFamily="34" charset="0"/>
                <a:ea typeface="Vazirmatn" pitchFamily="34" charset="-122"/>
                <a:cs typeface="Vazirmatn" pitchFamily="34" charset="-120"/>
              </a:rPr>
              <a:t>بالاترین سطح</a:t>
            </a:r>
            <a:endParaRPr lang="en-US" sz="1500" dirty="0"/>
          </a:p>
        </p:txBody>
      </p:sp>
      <p:sp>
        <p:nvSpPr>
          <p:cNvPr id="21" name="Text 17"/>
          <p:cNvSpPr txBox="1"/>
          <p:nvPr/>
        </p:nvSpPr>
        <p:spPr>
          <a:xfrm>
            <a:off x="685800" y="3035808"/>
            <a:ext cx="2286000" cy="2834640"/>
          </a:xfrm>
          <a:prstGeom prst="rect">
            <a:avLst/>
          </a:prstGeom>
          <a:noFill/>
          <a:ln/>
        </p:spPr>
        <p:txBody>
          <a:bodyPr wrap="square" lIns="0" tIns="0" rIns="0" bIns="0" rtlCol="0" anchor="t"/>
          <a:lstStyle/>
          <a:p>
            <a:pPr marL="0" indent="0" algn="ctr" rtl="1">
              <a:buNone/>
            </a:pPr>
            <a:r>
              <a:rPr lang="en-US" sz="1300" dirty="0">
                <a:solidFill>
                  <a:srgbClr val="FAF9F5"/>
                </a:solidFill>
                <a:latin typeface="Vazirmatn" pitchFamily="34" charset="0"/>
                <a:ea typeface="Vazirmatn" pitchFamily="34" charset="-122"/>
                <a:cs typeface="Vazirmatn" pitchFamily="34" charset="-120"/>
              </a:rPr>
              <a:t>Mythos محدود؛ Fable نسخه‌ی عمومی با محافظ‌های بیشتر</a:t>
            </a:r>
            <a:endParaRPr lang="en-US" sz="1300" dirty="0"/>
          </a:p>
        </p:txBody>
      </p:sp>
      <p:sp>
        <p:nvSpPr>
          <p:cNvPr id="22" name="Text 18"/>
          <p:cNvSpPr txBox="1"/>
          <p:nvPr/>
        </p:nvSpPr>
        <p:spPr>
          <a:xfrm>
            <a:off x="548640" y="1463040"/>
            <a:ext cx="2743200" cy="365760"/>
          </a:xfrm>
          <a:prstGeom prst="rect">
            <a:avLst/>
          </a:prstGeom>
          <a:noFill/>
          <a:ln/>
        </p:spPr>
        <p:txBody>
          <a:bodyPr wrap="square" lIns="0" tIns="0" rIns="0" bIns="0" rtlCol="0" anchor="t"/>
          <a:lstStyle/>
          <a:p>
            <a:pPr marL="0" indent="0" algn="l" rtl="1">
              <a:buNone/>
            </a:pPr>
            <a:r>
              <a:rPr lang="en-US" sz="1300" dirty="0">
                <a:solidFill>
                  <a:srgbClr val="C15F3C"/>
                </a:solidFill>
                <a:latin typeface="Vazirmatn" pitchFamily="34" charset="0"/>
                <a:ea typeface="Vazirmatn" pitchFamily="34" charset="-122"/>
                <a:cs typeface="Vazirmatn" pitchFamily="34" charset="-120"/>
              </a:rPr>
              <a:t>توانایی و هزینه ‏←‏</a:t>
            </a:r>
            <a:endParaRPr lang="en-US" sz="13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19604551">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مدل‌های فعلی (مهر ۱۴۰۵)</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886200"/>
        </p:xfrm>
        <a:graphic>
          <a:graphicData uri="http://schemas.openxmlformats.org/drawingml/2006/table">
            <a:tbl>
              <a:tblPr/>
              <a:tblGrid>
                <a:gridCol w="29260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marL="0" indent="0" algn="r" rtl="1">
                        <a:buNone/>
                      </a:pPr>
                      <a:r>
                        <a:rPr lang="en-US" sz="1500" b="1" dirty="0">
                          <a:solidFill>
                            <a:srgbClr val="FFFFFF"/>
                          </a:solidFill>
                          <a:latin typeface="Vazirmatn" pitchFamily="34" charset="0"/>
                          <a:ea typeface="Vazirmatn" pitchFamily="34" charset="-122"/>
                          <a:cs typeface="Vazirmatn" pitchFamily="34" charset="-120"/>
                        </a:rPr>
                        <a:t>مناسب برای</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D97757"/>
                    </a:solidFill>
                  </a:tcPr>
                </a:tc>
                <a:tc>
                  <a:txBody>
                    <a:bodyPr/>
                    <a:lstStyle/>
                    <a:p>
                      <a:pPr marL="0" indent="0" algn="r" rtl="1">
                        <a:buNone/>
                      </a:pPr>
                      <a:r>
                        <a:rPr lang="en-US" sz="1500" b="1" dirty="0">
                          <a:solidFill>
                            <a:srgbClr val="FFFFFF"/>
                          </a:solidFill>
                          <a:latin typeface="Vazirmatn" pitchFamily="34" charset="0"/>
                          <a:ea typeface="Vazirmatn" pitchFamily="34" charset="-122"/>
                          <a:cs typeface="Vazirmatn" pitchFamily="34" charset="-120"/>
                        </a:rPr>
                        <a:t>ویژگی</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D97757"/>
                    </a:solidFill>
                  </a:tcPr>
                </a:tc>
                <a:tc>
                  <a:txBody>
                    <a:bodyPr/>
                    <a:lstStyle/>
                    <a:p>
                      <a:pPr marL="0" indent="0" algn="r" rtl="1">
                        <a:buNone/>
                      </a:pPr>
                      <a:r>
                        <a:rPr lang="en-US" sz="1500" b="1" dirty="0">
                          <a:solidFill>
                            <a:srgbClr val="FFFFFF"/>
                          </a:solidFill>
                          <a:latin typeface="Vazirmatn" pitchFamily="34" charset="0"/>
                          <a:ea typeface="Vazirmatn" pitchFamily="34" charset="-122"/>
                          <a:cs typeface="Vazirmatn" pitchFamily="34" charset="-120"/>
                        </a:rPr>
                        <a:t>تاریخ عرضه</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D97757"/>
                    </a:solidFill>
                  </a:tcPr>
                </a:tc>
                <a:tc>
                  <a:txBody>
                    <a:bodyPr/>
                    <a:lstStyle/>
                    <a:p>
                      <a:pPr marL="0" indent="0" algn="r" rtl="1">
                        <a:buNone/>
                      </a:pPr>
                      <a:r>
                        <a:rPr lang="en-US" sz="1500" b="1" dirty="0">
                          <a:solidFill>
                            <a:srgbClr val="FFFFFF"/>
                          </a:solidFill>
                          <a:latin typeface="Vazirmatn" pitchFamily="34" charset="0"/>
                          <a:ea typeface="Vazirmatn" pitchFamily="34" charset="-122"/>
                          <a:cs typeface="Vazirmatn" pitchFamily="34" charset="-120"/>
                        </a:rPr>
                        <a:t>مدل</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D97757"/>
                    </a:solidFill>
                  </a:tcPr>
                </a:tc>
                <a:extLst>
                  <a:ext uri="{0D108BD9-81ED-4DB2-BD59-A6C34878D82A}">
                    <a16:rowId xmlns:a16="http://schemas.microsoft.com/office/drawing/2014/main" val="10000"/>
                  </a:ext>
                </a:extLst>
              </a:tr>
              <a:tr h="777240">
                <a:tc>
                  <a:txBody>
                    <a:bodyPr/>
                    <a:lstStyle/>
                    <a:p>
                      <a:pPr marL="0" indent="0" algn="r" rtl="1">
                        <a:buNone/>
                      </a:pPr>
                      <a:r>
                        <a:rPr lang="en-US" sz="1500" dirty="0">
                          <a:solidFill>
                            <a:srgbClr val="1F1E1D"/>
                          </a:solidFill>
                          <a:latin typeface="Vazirmatn" pitchFamily="34" charset="0"/>
                          <a:ea typeface="Vazirmatn" pitchFamily="34" charset="-122"/>
                          <a:cs typeface="Vazirmatn" pitchFamily="34" charset="-120"/>
                        </a:rPr>
                        <a:t>پژوهش و عامل‌های طولانی</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r" rtl="1">
                        <a:buNone/>
                      </a:pPr>
                      <a:r>
                        <a:rPr lang="en-US" sz="1500" dirty="0">
                          <a:solidFill>
                            <a:srgbClr val="1F1E1D"/>
                          </a:solidFill>
                          <a:latin typeface="Vazirmatn" pitchFamily="34" charset="0"/>
                          <a:ea typeface="Vazirmatn" pitchFamily="34" charset="-122"/>
                          <a:cs typeface="Vazirmatn" pitchFamily="34" charset="-120"/>
                        </a:rPr>
                        <a:t>قوی‌ترین مدل عمومی، ۱M توکن</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r" rtl="1">
                        <a:buNone/>
                      </a:pPr>
                      <a:r>
                        <a:rPr lang="en-US" sz="1500" dirty="0">
                          <a:solidFill>
                            <a:srgbClr val="1F1E1D"/>
                          </a:solidFill>
                          <a:latin typeface="Vazirmatn" pitchFamily="34" charset="0"/>
                          <a:ea typeface="Vazirmatn" pitchFamily="34" charset="-122"/>
                          <a:cs typeface="Vazirmatn" pitchFamily="34" charset="-120"/>
                        </a:rPr>
                        <a:t>سپتامبر ۲۰۲۶</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F1E1D"/>
                          </a:solidFill>
                          <a:latin typeface="Vazirmatn" pitchFamily="34" charset="0"/>
                          <a:ea typeface="Vazirmatn" pitchFamily="34" charset="-122"/>
                          <a:cs typeface="Vazirmatn" pitchFamily="34" charset="-120"/>
                        </a:rPr>
                        <a:t>Claude Fable 5.1</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r" rtl="1">
                        <a:buNone/>
                      </a:pPr>
                      <a:r>
                        <a:rPr lang="en-US" sz="1500" dirty="0">
                          <a:solidFill>
                            <a:srgbClr val="1F1E1D"/>
                          </a:solidFill>
                          <a:latin typeface="Vazirmatn" pitchFamily="34" charset="0"/>
                          <a:ea typeface="Vazirmatn" pitchFamily="34" charset="-122"/>
                          <a:cs typeface="Vazirmatn" pitchFamily="34" charset="-120"/>
                        </a:rPr>
                        <a:t>کارهای پیچیده و کدنویسی</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r" rtl="1">
                        <a:buNone/>
                      </a:pPr>
                      <a:r>
                        <a:rPr lang="en-US" sz="1500" dirty="0">
                          <a:solidFill>
                            <a:srgbClr val="1F1E1D"/>
                          </a:solidFill>
                          <a:latin typeface="Vazirmatn" pitchFamily="34" charset="0"/>
                          <a:ea typeface="Vazirmatn" pitchFamily="34" charset="-122"/>
                          <a:cs typeface="Vazirmatn" pitchFamily="34" charset="-120"/>
                        </a:rPr>
                        <a:t>هم‌سطح Fable در بیشتر کارها، ارزان‌تر</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r" rtl="1">
                        <a:buNone/>
                      </a:pPr>
                      <a:r>
                        <a:rPr lang="en-US" sz="1500" dirty="0">
                          <a:solidFill>
                            <a:srgbClr val="1F1E1D"/>
                          </a:solidFill>
                          <a:latin typeface="Vazirmatn" pitchFamily="34" charset="0"/>
                          <a:ea typeface="Vazirmatn" pitchFamily="34" charset="-122"/>
                          <a:cs typeface="Vazirmatn" pitchFamily="34" charset="-120"/>
                        </a:rPr>
                        <a:t>۲۲ سپتامبر ۲۰۲۶</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F1E1D"/>
                          </a:solidFill>
                          <a:latin typeface="Vazirmatn" pitchFamily="34" charset="0"/>
                          <a:ea typeface="Vazirmatn" pitchFamily="34" charset="-122"/>
                          <a:cs typeface="Vazirmatn" pitchFamily="34" charset="-120"/>
                        </a:rPr>
                        <a:t>Claude Opus 5.5</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r" rtl="1">
                        <a:buNone/>
                      </a:pPr>
                      <a:r>
                        <a:rPr lang="en-US" sz="1500" dirty="0">
                          <a:solidFill>
                            <a:srgbClr val="1F1E1D"/>
                          </a:solidFill>
                          <a:latin typeface="Vazirmatn" pitchFamily="34" charset="0"/>
                          <a:ea typeface="Vazirmatn" pitchFamily="34" charset="-122"/>
                          <a:cs typeface="Vazirmatn" pitchFamily="34" charset="-120"/>
                        </a:rPr>
                        <a:t>کار روزمره</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r" rtl="1">
                        <a:buNone/>
                      </a:pPr>
                      <a:r>
                        <a:rPr lang="en-US" sz="1500" dirty="0">
                          <a:solidFill>
                            <a:srgbClr val="1F1E1D"/>
                          </a:solidFill>
                          <a:latin typeface="Vazirmatn" pitchFamily="34" charset="0"/>
                          <a:ea typeface="Vazirmatn" pitchFamily="34" charset="-122"/>
                          <a:cs typeface="Vazirmatn" pitchFamily="34" charset="-120"/>
                        </a:rPr>
                        <a:t>سریع و متعادل</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r" rtl="1">
                        <a:buNone/>
                      </a:pPr>
                      <a:r>
                        <a:rPr lang="en-US" sz="1500" dirty="0">
                          <a:solidFill>
                            <a:srgbClr val="1F1E1D"/>
                          </a:solidFill>
                          <a:latin typeface="Vazirmatn" pitchFamily="34" charset="0"/>
                          <a:ea typeface="Vazirmatn" pitchFamily="34" charset="-122"/>
                          <a:cs typeface="Vazirmatn" pitchFamily="34" charset="-120"/>
                        </a:rPr>
                        <a:t>۲۸ سپتامبر ۲۰۲۶</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F1E1D"/>
                          </a:solidFill>
                          <a:latin typeface="Vazirmatn" pitchFamily="34" charset="0"/>
                          <a:ea typeface="Vazirmatn" pitchFamily="34" charset="-122"/>
                          <a:cs typeface="Vazirmatn" pitchFamily="34" charset="-120"/>
                        </a:rPr>
                        <a:t>Claude Sonnet 5.5</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lgn="r" rtl="1">
                        <a:buNone/>
                      </a:pPr>
                      <a:r>
                        <a:rPr lang="en-US" sz="1500" dirty="0">
                          <a:solidFill>
                            <a:srgbClr val="1F1E1D"/>
                          </a:solidFill>
                          <a:latin typeface="Vazirmatn" pitchFamily="34" charset="0"/>
                          <a:ea typeface="Vazirmatn" pitchFamily="34" charset="-122"/>
                          <a:cs typeface="Vazirmatn" pitchFamily="34" charset="-120"/>
                        </a:rPr>
                        <a:t>حجم بالا و پاسخ فوری</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r" rtl="1">
                        <a:buNone/>
                      </a:pPr>
                      <a:r>
                        <a:rPr lang="en-US" sz="1500" dirty="0">
                          <a:solidFill>
                            <a:srgbClr val="1F1E1D"/>
                          </a:solidFill>
                          <a:latin typeface="Vazirmatn" pitchFamily="34" charset="0"/>
                          <a:ea typeface="Vazirmatn" pitchFamily="34" charset="-122"/>
                          <a:cs typeface="Vazirmatn" pitchFamily="34" charset="-120"/>
                        </a:rPr>
                        <a:t>بسیار سریع و کم‌هزینه</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r" rtl="1">
                        <a:buNone/>
                      </a:pPr>
                      <a:r>
                        <a:rPr lang="en-US" sz="1500" dirty="0">
                          <a:solidFill>
                            <a:srgbClr val="1F1E1D"/>
                          </a:solidFill>
                          <a:latin typeface="Vazirmatn" pitchFamily="34" charset="0"/>
                          <a:ea typeface="Vazirmatn" pitchFamily="34" charset="-122"/>
                          <a:cs typeface="Vazirmatn" pitchFamily="34" charset="-120"/>
                        </a:rPr>
                        <a:t>اکتبر ۲۰۲۵</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F1E1D"/>
                          </a:solidFill>
                          <a:latin typeface="Vazirmatn" pitchFamily="34" charset="0"/>
                          <a:ea typeface="Vazirmatn" pitchFamily="34" charset="-122"/>
                          <a:cs typeface="Vazirmatn" pitchFamily="34" charset="-120"/>
                        </a:rPr>
                        <a:t>Claude Haiku 4.5</a:t>
                      </a:r>
                      <a:endParaRPr lang="en-US" sz="15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1"/>
          <p:cNvSpPr txBox="1"/>
          <p:nvPr/>
        </p:nvSpPr>
        <p:spPr>
          <a:xfrm>
            <a:off x="548640" y="5623560"/>
            <a:ext cx="11064240" cy="411480"/>
          </a:xfrm>
          <a:prstGeom prst="rect">
            <a:avLst/>
          </a:prstGeom>
          <a:noFill/>
          <a:ln/>
        </p:spPr>
        <p:txBody>
          <a:bodyPr wrap="square" lIns="0" tIns="0" rIns="0" bIns="0" rtlCol="0" anchor="t"/>
          <a:lstStyle/>
          <a:p>
            <a:pPr marL="0" indent="0" algn="r" rtl="1">
              <a:buNone/>
            </a:pPr>
            <a:r>
              <a:rPr lang="en-US" sz="1500" dirty="0">
                <a:solidFill>
                  <a:srgbClr val="5E5D59"/>
                </a:solidFill>
                <a:latin typeface="Vazirmatn" pitchFamily="34" charset="0"/>
                <a:ea typeface="Vazirmatn" pitchFamily="34" charset="-122"/>
                <a:cs typeface="Vazirmatn" pitchFamily="34" charset="-120"/>
              </a:rPr>
              <a:t>۱ میلیون توکن ≈ چند کتاب کامل در یک گفتگو</a:t>
            </a:r>
            <a:endParaRPr lang="en-US" sz="15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1500648">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قابلیت‌های کلیدی</a:t>
            </a:r>
            <a:endParaRPr lang="en-US" sz="3000" dirty="0"/>
          </a:p>
        </p:txBody>
      </p:sp>
      <p:sp>
        <p:nvSpPr>
          <p:cNvPr id="5" name="Shape 1"/>
          <p:cNvSpPr/>
          <p:nvPr/>
        </p:nvSpPr>
        <p:spPr>
          <a:xfrm>
            <a:off x="8915400" y="1554480"/>
            <a:ext cx="2606040" cy="2057400"/>
          </a:xfrm>
          <a:prstGeom prst="roundRect">
            <a:avLst>
              <a:gd name="adj" fmla="val 5333"/>
            </a:avLst>
          </a:prstGeom>
          <a:solidFill>
            <a:srgbClr val="FFFFFF"/>
          </a:solidFill>
          <a:ln w="12700">
            <a:solidFill>
              <a:srgbClr val="E3DED3"/>
            </a:solidFill>
            <a:prstDash val="solid"/>
          </a:ln>
        </p:spPr>
      </p:sp>
      <p:pic>
        <p:nvPicPr>
          <p:cNvPr id="6" name="Image 1" descr="preencoded.png"/>
          <p:cNvPicPr>
            <a:picLocks noChangeAspect="1"/>
          </p:cNvPicPr>
          <p:nvPr/>
        </p:nvPicPr>
        <p:blipFill>
          <a:blip r:embed="rId4"/>
          <a:stretch>
            <a:fillRect/>
          </a:stretch>
        </p:blipFill>
        <p:spPr>
          <a:xfrm>
            <a:off x="9893808" y="1874520"/>
            <a:ext cx="640080" cy="640080"/>
          </a:xfrm>
          <a:prstGeom prst="rect">
            <a:avLst/>
          </a:prstGeom>
        </p:spPr>
      </p:pic>
      <p:sp>
        <p:nvSpPr>
          <p:cNvPr id="7" name="Text 2"/>
          <p:cNvSpPr txBox="1"/>
          <p:nvPr/>
        </p:nvSpPr>
        <p:spPr>
          <a:xfrm>
            <a:off x="9052560" y="2697480"/>
            <a:ext cx="2331720" cy="73152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متن‌های خیلی طولانی</a:t>
            </a:r>
            <a:endParaRPr lang="en-US" sz="1700" dirty="0"/>
          </a:p>
        </p:txBody>
      </p:sp>
      <p:sp>
        <p:nvSpPr>
          <p:cNvPr id="8" name="Shape 3"/>
          <p:cNvSpPr/>
          <p:nvPr/>
        </p:nvSpPr>
        <p:spPr>
          <a:xfrm>
            <a:off x="6126480" y="1554480"/>
            <a:ext cx="2606040" cy="2057400"/>
          </a:xfrm>
          <a:prstGeom prst="roundRect">
            <a:avLst>
              <a:gd name="adj" fmla="val 5333"/>
            </a:avLst>
          </a:prstGeom>
          <a:solidFill>
            <a:srgbClr val="FFFFFF"/>
          </a:solidFill>
          <a:ln w="12700">
            <a:solidFill>
              <a:srgbClr val="E3DED3"/>
            </a:solidFill>
            <a:prstDash val="solid"/>
          </a:ln>
        </p:spPr>
      </p:sp>
      <p:pic>
        <p:nvPicPr>
          <p:cNvPr id="9" name="Image 2" descr="preencoded.png"/>
          <p:cNvPicPr>
            <a:picLocks noChangeAspect="1"/>
          </p:cNvPicPr>
          <p:nvPr/>
        </p:nvPicPr>
        <p:blipFill>
          <a:blip r:embed="rId5"/>
          <a:stretch>
            <a:fillRect/>
          </a:stretch>
        </p:blipFill>
        <p:spPr>
          <a:xfrm>
            <a:off x="7104888" y="1874520"/>
            <a:ext cx="640080" cy="640080"/>
          </a:xfrm>
          <a:prstGeom prst="rect">
            <a:avLst/>
          </a:prstGeom>
        </p:spPr>
      </p:pic>
      <p:sp>
        <p:nvSpPr>
          <p:cNvPr id="10" name="Text 4"/>
          <p:cNvSpPr txBox="1"/>
          <p:nvPr/>
        </p:nvSpPr>
        <p:spPr>
          <a:xfrm>
            <a:off x="6263640" y="2697480"/>
            <a:ext cx="2331720" cy="73152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برنامه‌نویسی</a:t>
            </a:r>
            <a:endParaRPr lang="en-US" sz="1700" dirty="0"/>
          </a:p>
        </p:txBody>
      </p:sp>
      <p:sp>
        <p:nvSpPr>
          <p:cNvPr id="11" name="Shape 5"/>
          <p:cNvSpPr/>
          <p:nvPr/>
        </p:nvSpPr>
        <p:spPr>
          <a:xfrm>
            <a:off x="3337560" y="1554480"/>
            <a:ext cx="2606040" cy="2057400"/>
          </a:xfrm>
          <a:prstGeom prst="roundRect">
            <a:avLst>
              <a:gd name="adj" fmla="val 5333"/>
            </a:avLst>
          </a:prstGeom>
          <a:solidFill>
            <a:srgbClr val="FFFFFF"/>
          </a:solidFill>
          <a:ln w="12700">
            <a:solidFill>
              <a:srgbClr val="E3DED3"/>
            </a:solidFill>
            <a:prstDash val="solid"/>
          </a:ln>
        </p:spPr>
      </p:sp>
      <p:pic>
        <p:nvPicPr>
          <p:cNvPr id="12" name="Image 3" descr="preencoded.png"/>
          <p:cNvPicPr>
            <a:picLocks noChangeAspect="1"/>
          </p:cNvPicPr>
          <p:nvPr/>
        </p:nvPicPr>
        <p:blipFill>
          <a:blip r:embed="rId6"/>
          <a:stretch>
            <a:fillRect/>
          </a:stretch>
        </p:blipFill>
        <p:spPr>
          <a:xfrm>
            <a:off x="4315968" y="1874520"/>
            <a:ext cx="640080" cy="640080"/>
          </a:xfrm>
          <a:prstGeom prst="rect">
            <a:avLst/>
          </a:prstGeom>
        </p:spPr>
      </p:pic>
      <p:sp>
        <p:nvSpPr>
          <p:cNvPr id="13" name="Text 6"/>
          <p:cNvSpPr txBox="1"/>
          <p:nvPr/>
        </p:nvSpPr>
        <p:spPr>
          <a:xfrm>
            <a:off x="3474720" y="2697480"/>
            <a:ext cx="2331720" cy="73152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خواندن تصویر و PDF</a:t>
            </a:r>
            <a:endParaRPr lang="en-US" sz="1700" dirty="0"/>
          </a:p>
        </p:txBody>
      </p:sp>
      <p:sp>
        <p:nvSpPr>
          <p:cNvPr id="14" name="Shape 7"/>
          <p:cNvSpPr/>
          <p:nvPr/>
        </p:nvSpPr>
        <p:spPr>
          <a:xfrm>
            <a:off x="548640" y="1554480"/>
            <a:ext cx="2606040" cy="2057400"/>
          </a:xfrm>
          <a:prstGeom prst="roundRect">
            <a:avLst>
              <a:gd name="adj" fmla="val 5333"/>
            </a:avLst>
          </a:prstGeom>
          <a:solidFill>
            <a:srgbClr val="FFFFFF"/>
          </a:solidFill>
          <a:ln w="12700">
            <a:solidFill>
              <a:srgbClr val="E3DED3"/>
            </a:solidFill>
            <a:prstDash val="solid"/>
          </a:ln>
        </p:spPr>
      </p:sp>
      <p:pic>
        <p:nvPicPr>
          <p:cNvPr id="15" name="Image 4" descr="preencoded.png"/>
          <p:cNvPicPr>
            <a:picLocks noChangeAspect="1"/>
          </p:cNvPicPr>
          <p:nvPr/>
        </p:nvPicPr>
        <p:blipFill>
          <a:blip r:embed="rId7"/>
          <a:stretch>
            <a:fillRect/>
          </a:stretch>
        </p:blipFill>
        <p:spPr>
          <a:xfrm>
            <a:off x="1527048" y="1874520"/>
            <a:ext cx="640080" cy="640080"/>
          </a:xfrm>
          <a:prstGeom prst="rect">
            <a:avLst/>
          </a:prstGeom>
        </p:spPr>
      </p:pic>
      <p:sp>
        <p:nvSpPr>
          <p:cNvPr id="16" name="Text 8"/>
          <p:cNvSpPr txBox="1"/>
          <p:nvPr/>
        </p:nvSpPr>
        <p:spPr>
          <a:xfrm>
            <a:off x="685800" y="2697480"/>
            <a:ext cx="2331720" cy="73152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جست‌وجوی وب و پژوهش</a:t>
            </a:r>
            <a:endParaRPr lang="en-US" sz="1700" dirty="0"/>
          </a:p>
        </p:txBody>
      </p:sp>
      <p:sp>
        <p:nvSpPr>
          <p:cNvPr id="17" name="Shape 9"/>
          <p:cNvSpPr/>
          <p:nvPr/>
        </p:nvSpPr>
        <p:spPr>
          <a:xfrm>
            <a:off x="8915400" y="3840480"/>
            <a:ext cx="2606040" cy="2057400"/>
          </a:xfrm>
          <a:prstGeom prst="roundRect">
            <a:avLst>
              <a:gd name="adj" fmla="val 5333"/>
            </a:avLst>
          </a:prstGeom>
          <a:solidFill>
            <a:srgbClr val="FFFFFF"/>
          </a:solidFill>
          <a:ln w="12700">
            <a:solidFill>
              <a:srgbClr val="E3DED3"/>
            </a:solidFill>
            <a:prstDash val="solid"/>
          </a:ln>
        </p:spPr>
      </p:sp>
      <p:pic>
        <p:nvPicPr>
          <p:cNvPr id="18" name="Image 5" descr="preencoded.png"/>
          <p:cNvPicPr>
            <a:picLocks noChangeAspect="1"/>
          </p:cNvPicPr>
          <p:nvPr/>
        </p:nvPicPr>
        <p:blipFill>
          <a:blip r:embed="rId8"/>
          <a:stretch>
            <a:fillRect/>
          </a:stretch>
        </p:blipFill>
        <p:spPr>
          <a:xfrm>
            <a:off x="9893808" y="4160520"/>
            <a:ext cx="640080" cy="640080"/>
          </a:xfrm>
          <a:prstGeom prst="rect">
            <a:avLst/>
          </a:prstGeom>
        </p:spPr>
      </p:pic>
      <p:sp>
        <p:nvSpPr>
          <p:cNvPr id="19" name="Text 10"/>
          <p:cNvSpPr txBox="1"/>
          <p:nvPr/>
        </p:nvSpPr>
        <p:spPr>
          <a:xfrm>
            <a:off x="9052560" y="4983480"/>
            <a:ext cx="2331720" cy="73152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ساخت سند، اسلاید و صفحه</a:t>
            </a:r>
            <a:endParaRPr lang="en-US" sz="1700" dirty="0"/>
          </a:p>
        </p:txBody>
      </p:sp>
      <p:sp>
        <p:nvSpPr>
          <p:cNvPr id="20" name="Shape 11"/>
          <p:cNvSpPr/>
          <p:nvPr/>
        </p:nvSpPr>
        <p:spPr>
          <a:xfrm>
            <a:off x="6126480" y="3840480"/>
            <a:ext cx="2606040" cy="2057400"/>
          </a:xfrm>
          <a:prstGeom prst="roundRect">
            <a:avLst>
              <a:gd name="adj" fmla="val 5333"/>
            </a:avLst>
          </a:prstGeom>
          <a:solidFill>
            <a:srgbClr val="FFFFFF"/>
          </a:solidFill>
          <a:ln w="12700">
            <a:solidFill>
              <a:srgbClr val="E3DED3"/>
            </a:solidFill>
            <a:prstDash val="solid"/>
          </a:ln>
        </p:spPr>
      </p:sp>
      <p:pic>
        <p:nvPicPr>
          <p:cNvPr id="21" name="Image 6" descr="preencoded.png"/>
          <p:cNvPicPr>
            <a:picLocks noChangeAspect="1"/>
          </p:cNvPicPr>
          <p:nvPr/>
        </p:nvPicPr>
        <p:blipFill>
          <a:blip r:embed="rId9"/>
          <a:stretch>
            <a:fillRect/>
          </a:stretch>
        </p:blipFill>
        <p:spPr>
          <a:xfrm>
            <a:off x="7104888" y="4160520"/>
            <a:ext cx="640080" cy="640080"/>
          </a:xfrm>
          <a:prstGeom prst="rect">
            <a:avLst/>
          </a:prstGeom>
        </p:spPr>
      </p:pic>
      <p:sp>
        <p:nvSpPr>
          <p:cNvPr id="22" name="Text 12"/>
          <p:cNvSpPr txBox="1"/>
          <p:nvPr/>
        </p:nvSpPr>
        <p:spPr>
          <a:xfrm>
            <a:off x="6263640" y="4983480"/>
            <a:ext cx="2331720" cy="73152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حافظه و پروژه‌ها</a:t>
            </a:r>
            <a:endParaRPr lang="en-US" sz="1700" dirty="0"/>
          </a:p>
        </p:txBody>
      </p:sp>
      <p:sp>
        <p:nvSpPr>
          <p:cNvPr id="23" name="Shape 13"/>
          <p:cNvSpPr/>
          <p:nvPr/>
        </p:nvSpPr>
        <p:spPr>
          <a:xfrm>
            <a:off x="3337560" y="3840480"/>
            <a:ext cx="2606040" cy="2057400"/>
          </a:xfrm>
          <a:prstGeom prst="roundRect">
            <a:avLst>
              <a:gd name="adj" fmla="val 5333"/>
            </a:avLst>
          </a:prstGeom>
          <a:solidFill>
            <a:srgbClr val="FFFFFF"/>
          </a:solidFill>
          <a:ln w="12700">
            <a:solidFill>
              <a:srgbClr val="E3DED3"/>
            </a:solidFill>
            <a:prstDash val="solid"/>
          </a:ln>
        </p:spPr>
      </p:sp>
      <p:pic>
        <p:nvPicPr>
          <p:cNvPr id="24" name="Image 7" descr="preencoded.png"/>
          <p:cNvPicPr>
            <a:picLocks noChangeAspect="1"/>
          </p:cNvPicPr>
          <p:nvPr/>
        </p:nvPicPr>
        <p:blipFill>
          <a:blip r:embed="rId10"/>
          <a:stretch>
            <a:fillRect/>
          </a:stretch>
        </p:blipFill>
        <p:spPr>
          <a:xfrm>
            <a:off x="4315968" y="4160520"/>
            <a:ext cx="640080" cy="640080"/>
          </a:xfrm>
          <a:prstGeom prst="rect">
            <a:avLst/>
          </a:prstGeom>
        </p:spPr>
      </p:pic>
      <p:sp>
        <p:nvSpPr>
          <p:cNvPr id="25" name="Text 14"/>
          <p:cNvSpPr txBox="1"/>
          <p:nvPr/>
        </p:nvSpPr>
        <p:spPr>
          <a:xfrm>
            <a:off x="3474720" y="4983480"/>
            <a:ext cx="2331720" cy="73152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کار عاملی چندمرحله‌ای</a:t>
            </a:r>
            <a:endParaRPr lang="en-US" sz="1700" dirty="0"/>
          </a:p>
        </p:txBody>
      </p:sp>
      <p:sp>
        <p:nvSpPr>
          <p:cNvPr id="26" name="Shape 15"/>
          <p:cNvSpPr/>
          <p:nvPr/>
        </p:nvSpPr>
        <p:spPr>
          <a:xfrm>
            <a:off x="548640" y="3840480"/>
            <a:ext cx="2606040" cy="2057400"/>
          </a:xfrm>
          <a:prstGeom prst="roundRect">
            <a:avLst>
              <a:gd name="adj" fmla="val 5333"/>
            </a:avLst>
          </a:prstGeom>
          <a:solidFill>
            <a:srgbClr val="FFFFFF"/>
          </a:solidFill>
          <a:ln w="12700">
            <a:solidFill>
              <a:srgbClr val="E3DED3"/>
            </a:solidFill>
            <a:prstDash val="solid"/>
          </a:ln>
        </p:spPr>
      </p:sp>
      <p:pic>
        <p:nvPicPr>
          <p:cNvPr id="27" name="Image 8" descr="preencoded.png"/>
          <p:cNvPicPr>
            <a:picLocks noChangeAspect="1"/>
          </p:cNvPicPr>
          <p:nvPr/>
        </p:nvPicPr>
        <p:blipFill>
          <a:blip r:embed="rId11"/>
          <a:stretch>
            <a:fillRect/>
          </a:stretch>
        </p:blipFill>
        <p:spPr>
          <a:xfrm>
            <a:off x="1527048" y="4160520"/>
            <a:ext cx="640080" cy="640080"/>
          </a:xfrm>
          <a:prstGeom prst="rect">
            <a:avLst/>
          </a:prstGeom>
        </p:spPr>
      </p:pic>
      <p:sp>
        <p:nvSpPr>
          <p:cNvPr id="28" name="Text 16"/>
          <p:cNvSpPr txBox="1"/>
          <p:nvPr/>
        </p:nvSpPr>
        <p:spPr>
          <a:xfrm>
            <a:off x="685800" y="4983480"/>
            <a:ext cx="2331720" cy="73152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پشتیبانی عالی از فارسی</a:t>
            </a:r>
            <a:endParaRPr lang="en-US" sz="1700" dirty="0"/>
          </a:p>
        </p:txBody>
      </p:sp>
      <p:sp>
        <p:nvSpPr>
          <p:cNvPr id="4"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19551687">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محصولات Claude</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یک هوش، چند راه دسترسی</a:t>
            </a:r>
            <a:endParaRPr lang="en-US" sz="1400" dirty="0"/>
          </a:p>
        </p:txBody>
      </p:sp>
      <p:sp>
        <p:nvSpPr>
          <p:cNvPr id="6" name="Shape 2"/>
          <p:cNvSpPr/>
          <p:nvPr/>
        </p:nvSpPr>
        <p:spPr>
          <a:xfrm>
            <a:off x="548640" y="1554480"/>
            <a:ext cx="11064240" cy="777240"/>
          </a:xfrm>
          <a:prstGeom prst="roundRect">
            <a:avLst>
              <a:gd name="adj" fmla="val 14118"/>
            </a:avLst>
          </a:prstGeom>
          <a:solidFill>
            <a:srgbClr val="FFFFFF"/>
          </a:solidFill>
          <a:ln w="12700">
            <a:solidFill>
              <a:srgbClr val="E3DED3"/>
            </a:solidFill>
            <a:prstDash val="solid"/>
          </a:ln>
        </p:spPr>
      </p:sp>
      <p:pic>
        <p:nvPicPr>
          <p:cNvPr id="7" name="Image 1" descr="preencoded.png"/>
          <p:cNvPicPr>
            <a:picLocks noChangeAspect="1"/>
          </p:cNvPicPr>
          <p:nvPr/>
        </p:nvPicPr>
        <p:blipFill>
          <a:blip r:embed="rId4"/>
          <a:stretch>
            <a:fillRect/>
          </a:stretch>
        </p:blipFill>
        <p:spPr>
          <a:xfrm>
            <a:off x="10927080" y="1709928"/>
            <a:ext cx="457200" cy="457200"/>
          </a:xfrm>
          <a:prstGeom prst="rect">
            <a:avLst/>
          </a:prstGeom>
        </p:spPr>
      </p:pic>
      <p:sp>
        <p:nvSpPr>
          <p:cNvPr id="8" name="Text 3"/>
          <p:cNvSpPr txBox="1"/>
          <p:nvPr/>
        </p:nvSpPr>
        <p:spPr>
          <a:xfrm>
            <a:off x="7315200" y="1691640"/>
            <a:ext cx="3429000" cy="502920"/>
          </a:xfrm>
          <a:prstGeom prst="rect">
            <a:avLst/>
          </a:prstGeom>
          <a:noFill/>
          <a:ln/>
        </p:spPr>
        <p:txBody>
          <a:bodyPr wrap="square" lIns="0" tIns="0" rIns="0" bIns="0" rtlCol="0" anchor="ctr"/>
          <a:lstStyle/>
          <a:p>
            <a:pPr marL="0" indent="0" algn="r" rtl="1">
              <a:buNone/>
            </a:pPr>
            <a:r>
              <a:rPr lang="en-US" sz="1900" b="1" dirty="0">
                <a:solidFill>
                  <a:srgbClr val="1F1E1D"/>
                </a:solidFill>
                <a:latin typeface="Vazirmatn" pitchFamily="34" charset="0"/>
                <a:ea typeface="Vazirmatn" pitchFamily="34" charset="-122"/>
                <a:cs typeface="Vazirmatn" pitchFamily="34" charset="-120"/>
              </a:rPr>
              <a:t>اپ Claude</a:t>
            </a:r>
            <a:endParaRPr lang="en-US" sz="1900" dirty="0"/>
          </a:p>
        </p:txBody>
      </p:sp>
      <p:sp>
        <p:nvSpPr>
          <p:cNvPr id="9" name="Text 4"/>
          <p:cNvSpPr txBox="1"/>
          <p:nvPr/>
        </p:nvSpPr>
        <p:spPr>
          <a:xfrm>
            <a:off x="822960" y="1691640"/>
            <a:ext cx="6400800" cy="502920"/>
          </a:xfrm>
          <a:prstGeom prst="rect">
            <a:avLst/>
          </a:prstGeom>
          <a:noFill/>
          <a:ln/>
        </p:spPr>
        <p:txBody>
          <a:bodyPr wrap="square" lIns="0" tIns="0" rIns="0" bIns="0" rtlCol="0" anchor="ctr"/>
          <a:lstStyle/>
          <a:p>
            <a:pPr marL="0" indent="0" algn="r" rtl="1">
              <a:buNone/>
            </a:pPr>
            <a:r>
              <a:rPr lang="en-US" sz="1600" dirty="0">
                <a:solidFill>
                  <a:srgbClr val="5E5D59"/>
                </a:solidFill>
                <a:latin typeface="Vazirmatn" pitchFamily="34" charset="0"/>
                <a:ea typeface="Vazirmatn" pitchFamily="34" charset="-122"/>
                <a:cs typeface="Vazirmatn" pitchFamily="34" charset="-120"/>
              </a:rPr>
              <a:t>وب، ویندوز، مک، iOS و اندروید</a:t>
            </a:r>
            <a:endParaRPr lang="en-US" sz="1600" dirty="0"/>
          </a:p>
        </p:txBody>
      </p:sp>
      <p:sp>
        <p:nvSpPr>
          <p:cNvPr id="10" name="Shape 5"/>
          <p:cNvSpPr/>
          <p:nvPr/>
        </p:nvSpPr>
        <p:spPr>
          <a:xfrm>
            <a:off x="548640" y="2468880"/>
            <a:ext cx="11064240" cy="777240"/>
          </a:xfrm>
          <a:prstGeom prst="roundRect">
            <a:avLst>
              <a:gd name="adj" fmla="val 14118"/>
            </a:avLst>
          </a:prstGeom>
          <a:solidFill>
            <a:srgbClr val="FFFFFF"/>
          </a:solidFill>
          <a:ln w="12700">
            <a:solidFill>
              <a:srgbClr val="E3DED3"/>
            </a:solidFill>
            <a:prstDash val="solid"/>
          </a:ln>
        </p:spPr>
      </p:sp>
      <p:pic>
        <p:nvPicPr>
          <p:cNvPr id="11" name="Image 2" descr="preencoded.png"/>
          <p:cNvPicPr>
            <a:picLocks noChangeAspect="1"/>
          </p:cNvPicPr>
          <p:nvPr/>
        </p:nvPicPr>
        <p:blipFill>
          <a:blip r:embed="rId5"/>
          <a:stretch>
            <a:fillRect/>
          </a:stretch>
        </p:blipFill>
        <p:spPr>
          <a:xfrm>
            <a:off x="10927080" y="2624328"/>
            <a:ext cx="457200" cy="457200"/>
          </a:xfrm>
          <a:prstGeom prst="rect">
            <a:avLst/>
          </a:prstGeom>
        </p:spPr>
      </p:pic>
      <p:sp>
        <p:nvSpPr>
          <p:cNvPr id="12" name="Text 6"/>
          <p:cNvSpPr txBox="1"/>
          <p:nvPr/>
        </p:nvSpPr>
        <p:spPr>
          <a:xfrm>
            <a:off x="7315200" y="2606040"/>
            <a:ext cx="3429000" cy="502920"/>
          </a:xfrm>
          <a:prstGeom prst="rect">
            <a:avLst/>
          </a:prstGeom>
          <a:noFill/>
          <a:ln/>
        </p:spPr>
        <p:txBody>
          <a:bodyPr wrap="square" lIns="0" tIns="0" rIns="0" bIns="0" rtlCol="0" anchor="ctr"/>
          <a:lstStyle/>
          <a:p>
            <a:pPr marL="0" indent="0" algn="r">
              <a:buNone/>
            </a:pPr>
            <a:r>
              <a:rPr lang="en-US" sz="1900" b="1" dirty="0">
                <a:solidFill>
                  <a:srgbClr val="1F1E1D"/>
                </a:solidFill>
                <a:latin typeface="Vazirmatn" pitchFamily="34" charset="0"/>
                <a:ea typeface="Vazirmatn" pitchFamily="34" charset="-122"/>
                <a:cs typeface="Vazirmatn" pitchFamily="34" charset="-120"/>
              </a:rPr>
              <a:t>Claude Code</a:t>
            </a:r>
            <a:endParaRPr lang="en-US" sz="1900" dirty="0"/>
          </a:p>
        </p:txBody>
      </p:sp>
      <p:sp>
        <p:nvSpPr>
          <p:cNvPr id="13" name="Text 7"/>
          <p:cNvSpPr txBox="1"/>
          <p:nvPr/>
        </p:nvSpPr>
        <p:spPr>
          <a:xfrm>
            <a:off x="822960" y="2606040"/>
            <a:ext cx="6400800" cy="502920"/>
          </a:xfrm>
          <a:prstGeom prst="rect">
            <a:avLst/>
          </a:prstGeom>
          <a:noFill/>
          <a:ln/>
        </p:spPr>
        <p:txBody>
          <a:bodyPr wrap="square" lIns="0" tIns="0" rIns="0" bIns="0" rtlCol="0" anchor="ctr"/>
          <a:lstStyle/>
          <a:p>
            <a:pPr marL="0" indent="0" algn="r" rtl="1">
              <a:buNone/>
            </a:pPr>
            <a:r>
              <a:rPr lang="en-US" sz="1600" dirty="0">
                <a:solidFill>
                  <a:srgbClr val="5E5D59"/>
                </a:solidFill>
                <a:latin typeface="Vazirmatn" pitchFamily="34" charset="0"/>
                <a:ea typeface="Vazirmatn" pitchFamily="34" charset="-122"/>
                <a:cs typeface="Vazirmatn" pitchFamily="34" charset="-120"/>
              </a:rPr>
              <a:t>برنامه‌نویسی عاملی در ترمینال و IDE</a:t>
            </a:r>
            <a:endParaRPr lang="en-US" sz="1600" dirty="0"/>
          </a:p>
        </p:txBody>
      </p:sp>
      <p:sp>
        <p:nvSpPr>
          <p:cNvPr id="14" name="Shape 8"/>
          <p:cNvSpPr/>
          <p:nvPr/>
        </p:nvSpPr>
        <p:spPr>
          <a:xfrm>
            <a:off x="548640" y="3383280"/>
            <a:ext cx="11064240" cy="777240"/>
          </a:xfrm>
          <a:prstGeom prst="roundRect">
            <a:avLst>
              <a:gd name="adj" fmla="val 14118"/>
            </a:avLst>
          </a:prstGeom>
          <a:solidFill>
            <a:srgbClr val="FFFFFF"/>
          </a:solidFill>
          <a:ln w="12700">
            <a:solidFill>
              <a:srgbClr val="E3DED3"/>
            </a:solidFill>
            <a:prstDash val="solid"/>
          </a:ln>
        </p:spPr>
      </p:sp>
      <p:pic>
        <p:nvPicPr>
          <p:cNvPr id="15" name="Image 3" descr="preencoded.png"/>
          <p:cNvPicPr>
            <a:picLocks noChangeAspect="1"/>
          </p:cNvPicPr>
          <p:nvPr/>
        </p:nvPicPr>
        <p:blipFill>
          <a:blip r:embed="rId6"/>
          <a:stretch>
            <a:fillRect/>
          </a:stretch>
        </p:blipFill>
        <p:spPr>
          <a:xfrm>
            <a:off x="10927080" y="3538728"/>
            <a:ext cx="457200" cy="457200"/>
          </a:xfrm>
          <a:prstGeom prst="rect">
            <a:avLst/>
          </a:prstGeom>
        </p:spPr>
      </p:pic>
      <p:sp>
        <p:nvSpPr>
          <p:cNvPr id="16" name="Text 9"/>
          <p:cNvSpPr txBox="1"/>
          <p:nvPr/>
        </p:nvSpPr>
        <p:spPr>
          <a:xfrm>
            <a:off x="7315200" y="3520440"/>
            <a:ext cx="3429000" cy="502920"/>
          </a:xfrm>
          <a:prstGeom prst="rect">
            <a:avLst/>
          </a:prstGeom>
          <a:noFill/>
          <a:ln/>
        </p:spPr>
        <p:txBody>
          <a:bodyPr wrap="square" lIns="0" tIns="0" rIns="0" bIns="0" rtlCol="0" anchor="ctr"/>
          <a:lstStyle/>
          <a:p>
            <a:pPr marL="0" indent="0" algn="r">
              <a:buNone/>
            </a:pPr>
            <a:r>
              <a:rPr lang="en-US" sz="1900" b="1" dirty="0">
                <a:solidFill>
                  <a:srgbClr val="1F1E1D"/>
                </a:solidFill>
                <a:latin typeface="Vazirmatn" pitchFamily="34" charset="0"/>
                <a:ea typeface="Vazirmatn" pitchFamily="34" charset="-122"/>
                <a:cs typeface="Vazirmatn" pitchFamily="34" charset="-120"/>
              </a:rPr>
              <a:t>Claude in Chrome</a:t>
            </a:r>
            <a:endParaRPr lang="en-US" sz="1900" dirty="0"/>
          </a:p>
        </p:txBody>
      </p:sp>
      <p:sp>
        <p:nvSpPr>
          <p:cNvPr id="17" name="Text 10"/>
          <p:cNvSpPr txBox="1"/>
          <p:nvPr/>
        </p:nvSpPr>
        <p:spPr>
          <a:xfrm>
            <a:off x="822960" y="3520440"/>
            <a:ext cx="6400800" cy="502920"/>
          </a:xfrm>
          <a:prstGeom prst="rect">
            <a:avLst/>
          </a:prstGeom>
          <a:noFill/>
          <a:ln/>
        </p:spPr>
        <p:txBody>
          <a:bodyPr wrap="square" lIns="0" tIns="0" rIns="0" bIns="0" rtlCol="0" anchor="ctr"/>
          <a:lstStyle/>
          <a:p>
            <a:pPr marL="0" indent="0" algn="r" rtl="1">
              <a:buNone/>
            </a:pPr>
            <a:r>
              <a:rPr lang="en-US" sz="1600" dirty="0">
                <a:solidFill>
                  <a:srgbClr val="5E5D59"/>
                </a:solidFill>
                <a:latin typeface="Vazirmatn" pitchFamily="34" charset="0"/>
                <a:ea typeface="Vazirmatn" pitchFamily="34" charset="-122"/>
                <a:cs typeface="Vazirmatn" pitchFamily="34" charset="-120"/>
              </a:rPr>
              <a:t>انجام کار داخل مرورگر</a:t>
            </a:r>
            <a:endParaRPr lang="en-US" sz="1600" dirty="0"/>
          </a:p>
        </p:txBody>
      </p:sp>
      <p:sp>
        <p:nvSpPr>
          <p:cNvPr id="18" name="Shape 11"/>
          <p:cNvSpPr/>
          <p:nvPr/>
        </p:nvSpPr>
        <p:spPr>
          <a:xfrm>
            <a:off x="548640" y="4297680"/>
            <a:ext cx="11064240" cy="777240"/>
          </a:xfrm>
          <a:prstGeom prst="roundRect">
            <a:avLst>
              <a:gd name="adj" fmla="val 14118"/>
            </a:avLst>
          </a:prstGeom>
          <a:solidFill>
            <a:srgbClr val="FFFFFF"/>
          </a:solidFill>
          <a:ln w="12700">
            <a:solidFill>
              <a:srgbClr val="E3DED3"/>
            </a:solidFill>
            <a:prstDash val="solid"/>
          </a:ln>
        </p:spPr>
      </p:sp>
      <p:pic>
        <p:nvPicPr>
          <p:cNvPr id="19" name="Image 4" descr="preencoded.png"/>
          <p:cNvPicPr>
            <a:picLocks noChangeAspect="1"/>
          </p:cNvPicPr>
          <p:nvPr/>
        </p:nvPicPr>
        <p:blipFill>
          <a:blip r:embed="rId7"/>
          <a:stretch>
            <a:fillRect/>
          </a:stretch>
        </p:blipFill>
        <p:spPr>
          <a:xfrm>
            <a:off x="10927080" y="4453128"/>
            <a:ext cx="457200" cy="457200"/>
          </a:xfrm>
          <a:prstGeom prst="rect">
            <a:avLst/>
          </a:prstGeom>
        </p:spPr>
      </p:pic>
      <p:sp>
        <p:nvSpPr>
          <p:cNvPr id="20" name="Text 12"/>
          <p:cNvSpPr txBox="1"/>
          <p:nvPr/>
        </p:nvSpPr>
        <p:spPr>
          <a:xfrm>
            <a:off x="7315200" y="4434840"/>
            <a:ext cx="3429000" cy="502920"/>
          </a:xfrm>
          <a:prstGeom prst="rect">
            <a:avLst/>
          </a:prstGeom>
          <a:noFill/>
          <a:ln/>
        </p:spPr>
        <p:txBody>
          <a:bodyPr wrap="square" lIns="0" tIns="0" rIns="0" bIns="0" rtlCol="0" anchor="ctr"/>
          <a:lstStyle/>
          <a:p>
            <a:pPr marL="0" indent="0" algn="r">
              <a:buNone/>
            </a:pPr>
            <a:r>
              <a:rPr lang="en-US" sz="1900" b="1" dirty="0">
                <a:solidFill>
                  <a:srgbClr val="1F1E1D"/>
                </a:solidFill>
                <a:latin typeface="Vazirmatn" pitchFamily="34" charset="0"/>
                <a:ea typeface="Vazirmatn" pitchFamily="34" charset="-122"/>
                <a:cs typeface="Vazirmatn" pitchFamily="34" charset="-120"/>
              </a:rPr>
              <a:t>Claude for M365</a:t>
            </a:r>
            <a:endParaRPr lang="en-US" sz="1900" dirty="0"/>
          </a:p>
        </p:txBody>
      </p:sp>
      <p:sp>
        <p:nvSpPr>
          <p:cNvPr id="21" name="Text 13"/>
          <p:cNvSpPr txBox="1"/>
          <p:nvPr/>
        </p:nvSpPr>
        <p:spPr>
          <a:xfrm>
            <a:off x="822960" y="4434840"/>
            <a:ext cx="6400800" cy="502920"/>
          </a:xfrm>
          <a:prstGeom prst="rect">
            <a:avLst/>
          </a:prstGeom>
          <a:noFill/>
          <a:ln/>
        </p:spPr>
        <p:txBody>
          <a:bodyPr wrap="square" lIns="0" tIns="0" rIns="0" bIns="0" rtlCol="0" anchor="ctr"/>
          <a:lstStyle/>
          <a:p>
            <a:pPr marL="0" indent="0" algn="r" rtl="1">
              <a:buNone/>
            </a:pPr>
            <a:r>
              <a:rPr lang="en-US" sz="1600" dirty="0">
                <a:solidFill>
                  <a:srgbClr val="5E5D59"/>
                </a:solidFill>
                <a:latin typeface="Vazirmatn" pitchFamily="34" charset="0"/>
                <a:ea typeface="Vazirmatn" pitchFamily="34" charset="-122"/>
                <a:cs typeface="Vazirmatn" pitchFamily="34" charset="-120"/>
              </a:rPr>
              <a:t>داخل Word، Excel و PowerPoint</a:t>
            </a:r>
            <a:endParaRPr lang="en-US" sz="1600" dirty="0"/>
          </a:p>
        </p:txBody>
      </p:sp>
      <p:sp>
        <p:nvSpPr>
          <p:cNvPr id="22" name="Shape 14"/>
          <p:cNvSpPr/>
          <p:nvPr/>
        </p:nvSpPr>
        <p:spPr>
          <a:xfrm>
            <a:off x="548640" y="5212080"/>
            <a:ext cx="11064240" cy="777240"/>
          </a:xfrm>
          <a:prstGeom prst="roundRect">
            <a:avLst>
              <a:gd name="adj" fmla="val 14118"/>
            </a:avLst>
          </a:prstGeom>
          <a:solidFill>
            <a:srgbClr val="FFFFFF"/>
          </a:solidFill>
          <a:ln w="12700">
            <a:solidFill>
              <a:srgbClr val="E3DED3"/>
            </a:solidFill>
            <a:prstDash val="solid"/>
          </a:ln>
        </p:spPr>
      </p:sp>
      <p:pic>
        <p:nvPicPr>
          <p:cNvPr id="23" name="Image 5" descr="preencoded.png"/>
          <p:cNvPicPr>
            <a:picLocks noChangeAspect="1"/>
          </p:cNvPicPr>
          <p:nvPr/>
        </p:nvPicPr>
        <p:blipFill>
          <a:blip r:embed="rId8"/>
          <a:stretch>
            <a:fillRect/>
          </a:stretch>
        </p:blipFill>
        <p:spPr>
          <a:xfrm>
            <a:off x="10927080" y="5367528"/>
            <a:ext cx="457200" cy="457200"/>
          </a:xfrm>
          <a:prstGeom prst="rect">
            <a:avLst/>
          </a:prstGeom>
        </p:spPr>
      </p:pic>
      <p:sp>
        <p:nvSpPr>
          <p:cNvPr id="24" name="Text 15"/>
          <p:cNvSpPr txBox="1"/>
          <p:nvPr/>
        </p:nvSpPr>
        <p:spPr>
          <a:xfrm>
            <a:off x="7315200" y="5349240"/>
            <a:ext cx="3429000" cy="502920"/>
          </a:xfrm>
          <a:prstGeom prst="rect">
            <a:avLst/>
          </a:prstGeom>
          <a:noFill/>
          <a:ln/>
        </p:spPr>
        <p:txBody>
          <a:bodyPr wrap="square" lIns="0" tIns="0" rIns="0" bIns="0" rtlCol="0" anchor="ctr"/>
          <a:lstStyle/>
          <a:p>
            <a:pPr marL="0" indent="0" algn="r">
              <a:buNone/>
            </a:pPr>
            <a:r>
              <a:rPr lang="en-US" sz="1900" b="1" dirty="0">
                <a:solidFill>
                  <a:srgbClr val="1F1E1D"/>
                </a:solidFill>
                <a:latin typeface="Vazirmatn" pitchFamily="34" charset="0"/>
                <a:ea typeface="Vazirmatn" pitchFamily="34" charset="-122"/>
                <a:cs typeface="Vazirmatn" pitchFamily="34" charset="-120"/>
              </a:rPr>
              <a:t>Claude API</a:t>
            </a:r>
            <a:endParaRPr lang="en-US" sz="1900" dirty="0"/>
          </a:p>
        </p:txBody>
      </p:sp>
      <p:sp>
        <p:nvSpPr>
          <p:cNvPr id="25" name="Text 16"/>
          <p:cNvSpPr txBox="1"/>
          <p:nvPr/>
        </p:nvSpPr>
        <p:spPr>
          <a:xfrm>
            <a:off x="822960" y="5349240"/>
            <a:ext cx="6400800" cy="502920"/>
          </a:xfrm>
          <a:prstGeom prst="rect">
            <a:avLst/>
          </a:prstGeom>
          <a:noFill/>
          <a:ln/>
        </p:spPr>
        <p:txBody>
          <a:bodyPr wrap="square" lIns="0" tIns="0" rIns="0" bIns="0" rtlCol="0" anchor="ctr"/>
          <a:lstStyle/>
          <a:p>
            <a:pPr marL="0" indent="0" algn="r" rtl="1">
              <a:buNone/>
            </a:pPr>
            <a:r>
              <a:rPr lang="en-US" sz="1600" dirty="0">
                <a:solidFill>
                  <a:srgbClr val="5E5D59"/>
                </a:solidFill>
                <a:latin typeface="Vazirmatn" pitchFamily="34" charset="0"/>
                <a:ea typeface="Vazirmatn" pitchFamily="34" charset="-122"/>
                <a:cs typeface="Vazirmatn" pitchFamily="34" charset="-120"/>
              </a:rPr>
              <a:t>برای ساخت نرم‌افزار توسط توسعه‌دهندگان</a:t>
            </a:r>
            <a:endParaRPr lang="en-US" sz="1600" dirty="0"/>
          </a:p>
        </p:txBody>
      </p:sp>
      <p:sp>
        <p:nvSpPr>
          <p:cNvPr id="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Claude Design و سایر امکانات</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فراتر از چت: Claude خروجی کامل و قابل‌ویرایش می‌سازد</a:t>
            </a:r>
            <a:endParaRPr lang="en-US" sz="1400" dirty="0"/>
          </a:p>
        </p:txBody>
      </p:sp>
      <p:sp>
        <p:nvSpPr>
          <p:cNvPr id="6" name="Shape 2"/>
          <p:cNvSpPr/>
          <p:nvPr/>
        </p:nvSpPr>
        <p:spPr>
          <a:xfrm>
            <a:off x="6172200" y="1508760"/>
            <a:ext cx="5440680" cy="1024128"/>
          </a:xfrm>
          <a:prstGeom prst="roundRect">
            <a:avLst>
              <a:gd name="adj" fmla="val 10714"/>
            </a:avLst>
          </a:prstGeom>
          <a:solidFill>
            <a:srgbClr val="FFFFFF"/>
          </a:solidFill>
          <a:ln w="12700">
            <a:solidFill>
              <a:srgbClr val="E3DED3"/>
            </a:solidFill>
            <a:prstDash val="solid"/>
          </a:ln>
        </p:spPr>
      </p:sp>
      <p:pic>
        <p:nvPicPr>
          <p:cNvPr id="7" name="Image 1" descr="preencoded.png"/>
          <p:cNvPicPr>
            <a:picLocks noChangeAspect="1"/>
          </p:cNvPicPr>
          <p:nvPr/>
        </p:nvPicPr>
        <p:blipFill>
          <a:blip r:embed="rId4"/>
          <a:stretch>
            <a:fillRect/>
          </a:stretch>
        </p:blipFill>
        <p:spPr>
          <a:xfrm>
            <a:off x="10927080" y="1764792"/>
            <a:ext cx="502920" cy="502920"/>
          </a:xfrm>
          <a:prstGeom prst="rect">
            <a:avLst/>
          </a:prstGeom>
        </p:spPr>
      </p:pic>
      <p:sp>
        <p:nvSpPr>
          <p:cNvPr id="8" name="Text 3"/>
          <p:cNvSpPr txBox="1"/>
          <p:nvPr/>
        </p:nvSpPr>
        <p:spPr>
          <a:xfrm>
            <a:off x="6400800" y="1618488"/>
            <a:ext cx="4389120" cy="384048"/>
          </a:xfrm>
          <a:prstGeom prst="rect">
            <a:avLst/>
          </a:prstGeom>
          <a:noFill/>
          <a:ln/>
        </p:spPr>
        <p:txBody>
          <a:bodyPr wrap="square" lIns="0" tIns="0" rIns="0" bIns="0" rtlCol="0" anchor="t"/>
          <a:lstStyle/>
          <a:p>
            <a:pPr marL="0" indent="0" algn="r" rtl="1">
              <a:buNone/>
            </a:pPr>
            <a:r>
              <a:rPr lang="en-US" sz="1800" b="1" dirty="0">
                <a:solidFill>
                  <a:srgbClr val="1F1E1D"/>
                </a:solidFill>
                <a:latin typeface="Vazirmatn" pitchFamily="34" charset="0"/>
                <a:ea typeface="Vazirmatn" pitchFamily="34" charset="-122"/>
                <a:cs typeface="Vazirmatn" pitchFamily="34" charset="-120"/>
              </a:rPr>
              <a:t>Claude Design</a:t>
            </a:r>
            <a:endParaRPr lang="en-US" sz="1800" dirty="0"/>
          </a:p>
        </p:txBody>
      </p:sp>
      <p:sp>
        <p:nvSpPr>
          <p:cNvPr id="9" name="Text 4"/>
          <p:cNvSpPr txBox="1"/>
          <p:nvPr/>
        </p:nvSpPr>
        <p:spPr>
          <a:xfrm>
            <a:off x="6400800" y="2011680"/>
            <a:ext cx="4389120" cy="457200"/>
          </a:xfrm>
          <a:prstGeom prst="rect">
            <a:avLst/>
          </a:prstGeom>
          <a:noFill/>
          <a:ln/>
        </p:spPr>
        <p:txBody>
          <a:bodyPr wrap="square" lIns="0" tIns="0" rIns="0" bIns="0" rtlCol="0" anchor="t"/>
          <a:lstStyle/>
          <a:p>
            <a:pPr marL="0" indent="0" algn="r" rtl="1">
              <a:buNone/>
            </a:pPr>
            <a:r>
              <a:rPr lang="en-US" sz="1300" dirty="0">
                <a:solidFill>
                  <a:srgbClr val="5E5D59"/>
                </a:solidFill>
                <a:latin typeface="Vazirmatn" pitchFamily="34" charset="0"/>
                <a:ea typeface="Vazirmatn" pitchFamily="34" charset="-122"/>
                <a:cs typeface="Vazirmatn" pitchFamily="34" charset="-120"/>
              </a:rPr>
              <a:t>ساخت پوستر، طرح UI، پروتوتایپ و اسلاید با زبان ساده (از آوریل ۲۰۲۶)</a:t>
            </a:r>
            <a:endParaRPr lang="en-US" sz="1300" dirty="0"/>
          </a:p>
        </p:txBody>
      </p:sp>
      <p:sp>
        <p:nvSpPr>
          <p:cNvPr id="10" name="Shape 5"/>
          <p:cNvSpPr/>
          <p:nvPr/>
        </p:nvSpPr>
        <p:spPr>
          <a:xfrm>
            <a:off x="548640" y="1508760"/>
            <a:ext cx="5440680" cy="1024128"/>
          </a:xfrm>
          <a:prstGeom prst="roundRect">
            <a:avLst>
              <a:gd name="adj" fmla="val 10714"/>
            </a:avLst>
          </a:prstGeom>
          <a:solidFill>
            <a:srgbClr val="FFFFFF"/>
          </a:solidFill>
          <a:ln w="12700">
            <a:solidFill>
              <a:srgbClr val="E3DED3"/>
            </a:solidFill>
            <a:prstDash val="solid"/>
          </a:ln>
        </p:spPr>
      </p:sp>
      <p:pic>
        <p:nvPicPr>
          <p:cNvPr id="11" name="Image 2" descr="preencoded.png"/>
          <p:cNvPicPr>
            <a:picLocks noChangeAspect="1"/>
          </p:cNvPicPr>
          <p:nvPr/>
        </p:nvPicPr>
        <p:blipFill>
          <a:blip r:embed="rId5"/>
          <a:stretch>
            <a:fillRect/>
          </a:stretch>
        </p:blipFill>
        <p:spPr>
          <a:xfrm>
            <a:off x="5303520" y="1764792"/>
            <a:ext cx="502920" cy="502920"/>
          </a:xfrm>
          <a:prstGeom prst="rect">
            <a:avLst/>
          </a:prstGeom>
        </p:spPr>
      </p:pic>
      <p:sp>
        <p:nvSpPr>
          <p:cNvPr id="12" name="Text 6"/>
          <p:cNvSpPr txBox="1"/>
          <p:nvPr/>
        </p:nvSpPr>
        <p:spPr>
          <a:xfrm>
            <a:off x="777240" y="1618488"/>
            <a:ext cx="4389120" cy="384048"/>
          </a:xfrm>
          <a:prstGeom prst="rect">
            <a:avLst/>
          </a:prstGeom>
          <a:noFill/>
          <a:ln/>
        </p:spPr>
        <p:txBody>
          <a:bodyPr wrap="square" lIns="0" tIns="0" rIns="0" bIns="0" rtlCol="0" anchor="t"/>
          <a:lstStyle/>
          <a:p>
            <a:pPr marL="0" indent="0" algn="r" rtl="1">
              <a:buNone/>
            </a:pPr>
            <a:r>
              <a:rPr lang="en-US" sz="1800" b="1" dirty="0">
                <a:solidFill>
                  <a:srgbClr val="1F1E1D"/>
                </a:solidFill>
                <a:latin typeface="Vazirmatn" pitchFamily="34" charset="0"/>
                <a:ea typeface="Vazirmatn" pitchFamily="34" charset="-122"/>
                <a:cs typeface="Vazirmatn" pitchFamily="34" charset="-120"/>
              </a:rPr>
              <a:t>Docs و Slides</a:t>
            </a:r>
            <a:endParaRPr lang="en-US" sz="1800" dirty="0"/>
          </a:p>
        </p:txBody>
      </p:sp>
      <p:sp>
        <p:nvSpPr>
          <p:cNvPr id="13" name="Text 7"/>
          <p:cNvSpPr txBox="1"/>
          <p:nvPr/>
        </p:nvSpPr>
        <p:spPr>
          <a:xfrm>
            <a:off x="777240" y="2011680"/>
            <a:ext cx="4389120" cy="457200"/>
          </a:xfrm>
          <a:prstGeom prst="rect">
            <a:avLst/>
          </a:prstGeom>
          <a:noFill/>
          <a:ln/>
        </p:spPr>
        <p:txBody>
          <a:bodyPr wrap="square" lIns="0" tIns="0" rIns="0" bIns="0" rtlCol="0" anchor="t"/>
          <a:lstStyle/>
          <a:p>
            <a:pPr marL="0" indent="0" algn="r" rtl="1">
              <a:buNone/>
            </a:pPr>
            <a:r>
              <a:rPr lang="en-US" sz="1300" dirty="0">
                <a:solidFill>
                  <a:srgbClr val="5E5D59"/>
                </a:solidFill>
                <a:latin typeface="Vazirmatn" pitchFamily="34" charset="0"/>
                <a:ea typeface="Vazirmatn" pitchFamily="34" charset="-122"/>
                <a:cs typeface="Vazirmatn" pitchFamily="34" charset="-120"/>
              </a:rPr>
              <a:t>سند و ارائه‌ی زنده، قابل ویرایش و اشتراک؛ خروجی Word، PDF و PowerPoint</a:t>
            </a:r>
            <a:endParaRPr lang="en-US" sz="1300" dirty="0"/>
          </a:p>
        </p:txBody>
      </p:sp>
      <p:sp>
        <p:nvSpPr>
          <p:cNvPr id="14" name="Shape 8"/>
          <p:cNvSpPr/>
          <p:nvPr/>
        </p:nvSpPr>
        <p:spPr>
          <a:xfrm>
            <a:off x="6172200" y="2670048"/>
            <a:ext cx="5440680" cy="1024128"/>
          </a:xfrm>
          <a:prstGeom prst="roundRect">
            <a:avLst>
              <a:gd name="adj" fmla="val 10714"/>
            </a:avLst>
          </a:prstGeom>
          <a:solidFill>
            <a:srgbClr val="FFFFFF"/>
          </a:solidFill>
          <a:ln w="12700">
            <a:solidFill>
              <a:srgbClr val="E3DED3"/>
            </a:solidFill>
            <a:prstDash val="solid"/>
          </a:ln>
        </p:spPr>
      </p:sp>
      <p:pic>
        <p:nvPicPr>
          <p:cNvPr id="15" name="Image 3" descr="preencoded.png"/>
          <p:cNvPicPr>
            <a:picLocks noChangeAspect="1"/>
          </p:cNvPicPr>
          <p:nvPr/>
        </p:nvPicPr>
        <p:blipFill>
          <a:blip r:embed="rId6"/>
          <a:stretch>
            <a:fillRect/>
          </a:stretch>
        </p:blipFill>
        <p:spPr>
          <a:xfrm>
            <a:off x="10927080" y="2926080"/>
            <a:ext cx="502920" cy="502920"/>
          </a:xfrm>
          <a:prstGeom prst="rect">
            <a:avLst/>
          </a:prstGeom>
        </p:spPr>
      </p:pic>
      <p:sp>
        <p:nvSpPr>
          <p:cNvPr id="16" name="Text 9"/>
          <p:cNvSpPr txBox="1"/>
          <p:nvPr/>
        </p:nvSpPr>
        <p:spPr>
          <a:xfrm>
            <a:off x="6400800" y="2779776"/>
            <a:ext cx="4389120" cy="384048"/>
          </a:xfrm>
          <a:prstGeom prst="rect">
            <a:avLst/>
          </a:prstGeom>
          <a:noFill/>
          <a:ln/>
        </p:spPr>
        <p:txBody>
          <a:bodyPr wrap="square" lIns="0" tIns="0" rIns="0" bIns="0" rtlCol="0" anchor="t"/>
          <a:lstStyle/>
          <a:p>
            <a:pPr marL="0" indent="0" algn="r" rtl="1">
              <a:buNone/>
            </a:pPr>
            <a:r>
              <a:rPr lang="en-US" sz="1800" b="1" dirty="0">
                <a:solidFill>
                  <a:srgbClr val="1F1E1D"/>
                </a:solidFill>
                <a:latin typeface="Vazirmatn" pitchFamily="34" charset="0"/>
                <a:ea typeface="Vazirmatn" pitchFamily="34" charset="-122"/>
                <a:cs typeface="Vazirmatn" pitchFamily="34" charset="-120"/>
              </a:rPr>
              <a:t>Artifacts</a:t>
            </a:r>
            <a:endParaRPr lang="en-US" sz="1800" dirty="0"/>
          </a:p>
        </p:txBody>
      </p:sp>
      <p:sp>
        <p:nvSpPr>
          <p:cNvPr id="17" name="Text 10"/>
          <p:cNvSpPr txBox="1"/>
          <p:nvPr/>
        </p:nvSpPr>
        <p:spPr>
          <a:xfrm>
            <a:off x="6400800" y="3172968"/>
            <a:ext cx="4389120" cy="457200"/>
          </a:xfrm>
          <a:prstGeom prst="rect">
            <a:avLst/>
          </a:prstGeom>
          <a:noFill/>
          <a:ln/>
        </p:spPr>
        <p:txBody>
          <a:bodyPr wrap="square" lIns="0" tIns="0" rIns="0" bIns="0" rtlCol="0" anchor="t"/>
          <a:lstStyle/>
          <a:p>
            <a:pPr marL="0" indent="0" algn="r" rtl="1">
              <a:buNone/>
            </a:pPr>
            <a:r>
              <a:rPr lang="en-US" sz="1300" dirty="0">
                <a:solidFill>
                  <a:srgbClr val="5E5D59"/>
                </a:solidFill>
                <a:latin typeface="Vazirmatn" pitchFamily="34" charset="0"/>
                <a:ea typeface="Vazirmatn" pitchFamily="34" charset="-122"/>
                <a:cs typeface="Vazirmatn" pitchFamily="34" charset="-120"/>
              </a:rPr>
              <a:t>صفحه‌ی وب، ابزار و داشبورد تعاملی داخل گفتگو</a:t>
            </a:r>
            <a:endParaRPr lang="en-US" sz="1300" dirty="0"/>
          </a:p>
        </p:txBody>
      </p:sp>
      <p:sp>
        <p:nvSpPr>
          <p:cNvPr id="18" name="Shape 11"/>
          <p:cNvSpPr/>
          <p:nvPr/>
        </p:nvSpPr>
        <p:spPr>
          <a:xfrm>
            <a:off x="548640" y="2670048"/>
            <a:ext cx="5440680" cy="1024128"/>
          </a:xfrm>
          <a:prstGeom prst="roundRect">
            <a:avLst>
              <a:gd name="adj" fmla="val 10714"/>
            </a:avLst>
          </a:prstGeom>
          <a:solidFill>
            <a:srgbClr val="FFFFFF"/>
          </a:solidFill>
          <a:ln w="12700">
            <a:solidFill>
              <a:srgbClr val="E3DED3"/>
            </a:solidFill>
            <a:prstDash val="solid"/>
          </a:ln>
        </p:spPr>
      </p:sp>
      <p:pic>
        <p:nvPicPr>
          <p:cNvPr id="19" name="Image 4" descr="preencoded.png"/>
          <p:cNvPicPr>
            <a:picLocks noChangeAspect="1"/>
          </p:cNvPicPr>
          <p:nvPr/>
        </p:nvPicPr>
        <p:blipFill>
          <a:blip r:embed="rId7"/>
          <a:stretch>
            <a:fillRect/>
          </a:stretch>
        </p:blipFill>
        <p:spPr>
          <a:xfrm>
            <a:off x="5303520" y="2926080"/>
            <a:ext cx="502920" cy="502920"/>
          </a:xfrm>
          <a:prstGeom prst="rect">
            <a:avLst/>
          </a:prstGeom>
        </p:spPr>
      </p:pic>
      <p:sp>
        <p:nvSpPr>
          <p:cNvPr id="20" name="Text 12"/>
          <p:cNvSpPr txBox="1"/>
          <p:nvPr/>
        </p:nvSpPr>
        <p:spPr>
          <a:xfrm>
            <a:off x="777240" y="2779776"/>
            <a:ext cx="4389120" cy="384048"/>
          </a:xfrm>
          <a:prstGeom prst="rect">
            <a:avLst/>
          </a:prstGeom>
          <a:noFill/>
          <a:ln/>
        </p:spPr>
        <p:txBody>
          <a:bodyPr wrap="square" lIns="0" tIns="0" rIns="0" bIns="0" rtlCol="0" anchor="t"/>
          <a:lstStyle/>
          <a:p>
            <a:pPr marL="0" indent="0" algn="r" rtl="1">
              <a:buNone/>
            </a:pPr>
            <a:r>
              <a:rPr lang="en-US" sz="1800" b="1" dirty="0">
                <a:solidFill>
                  <a:srgbClr val="1F1E1D"/>
                </a:solidFill>
                <a:latin typeface="Vazirmatn" pitchFamily="34" charset="0"/>
                <a:ea typeface="Vazirmatn" pitchFamily="34" charset="-122"/>
                <a:cs typeface="Vazirmatn" pitchFamily="34" charset="-120"/>
              </a:rPr>
              <a:t>Projects</a:t>
            </a:r>
            <a:endParaRPr lang="en-US" sz="1800" dirty="0"/>
          </a:p>
        </p:txBody>
      </p:sp>
      <p:sp>
        <p:nvSpPr>
          <p:cNvPr id="21" name="Text 13"/>
          <p:cNvSpPr txBox="1"/>
          <p:nvPr/>
        </p:nvSpPr>
        <p:spPr>
          <a:xfrm>
            <a:off x="777240" y="3172968"/>
            <a:ext cx="4389120" cy="457200"/>
          </a:xfrm>
          <a:prstGeom prst="rect">
            <a:avLst/>
          </a:prstGeom>
          <a:noFill/>
          <a:ln/>
        </p:spPr>
        <p:txBody>
          <a:bodyPr wrap="square" lIns="0" tIns="0" rIns="0" bIns="0" rtlCol="0" anchor="t"/>
          <a:lstStyle/>
          <a:p>
            <a:pPr marL="0" indent="0" algn="r" rtl="1">
              <a:buNone/>
            </a:pPr>
            <a:r>
              <a:rPr lang="en-US" sz="1300" dirty="0">
                <a:solidFill>
                  <a:srgbClr val="5E5D59"/>
                </a:solidFill>
                <a:latin typeface="Vazirmatn" pitchFamily="34" charset="0"/>
                <a:ea typeface="Vazirmatn" pitchFamily="34" charset="-122"/>
                <a:cs typeface="Vazirmatn" pitchFamily="34" charset="-120"/>
              </a:rPr>
              <a:t>فایل‌ها و دستورهای ثابت برای یک موضوع</a:t>
            </a:r>
            <a:endParaRPr lang="en-US" sz="1300" dirty="0"/>
          </a:p>
        </p:txBody>
      </p:sp>
      <p:sp>
        <p:nvSpPr>
          <p:cNvPr id="22" name="Shape 14"/>
          <p:cNvSpPr/>
          <p:nvPr/>
        </p:nvSpPr>
        <p:spPr>
          <a:xfrm>
            <a:off x="6172200" y="3831336"/>
            <a:ext cx="5440680" cy="1024128"/>
          </a:xfrm>
          <a:prstGeom prst="roundRect">
            <a:avLst>
              <a:gd name="adj" fmla="val 10714"/>
            </a:avLst>
          </a:prstGeom>
          <a:solidFill>
            <a:srgbClr val="FFFFFF"/>
          </a:solidFill>
          <a:ln w="12700">
            <a:solidFill>
              <a:srgbClr val="E3DED3"/>
            </a:solidFill>
            <a:prstDash val="solid"/>
          </a:ln>
        </p:spPr>
      </p:sp>
      <p:pic>
        <p:nvPicPr>
          <p:cNvPr id="23" name="Image 5" descr="preencoded.png"/>
          <p:cNvPicPr>
            <a:picLocks noChangeAspect="1"/>
          </p:cNvPicPr>
          <p:nvPr/>
        </p:nvPicPr>
        <p:blipFill>
          <a:blip r:embed="rId8"/>
          <a:stretch>
            <a:fillRect/>
          </a:stretch>
        </p:blipFill>
        <p:spPr>
          <a:xfrm>
            <a:off x="10927080" y="4087368"/>
            <a:ext cx="502920" cy="502920"/>
          </a:xfrm>
          <a:prstGeom prst="rect">
            <a:avLst/>
          </a:prstGeom>
        </p:spPr>
      </p:pic>
      <p:sp>
        <p:nvSpPr>
          <p:cNvPr id="24" name="Text 15"/>
          <p:cNvSpPr txBox="1"/>
          <p:nvPr/>
        </p:nvSpPr>
        <p:spPr>
          <a:xfrm>
            <a:off x="6400800" y="3941064"/>
            <a:ext cx="4389120" cy="384048"/>
          </a:xfrm>
          <a:prstGeom prst="rect">
            <a:avLst/>
          </a:prstGeom>
          <a:noFill/>
          <a:ln/>
        </p:spPr>
        <p:txBody>
          <a:bodyPr wrap="square" lIns="0" tIns="0" rIns="0" bIns="0" rtlCol="0" anchor="t"/>
          <a:lstStyle/>
          <a:p>
            <a:pPr marL="0" indent="0" algn="r" rtl="1">
              <a:buNone/>
            </a:pPr>
            <a:r>
              <a:rPr lang="en-US" sz="1800" b="1" dirty="0">
                <a:solidFill>
                  <a:srgbClr val="1F1E1D"/>
                </a:solidFill>
                <a:latin typeface="Vazirmatn" pitchFamily="34" charset="0"/>
                <a:ea typeface="Vazirmatn" pitchFamily="34" charset="-122"/>
                <a:cs typeface="Vazirmatn" pitchFamily="34" charset="-120"/>
              </a:rPr>
              <a:t>Memory</a:t>
            </a:r>
            <a:endParaRPr lang="en-US" sz="1800" dirty="0"/>
          </a:p>
        </p:txBody>
      </p:sp>
      <p:sp>
        <p:nvSpPr>
          <p:cNvPr id="25" name="Text 16"/>
          <p:cNvSpPr txBox="1"/>
          <p:nvPr/>
        </p:nvSpPr>
        <p:spPr>
          <a:xfrm>
            <a:off x="6400800" y="4334256"/>
            <a:ext cx="4389120" cy="457200"/>
          </a:xfrm>
          <a:prstGeom prst="rect">
            <a:avLst/>
          </a:prstGeom>
          <a:noFill/>
          <a:ln/>
        </p:spPr>
        <p:txBody>
          <a:bodyPr wrap="square" lIns="0" tIns="0" rIns="0" bIns="0" rtlCol="0" anchor="t"/>
          <a:lstStyle/>
          <a:p>
            <a:pPr marL="0" indent="0" algn="r" rtl="1">
              <a:buNone/>
            </a:pPr>
            <a:r>
              <a:rPr lang="en-US" sz="1300" dirty="0">
                <a:solidFill>
                  <a:srgbClr val="5E5D59"/>
                </a:solidFill>
                <a:latin typeface="Vazirmatn" pitchFamily="34" charset="0"/>
                <a:ea typeface="Vazirmatn" pitchFamily="34" charset="-122"/>
                <a:cs typeface="Vazirmatn" pitchFamily="34" charset="-120"/>
              </a:rPr>
              <a:t>به خاطر سپردن ترجیحات و زمینه‌ی کار شما</a:t>
            </a:r>
            <a:endParaRPr lang="en-US" sz="1300" dirty="0"/>
          </a:p>
        </p:txBody>
      </p:sp>
      <p:sp>
        <p:nvSpPr>
          <p:cNvPr id="26" name="Shape 17"/>
          <p:cNvSpPr/>
          <p:nvPr/>
        </p:nvSpPr>
        <p:spPr>
          <a:xfrm>
            <a:off x="548640" y="3831336"/>
            <a:ext cx="5440680" cy="1024128"/>
          </a:xfrm>
          <a:prstGeom prst="roundRect">
            <a:avLst>
              <a:gd name="adj" fmla="val 10714"/>
            </a:avLst>
          </a:prstGeom>
          <a:solidFill>
            <a:srgbClr val="FFFFFF"/>
          </a:solidFill>
          <a:ln w="12700">
            <a:solidFill>
              <a:srgbClr val="E3DED3"/>
            </a:solidFill>
            <a:prstDash val="solid"/>
          </a:ln>
        </p:spPr>
      </p:sp>
      <p:pic>
        <p:nvPicPr>
          <p:cNvPr id="27" name="Image 6" descr="preencoded.png"/>
          <p:cNvPicPr>
            <a:picLocks noChangeAspect="1"/>
          </p:cNvPicPr>
          <p:nvPr/>
        </p:nvPicPr>
        <p:blipFill>
          <a:blip r:embed="rId9"/>
          <a:stretch>
            <a:fillRect/>
          </a:stretch>
        </p:blipFill>
        <p:spPr>
          <a:xfrm>
            <a:off x="5303520" y="4087368"/>
            <a:ext cx="502920" cy="502920"/>
          </a:xfrm>
          <a:prstGeom prst="rect">
            <a:avLst/>
          </a:prstGeom>
        </p:spPr>
      </p:pic>
      <p:sp>
        <p:nvSpPr>
          <p:cNvPr id="28" name="Text 18"/>
          <p:cNvSpPr txBox="1"/>
          <p:nvPr/>
        </p:nvSpPr>
        <p:spPr>
          <a:xfrm>
            <a:off x="777240" y="3941064"/>
            <a:ext cx="4389120" cy="384048"/>
          </a:xfrm>
          <a:prstGeom prst="rect">
            <a:avLst/>
          </a:prstGeom>
          <a:noFill/>
          <a:ln/>
        </p:spPr>
        <p:txBody>
          <a:bodyPr wrap="square" lIns="0" tIns="0" rIns="0" bIns="0" rtlCol="0" anchor="t"/>
          <a:lstStyle/>
          <a:p>
            <a:pPr marL="0" indent="0" algn="r" rtl="1">
              <a:buNone/>
            </a:pPr>
            <a:r>
              <a:rPr lang="en-US" sz="1800" b="1" dirty="0">
                <a:solidFill>
                  <a:srgbClr val="1F1E1D"/>
                </a:solidFill>
                <a:latin typeface="Vazirmatn" pitchFamily="34" charset="0"/>
                <a:ea typeface="Vazirmatn" pitchFamily="34" charset="-122"/>
                <a:cs typeface="Vazirmatn" pitchFamily="34" charset="-120"/>
              </a:rPr>
              <a:t>Research</a:t>
            </a:r>
            <a:endParaRPr lang="en-US" sz="1800" dirty="0"/>
          </a:p>
        </p:txBody>
      </p:sp>
      <p:sp>
        <p:nvSpPr>
          <p:cNvPr id="29" name="Text 19"/>
          <p:cNvSpPr txBox="1"/>
          <p:nvPr/>
        </p:nvSpPr>
        <p:spPr>
          <a:xfrm>
            <a:off x="777240" y="4334256"/>
            <a:ext cx="4389120" cy="457200"/>
          </a:xfrm>
          <a:prstGeom prst="rect">
            <a:avLst/>
          </a:prstGeom>
          <a:noFill/>
          <a:ln/>
        </p:spPr>
        <p:txBody>
          <a:bodyPr wrap="square" lIns="0" tIns="0" rIns="0" bIns="0" rtlCol="0" anchor="t"/>
          <a:lstStyle/>
          <a:p>
            <a:pPr marL="0" indent="0" algn="r" rtl="1">
              <a:buNone/>
            </a:pPr>
            <a:r>
              <a:rPr lang="en-US" sz="1300" dirty="0">
                <a:solidFill>
                  <a:srgbClr val="5E5D59"/>
                </a:solidFill>
                <a:latin typeface="Vazirmatn" pitchFamily="34" charset="0"/>
                <a:ea typeface="Vazirmatn" pitchFamily="34" charset="-122"/>
                <a:cs typeface="Vazirmatn" pitchFamily="34" charset="-120"/>
              </a:rPr>
              <a:t>پژوهش عمیق چندمنبعی با گزارش و رفرنس</a:t>
            </a:r>
            <a:endParaRPr lang="en-US" sz="1300" dirty="0"/>
          </a:p>
        </p:txBody>
      </p:sp>
      <p:sp>
        <p:nvSpPr>
          <p:cNvPr id="30" name="Shape 20"/>
          <p:cNvSpPr/>
          <p:nvPr/>
        </p:nvSpPr>
        <p:spPr>
          <a:xfrm>
            <a:off x="6172200" y="4992624"/>
            <a:ext cx="5440680" cy="1024128"/>
          </a:xfrm>
          <a:prstGeom prst="roundRect">
            <a:avLst>
              <a:gd name="adj" fmla="val 10714"/>
            </a:avLst>
          </a:prstGeom>
          <a:solidFill>
            <a:srgbClr val="FFFFFF"/>
          </a:solidFill>
          <a:ln w="12700">
            <a:solidFill>
              <a:srgbClr val="E3DED3"/>
            </a:solidFill>
            <a:prstDash val="solid"/>
          </a:ln>
        </p:spPr>
      </p:sp>
      <p:pic>
        <p:nvPicPr>
          <p:cNvPr id="31" name="Image 7" descr="preencoded.png"/>
          <p:cNvPicPr>
            <a:picLocks noChangeAspect="1"/>
          </p:cNvPicPr>
          <p:nvPr/>
        </p:nvPicPr>
        <p:blipFill>
          <a:blip r:embed="rId10"/>
          <a:stretch>
            <a:fillRect/>
          </a:stretch>
        </p:blipFill>
        <p:spPr>
          <a:xfrm>
            <a:off x="10927080" y="5248656"/>
            <a:ext cx="502920" cy="502920"/>
          </a:xfrm>
          <a:prstGeom prst="rect">
            <a:avLst/>
          </a:prstGeom>
        </p:spPr>
      </p:pic>
      <p:sp>
        <p:nvSpPr>
          <p:cNvPr id="32" name="Text 21"/>
          <p:cNvSpPr txBox="1"/>
          <p:nvPr/>
        </p:nvSpPr>
        <p:spPr>
          <a:xfrm>
            <a:off x="6400800" y="5102352"/>
            <a:ext cx="4389120" cy="384048"/>
          </a:xfrm>
          <a:prstGeom prst="rect">
            <a:avLst/>
          </a:prstGeom>
          <a:noFill/>
          <a:ln/>
        </p:spPr>
        <p:txBody>
          <a:bodyPr wrap="square" lIns="0" tIns="0" rIns="0" bIns="0" rtlCol="0" anchor="t"/>
          <a:lstStyle/>
          <a:p>
            <a:pPr marL="0" indent="0" algn="r" rtl="1">
              <a:buNone/>
            </a:pPr>
            <a:r>
              <a:rPr lang="en-US" sz="1800" b="1" dirty="0">
                <a:solidFill>
                  <a:srgbClr val="1F1E1D"/>
                </a:solidFill>
                <a:latin typeface="Vazirmatn" pitchFamily="34" charset="0"/>
                <a:ea typeface="Vazirmatn" pitchFamily="34" charset="-122"/>
                <a:cs typeface="Vazirmatn" pitchFamily="34" charset="-120"/>
              </a:rPr>
              <a:t>Skills</a:t>
            </a:r>
            <a:endParaRPr lang="en-US" sz="1800" dirty="0"/>
          </a:p>
        </p:txBody>
      </p:sp>
      <p:sp>
        <p:nvSpPr>
          <p:cNvPr id="33" name="Text 22"/>
          <p:cNvSpPr txBox="1"/>
          <p:nvPr/>
        </p:nvSpPr>
        <p:spPr>
          <a:xfrm>
            <a:off x="6400800" y="5495544"/>
            <a:ext cx="4389120" cy="457200"/>
          </a:xfrm>
          <a:prstGeom prst="rect">
            <a:avLst/>
          </a:prstGeom>
          <a:noFill/>
          <a:ln/>
        </p:spPr>
        <p:txBody>
          <a:bodyPr wrap="square" lIns="0" tIns="0" rIns="0" bIns="0" rtlCol="0" anchor="t"/>
          <a:lstStyle/>
          <a:p>
            <a:pPr marL="0" indent="0" algn="r" rtl="1">
              <a:buNone/>
            </a:pPr>
            <a:r>
              <a:rPr lang="en-US" sz="1300" dirty="0">
                <a:solidFill>
                  <a:srgbClr val="5E5D59"/>
                </a:solidFill>
                <a:latin typeface="Vazirmatn" pitchFamily="34" charset="0"/>
                <a:ea typeface="Vazirmatn" pitchFamily="34" charset="-122"/>
                <a:cs typeface="Vazirmatn" pitchFamily="34" charset="-120"/>
              </a:rPr>
              <a:t>دستورالعمل‌های آماده برای کارهای تکراری</a:t>
            </a:r>
            <a:endParaRPr lang="en-US" sz="1300" dirty="0"/>
          </a:p>
        </p:txBody>
      </p:sp>
      <p:sp>
        <p:nvSpPr>
          <p:cNvPr id="34" name="Shape 23"/>
          <p:cNvSpPr/>
          <p:nvPr/>
        </p:nvSpPr>
        <p:spPr>
          <a:xfrm>
            <a:off x="548640" y="4992624"/>
            <a:ext cx="5440680" cy="1024128"/>
          </a:xfrm>
          <a:prstGeom prst="roundRect">
            <a:avLst>
              <a:gd name="adj" fmla="val 10714"/>
            </a:avLst>
          </a:prstGeom>
          <a:solidFill>
            <a:srgbClr val="FFFFFF"/>
          </a:solidFill>
          <a:ln w="12700">
            <a:solidFill>
              <a:srgbClr val="E3DED3"/>
            </a:solidFill>
            <a:prstDash val="solid"/>
          </a:ln>
        </p:spPr>
      </p:sp>
      <p:pic>
        <p:nvPicPr>
          <p:cNvPr id="35" name="Image 8" descr="preencoded.png"/>
          <p:cNvPicPr>
            <a:picLocks noChangeAspect="1"/>
          </p:cNvPicPr>
          <p:nvPr/>
        </p:nvPicPr>
        <p:blipFill>
          <a:blip r:embed="rId11"/>
          <a:stretch>
            <a:fillRect/>
          </a:stretch>
        </p:blipFill>
        <p:spPr>
          <a:xfrm>
            <a:off x="5303520" y="5248656"/>
            <a:ext cx="502920" cy="502920"/>
          </a:xfrm>
          <a:prstGeom prst="rect">
            <a:avLst/>
          </a:prstGeom>
        </p:spPr>
      </p:pic>
      <p:sp>
        <p:nvSpPr>
          <p:cNvPr id="36" name="Text 24"/>
          <p:cNvSpPr txBox="1"/>
          <p:nvPr/>
        </p:nvSpPr>
        <p:spPr>
          <a:xfrm>
            <a:off x="777240" y="5102352"/>
            <a:ext cx="4389120" cy="384048"/>
          </a:xfrm>
          <a:prstGeom prst="rect">
            <a:avLst/>
          </a:prstGeom>
          <a:noFill/>
          <a:ln/>
        </p:spPr>
        <p:txBody>
          <a:bodyPr wrap="square" lIns="0" tIns="0" rIns="0" bIns="0" rtlCol="0" anchor="t"/>
          <a:lstStyle/>
          <a:p>
            <a:pPr marL="0" indent="0" algn="r" rtl="1">
              <a:buNone/>
            </a:pPr>
            <a:r>
              <a:rPr lang="en-US" sz="1800" b="1" dirty="0">
                <a:solidFill>
                  <a:srgbClr val="1F1E1D"/>
                </a:solidFill>
                <a:latin typeface="Vazirmatn" pitchFamily="34" charset="0"/>
                <a:ea typeface="Vazirmatn" pitchFamily="34" charset="-122"/>
                <a:cs typeface="Vazirmatn" pitchFamily="34" charset="-120"/>
              </a:rPr>
              <a:t>Scheduled tasks</a:t>
            </a:r>
            <a:endParaRPr lang="en-US" sz="1800" dirty="0"/>
          </a:p>
        </p:txBody>
      </p:sp>
      <p:sp>
        <p:nvSpPr>
          <p:cNvPr id="37" name="Text 25"/>
          <p:cNvSpPr txBox="1"/>
          <p:nvPr/>
        </p:nvSpPr>
        <p:spPr>
          <a:xfrm>
            <a:off x="777240" y="5495544"/>
            <a:ext cx="4389120" cy="457200"/>
          </a:xfrm>
          <a:prstGeom prst="rect">
            <a:avLst/>
          </a:prstGeom>
          <a:noFill/>
          <a:ln/>
        </p:spPr>
        <p:txBody>
          <a:bodyPr wrap="square" lIns="0" tIns="0" rIns="0" bIns="0" rtlCol="0" anchor="t"/>
          <a:lstStyle/>
          <a:p>
            <a:pPr marL="0" indent="0" algn="r" rtl="1">
              <a:buNone/>
            </a:pPr>
            <a:r>
              <a:rPr lang="en-US" sz="1300" dirty="0">
                <a:solidFill>
                  <a:srgbClr val="5E5D59"/>
                </a:solidFill>
                <a:latin typeface="Vazirmatn" pitchFamily="34" charset="0"/>
                <a:ea typeface="Vazirmatn" pitchFamily="34" charset="-122"/>
                <a:cs typeface="Vazirmatn" pitchFamily="34" charset="-120"/>
              </a:rPr>
              <a:t>اجرای خودکار کار در زمان مشخص</a:t>
            </a:r>
            <a:endParaRPr lang="en-US" sz="1300" dirty="0"/>
          </a:p>
        </p:txBody>
      </p:sp>
      <p:sp>
        <p:nvSpPr>
          <p:cNvPr id="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3738543">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نمای اپ Claude برای مک</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سایدبار، گفتگو، Artifact و انتخاب مدل</a:t>
            </a:r>
            <a:endParaRPr lang="en-US" sz="1400" dirty="0"/>
          </a:p>
        </p:txBody>
      </p:sp>
      <p:pic>
        <p:nvPicPr>
          <p:cNvPr id="6" name="Image 1" descr="img/chat.png"/>
          <p:cNvPicPr>
            <a:picLocks noChangeAspect="1"/>
          </p:cNvPicPr>
          <p:nvPr/>
        </p:nvPicPr>
        <p:blipFill>
          <a:blip r:embed="rId4"/>
          <a:stretch>
            <a:fillRect/>
          </a:stretch>
        </p:blipFill>
        <p:spPr>
          <a:xfrm>
            <a:off x="548640" y="1508760"/>
            <a:ext cx="6949440" cy="4343400"/>
          </a:xfrm>
          <a:prstGeom prst="rect">
            <a:avLst/>
          </a:prstGeom>
          <a:effectLst>
            <a:outerShdw blurRad="152400" dist="50800" dir="5400000" algn="bl" rotWithShape="0">
              <a:srgbClr val="000000">
                <a:alpha val="18000"/>
              </a:srgbClr>
            </a:outerShdw>
          </a:effectLst>
        </p:spPr>
      </p:pic>
      <p:sp>
        <p:nvSpPr>
          <p:cNvPr id="7" name="Text 2"/>
          <p:cNvSpPr txBox="1"/>
          <p:nvPr/>
        </p:nvSpPr>
        <p:spPr>
          <a:xfrm>
            <a:off x="548640" y="5943600"/>
            <a:ext cx="6949440" cy="320040"/>
          </a:xfrm>
          <a:prstGeom prst="rect">
            <a:avLst/>
          </a:prstGeom>
          <a:noFill/>
          <a:ln/>
        </p:spPr>
        <p:txBody>
          <a:bodyPr wrap="square" lIns="0" tIns="0" rIns="0" bIns="0" rtlCol="0" anchor="t"/>
          <a:lstStyle/>
          <a:p>
            <a:pPr marL="0" indent="0" algn="ctr" rtl="1">
              <a:buNone/>
            </a:pPr>
            <a:r>
              <a:rPr lang="en-US" sz="1200" dirty="0">
                <a:solidFill>
                  <a:srgbClr val="5E5D59"/>
                </a:solidFill>
                <a:latin typeface="Vazirmatn" pitchFamily="34" charset="0"/>
                <a:ea typeface="Vazirmatn" pitchFamily="34" charset="-122"/>
                <a:cs typeface="Vazirmatn" pitchFamily="34" charset="-120"/>
              </a:rPr>
              <a:t>طرح شماتیک صفحه‌ی گفتگو در اپ مک</a:t>
            </a:r>
            <a:endParaRPr lang="en-US" sz="1200" dirty="0"/>
          </a:p>
        </p:txBody>
      </p:sp>
      <p:sp>
        <p:nvSpPr>
          <p:cNvPr id="8" name="Text 3"/>
          <p:cNvSpPr txBox="1"/>
          <p:nvPr/>
        </p:nvSpPr>
        <p:spPr>
          <a:xfrm>
            <a:off x="7772400" y="1645920"/>
            <a:ext cx="3886200" cy="4206240"/>
          </a:xfrm>
          <a:prstGeom prst="rect">
            <a:avLst/>
          </a:prstGeom>
          <a:noFill/>
          <a:ln/>
        </p:spPr>
        <p:txBody>
          <a:bodyPr wrap="square" lIns="0" tIns="0" rIns="0" bIns="0" rtlCol="0" anchor="t"/>
          <a:lstStyle/>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سایدبار: چت‌ها، پروژه‌ها، Artifacts، Design و Code</a:t>
            </a:r>
            <a:endParaRPr lang="en-US" sz="1600" dirty="0"/>
          </a:p>
          <a:p>
            <a:pPr marL="342900" indent="-342900" algn="r" rtl="1">
              <a:spcAft>
                <a:spcPts val="1400"/>
              </a:spcAft>
              <a:buSzPct val="100000"/>
              <a:buChar char="•"/>
            </a:pPr>
            <a:r>
              <a:rPr lang="en-US" sz="1600">
                <a:solidFill>
                  <a:schemeClr val="accent2"/>
                </a:solidFill>
                <a:latin typeface="Vazirmatn" pitchFamily="34" charset="0"/>
                <a:ea typeface="Vazirmatn" pitchFamily="34" charset="-122"/>
                <a:cs typeface="Vazirmatn" pitchFamily="34" charset="-120"/>
              </a:rPr>
              <a:t> Artifact</a:t>
            </a:r>
            <a:r>
              <a:rPr lang="en-US" sz="1600">
                <a:solidFill>
                  <a:srgbClr val="1F1E1D"/>
                </a:solidFill>
                <a:latin typeface="Vazirmatn" pitchFamily="34" charset="0"/>
                <a:ea typeface="Vazirmatn" pitchFamily="34" charset="-122"/>
                <a:cs typeface="Vazirmatn" pitchFamily="34" charset="-120"/>
              </a:rPr>
              <a:t>  خروجی </a:t>
            </a:r>
            <a:r>
              <a:rPr lang="en-US" sz="1600" dirty="0">
                <a:solidFill>
                  <a:srgbClr val="1F1E1D"/>
                </a:solidFill>
                <a:latin typeface="Vazirmatn" pitchFamily="34" charset="0"/>
                <a:ea typeface="Vazirmatn" pitchFamily="34" charset="-122"/>
                <a:cs typeface="Vazirmatn" pitchFamily="34" charset="-120"/>
              </a:rPr>
              <a:t>کامل کنار گفتگو</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انتخاب مدل: Opus، Sonnet، Haiku یا Fable</a:t>
            </a:r>
            <a:endParaRPr lang="en-US" sz="1600" dirty="0"/>
          </a:p>
          <a:p>
            <a:pPr marL="342900" indent="-342900" algn="r" rtl="1">
              <a:spcAft>
                <a:spcPts val="1400"/>
              </a:spcAft>
              <a:buSzPct val="100000"/>
              <a:buChar char="•"/>
            </a:pPr>
            <a:r>
              <a:rPr lang="en-US" sz="1600">
                <a:solidFill>
                  <a:schemeClr val="accent2"/>
                </a:solidFill>
                <a:latin typeface="Vazirmatn" pitchFamily="34" charset="0"/>
                <a:ea typeface="Vazirmatn" pitchFamily="34" charset="-122"/>
                <a:cs typeface="Vazirmatn" pitchFamily="34" charset="-120"/>
              </a:rPr>
              <a:t>دکمه‌ی + </a:t>
            </a:r>
            <a:r>
              <a:rPr lang="en-US" sz="1600">
                <a:solidFill>
                  <a:srgbClr val="1F1E1D"/>
                </a:solidFill>
                <a:latin typeface="Vazirmatn" pitchFamily="34" charset="0"/>
                <a:ea typeface="Vazirmatn" pitchFamily="34" charset="-122"/>
                <a:cs typeface="Vazirmatn" pitchFamily="34" charset="-120"/>
              </a:rPr>
              <a:t>افزودن </a:t>
            </a:r>
            <a:r>
              <a:rPr lang="en-US" sz="1600" dirty="0">
                <a:solidFill>
                  <a:srgbClr val="1F1E1D"/>
                </a:solidFill>
                <a:latin typeface="Vazirmatn" pitchFamily="34" charset="0"/>
                <a:ea typeface="Vazirmatn" pitchFamily="34" charset="-122"/>
                <a:cs typeface="Vazirmatn" pitchFamily="34" charset="-120"/>
              </a:rPr>
              <a:t>فایل، عکس و ابزارها</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میانبر </a:t>
            </a:r>
            <a:r>
              <a:rPr lang="en-US" sz="1600">
                <a:solidFill>
                  <a:schemeClr val="accent2"/>
                </a:solidFill>
                <a:latin typeface="Vazirmatn" pitchFamily="34" charset="0"/>
                <a:ea typeface="Vazirmatn" pitchFamily="34" charset="-122"/>
                <a:cs typeface="Vazirmatn" pitchFamily="34" charset="-120"/>
              </a:rPr>
              <a:t>⌥ Space </a:t>
            </a:r>
            <a:r>
              <a:rPr lang="en-US" sz="1600" dirty="0">
                <a:solidFill>
                  <a:srgbClr val="1F1E1D"/>
                </a:solidFill>
                <a:latin typeface="Vazirmatn" pitchFamily="34" charset="0"/>
                <a:ea typeface="Vazirmatn" pitchFamily="34" charset="-122"/>
                <a:cs typeface="Vazirmatn" pitchFamily="34" charset="-120"/>
              </a:rPr>
              <a:t>باز کردن سریع Claude</a:t>
            </a:r>
            <a:endParaRPr lang="en-US" sz="16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Claude Design در عمل</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توصیف کن، چند نسخه بگیر، ویرایش کن، خروجی بگیر</a:t>
            </a:r>
            <a:endParaRPr lang="en-US" sz="1400" dirty="0"/>
          </a:p>
        </p:txBody>
      </p:sp>
      <p:pic>
        <p:nvPicPr>
          <p:cNvPr id="6" name="Image 1" descr="img/design.png"/>
          <p:cNvPicPr>
            <a:picLocks noChangeAspect="1"/>
          </p:cNvPicPr>
          <p:nvPr/>
        </p:nvPicPr>
        <p:blipFill>
          <a:blip r:embed="rId4"/>
          <a:stretch>
            <a:fillRect/>
          </a:stretch>
        </p:blipFill>
        <p:spPr>
          <a:xfrm>
            <a:off x="4297680" y="1463040"/>
            <a:ext cx="7315200" cy="4572000"/>
          </a:xfrm>
          <a:prstGeom prst="rect">
            <a:avLst/>
          </a:prstGeom>
          <a:effectLst>
            <a:outerShdw blurRad="152400" dist="50800" dir="5400000" algn="bl" rotWithShape="0">
              <a:srgbClr val="000000">
                <a:alpha val="18000"/>
              </a:srgbClr>
            </a:outerShdw>
          </a:effectLst>
        </p:spPr>
      </p:pic>
      <p:sp>
        <p:nvSpPr>
          <p:cNvPr id="7" name="Text 2"/>
          <p:cNvSpPr txBox="1"/>
          <p:nvPr/>
        </p:nvSpPr>
        <p:spPr>
          <a:xfrm>
            <a:off x="4297680" y="6126480"/>
            <a:ext cx="7315200" cy="320040"/>
          </a:xfrm>
          <a:prstGeom prst="rect">
            <a:avLst/>
          </a:prstGeom>
          <a:noFill/>
          <a:ln/>
        </p:spPr>
        <p:txBody>
          <a:bodyPr wrap="square" lIns="0" tIns="0" rIns="0" bIns="0" rtlCol="0" anchor="t"/>
          <a:lstStyle/>
          <a:p>
            <a:pPr marL="0" indent="0" algn="ctr" rtl="1">
              <a:buNone/>
            </a:pPr>
            <a:r>
              <a:rPr lang="en-US" sz="1200" dirty="0">
                <a:solidFill>
                  <a:srgbClr val="5E5D59"/>
                </a:solidFill>
                <a:latin typeface="Vazirmatn" pitchFamily="34" charset="0"/>
                <a:ea typeface="Vazirmatn" pitchFamily="34" charset="-122"/>
                <a:cs typeface="Vazirmatn" pitchFamily="34" charset="-120"/>
              </a:rPr>
              <a:t>طرح شماتیک محیط Claude Design</a:t>
            </a:r>
            <a:endParaRPr lang="en-US" sz="1200" dirty="0"/>
          </a:p>
        </p:txBody>
      </p:sp>
      <p:sp>
        <p:nvSpPr>
          <p:cNvPr id="8" name="Shape 3"/>
          <p:cNvSpPr/>
          <p:nvPr/>
        </p:nvSpPr>
        <p:spPr>
          <a:xfrm>
            <a:off x="3520440" y="1600200"/>
            <a:ext cx="457200" cy="457200"/>
          </a:xfrm>
          <a:prstGeom prst="ellipse">
            <a:avLst/>
          </a:prstGeom>
          <a:solidFill>
            <a:srgbClr val="D97757"/>
          </a:solidFill>
          <a:ln/>
        </p:spPr>
      </p:sp>
      <p:sp>
        <p:nvSpPr>
          <p:cNvPr id="9" name="Text 4"/>
          <p:cNvSpPr txBox="1"/>
          <p:nvPr/>
        </p:nvSpPr>
        <p:spPr>
          <a:xfrm>
            <a:off x="3520440" y="1600200"/>
            <a:ext cx="457200" cy="457200"/>
          </a:xfrm>
          <a:prstGeom prst="rect">
            <a:avLst/>
          </a:prstGeom>
          <a:noFill/>
          <a:ln/>
        </p:spPr>
        <p:txBody>
          <a:bodyPr wrap="square" lIns="0" tIns="0" rIns="0" bIns="0" rtlCol="0" anchor="ctr"/>
          <a:lstStyle/>
          <a:p>
            <a:pPr marL="0" indent="0" algn="ctr" rtl="1">
              <a:buNone/>
            </a:pPr>
            <a:r>
              <a:rPr lang="en-US" sz="1600" b="1" dirty="0">
                <a:solidFill>
                  <a:srgbClr val="FFFFFF"/>
                </a:solidFill>
                <a:latin typeface="Vazirmatn" pitchFamily="34" charset="0"/>
                <a:ea typeface="Vazirmatn" pitchFamily="34" charset="-122"/>
                <a:cs typeface="Vazirmatn" pitchFamily="34" charset="-120"/>
              </a:rPr>
              <a:t>۱</a:t>
            </a:r>
            <a:endParaRPr lang="en-US" sz="1600" dirty="0"/>
          </a:p>
        </p:txBody>
      </p:sp>
      <p:sp>
        <p:nvSpPr>
          <p:cNvPr id="10" name="Text 5"/>
          <p:cNvSpPr txBox="1"/>
          <p:nvPr/>
        </p:nvSpPr>
        <p:spPr>
          <a:xfrm>
            <a:off x="1239410" y="1623060"/>
            <a:ext cx="2121010" cy="914400"/>
          </a:xfrm>
          <a:prstGeom prst="rect">
            <a:avLst/>
          </a:prstGeom>
          <a:noFill/>
          <a:ln/>
        </p:spPr>
        <p:txBody>
          <a:bodyPr wrap="square" lIns="0" tIns="0" rIns="0" bIns="0" rtlCol="0" anchor="t"/>
          <a:lstStyle/>
          <a:p>
            <a:pPr marL="0" indent="0" algn="r" rtl="1">
              <a:buNone/>
            </a:pPr>
            <a:r>
              <a:rPr lang="en-US" sz="1500" dirty="0">
                <a:solidFill>
                  <a:srgbClr val="1F1E1D"/>
                </a:solidFill>
                <a:latin typeface="Vazirmatn" pitchFamily="34" charset="0"/>
                <a:ea typeface="Vazirmatn" pitchFamily="34" charset="-122"/>
                <a:cs typeface="Vazirmatn" pitchFamily="34" charset="-120"/>
              </a:rPr>
              <a:t>درخواست را به زبان ساده (حتی فارسی) بنویسید</a:t>
            </a:r>
            <a:endParaRPr lang="en-US" sz="1500" dirty="0"/>
          </a:p>
        </p:txBody>
      </p:sp>
      <p:sp>
        <p:nvSpPr>
          <p:cNvPr id="11" name="Shape 6"/>
          <p:cNvSpPr/>
          <p:nvPr/>
        </p:nvSpPr>
        <p:spPr>
          <a:xfrm>
            <a:off x="3520440" y="2651760"/>
            <a:ext cx="457200" cy="457200"/>
          </a:xfrm>
          <a:prstGeom prst="ellipse">
            <a:avLst/>
          </a:prstGeom>
          <a:solidFill>
            <a:srgbClr val="D97757"/>
          </a:solidFill>
          <a:ln/>
        </p:spPr>
      </p:sp>
      <p:sp>
        <p:nvSpPr>
          <p:cNvPr id="12" name="Text 7"/>
          <p:cNvSpPr txBox="1"/>
          <p:nvPr/>
        </p:nvSpPr>
        <p:spPr>
          <a:xfrm>
            <a:off x="3520440" y="2651760"/>
            <a:ext cx="457200" cy="457200"/>
          </a:xfrm>
          <a:prstGeom prst="rect">
            <a:avLst/>
          </a:prstGeom>
          <a:noFill/>
          <a:ln/>
        </p:spPr>
        <p:txBody>
          <a:bodyPr wrap="square" lIns="0" tIns="0" rIns="0" bIns="0" rtlCol="0" anchor="ctr"/>
          <a:lstStyle/>
          <a:p>
            <a:pPr marL="0" indent="0" algn="ctr" rtl="1">
              <a:buNone/>
            </a:pPr>
            <a:r>
              <a:rPr lang="en-US" sz="1600" b="1" dirty="0">
                <a:solidFill>
                  <a:srgbClr val="FFFFFF"/>
                </a:solidFill>
                <a:latin typeface="Vazirmatn" pitchFamily="34" charset="0"/>
                <a:ea typeface="Vazirmatn" pitchFamily="34" charset="-122"/>
                <a:cs typeface="Vazirmatn" pitchFamily="34" charset="-120"/>
              </a:rPr>
              <a:t>۲</a:t>
            </a:r>
            <a:endParaRPr lang="en-US" sz="1600" dirty="0"/>
          </a:p>
        </p:txBody>
      </p:sp>
      <p:sp>
        <p:nvSpPr>
          <p:cNvPr id="13" name="Text 8"/>
          <p:cNvSpPr txBox="1"/>
          <p:nvPr/>
        </p:nvSpPr>
        <p:spPr>
          <a:xfrm>
            <a:off x="617220" y="2743200"/>
            <a:ext cx="2834640" cy="914400"/>
          </a:xfrm>
          <a:prstGeom prst="rect">
            <a:avLst/>
          </a:prstGeom>
          <a:noFill/>
          <a:ln/>
        </p:spPr>
        <p:txBody>
          <a:bodyPr wrap="square" lIns="0" tIns="0" rIns="0" bIns="0" rtlCol="0" anchor="t"/>
          <a:lstStyle/>
          <a:p>
            <a:pPr marL="0" indent="0" algn="r" rtl="1">
              <a:buNone/>
            </a:pPr>
            <a:r>
              <a:rPr lang="en-US" sz="1500" dirty="0">
                <a:solidFill>
                  <a:srgbClr val="1F1E1D"/>
                </a:solidFill>
                <a:latin typeface="Vazirmatn" pitchFamily="34" charset="0"/>
                <a:ea typeface="Vazirmatn" pitchFamily="34" charset="-122"/>
                <a:cs typeface="Vazirmatn" pitchFamily="34" charset="-120"/>
              </a:rPr>
              <a:t>Claude چند نسخه‌ی مختلف می‌سازد</a:t>
            </a:r>
            <a:endParaRPr lang="en-US" sz="1500" dirty="0"/>
          </a:p>
        </p:txBody>
      </p:sp>
      <p:sp>
        <p:nvSpPr>
          <p:cNvPr id="14" name="Shape 9"/>
          <p:cNvSpPr/>
          <p:nvPr/>
        </p:nvSpPr>
        <p:spPr>
          <a:xfrm>
            <a:off x="3520440" y="3703320"/>
            <a:ext cx="457200" cy="457200"/>
          </a:xfrm>
          <a:prstGeom prst="ellipse">
            <a:avLst/>
          </a:prstGeom>
          <a:solidFill>
            <a:srgbClr val="D97757"/>
          </a:solidFill>
          <a:ln/>
        </p:spPr>
      </p:sp>
      <p:sp>
        <p:nvSpPr>
          <p:cNvPr id="15" name="Text 10"/>
          <p:cNvSpPr txBox="1"/>
          <p:nvPr/>
        </p:nvSpPr>
        <p:spPr>
          <a:xfrm>
            <a:off x="3520440" y="3703320"/>
            <a:ext cx="457200" cy="457200"/>
          </a:xfrm>
          <a:prstGeom prst="rect">
            <a:avLst/>
          </a:prstGeom>
          <a:noFill/>
          <a:ln/>
        </p:spPr>
        <p:txBody>
          <a:bodyPr wrap="square" lIns="0" tIns="0" rIns="0" bIns="0" rtlCol="0" anchor="ctr"/>
          <a:lstStyle/>
          <a:p>
            <a:pPr marL="0" indent="0" algn="ctr" rtl="1">
              <a:buNone/>
            </a:pPr>
            <a:r>
              <a:rPr lang="en-US" sz="1600" b="1" dirty="0">
                <a:solidFill>
                  <a:srgbClr val="FFFFFF"/>
                </a:solidFill>
                <a:latin typeface="Vazirmatn" pitchFamily="34" charset="0"/>
                <a:ea typeface="Vazirmatn" pitchFamily="34" charset="-122"/>
                <a:cs typeface="Vazirmatn" pitchFamily="34" charset="-120"/>
              </a:rPr>
              <a:t>۳</a:t>
            </a:r>
            <a:endParaRPr lang="en-US" sz="1600" dirty="0"/>
          </a:p>
        </p:txBody>
      </p:sp>
      <p:sp>
        <p:nvSpPr>
          <p:cNvPr id="16" name="Text 11"/>
          <p:cNvSpPr txBox="1"/>
          <p:nvPr/>
        </p:nvSpPr>
        <p:spPr>
          <a:xfrm>
            <a:off x="548640" y="3726180"/>
            <a:ext cx="2834640" cy="914400"/>
          </a:xfrm>
          <a:prstGeom prst="rect">
            <a:avLst/>
          </a:prstGeom>
          <a:noFill/>
          <a:ln/>
        </p:spPr>
        <p:txBody>
          <a:bodyPr wrap="square" lIns="0" tIns="0" rIns="0" bIns="0" rtlCol="0" anchor="t"/>
          <a:lstStyle/>
          <a:p>
            <a:pPr marL="0" indent="0" algn="r" rtl="1">
              <a:buNone/>
            </a:pPr>
            <a:r>
              <a:rPr lang="en-US" sz="1500" dirty="0">
                <a:solidFill>
                  <a:srgbClr val="1F1E1D"/>
                </a:solidFill>
                <a:latin typeface="Vazirmatn" pitchFamily="34" charset="0"/>
                <a:ea typeface="Vazirmatn" pitchFamily="34" charset="-122"/>
                <a:cs typeface="Vazirmatn" pitchFamily="34" charset="-120"/>
              </a:rPr>
              <a:t>با پیام بعدی یا ویرایش مستقیم اصلاح کنید</a:t>
            </a:r>
            <a:endParaRPr lang="en-US" sz="1500" dirty="0"/>
          </a:p>
        </p:txBody>
      </p:sp>
      <p:sp>
        <p:nvSpPr>
          <p:cNvPr id="17" name="Shape 12"/>
          <p:cNvSpPr/>
          <p:nvPr/>
        </p:nvSpPr>
        <p:spPr>
          <a:xfrm>
            <a:off x="3520440" y="4754880"/>
            <a:ext cx="457200" cy="457200"/>
          </a:xfrm>
          <a:prstGeom prst="ellipse">
            <a:avLst/>
          </a:prstGeom>
          <a:solidFill>
            <a:srgbClr val="D97757"/>
          </a:solidFill>
          <a:ln/>
        </p:spPr>
      </p:sp>
      <p:sp>
        <p:nvSpPr>
          <p:cNvPr id="18" name="Text 13"/>
          <p:cNvSpPr txBox="1"/>
          <p:nvPr/>
        </p:nvSpPr>
        <p:spPr>
          <a:xfrm>
            <a:off x="3520440" y="4754880"/>
            <a:ext cx="457200" cy="457200"/>
          </a:xfrm>
          <a:prstGeom prst="rect">
            <a:avLst/>
          </a:prstGeom>
          <a:noFill/>
          <a:ln/>
        </p:spPr>
        <p:txBody>
          <a:bodyPr wrap="square" lIns="0" tIns="0" rIns="0" bIns="0" rtlCol="0" anchor="ctr"/>
          <a:lstStyle/>
          <a:p>
            <a:pPr marL="0" indent="0" algn="ctr" rtl="1">
              <a:buNone/>
            </a:pPr>
            <a:r>
              <a:rPr lang="en-US" sz="1600" b="1" dirty="0">
                <a:solidFill>
                  <a:srgbClr val="FFFFFF"/>
                </a:solidFill>
                <a:latin typeface="Vazirmatn" pitchFamily="34" charset="0"/>
                <a:ea typeface="Vazirmatn" pitchFamily="34" charset="-122"/>
                <a:cs typeface="Vazirmatn" pitchFamily="34" charset="-120"/>
              </a:rPr>
              <a:t>۴</a:t>
            </a:r>
            <a:endParaRPr lang="en-US" sz="1600" dirty="0"/>
          </a:p>
        </p:txBody>
      </p:sp>
      <p:sp>
        <p:nvSpPr>
          <p:cNvPr id="19" name="Text 14"/>
          <p:cNvSpPr txBox="1"/>
          <p:nvPr/>
        </p:nvSpPr>
        <p:spPr>
          <a:xfrm>
            <a:off x="548640" y="4777740"/>
            <a:ext cx="2834640" cy="914400"/>
          </a:xfrm>
          <a:prstGeom prst="rect">
            <a:avLst/>
          </a:prstGeom>
          <a:noFill/>
          <a:ln/>
        </p:spPr>
        <p:txBody>
          <a:bodyPr wrap="square" lIns="0" tIns="0" rIns="0" bIns="0" rtlCol="0" anchor="t"/>
          <a:lstStyle/>
          <a:p>
            <a:pPr marL="0" indent="0" algn="r" rtl="1">
              <a:buNone/>
            </a:pPr>
            <a:r>
              <a:rPr lang="en-US" sz="1500" dirty="0">
                <a:solidFill>
                  <a:srgbClr val="1F1E1D"/>
                </a:solidFill>
                <a:latin typeface="Vazirmatn" pitchFamily="34" charset="0"/>
                <a:ea typeface="Vazirmatn" pitchFamily="34" charset="-122"/>
                <a:cs typeface="Vazirmatn" pitchFamily="34" charset="-120"/>
              </a:rPr>
              <a:t>خروجی PDF و تصویر بگیرید یا لینک اشتراک بدهید</a:t>
            </a:r>
            <a:endParaRPr lang="en-US" sz="15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20058428">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Claude Code؛ برنامه‌نویس عاملی</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در ترمینال، IDE، وب و اپ دسکتاپ</a:t>
            </a:r>
            <a:endParaRPr lang="en-US" sz="1400" dirty="0"/>
          </a:p>
        </p:txBody>
      </p:sp>
      <p:pic>
        <p:nvPicPr>
          <p:cNvPr id="6" name="Image 1" descr="img/code.png"/>
          <p:cNvPicPr>
            <a:picLocks noChangeAspect="1"/>
          </p:cNvPicPr>
          <p:nvPr/>
        </p:nvPicPr>
        <p:blipFill>
          <a:blip r:embed="rId4"/>
          <a:stretch>
            <a:fillRect/>
          </a:stretch>
        </p:blipFill>
        <p:spPr>
          <a:xfrm>
            <a:off x="548640" y="1508760"/>
            <a:ext cx="6949440" cy="4343400"/>
          </a:xfrm>
          <a:prstGeom prst="rect">
            <a:avLst/>
          </a:prstGeom>
          <a:effectLst>
            <a:outerShdw blurRad="152400" dist="50800" dir="5400000" algn="bl" rotWithShape="0">
              <a:srgbClr val="000000">
                <a:alpha val="18000"/>
              </a:srgbClr>
            </a:outerShdw>
          </a:effectLst>
        </p:spPr>
      </p:pic>
      <p:sp>
        <p:nvSpPr>
          <p:cNvPr id="7" name="Text 2"/>
          <p:cNvSpPr txBox="1"/>
          <p:nvPr/>
        </p:nvSpPr>
        <p:spPr>
          <a:xfrm>
            <a:off x="548640" y="5943600"/>
            <a:ext cx="6949440" cy="320040"/>
          </a:xfrm>
          <a:prstGeom prst="rect">
            <a:avLst/>
          </a:prstGeom>
          <a:noFill/>
          <a:ln/>
        </p:spPr>
        <p:txBody>
          <a:bodyPr wrap="square" lIns="0" tIns="0" rIns="0" bIns="0" rtlCol="0" anchor="t"/>
          <a:lstStyle/>
          <a:p>
            <a:pPr marL="0" indent="0" algn="ctr" rtl="1">
              <a:buNone/>
            </a:pPr>
            <a:r>
              <a:rPr lang="en-US" sz="1200" dirty="0">
                <a:solidFill>
                  <a:srgbClr val="5E5D59"/>
                </a:solidFill>
                <a:latin typeface="Vazirmatn" pitchFamily="34" charset="0"/>
                <a:ea typeface="Vazirmatn" pitchFamily="34" charset="-122"/>
                <a:cs typeface="Vazirmatn" pitchFamily="34" charset="-120"/>
              </a:rPr>
              <a:t>طرح شماتیک یک جلسه‌ی Claude Code</a:t>
            </a:r>
            <a:endParaRPr lang="en-US" sz="1200" dirty="0"/>
          </a:p>
        </p:txBody>
      </p:sp>
      <p:sp>
        <p:nvSpPr>
          <p:cNvPr id="8" name="Text 3"/>
          <p:cNvSpPr txBox="1"/>
          <p:nvPr/>
        </p:nvSpPr>
        <p:spPr>
          <a:xfrm>
            <a:off x="7772400" y="1645920"/>
            <a:ext cx="3886200" cy="4206240"/>
          </a:xfrm>
          <a:prstGeom prst="rect">
            <a:avLst/>
          </a:prstGeom>
          <a:noFill/>
          <a:ln/>
        </p:spPr>
        <p:txBody>
          <a:bodyPr wrap="square" lIns="0" tIns="0" rIns="0" bIns="0" rtlCol="0" anchor="t"/>
          <a:lstStyle/>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کد را می‌خواند، ویرایش می‌کند و دستور اجرا می‌کند</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خودش تست می‌گیرد و خطا را رفع می‌کند</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با git کار می‌کند و Pull Request می‌سازد</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با دستور /usage مصرف سهمیه را نشان می‌دهد</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سهمیه‌اش با اپ Claude مشترک است</a:t>
            </a:r>
            <a:endParaRPr lang="en-US" sz="16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1411804">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MCP؛ پل Claude به ابزارهای شما</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Model Context Protocol — استاندارد باز Anthropic (نوامبر ۲۰۲۴)</a:t>
            </a:r>
            <a:endParaRPr lang="en-US" sz="1400" dirty="0"/>
          </a:p>
        </p:txBody>
      </p:sp>
      <p:sp>
        <p:nvSpPr>
          <p:cNvPr id="6" name="Text 2"/>
          <p:cNvSpPr txBox="1"/>
          <p:nvPr/>
        </p:nvSpPr>
        <p:spPr>
          <a:xfrm>
            <a:off x="548640" y="1463040"/>
            <a:ext cx="11064240" cy="685800"/>
          </a:xfrm>
          <a:prstGeom prst="rect">
            <a:avLst/>
          </a:prstGeom>
          <a:noFill/>
          <a:ln/>
        </p:spPr>
        <p:txBody>
          <a:bodyPr wrap="square" lIns="0" tIns="0" rIns="0" bIns="0" rtlCol="0" anchor="t"/>
          <a:lstStyle/>
          <a:p>
            <a:pPr marL="0" indent="0" algn="r" rtl="1">
              <a:buNone/>
            </a:pPr>
            <a:r>
              <a:rPr lang="en-US" sz="1700" dirty="0">
                <a:solidFill>
                  <a:srgbClr val="1F1E1D"/>
                </a:solidFill>
                <a:latin typeface="Vazirmatn" pitchFamily="34" charset="0"/>
                <a:ea typeface="Vazirmatn" pitchFamily="34" charset="-122"/>
                <a:cs typeface="Vazirmatn" pitchFamily="34" charset="-120"/>
              </a:rPr>
              <a:t>MCP مثل «پورت USB-C» برای هوش مصنوعی است: یک استاندارد واحد که هر ابزار و سرویسی را به Claude وصل می‌کند.</a:t>
            </a:r>
            <a:endParaRPr lang="en-US" sz="1700" dirty="0"/>
          </a:p>
        </p:txBody>
      </p:sp>
      <p:sp>
        <p:nvSpPr>
          <p:cNvPr id="7" name="Shape 3"/>
          <p:cNvSpPr/>
          <p:nvPr/>
        </p:nvSpPr>
        <p:spPr>
          <a:xfrm>
            <a:off x="9144000" y="3063240"/>
            <a:ext cx="2468880" cy="1463040"/>
          </a:xfrm>
          <a:prstGeom prst="roundRect">
            <a:avLst>
              <a:gd name="adj" fmla="val 9375"/>
            </a:avLst>
          </a:prstGeom>
          <a:solidFill>
            <a:srgbClr val="D97757"/>
          </a:solidFill>
          <a:ln w="12700">
            <a:solidFill>
              <a:srgbClr val="D97757"/>
            </a:solidFill>
            <a:prstDash val="solid"/>
          </a:ln>
        </p:spPr>
      </p:sp>
      <p:pic>
        <p:nvPicPr>
          <p:cNvPr id="8" name="Image 1" descr="preencoded.png"/>
          <p:cNvPicPr>
            <a:picLocks noChangeAspect="1"/>
          </p:cNvPicPr>
          <p:nvPr/>
        </p:nvPicPr>
        <p:blipFill>
          <a:blip r:embed="rId4"/>
          <a:stretch>
            <a:fillRect/>
          </a:stretch>
        </p:blipFill>
        <p:spPr>
          <a:xfrm>
            <a:off x="9326880" y="3520440"/>
            <a:ext cx="548640" cy="548640"/>
          </a:xfrm>
          <a:prstGeom prst="rect">
            <a:avLst/>
          </a:prstGeom>
        </p:spPr>
      </p:pic>
      <p:sp>
        <p:nvSpPr>
          <p:cNvPr id="9" name="Text 4"/>
          <p:cNvSpPr txBox="1"/>
          <p:nvPr/>
        </p:nvSpPr>
        <p:spPr>
          <a:xfrm>
            <a:off x="9921240" y="3474720"/>
            <a:ext cx="1554480" cy="640080"/>
          </a:xfrm>
          <a:prstGeom prst="rect">
            <a:avLst/>
          </a:prstGeom>
          <a:noFill/>
          <a:ln/>
        </p:spPr>
        <p:txBody>
          <a:bodyPr wrap="square" lIns="0" tIns="0" rIns="0" bIns="0" rtlCol="0" anchor="ctr"/>
          <a:lstStyle/>
          <a:p>
            <a:pPr marL="0" indent="0" algn="l">
              <a:buNone/>
            </a:pPr>
            <a:r>
              <a:rPr lang="en-US" sz="2400" b="1" dirty="0">
                <a:solidFill>
                  <a:srgbClr val="FFFFFF"/>
                </a:solidFill>
                <a:latin typeface="Vazirmatn" pitchFamily="34" charset="0"/>
                <a:ea typeface="Vazirmatn" pitchFamily="34" charset="-122"/>
                <a:cs typeface="Vazirmatn" pitchFamily="34" charset="-120"/>
              </a:rPr>
              <a:t>Claude</a:t>
            </a:r>
            <a:endParaRPr lang="en-US" sz="2400" dirty="0"/>
          </a:p>
        </p:txBody>
      </p:sp>
      <p:sp>
        <p:nvSpPr>
          <p:cNvPr id="10" name="Shape 5"/>
          <p:cNvSpPr/>
          <p:nvPr/>
        </p:nvSpPr>
        <p:spPr>
          <a:xfrm>
            <a:off x="5669280" y="3200400"/>
            <a:ext cx="2377440" cy="1188720"/>
          </a:xfrm>
          <a:prstGeom prst="roundRect">
            <a:avLst>
              <a:gd name="adj" fmla="val 11538"/>
            </a:avLst>
          </a:prstGeom>
          <a:solidFill>
            <a:srgbClr val="1F1E1D"/>
          </a:solidFill>
          <a:ln w="12700">
            <a:solidFill>
              <a:srgbClr val="1F1E1D"/>
            </a:solidFill>
            <a:prstDash val="solid"/>
          </a:ln>
        </p:spPr>
      </p:sp>
      <p:sp>
        <p:nvSpPr>
          <p:cNvPr id="11" name="Text 6"/>
          <p:cNvSpPr txBox="1"/>
          <p:nvPr/>
        </p:nvSpPr>
        <p:spPr>
          <a:xfrm>
            <a:off x="5669280" y="3200400"/>
            <a:ext cx="2377440" cy="1188720"/>
          </a:xfrm>
          <a:prstGeom prst="rect">
            <a:avLst/>
          </a:prstGeom>
          <a:noFill/>
          <a:ln/>
        </p:spPr>
        <p:txBody>
          <a:bodyPr wrap="square" lIns="0" tIns="0" rIns="0" bIns="0" rtlCol="0" anchor="ctr"/>
          <a:lstStyle/>
          <a:p>
            <a:pPr marL="0" indent="0" algn="ctr">
              <a:buNone/>
            </a:pPr>
            <a:r>
              <a:rPr lang="en-US" sz="2600" b="1" dirty="0">
                <a:solidFill>
                  <a:srgbClr val="D97757"/>
                </a:solidFill>
                <a:latin typeface="Vazirmatn" pitchFamily="34" charset="0"/>
                <a:ea typeface="Vazirmatn" pitchFamily="34" charset="-122"/>
                <a:cs typeface="Vazirmatn" pitchFamily="34" charset="-120"/>
              </a:rPr>
              <a:t>MCP</a:t>
            </a:r>
            <a:endParaRPr lang="en-US" sz="2600" dirty="0"/>
          </a:p>
        </p:txBody>
      </p:sp>
      <p:sp>
        <p:nvSpPr>
          <p:cNvPr id="12" name="Shape 7"/>
          <p:cNvSpPr/>
          <p:nvPr/>
        </p:nvSpPr>
        <p:spPr>
          <a:xfrm>
            <a:off x="8046720" y="3794760"/>
            <a:ext cx="1097280" cy="0"/>
          </a:xfrm>
          <a:prstGeom prst="line">
            <a:avLst/>
          </a:prstGeom>
          <a:noFill/>
          <a:ln w="31750">
            <a:solidFill>
              <a:srgbClr val="C15F3C"/>
            </a:solidFill>
            <a:prstDash val="solid"/>
            <a:headEnd type="triangle"/>
            <a:tailEnd type="triangle"/>
          </a:ln>
        </p:spPr>
      </p:sp>
      <p:sp>
        <p:nvSpPr>
          <p:cNvPr id="13" name="Shape 8"/>
          <p:cNvSpPr/>
          <p:nvPr/>
        </p:nvSpPr>
        <p:spPr>
          <a:xfrm>
            <a:off x="548640" y="2331720"/>
            <a:ext cx="3657600" cy="457200"/>
          </a:xfrm>
          <a:prstGeom prst="roundRect">
            <a:avLst>
              <a:gd name="adj" fmla="val 24000"/>
            </a:avLst>
          </a:prstGeom>
          <a:solidFill>
            <a:srgbClr val="FFFFFF"/>
          </a:solidFill>
          <a:ln w="12700">
            <a:solidFill>
              <a:srgbClr val="E3DED3"/>
            </a:solidFill>
            <a:prstDash val="solid"/>
          </a:ln>
        </p:spPr>
      </p:sp>
      <p:pic>
        <p:nvPicPr>
          <p:cNvPr id="14" name="Image 2" descr="preencoded.png"/>
          <p:cNvPicPr>
            <a:picLocks noChangeAspect="1"/>
          </p:cNvPicPr>
          <p:nvPr/>
        </p:nvPicPr>
        <p:blipFill>
          <a:blip r:embed="rId5"/>
          <a:stretch>
            <a:fillRect/>
          </a:stretch>
        </p:blipFill>
        <p:spPr>
          <a:xfrm>
            <a:off x="3749040" y="2423160"/>
            <a:ext cx="274320" cy="274320"/>
          </a:xfrm>
          <a:prstGeom prst="rect">
            <a:avLst/>
          </a:prstGeom>
        </p:spPr>
      </p:pic>
      <p:sp>
        <p:nvSpPr>
          <p:cNvPr id="15" name="Text 9"/>
          <p:cNvSpPr txBox="1"/>
          <p:nvPr/>
        </p:nvSpPr>
        <p:spPr>
          <a:xfrm>
            <a:off x="731520" y="2377440"/>
            <a:ext cx="2926080" cy="365760"/>
          </a:xfrm>
          <a:prstGeom prst="rect">
            <a:avLst/>
          </a:prstGeom>
          <a:noFill/>
          <a:ln/>
        </p:spPr>
        <p:txBody>
          <a:bodyPr wrap="square" lIns="0" tIns="0" rIns="0" bIns="0" rtlCol="0" anchor="ctr"/>
          <a:lstStyle/>
          <a:p>
            <a:pPr marL="0" indent="0" algn="r" rtl="1">
              <a:buNone/>
            </a:pPr>
            <a:r>
              <a:rPr lang="en-US" sz="1400" dirty="0">
                <a:solidFill>
                  <a:srgbClr val="1F1E1D"/>
                </a:solidFill>
                <a:latin typeface="Vazirmatn" pitchFamily="34" charset="0"/>
                <a:ea typeface="Vazirmatn" pitchFamily="34" charset="-122"/>
                <a:cs typeface="Vazirmatn" pitchFamily="34" charset="-120"/>
              </a:rPr>
              <a:t>Google Drive</a:t>
            </a:r>
            <a:endParaRPr lang="en-US" sz="1400" dirty="0"/>
          </a:p>
        </p:txBody>
      </p:sp>
      <p:sp>
        <p:nvSpPr>
          <p:cNvPr id="16" name="Shape 10"/>
          <p:cNvSpPr/>
          <p:nvPr/>
        </p:nvSpPr>
        <p:spPr>
          <a:xfrm>
            <a:off x="4206240" y="2560320"/>
            <a:ext cx="1463040" cy="1234440"/>
          </a:xfrm>
          <a:prstGeom prst="line">
            <a:avLst/>
          </a:prstGeom>
          <a:noFill/>
          <a:ln w="15875">
            <a:solidFill>
              <a:srgbClr val="C9C6BC"/>
            </a:solidFill>
            <a:prstDash val="solid"/>
          </a:ln>
        </p:spPr>
      </p:sp>
      <p:sp>
        <p:nvSpPr>
          <p:cNvPr id="17" name="Shape 11"/>
          <p:cNvSpPr/>
          <p:nvPr/>
        </p:nvSpPr>
        <p:spPr>
          <a:xfrm>
            <a:off x="548640" y="2880360"/>
            <a:ext cx="3657600" cy="457200"/>
          </a:xfrm>
          <a:prstGeom prst="roundRect">
            <a:avLst>
              <a:gd name="adj" fmla="val 24000"/>
            </a:avLst>
          </a:prstGeom>
          <a:solidFill>
            <a:srgbClr val="FFFFFF"/>
          </a:solidFill>
          <a:ln w="12700">
            <a:solidFill>
              <a:srgbClr val="E3DED3"/>
            </a:solidFill>
            <a:prstDash val="solid"/>
          </a:ln>
        </p:spPr>
      </p:sp>
      <p:pic>
        <p:nvPicPr>
          <p:cNvPr id="18" name="Image 3" descr="preencoded.png"/>
          <p:cNvPicPr>
            <a:picLocks noChangeAspect="1"/>
          </p:cNvPicPr>
          <p:nvPr/>
        </p:nvPicPr>
        <p:blipFill>
          <a:blip r:embed="rId6"/>
          <a:stretch>
            <a:fillRect/>
          </a:stretch>
        </p:blipFill>
        <p:spPr>
          <a:xfrm>
            <a:off x="3749040" y="2971800"/>
            <a:ext cx="274320" cy="274320"/>
          </a:xfrm>
          <a:prstGeom prst="rect">
            <a:avLst/>
          </a:prstGeom>
        </p:spPr>
      </p:pic>
      <p:sp>
        <p:nvSpPr>
          <p:cNvPr id="19" name="Text 12"/>
          <p:cNvSpPr txBox="1"/>
          <p:nvPr/>
        </p:nvSpPr>
        <p:spPr>
          <a:xfrm>
            <a:off x="731520" y="2926080"/>
            <a:ext cx="2926080" cy="365760"/>
          </a:xfrm>
          <a:prstGeom prst="rect">
            <a:avLst/>
          </a:prstGeom>
          <a:noFill/>
          <a:ln/>
        </p:spPr>
        <p:txBody>
          <a:bodyPr wrap="square" lIns="0" tIns="0" rIns="0" bIns="0" rtlCol="0" anchor="ctr"/>
          <a:lstStyle/>
          <a:p>
            <a:pPr marL="0" indent="0" algn="r" rtl="1">
              <a:buNone/>
            </a:pPr>
            <a:r>
              <a:rPr lang="en-US" sz="1400" dirty="0">
                <a:solidFill>
                  <a:srgbClr val="1F1E1D"/>
                </a:solidFill>
                <a:latin typeface="Vazirmatn" pitchFamily="34" charset="0"/>
                <a:ea typeface="Vazirmatn" pitchFamily="34" charset="-122"/>
                <a:cs typeface="Vazirmatn" pitchFamily="34" charset="-120"/>
              </a:rPr>
              <a:t>Gmail</a:t>
            </a:r>
            <a:endParaRPr lang="en-US" sz="1400" dirty="0"/>
          </a:p>
        </p:txBody>
      </p:sp>
      <p:sp>
        <p:nvSpPr>
          <p:cNvPr id="20" name="Shape 13"/>
          <p:cNvSpPr/>
          <p:nvPr/>
        </p:nvSpPr>
        <p:spPr>
          <a:xfrm>
            <a:off x="4206240" y="3108960"/>
            <a:ext cx="1463040" cy="685800"/>
          </a:xfrm>
          <a:prstGeom prst="line">
            <a:avLst/>
          </a:prstGeom>
          <a:noFill/>
          <a:ln w="15875">
            <a:solidFill>
              <a:srgbClr val="C9C6BC"/>
            </a:solidFill>
            <a:prstDash val="solid"/>
          </a:ln>
        </p:spPr>
      </p:sp>
      <p:sp>
        <p:nvSpPr>
          <p:cNvPr id="21" name="Shape 14"/>
          <p:cNvSpPr/>
          <p:nvPr/>
        </p:nvSpPr>
        <p:spPr>
          <a:xfrm>
            <a:off x="548640" y="3429000"/>
            <a:ext cx="3657600" cy="457200"/>
          </a:xfrm>
          <a:prstGeom prst="roundRect">
            <a:avLst>
              <a:gd name="adj" fmla="val 24000"/>
            </a:avLst>
          </a:prstGeom>
          <a:solidFill>
            <a:srgbClr val="FFFFFF"/>
          </a:solidFill>
          <a:ln w="12700">
            <a:solidFill>
              <a:srgbClr val="E3DED3"/>
            </a:solidFill>
            <a:prstDash val="solid"/>
          </a:ln>
        </p:spPr>
      </p:sp>
      <p:pic>
        <p:nvPicPr>
          <p:cNvPr id="22" name="Image 4" descr="preencoded.png"/>
          <p:cNvPicPr>
            <a:picLocks noChangeAspect="1"/>
          </p:cNvPicPr>
          <p:nvPr/>
        </p:nvPicPr>
        <p:blipFill>
          <a:blip r:embed="rId7"/>
          <a:stretch>
            <a:fillRect/>
          </a:stretch>
        </p:blipFill>
        <p:spPr>
          <a:xfrm>
            <a:off x="3749040" y="3520440"/>
            <a:ext cx="274320" cy="274320"/>
          </a:xfrm>
          <a:prstGeom prst="rect">
            <a:avLst/>
          </a:prstGeom>
        </p:spPr>
      </p:pic>
      <p:sp>
        <p:nvSpPr>
          <p:cNvPr id="23" name="Text 15"/>
          <p:cNvSpPr txBox="1"/>
          <p:nvPr/>
        </p:nvSpPr>
        <p:spPr>
          <a:xfrm>
            <a:off x="731520" y="3474720"/>
            <a:ext cx="2926080" cy="365760"/>
          </a:xfrm>
          <a:prstGeom prst="rect">
            <a:avLst/>
          </a:prstGeom>
          <a:noFill/>
          <a:ln/>
        </p:spPr>
        <p:txBody>
          <a:bodyPr wrap="square" lIns="0" tIns="0" rIns="0" bIns="0" rtlCol="0" anchor="ctr"/>
          <a:lstStyle/>
          <a:p>
            <a:pPr marL="0" indent="0" algn="r" rtl="1">
              <a:buNone/>
            </a:pPr>
            <a:r>
              <a:rPr lang="en-US" sz="1400" dirty="0">
                <a:solidFill>
                  <a:srgbClr val="1F1E1D"/>
                </a:solidFill>
                <a:latin typeface="Vazirmatn" pitchFamily="34" charset="0"/>
                <a:ea typeface="Vazirmatn" pitchFamily="34" charset="-122"/>
                <a:cs typeface="Vazirmatn" pitchFamily="34" charset="-120"/>
              </a:rPr>
              <a:t>GitHub</a:t>
            </a:r>
            <a:endParaRPr lang="en-US" sz="1400" dirty="0"/>
          </a:p>
        </p:txBody>
      </p:sp>
      <p:sp>
        <p:nvSpPr>
          <p:cNvPr id="24" name="Shape 16"/>
          <p:cNvSpPr/>
          <p:nvPr/>
        </p:nvSpPr>
        <p:spPr>
          <a:xfrm>
            <a:off x="4206240" y="3657600"/>
            <a:ext cx="1463040" cy="137160"/>
          </a:xfrm>
          <a:prstGeom prst="line">
            <a:avLst/>
          </a:prstGeom>
          <a:noFill/>
          <a:ln w="15875">
            <a:solidFill>
              <a:srgbClr val="C9C6BC"/>
            </a:solidFill>
            <a:prstDash val="solid"/>
          </a:ln>
        </p:spPr>
      </p:sp>
      <p:sp>
        <p:nvSpPr>
          <p:cNvPr id="25" name="Shape 17"/>
          <p:cNvSpPr/>
          <p:nvPr/>
        </p:nvSpPr>
        <p:spPr>
          <a:xfrm>
            <a:off x="548640" y="3977640"/>
            <a:ext cx="3657600" cy="457200"/>
          </a:xfrm>
          <a:prstGeom prst="roundRect">
            <a:avLst>
              <a:gd name="adj" fmla="val 24000"/>
            </a:avLst>
          </a:prstGeom>
          <a:solidFill>
            <a:srgbClr val="FFFFFF"/>
          </a:solidFill>
          <a:ln w="12700">
            <a:solidFill>
              <a:srgbClr val="E3DED3"/>
            </a:solidFill>
            <a:prstDash val="solid"/>
          </a:ln>
        </p:spPr>
      </p:sp>
      <p:pic>
        <p:nvPicPr>
          <p:cNvPr id="26" name="Image 5" descr="preencoded.png"/>
          <p:cNvPicPr>
            <a:picLocks noChangeAspect="1"/>
          </p:cNvPicPr>
          <p:nvPr/>
        </p:nvPicPr>
        <p:blipFill>
          <a:blip r:embed="rId8"/>
          <a:stretch>
            <a:fillRect/>
          </a:stretch>
        </p:blipFill>
        <p:spPr>
          <a:xfrm>
            <a:off x="3749040" y="4069080"/>
            <a:ext cx="274320" cy="274320"/>
          </a:xfrm>
          <a:prstGeom prst="rect">
            <a:avLst/>
          </a:prstGeom>
        </p:spPr>
      </p:pic>
      <p:sp>
        <p:nvSpPr>
          <p:cNvPr id="27" name="Text 18"/>
          <p:cNvSpPr txBox="1"/>
          <p:nvPr/>
        </p:nvSpPr>
        <p:spPr>
          <a:xfrm>
            <a:off x="731520" y="4023360"/>
            <a:ext cx="2926080" cy="365760"/>
          </a:xfrm>
          <a:prstGeom prst="rect">
            <a:avLst/>
          </a:prstGeom>
          <a:noFill/>
          <a:ln/>
        </p:spPr>
        <p:txBody>
          <a:bodyPr wrap="square" lIns="0" tIns="0" rIns="0" bIns="0" rtlCol="0" anchor="ctr"/>
          <a:lstStyle/>
          <a:p>
            <a:pPr marL="0" indent="0" algn="r" rtl="1">
              <a:buNone/>
            </a:pPr>
            <a:r>
              <a:rPr lang="en-US" sz="1400" dirty="0">
                <a:solidFill>
                  <a:srgbClr val="1F1E1D"/>
                </a:solidFill>
                <a:latin typeface="Vazirmatn" pitchFamily="34" charset="0"/>
                <a:ea typeface="Vazirmatn" pitchFamily="34" charset="-122"/>
                <a:cs typeface="Vazirmatn" pitchFamily="34" charset="-120"/>
              </a:rPr>
              <a:t>Figma</a:t>
            </a:r>
            <a:endParaRPr lang="en-US" sz="1400" dirty="0"/>
          </a:p>
        </p:txBody>
      </p:sp>
      <p:sp>
        <p:nvSpPr>
          <p:cNvPr id="28" name="Shape 19"/>
          <p:cNvSpPr/>
          <p:nvPr/>
        </p:nvSpPr>
        <p:spPr>
          <a:xfrm>
            <a:off x="4206240" y="4206240"/>
            <a:ext cx="1463040" cy="0"/>
          </a:xfrm>
          <a:prstGeom prst="line">
            <a:avLst/>
          </a:prstGeom>
          <a:noFill/>
          <a:ln w="15875">
            <a:solidFill>
              <a:srgbClr val="C9C6BC"/>
            </a:solidFill>
            <a:prstDash val="solid"/>
          </a:ln>
        </p:spPr>
      </p:sp>
      <p:sp>
        <p:nvSpPr>
          <p:cNvPr id="29" name="Shape 20"/>
          <p:cNvSpPr/>
          <p:nvPr/>
        </p:nvSpPr>
        <p:spPr>
          <a:xfrm>
            <a:off x="548640" y="4526280"/>
            <a:ext cx="3657600" cy="457200"/>
          </a:xfrm>
          <a:prstGeom prst="roundRect">
            <a:avLst>
              <a:gd name="adj" fmla="val 24000"/>
            </a:avLst>
          </a:prstGeom>
          <a:solidFill>
            <a:srgbClr val="FFFFFF"/>
          </a:solidFill>
          <a:ln w="12700">
            <a:solidFill>
              <a:srgbClr val="E3DED3"/>
            </a:solidFill>
            <a:prstDash val="solid"/>
          </a:ln>
        </p:spPr>
      </p:sp>
      <p:pic>
        <p:nvPicPr>
          <p:cNvPr id="30" name="Image 6" descr="preencoded.png"/>
          <p:cNvPicPr>
            <a:picLocks noChangeAspect="1"/>
          </p:cNvPicPr>
          <p:nvPr/>
        </p:nvPicPr>
        <p:blipFill>
          <a:blip r:embed="rId9"/>
          <a:stretch>
            <a:fillRect/>
          </a:stretch>
        </p:blipFill>
        <p:spPr>
          <a:xfrm>
            <a:off x="3749040" y="4617720"/>
            <a:ext cx="274320" cy="274320"/>
          </a:xfrm>
          <a:prstGeom prst="rect">
            <a:avLst/>
          </a:prstGeom>
        </p:spPr>
      </p:pic>
      <p:sp>
        <p:nvSpPr>
          <p:cNvPr id="31" name="Text 21"/>
          <p:cNvSpPr txBox="1"/>
          <p:nvPr/>
        </p:nvSpPr>
        <p:spPr>
          <a:xfrm>
            <a:off x="731520" y="4572000"/>
            <a:ext cx="2926080" cy="365760"/>
          </a:xfrm>
          <a:prstGeom prst="rect">
            <a:avLst/>
          </a:prstGeom>
          <a:noFill/>
          <a:ln/>
        </p:spPr>
        <p:txBody>
          <a:bodyPr wrap="square" lIns="0" tIns="0" rIns="0" bIns="0" rtlCol="0" anchor="ctr"/>
          <a:lstStyle/>
          <a:p>
            <a:pPr marL="0" indent="0" algn="r" rtl="1">
              <a:buNone/>
            </a:pPr>
            <a:r>
              <a:rPr lang="en-US" sz="1400" dirty="0">
                <a:solidFill>
                  <a:srgbClr val="1F1E1D"/>
                </a:solidFill>
                <a:latin typeface="Vazirmatn" pitchFamily="34" charset="0"/>
                <a:ea typeface="Vazirmatn" pitchFamily="34" charset="-122"/>
                <a:cs typeface="Vazirmatn" pitchFamily="34" charset="-120"/>
              </a:rPr>
              <a:t>Slack</a:t>
            </a:r>
            <a:endParaRPr lang="en-US" sz="1400" dirty="0"/>
          </a:p>
        </p:txBody>
      </p:sp>
      <p:sp>
        <p:nvSpPr>
          <p:cNvPr id="32" name="Shape 22"/>
          <p:cNvSpPr/>
          <p:nvPr/>
        </p:nvSpPr>
        <p:spPr>
          <a:xfrm flipV="1">
            <a:off x="4206240" y="4206240"/>
            <a:ext cx="1463040" cy="548640"/>
          </a:xfrm>
          <a:prstGeom prst="line">
            <a:avLst/>
          </a:prstGeom>
          <a:noFill/>
          <a:ln w="15875">
            <a:solidFill>
              <a:srgbClr val="C9C6BC"/>
            </a:solidFill>
            <a:prstDash val="solid"/>
          </a:ln>
        </p:spPr>
      </p:sp>
      <p:sp>
        <p:nvSpPr>
          <p:cNvPr id="33" name="Shape 23"/>
          <p:cNvSpPr/>
          <p:nvPr/>
        </p:nvSpPr>
        <p:spPr>
          <a:xfrm>
            <a:off x="548640" y="5074920"/>
            <a:ext cx="3657600" cy="457200"/>
          </a:xfrm>
          <a:prstGeom prst="roundRect">
            <a:avLst>
              <a:gd name="adj" fmla="val 24000"/>
            </a:avLst>
          </a:prstGeom>
          <a:solidFill>
            <a:srgbClr val="FFFFFF"/>
          </a:solidFill>
          <a:ln w="12700">
            <a:solidFill>
              <a:srgbClr val="E3DED3"/>
            </a:solidFill>
            <a:prstDash val="solid"/>
          </a:ln>
        </p:spPr>
      </p:sp>
      <p:pic>
        <p:nvPicPr>
          <p:cNvPr id="34" name="Image 7" descr="preencoded.png"/>
          <p:cNvPicPr>
            <a:picLocks noChangeAspect="1"/>
          </p:cNvPicPr>
          <p:nvPr/>
        </p:nvPicPr>
        <p:blipFill>
          <a:blip r:embed="rId10"/>
          <a:stretch>
            <a:fillRect/>
          </a:stretch>
        </p:blipFill>
        <p:spPr>
          <a:xfrm>
            <a:off x="3749040" y="5166360"/>
            <a:ext cx="274320" cy="274320"/>
          </a:xfrm>
          <a:prstGeom prst="rect">
            <a:avLst/>
          </a:prstGeom>
        </p:spPr>
      </p:pic>
      <p:sp>
        <p:nvSpPr>
          <p:cNvPr id="35" name="Text 24"/>
          <p:cNvSpPr txBox="1"/>
          <p:nvPr/>
        </p:nvSpPr>
        <p:spPr>
          <a:xfrm>
            <a:off x="731520" y="5120640"/>
            <a:ext cx="2926080" cy="365760"/>
          </a:xfrm>
          <a:prstGeom prst="rect">
            <a:avLst/>
          </a:prstGeom>
          <a:noFill/>
          <a:ln/>
        </p:spPr>
        <p:txBody>
          <a:bodyPr wrap="square" lIns="0" tIns="0" rIns="0" bIns="0" rtlCol="0" anchor="ctr"/>
          <a:lstStyle/>
          <a:p>
            <a:pPr marL="0" indent="0" algn="r" rtl="1">
              <a:buNone/>
            </a:pPr>
            <a:r>
              <a:rPr lang="en-US" sz="1400" dirty="0">
                <a:solidFill>
                  <a:srgbClr val="1F1E1D"/>
                </a:solidFill>
                <a:latin typeface="Vazirmatn" pitchFamily="34" charset="0"/>
                <a:ea typeface="Vazirmatn" pitchFamily="34" charset="-122"/>
                <a:cs typeface="Vazirmatn" pitchFamily="34" charset="-120"/>
              </a:rPr>
              <a:t>پایگاه داده</a:t>
            </a:r>
            <a:endParaRPr lang="en-US" sz="1400" dirty="0"/>
          </a:p>
        </p:txBody>
      </p:sp>
      <p:sp>
        <p:nvSpPr>
          <p:cNvPr id="36" name="Shape 25"/>
          <p:cNvSpPr/>
          <p:nvPr/>
        </p:nvSpPr>
        <p:spPr>
          <a:xfrm flipV="1">
            <a:off x="4206240" y="4251960"/>
            <a:ext cx="1463040" cy="1051560"/>
          </a:xfrm>
          <a:prstGeom prst="line">
            <a:avLst/>
          </a:prstGeom>
          <a:noFill/>
          <a:ln w="15875">
            <a:solidFill>
              <a:srgbClr val="C9C6BC"/>
            </a:solidFill>
            <a:prstDash val="solid"/>
          </a:ln>
        </p:spPr>
      </p:sp>
      <p:sp>
        <p:nvSpPr>
          <p:cNvPr id="37" name="Text 26"/>
          <p:cNvSpPr txBox="1"/>
          <p:nvPr/>
        </p:nvSpPr>
        <p:spPr>
          <a:xfrm>
            <a:off x="548640" y="5760720"/>
            <a:ext cx="11064240" cy="457200"/>
          </a:xfrm>
          <a:prstGeom prst="rect">
            <a:avLst/>
          </a:prstGeom>
          <a:noFill/>
          <a:ln/>
        </p:spPr>
        <p:txBody>
          <a:bodyPr wrap="square" lIns="0" tIns="0" rIns="0" bIns="0" rtlCol="0" anchor="t"/>
          <a:lstStyle/>
          <a:p>
            <a:pPr marL="0" indent="0" algn="ctr" rtl="1">
              <a:buNone/>
            </a:pPr>
            <a:r>
              <a:rPr lang="en-US" sz="1400" dirty="0">
                <a:solidFill>
                  <a:srgbClr val="5E5D59"/>
                </a:solidFill>
                <a:latin typeface="Vazirmatn" pitchFamily="34" charset="0"/>
                <a:ea typeface="Vazirmatn" pitchFamily="34" charset="-122"/>
                <a:cs typeface="Vazirmatn" pitchFamily="34" charset="-120"/>
              </a:rPr>
              <a:t>دو نوع: Connector‌های آماده در اپ (روی ابر) و سرورهای MCP محلی روی کامپیوتر شما · هر کسی می‌تواند سرور MCP بسازد</a:t>
            </a:r>
            <a:endParaRPr lang="en-US" sz="1400" dirty="0"/>
          </a:p>
        </p:txBody>
      </p:sp>
      <p:sp>
        <p:nvSpPr>
          <p:cNvPr id="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Connectors در اپ Claude</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MCP در عمل: چند کلیک تا اتصال</a:t>
            </a:r>
            <a:endParaRPr lang="en-US" sz="1400" dirty="0"/>
          </a:p>
        </p:txBody>
      </p:sp>
      <p:pic>
        <p:nvPicPr>
          <p:cNvPr id="6" name="Image 1" descr="img/connectors.png"/>
          <p:cNvPicPr>
            <a:picLocks noChangeAspect="1"/>
          </p:cNvPicPr>
          <p:nvPr/>
        </p:nvPicPr>
        <p:blipFill>
          <a:blip r:embed="rId4"/>
          <a:stretch>
            <a:fillRect/>
          </a:stretch>
        </p:blipFill>
        <p:spPr>
          <a:xfrm>
            <a:off x="4297680" y="1463040"/>
            <a:ext cx="7315200" cy="4572000"/>
          </a:xfrm>
          <a:prstGeom prst="rect">
            <a:avLst/>
          </a:prstGeom>
          <a:effectLst>
            <a:outerShdw blurRad="152400" dist="50800" dir="5400000" algn="bl" rotWithShape="0">
              <a:srgbClr val="000000">
                <a:alpha val="18000"/>
              </a:srgbClr>
            </a:outerShdw>
          </a:effectLst>
        </p:spPr>
      </p:pic>
      <p:sp>
        <p:nvSpPr>
          <p:cNvPr id="7" name="Text 2"/>
          <p:cNvSpPr txBox="1"/>
          <p:nvPr/>
        </p:nvSpPr>
        <p:spPr>
          <a:xfrm>
            <a:off x="4297680" y="6126480"/>
            <a:ext cx="7315200" cy="320040"/>
          </a:xfrm>
          <a:prstGeom prst="rect">
            <a:avLst/>
          </a:prstGeom>
          <a:noFill/>
          <a:ln/>
        </p:spPr>
        <p:txBody>
          <a:bodyPr wrap="square" lIns="0" tIns="0" rIns="0" bIns="0" rtlCol="0" anchor="t"/>
          <a:lstStyle/>
          <a:p>
            <a:pPr marL="0" indent="0" algn="ctr" rtl="1">
              <a:buNone/>
            </a:pPr>
            <a:r>
              <a:rPr lang="en-US" sz="1200" dirty="0">
                <a:solidFill>
                  <a:srgbClr val="5E5D59"/>
                </a:solidFill>
                <a:latin typeface="Vazirmatn" pitchFamily="34" charset="0"/>
                <a:ea typeface="Vazirmatn" pitchFamily="34" charset="-122"/>
                <a:cs typeface="Vazirmatn" pitchFamily="34" charset="-120"/>
              </a:rPr>
              <a:t>طرح شماتیک صفحه‌ی Connectors در تنظیمات</a:t>
            </a:r>
            <a:endParaRPr lang="en-US" sz="1200" dirty="0"/>
          </a:p>
        </p:txBody>
      </p:sp>
      <p:sp>
        <p:nvSpPr>
          <p:cNvPr id="8" name="Text 3"/>
          <p:cNvSpPr txBox="1"/>
          <p:nvPr/>
        </p:nvSpPr>
        <p:spPr>
          <a:xfrm>
            <a:off x="548640" y="1645920"/>
            <a:ext cx="3566160" cy="4206240"/>
          </a:xfrm>
          <a:prstGeom prst="rect">
            <a:avLst/>
          </a:prstGeom>
          <a:noFill/>
          <a:ln/>
        </p:spPr>
        <p:txBody>
          <a:bodyPr wrap="square" lIns="0" tIns="0" rIns="0" bIns="0" rtlCol="0" anchor="t"/>
          <a:lstStyle/>
          <a:p>
            <a:pPr marL="342900" indent="-342900" algn="r" rtl="1">
              <a:spcAft>
                <a:spcPts val="1400"/>
              </a:spcAft>
              <a:buSzPct val="100000"/>
              <a:buChar char="•"/>
            </a:pPr>
            <a:r>
              <a:rPr lang="en-US" sz="1500" dirty="0">
                <a:solidFill>
                  <a:srgbClr val="1F1E1D"/>
                </a:solidFill>
                <a:latin typeface="Vazirmatn" pitchFamily="34" charset="0"/>
                <a:ea typeface="Vazirmatn" pitchFamily="34" charset="-122"/>
                <a:cs typeface="Vazirmatn" pitchFamily="34" charset="-120"/>
              </a:rPr>
              <a:t>Settings ‏←‏ Connectors</a:t>
            </a:r>
            <a:endParaRPr lang="en-US" sz="1500" dirty="0"/>
          </a:p>
          <a:p>
            <a:pPr marL="342900" indent="-342900" algn="r" rtl="1">
              <a:spcAft>
                <a:spcPts val="1400"/>
              </a:spcAft>
              <a:buSzPct val="100000"/>
              <a:buChar char="•"/>
            </a:pPr>
            <a:r>
              <a:rPr lang="en-US" sz="1500" dirty="0">
                <a:solidFill>
                  <a:srgbClr val="1F1E1D"/>
                </a:solidFill>
                <a:latin typeface="Vazirmatn" pitchFamily="34" charset="0"/>
                <a:ea typeface="Vazirmatn" pitchFamily="34" charset="-122"/>
                <a:cs typeface="Vazirmatn" pitchFamily="34" charset="-120"/>
              </a:rPr>
              <a:t>روی سرویس بزنید و وارد حساب شوید</a:t>
            </a:r>
            <a:endParaRPr lang="en-US" sz="1500" dirty="0"/>
          </a:p>
          <a:p>
            <a:pPr marL="342900" indent="-342900" algn="r" rtl="1">
              <a:spcAft>
                <a:spcPts val="1400"/>
              </a:spcAft>
              <a:buSzPct val="100000"/>
              <a:buChar char="•"/>
            </a:pPr>
            <a:r>
              <a:rPr lang="en-US" sz="1500" dirty="0">
                <a:solidFill>
                  <a:srgbClr val="1F1E1D"/>
                </a:solidFill>
                <a:latin typeface="Vazirmatn" pitchFamily="34" charset="0"/>
                <a:ea typeface="Vazirmatn" pitchFamily="34" charset="-122"/>
                <a:cs typeface="Vazirmatn" pitchFamily="34" charset="-120"/>
              </a:rPr>
              <a:t>حالا بپرسید: «ایمیل‌های مهم امروزم چیه؟»</a:t>
            </a:r>
            <a:endParaRPr lang="en-US" sz="1500" dirty="0"/>
          </a:p>
          <a:p>
            <a:pPr marL="342900" indent="-342900" algn="r" rtl="1">
              <a:spcAft>
                <a:spcPts val="1400"/>
              </a:spcAft>
              <a:buSzPct val="100000"/>
              <a:buChar char="•"/>
            </a:pPr>
            <a:r>
              <a:rPr lang="en-US" sz="1500" dirty="0">
                <a:solidFill>
                  <a:srgbClr val="1F1E1D"/>
                </a:solidFill>
                <a:latin typeface="Vazirmatn" pitchFamily="34" charset="0"/>
                <a:ea typeface="Vazirmatn" pitchFamily="34" charset="-122"/>
                <a:cs typeface="Vazirmatn" pitchFamily="34" charset="-120"/>
              </a:rPr>
              <a:t>یا: «این فایل درایو رو خلاصه کن»</a:t>
            </a:r>
            <a:endParaRPr lang="en-US" sz="1500" dirty="0"/>
          </a:p>
          <a:p>
            <a:pPr marL="342900" indent="-342900" algn="r" rtl="1">
              <a:spcAft>
                <a:spcPts val="1400"/>
              </a:spcAft>
              <a:buSzPct val="100000"/>
              <a:buChar char="•"/>
            </a:pPr>
            <a:r>
              <a:rPr lang="en-US" sz="1500" dirty="0">
                <a:solidFill>
                  <a:srgbClr val="1F1E1D"/>
                </a:solidFill>
                <a:latin typeface="Vazirmatn" pitchFamily="34" charset="0"/>
                <a:ea typeface="Vazirmatn" pitchFamily="34" charset="-122"/>
                <a:cs typeface="Vazirmatn" pitchFamily="34" charset="-120"/>
              </a:rPr>
              <a:t>Add custom connector برای سرورهای دلخواه</a:t>
            </a:r>
            <a:endParaRPr lang="en-US" sz="15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14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20145355">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به چه دردی می‌خورد؟</a:t>
            </a:r>
            <a:endParaRPr lang="en-US" sz="3000" dirty="0"/>
          </a:p>
        </p:txBody>
      </p:sp>
      <p:sp>
        <p:nvSpPr>
          <p:cNvPr id="5" name="Shape 1"/>
          <p:cNvSpPr/>
          <p:nvPr/>
        </p:nvSpPr>
        <p:spPr>
          <a:xfrm>
            <a:off x="8915400" y="1554480"/>
            <a:ext cx="2606040" cy="4389120"/>
          </a:xfrm>
          <a:prstGeom prst="roundRect">
            <a:avLst>
              <a:gd name="adj" fmla="val 4211"/>
            </a:avLst>
          </a:prstGeom>
          <a:solidFill>
            <a:srgbClr val="FFFFFF"/>
          </a:solidFill>
          <a:ln w="12700">
            <a:solidFill>
              <a:srgbClr val="E3DED3"/>
            </a:solidFill>
            <a:prstDash val="solid"/>
          </a:ln>
        </p:spPr>
      </p:sp>
      <p:sp>
        <p:nvSpPr>
          <p:cNvPr id="7" name="Text 3"/>
          <p:cNvSpPr txBox="1"/>
          <p:nvPr/>
        </p:nvSpPr>
        <p:spPr>
          <a:xfrm>
            <a:off x="9098280" y="2514600"/>
            <a:ext cx="2240280" cy="548640"/>
          </a:xfrm>
          <a:prstGeom prst="rect">
            <a:avLst/>
          </a:prstGeom>
          <a:noFill/>
          <a:ln/>
        </p:spPr>
        <p:txBody>
          <a:bodyPr wrap="square" lIns="0" tIns="0" rIns="0" bIns="0" rtlCol="0" anchor="t"/>
          <a:lstStyle/>
          <a:p>
            <a:pPr marL="0" indent="0" algn="ctr" rtl="1">
              <a:buNone/>
            </a:pPr>
            <a:r>
              <a:rPr lang="en-US" sz="2100" b="1" dirty="0">
                <a:solidFill>
                  <a:srgbClr val="C15F3C"/>
                </a:solidFill>
                <a:latin typeface="Vazirmatn" pitchFamily="34" charset="0"/>
                <a:ea typeface="Vazirmatn" pitchFamily="34" charset="-122"/>
                <a:cs typeface="Vazirmatn" pitchFamily="34" charset="-120"/>
              </a:rPr>
              <a:t>درس</a:t>
            </a:r>
            <a:endParaRPr lang="en-US" sz="2100" dirty="0"/>
          </a:p>
        </p:txBody>
      </p:sp>
      <p:sp>
        <p:nvSpPr>
          <p:cNvPr id="8" name="Text 4"/>
          <p:cNvSpPr txBox="1"/>
          <p:nvPr/>
        </p:nvSpPr>
        <p:spPr>
          <a:xfrm>
            <a:off x="9098280" y="3291840"/>
            <a:ext cx="2240280" cy="2926080"/>
          </a:xfrm>
          <a:prstGeom prst="rect">
            <a:avLst/>
          </a:prstGeom>
          <a:noFill/>
          <a:ln/>
        </p:spPr>
        <p:txBody>
          <a:bodyPr wrap="square" lIns="0" tIns="0" rIns="0" bIns="0" rtlCol="0" anchor="t"/>
          <a:lstStyle/>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توضیح مفاهیم سخت</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خلاصه‌ی مقاله</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ساخت کوییز</a:t>
            </a:r>
            <a:endParaRPr lang="en-US" sz="1600" dirty="0"/>
          </a:p>
        </p:txBody>
      </p:sp>
      <p:sp>
        <p:nvSpPr>
          <p:cNvPr id="9" name="Shape 5"/>
          <p:cNvSpPr/>
          <p:nvPr/>
        </p:nvSpPr>
        <p:spPr>
          <a:xfrm>
            <a:off x="6126480" y="1554480"/>
            <a:ext cx="2606040" cy="4389120"/>
          </a:xfrm>
          <a:prstGeom prst="roundRect">
            <a:avLst>
              <a:gd name="adj" fmla="val 4211"/>
            </a:avLst>
          </a:prstGeom>
          <a:solidFill>
            <a:srgbClr val="FFFFFF"/>
          </a:solidFill>
          <a:ln w="12700">
            <a:solidFill>
              <a:srgbClr val="E3DED3"/>
            </a:solidFill>
            <a:prstDash val="solid"/>
          </a:ln>
        </p:spPr>
      </p:sp>
      <p:sp>
        <p:nvSpPr>
          <p:cNvPr id="11" name="Text 7"/>
          <p:cNvSpPr txBox="1"/>
          <p:nvPr/>
        </p:nvSpPr>
        <p:spPr>
          <a:xfrm>
            <a:off x="6309360" y="2514600"/>
            <a:ext cx="2240280" cy="548640"/>
          </a:xfrm>
          <a:prstGeom prst="rect">
            <a:avLst/>
          </a:prstGeom>
          <a:noFill/>
          <a:ln/>
        </p:spPr>
        <p:txBody>
          <a:bodyPr wrap="square" lIns="0" tIns="0" rIns="0" bIns="0" rtlCol="0" anchor="t"/>
          <a:lstStyle/>
          <a:p>
            <a:pPr marL="0" indent="0" algn="ctr" rtl="1">
              <a:buNone/>
            </a:pPr>
            <a:r>
              <a:rPr lang="en-US" sz="2100" b="1" dirty="0">
                <a:solidFill>
                  <a:srgbClr val="C15F3C"/>
                </a:solidFill>
                <a:latin typeface="Vazirmatn" pitchFamily="34" charset="0"/>
                <a:ea typeface="Vazirmatn" pitchFamily="34" charset="-122"/>
                <a:cs typeface="Vazirmatn" pitchFamily="34" charset="-120"/>
              </a:rPr>
              <a:t>برنامه‌نویسی</a:t>
            </a:r>
            <a:endParaRPr lang="en-US" sz="2100" dirty="0"/>
          </a:p>
        </p:txBody>
      </p:sp>
      <p:sp>
        <p:nvSpPr>
          <p:cNvPr id="12" name="Text 8"/>
          <p:cNvSpPr txBox="1"/>
          <p:nvPr/>
        </p:nvSpPr>
        <p:spPr>
          <a:xfrm>
            <a:off x="6309360" y="3291840"/>
            <a:ext cx="2240280" cy="2926080"/>
          </a:xfrm>
          <a:prstGeom prst="rect">
            <a:avLst/>
          </a:prstGeom>
          <a:noFill/>
          <a:ln/>
        </p:spPr>
        <p:txBody>
          <a:bodyPr wrap="square" lIns="0" tIns="0" rIns="0" bIns="0" rtlCol="0" anchor="t"/>
          <a:lstStyle/>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نوشتن و دیباگ کد</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توضیح کد</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پروژه از صفر</a:t>
            </a:r>
            <a:endParaRPr lang="en-US" sz="1600" dirty="0"/>
          </a:p>
        </p:txBody>
      </p:sp>
      <p:sp>
        <p:nvSpPr>
          <p:cNvPr id="13" name="Shape 9"/>
          <p:cNvSpPr/>
          <p:nvPr/>
        </p:nvSpPr>
        <p:spPr>
          <a:xfrm>
            <a:off x="3337560" y="1554480"/>
            <a:ext cx="2606040" cy="4389120"/>
          </a:xfrm>
          <a:prstGeom prst="roundRect">
            <a:avLst>
              <a:gd name="adj" fmla="val 4211"/>
            </a:avLst>
          </a:prstGeom>
          <a:solidFill>
            <a:srgbClr val="FFFFFF"/>
          </a:solidFill>
          <a:ln w="12700">
            <a:solidFill>
              <a:srgbClr val="E3DED3"/>
            </a:solidFill>
            <a:prstDash val="solid"/>
          </a:ln>
        </p:spPr>
      </p:sp>
      <p:sp>
        <p:nvSpPr>
          <p:cNvPr id="15" name="Text 11"/>
          <p:cNvSpPr txBox="1"/>
          <p:nvPr/>
        </p:nvSpPr>
        <p:spPr>
          <a:xfrm>
            <a:off x="3520440" y="2514600"/>
            <a:ext cx="2240280" cy="548640"/>
          </a:xfrm>
          <a:prstGeom prst="rect">
            <a:avLst/>
          </a:prstGeom>
          <a:noFill/>
          <a:ln/>
        </p:spPr>
        <p:txBody>
          <a:bodyPr wrap="square" lIns="0" tIns="0" rIns="0" bIns="0" rtlCol="0" anchor="t"/>
          <a:lstStyle/>
          <a:p>
            <a:pPr marL="0" indent="0" algn="ctr" rtl="1">
              <a:buNone/>
            </a:pPr>
            <a:r>
              <a:rPr lang="en-US" sz="2100" b="1" dirty="0">
                <a:solidFill>
                  <a:srgbClr val="C15F3C"/>
                </a:solidFill>
                <a:latin typeface="Vazirmatn" pitchFamily="34" charset="0"/>
                <a:ea typeface="Vazirmatn" pitchFamily="34" charset="-122"/>
                <a:cs typeface="Vazirmatn" pitchFamily="34" charset="-120"/>
              </a:rPr>
              <a:t>نوشتن</a:t>
            </a:r>
            <a:endParaRPr lang="en-US" sz="2100" dirty="0"/>
          </a:p>
        </p:txBody>
      </p:sp>
      <p:sp>
        <p:nvSpPr>
          <p:cNvPr id="16" name="Text 12"/>
          <p:cNvSpPr txBox="1"/>
          <p:nvPr/>
        </p:nvSpPr>
        <p:spPr>
          <a:xfrm>
            <a:off x="3520440" y="3291840"/>
            <a:ext cx="2240280" cy="2926080"/>
          </a:xfrm>
          <a:prstGeom prst="rect">
            <a:avLst/>
          </a:prstGeom>
          <a:noFill/>
          <a:ln/>
        </p:spPr>
        <p:txBody>
          <a:bodyPr wrap="square" lIns="0" tIns="0" rIns="0" bIns="0" rtlCol="0" anchor="t"/>
          <a:lstStyle/>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ایمیل و رزومه</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ترجمه</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ویرایش متن</a:t>
            </a:r>
            <a:endParaRPr lang="en-US" sz="1600" dirty="0"/>
          </a:p>
        </p:txBody>
      </p:sp>
      <p:sp>
        <p:nvSpPr>
          <p:cNvPr id="17" name="Shape 13"/>
          <p:cNvSpPr/>
          <p:nvPr/>
        </p:nvSpPr>
        <p:spPr>
          <a:xfrm>
            <a:off x="548640" y="1554480"/>
            <a:ext cx="2606040" cy="4389120"/>
          </a:xfrm>
          <a:prstGeom prst="roundRect">
            <a:avLst>
              <a:gd name="adj" fmla="val 4211"/>
            </a:avLst>
          </a:prstGeom>
          <a:solidFill>
            <a:srgbClr val="FFFFFF"/>
          </a:solidFill>
          <a:ln w="12700">
            <a:solidFill>
              <a:srgbClr val="E3DED3"/>
            </a:solidFill>
            <a:prstDash val="solid"/>
          </a:ln>
        </p:spPr>
      </p:sp>
      <p:sp>
        <p:nvSpPr>
          <p:cNvPr id="19" name="Text 15"/>
          <p:cNvSpPr txBox="1"/>
          <p:nvPr/>
        </p:nvSpPr>
        <p:spPr>
          <a:xfrm>
            <a:off x="731520" y="2514600"/>
            <a:ext cx="2240280" cy="548640"/>
          </a:xfrm>
          <a:prstGeom prst="rect">
            <a:avLst/>
          </a:prstGeom>
          <a:noFill/>
          <a:ln/>
        </p:spPr>
        <p:txBody>
          <a:bodyPr wrap="square" lIns="0" tIns="0" rIns="0" bIns="0" rtlCol="0" anchor="t"/>
          <a:lstStyle/>
          <a:p>
            <a:pPr marL="0" indent="0" algn="ctr" rtl="1">
              <a:buNone/>
            </a:pPr>
            <a:r>
              <a:rPr lang="en-US" sz="2100" b="1" dirty="0">
                <a:solidFill>
                  <a:srgbClr val="C15F3C"/>
                </a:solidFill>
                <a:latin typeface="Vazirmatn" pitchFamily="34" charset="0"/>
                <a:ea typeface="Vazirmatn" pitchFamily="34" charset="-122"/>
                <a:cs typeface="Vazirmatn" pitchFamily="34" charset="-120"/>
              </a:rPr>
              <a:t>پژوهش و کار</a:t>
            </a:r>
            <a:endParaRPr lang="en-US" sz="2100" dirty="0"/>
          </a:p>
        </p:txBody>
      </p:sp>
      <p:sp>
        <p:nvSpPr>
          <p:cNvPr id="20" name="Text 16"/>
          <p:cNvSpPr txBox="1"/>
          <p:nvPr/>
        </p:nvSpPr>
        <p:spPr>
          <a:xfrm>
            <a:off x="731520" y="3291840"/>
            <a:ext cx="2240280" cy="2926080"/>
          </a:xfrm>
          <a:prstGeom prst="rect">
            <a:avLst/>
          </a:prstGeom>
          <a:noFill/>
          <a:ln/>
        </p:spPr>
        <p:txBody>
          <a:bodyPr wrap="square" lIns="0" tIns="0" rIns="0" bIns="0" rtlCol="0" anchor="t"/>
          <a:lstStyle/>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جمع‌بندی با منبع</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تحلیل اکسل</a:t>
            </a:r>
            <a:endParaRPr lang="en-US" sz="1600" dirty="0"/>
          </a:p>
          <a:p>
            <a:pPr marL="342900" indent="-342900" algn="r" rtl="1">
              <a:spcAft>
                <a:spcPts val="1400"/>
              </a:spcAft>
              <a:buSzPct val="100000"/>
              <a:buChar char="•"/>
            </a:pPr>
            <a:r>
              <a:rPr lang="en-US" sz="1600" dirty="0">
                <a:solidFill>
                  <a:srgbClr val="1F1E1D"/>
                </a:solidFill>
                <a:latin typeface="Vazirmatn" pitchFamily="34" charset="0"/>
                <a:ea typeface="Vazirmatn" pitchFamily="34" charset="-122"/>
                <a:cs typeface="Vazirmatn" pitchFamily="34" charset="-120"/>
              </a:rPr>
              <a:t>ساخت ارائه</a:t>
            </a:r>
            <a:endParaRPr lang="en-US" sz="16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15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پلن‌های اشتراک</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قیمت‌ها به دلار، ماهانه (مهر ۱۴۰۵)</a:t>
            </a:r>
            <a:endParaRPr lang="en-US" sz="1400" dirty="0"/>
          </a:p>
        </p:txBody>
      </p:sp>
      <p:sp>
        <p:nvSpPr>
          <p:cNvPr id="6" name="Shape 2"/>
          <p:cNvSpPr/>
          <p:nvPr/>
        </p:nvSpPr>
        <p:spPr>
          <a:xfrm>
            <a:off x="9509760" y="1600200"/>
            <a:ext cx="2103120" cy="4297680"/>
          </a:xfrm>
          <a:prstGeom prst="roundRect">
            <a:avLst>
              <a:gd name="adj" fmla="val 5217"/>
            </a:avLst>
          </a:prstGeom>
          <a:solidFill>
            <a:srgbClr val="FFFFFF"/>
          </a:solidFill>
          <a:ln w="12700">
            <a:solidFill>
              <a:srgbClr val="E3DED3"/>
            </a:solidFill>
            <a:prstDash val="solid"/>
          </a:ln>
        </p:spPr>
      </p:sp>
      <p:sp>
        <p:nvSpPr>
          <p:cNvPr id="7" name="Text 3"/>
          <p:cNvSpPr txBox="1"/>
          <p:nvPr/>
        </p:nvSpPr>
        <p:spPr>
          <a:xfrm>
            <a:off x="9601200" y="2377440"/>
            <a:ext cx="1920240" cy="457200"/>
          </a:xfrm>
          <a:prstGeom prst="rect">
            <a:avLst/>
          </a:prstGeom>
          <a:noFill/>
          <a:ln/>
        </p:spPr>
        <p:txBody>
          <a:bodyPr wrap="square" lIns="0" tIns="0" rIns="0" bIns="0" rtlCol="0" anchor="t"/>
          <a:lstStyle/>
          <a:p>
            <a:pPr marL="0" indent="0" algn="ctr">
              <a:buNone/>
            </a:pPr>
            <a:r>
              <a:rPr lang="en-US" sz="2000" b="1" dirty="0">
                <a:solidFill>
                  <a:srgbClr val="1F1E1D"/>
                </a:solidFill>
                <a:latin typeface="Vazirmatn" pitchFamily="34" charset="0"/>
                <a:ea typeface="Vazirmatn" pitchFamily="34" charset="-122"/>
                <a:cs typeface="Vazirmatn" pitchFamily="34" charset="-120"/>
              </a:rPr>
              <a:t>Free</a:t>
            </a:r>
            <a:endParaRPr lang="en-US" sz="2000" dirty="0"/>
          </a:p>
        </p:txBody>
      </p:sp>
      <p:sp>
        <p:nvSpPr>
          <p:cNvPr id="8" name="Text 4"/>
          <p:cNvSpPr txBox="1"/>
          <p:nvPr/>
        </p:nvSpPr>
        <p:spPr>
          <a:xfrm>
            <a:off x="9601200" y="2926080"/>
            <a:ext cx="1920240" cy="731520"/>
          </a:xfrm>
          <a:prstGeom prst="rect">
            <a:avLst/>
          </a:prstGeom>
          <a:noFill/>
          <a:ln/>
        </p:spPr>
        <p:txBody>
          <a:bodyPr wrap="square" lIns="0" tIns="0" rIns="0" bIns="0" rtlCol="0" anchor="t"/>
          <a:lstStyle/>
          <a:p>
            <a:pPr marL="0" indent="0" algn="ctr">
              <a:buNone/>
            </a:pPr>
            <a:r>
              <a:rPr lang="en-US" sz="3400" b="1" dirty="0">
                <a:solidFill>
                  <a:srgbClr val="C15F3C"/>
                </a:solidFill>
                <a:latin typeface="Vazirmatn" pitchFamily="34" charset="0"/>
                <a:ea typeface="Vazirmatn" pitchFamily="34" charset="-122"/>
                <a:cs typeface="Vazirmatn" pitchFamily="34" charset="-120"/>
              </a:rPr>
              <a:t>$0</a:t>
            </a:r>
            <a:endParaRPr lang="en-US" sz="3400" dirty="0"/>
          </a:p>
        </p:txBody>
      </p:sp>
      <p:sp>
        <p:nvSpPr>
          <p:cNvPr id="9" name="Text 5"/>
          <p:cNvSpPr txBox="1"/>
          <p:nvPr/>
        </p:nvSpPr>
        <p:spPr>
          <a:xfrm>
            <a:off x="9646920" y="3840480"/>
            <a:ext cx="1828800" cy="2377440"/>
          </a:xfrm>
          <a:prstGeom prst="rect">
            <a:avLst/>
          </a:prstGeom>
          <a:noFill/>
          <a:ln/>
        </p:spPr>
        <p:txBody>
          <a:bodyPr wrap="square" lIns="0" tIns="0" rIns="0" bIns="0" rtlCol="0" anchor="t"/>
          <a:lstStyle/>
          <a:p>
            <a:pPr marL="0" indent="0" algn="ctr" rtl="1">
              <a:buNone/>
            </a:pPr>
            <a:r>
              <a:rPr lang="en-US" sz="1400" dirty="0">
                <a:solidFill>
                  <a:srgbClr val="5E5D59"/>
                </a:solidFill>
                <a:latin typeface="Vazirmatn" pitchFamily="34" charset="0"/>
                <a:ea typeface="Vazirmatn" pitchFamily="34" charset="-122"/>
                <a:cs typeface="Vazirmatn" pitchFamily="34" charset="-120"/>
              </a:rPr>
              <a:t>استفاده‌ی سبک</a:t>
            </a:r>
            <a:endParaRPr lang="en-US" sz="1400" dirty="0"/>
          </a:p>
          <a:p>
            <a:pPr marL="0" indent="0" algn="ctr" rtl="1">
              <a:buNone/>
            </a:pPr>
            <a:r>
              <a:rPr lang="en-US" sz="1400" dirty="0">
                <a:solidFill>
                  <a:srgbClr val="5E5D59"/>
                </a:solidFill>
                <a:latin typeface="Vazirmatn" pitchFamily="34" charset="0"/>
                <a:ea typeface="Vazirmatn" pitchFamily="34" charset="-122"/>
                <a:cs typeface="Vazirmatn" pitchFamily="34" charset="-120"/>
              </a:rPr>
              <a:t>Sonnet و Haiku</a:t>
            </a:r>
            <a:endParaRPr lang="en-US" sz="1400" dirty="0"/>
          </a:p>
        </p:txBody>
      </p:sp>
      <p:sp>
        <p:nvSpPr>
          <p:cNvPr id="10" name="Shape 6"/>
          <p:cNvSpPr/>
          <p:nvPr/>
        </p:nvSpPr>
        <p:spPr>
          <a:xfrm>
            <a:off x="7269480" y="1600200"/>
            <a:ext cx="2103120" cy="4297680"/>
          </a:xfrm>
          <a:prstGeom prst="roundRect">
            <a:avLst>
              <a:gd name="adj" fmla="val 5217"/>
            </a:avLst>
          </a:prstGeom>
          <a:solidFill>
            <a:srgbClr val="D97757"/>
          </a:solidFill>
          <a:ln w="12700">
            <a:solidFill>
              <a:srgbClr val="E3DED3"/>
            </a:solidFill>
            <a:prstDash val="solid"/>
          </a:ln>
        </p:spPr>
      </p:sp>
      <p:sp>
        <p:nvSpPr>
          <p:cNvPr id="11" name="Text 7"/>
          <p:cNvSpPr txBox="1"/>
          <p:nvPr/>
        </p:nvSpPr>
        <p:spPr>
          <a:xfrm>
            <a:off x="7360920" y="2377440"/>
            <a:ext cx="1920240" cy="457200"/>
          </a:xfrm>
          <a:prstGeom prst="rect">
            <a:avLst/>
          </a:prstGeom>
          <a:noFill/>
          <a:ln/>
        </p:spPr>
        <p:txBody>
          <a:bodyPr wrap="square" lIns="0" tIns="0" rIns="0" bIns="0" rtlCol="0" anchor="t"/>
          <a:lstStyle/>
          <a:p>
            <a:pPr marL="0" indent="0" algn="ctr">
              <a:buNone/>
            </a:pPr>
            <a:r>
              <a:rPr lang="en-US" sz="2000" b="1" dirty="0">
                <a:solidFill>
                  <a:srgbClr val="FFFFFF"/>
                </a:solidFill>
                <a:latin typeface="Vazirmatn" pitchFamily="34" charset="0"/>
                <a:ea typeface="Vazirmatn" pitchFamily="34" charset="-122"/>
                <a:cs typeface="Vazirmatn" pitchFamily="34" charset="-120"/>
              </a:rPr>
              <a:t>Pro</a:t>
            </a:r>
            <a:endParaRPr lang="en-US" sz="2000" dirty="0"/>
          </a:p>
        </p:txBody>
      </p:sp>
      <p:sp>
        <p:nvSpPr>
          <p:cNvPr id="12" name="Text 8"/>
          <p:cNvSpPr txBox="1"/>
          <p:nvPr/>
        </p:nvSpPr>
        <p:spPr>
          <a:xfrm>
            <a:off x="7360920" y="2926080"/>
            <a:ext cx="1920240" cy="731520"/>
          </a:xfrm>
          <a:prstGeom prst="rect">
            <a:avLst/>
          </a:prstGeom>
          <a:noFill/>
          <a:ln/>
        </p:spPr>
        <p:txBody>
          <a:bodyPr wrap="square" lIns="0" tIns="0" rIns="0" bIns="0" rtlCol="0" anchor="t"/>
          <a:lstStyle/>
          <a:p>
            <a:pPr marL="0" indent="0" algn="ctr">
              <a:buNone/>
            </a:pPr>
            <a:r>
              <a:rPr lang="en-US" sz="3400" b="1" dirty="0">
                <a:solidFill>
                  <a:srgbClr val="FFFFFF"/>
                </a:solidFill>
                <a:latin typeface="Vazirmatn" pitchFamily="34" charset="0"/>
                <a:ea typeface="Vazirmatn" pitchFamily="34" charset="-122"/>
                <a:cs typeface="Vazirmatn" pitchFamily="34" charset="-120"/>
              </a:rPr>
              <a:t>$20</a:t>
            </a:r>
            <a:endParaRPr lang="en-US" sz="3400" dirty="0"/>
          </a:p>
        </p:txBody>
      </p:sp>
      <p:sp>
        <p:nvSpPr>
          <p:cNvPr id="13" name="Text 9"/>
          <p:cNvSpPr txBox="1"/>
          <p:nvPr/>
        </p:nvSpPr>
        <p:spPr>
          <a:xfrm>
            <a:off x="7406640" y="3840480"/>
            <a:ext cx="1828800" cy="2377440"/>
          </a:xfrm>
          <a:prstGeom prst="rect">
            <a:avLst/>
          </a:prstGeom>
          <a:noFill/>
          <a:ln/>
        </p:spPr>
        <p:txBody>
          <a:bodyPr wrap="square" lIns="0" tIns="0" rIns="0" bIns="0" rtlCol="0" anchor="t"/>
          <a:lstStyle/>
          <a:p>
            <a:pPr marL="0" indent="0" algn="ctr" rtl="1">
              <a:buNone/>
            </a:pPr>
            <a:r>
              <a:rPr lang="en-US" sz="1400" dirty="0">
                <a:solidFill>
                  <a:srgbClr val="FFFFFF"/>
                </a:solidFill>
                <a:latin typeface="Vazirmatn" pitchFamily="34" charset="0"/>
                <a:ea typeface="Vazirmatn" pitchFamily="34" charset="-122"/>
                <a:cs typeface="Vazirmatn" pitchFamily="34" charset="-120"/>
              </a:rPr>
              <a:t>≥۵ برابر Free</a:t>
            </a:r>
            <a:endParaRPr lang="en-US" sz="1400" dirty="0"/>
          </a:p>
          <a:p>
            <a:pPr marL="0" indent="0" algn="ctr" rtl="1">
              <a:buNone/>
            </a:pPr>
            <a:r>
              <a:rPr lang="en-US" sz="1400" dirty="0">
                <a:solidFill>
                  <a:srgbClr val="FFFFFF"/>
                </a:solidFill>
                <a:latin typeface="Vazirmatn" pitchFamily="34" charset="0"/>
                <a:ea typeface="Vazirmatn" pitchFamily="34" charset="-122"/>
                <a:cs typeface="Vazirmatn" pitchFamily="34" charset="-120"/>
              </a:rPr>
              <a:t>Opus + Claude Code</a:t>
            </a:r>
            <a:endParaRPr lang="en-US" sz="1400" dirty="0"/>
          </a:p>
          <a:p>
            <a:pPr marL="0" indent="0" algn="ctr" rtl="1">
              <a:buNone/>
            </a:pPr>
            <a:r>
              <a:rPr lang="en-US" sz="1400" dirty="0">
                <a:solidFill>
                  <a:srgbClr val="FFFFFF"/>
                </a:solidFill>
                <a:latin typeface="Vazirmatn" pitchFamily="34" charset="0"/>
                <a:ea typeface="Vazirmatn" pitchFamily="34" charset="-122"/>
                <a:cs typeface="Vazirmatn" pitchFamily="34" charset="-120"/>
              </a:rPr>
              <a:t>$17 با پرداخت سالانه</a:t>
            </a:r>
            <a:endParaRPr lang="en-US" sz="1400" dirty="0"/>
          </a:p>
        </p:txBody>
      </p:sp>
      <p:sp>
        <p:nvSpPr>
          <p:cNvPr id="14" name="Shape 10"/>
          <p:cNvSpPr/>
          <p:nvPr/>
        </p:nvSpPr>
        <p:spPr>
          <a:xfrm>
            <a:off x="5029200" y="1600200"/>
            <a:ext cx="2103120" cy="4297680"/>
          </a:xfrm>
          <a:prstGeom prst="roundRect">
            <a:avLst>
              <a:gd name="adj" fmla="val 5217"/>
            </a:avLst>
          </a:prstGeom>
          <a:solidFill>
            <a:srgbClr val="FFFFFF"/>
          </a:solidFill>
          <a:ln w="12700">
            <a:solidFill>
              <a:srgbClr val="E3DED3"/>
            </a:solidFill>
            <a:prstDash val="solid"/>
          </a:ln>
        </p:spPr>
      </p:sp>
      <p:sp>
        <p:nvSpPr>
          <p:cNvPr id="15" name="Text 11"/>
          <p:cNvSpPr txBox="1"/>
          <p:nvPr/>
        </p:nvSpPr>
        <p:spPr>
          <a:xfrm>
            <a:off x="5120640" y="2377440"/>
            <a:ext cx="1920240" cy="457200"/>
          </a:xfrm>
          <a:prstGeom prst="rect">
            <a:avLst/>
          </a:prstGeom>
          <a:noFill/>
          <a:ln/>
        </p:spPr>
        <p:txBody>
          <a:bodyPr wrap="square" lIns="0" tIns="0" rIns="0" bIns="0" rtlCol="0" anchor="t"/>
          <a:lstStyle/>
          <a:p>
            <a:pPr marL="0" indent="0" algn="ctr">
              <a:buNone/>
            </a:pPr>
            <a:r>
              <a:rPr lang="en-US" sz="2000" b="1" dirty="0">
                <a:solidFill>
                  <a:srgbClr val="1F1E1D"/>
                </a:solidFill>
                <a:latin typeface="Vazirmatn" pitchFamily="34" charset="0"/>
                <a:ea typeface="Vazirmatn" pitchFamily="34" charset="-122"/>
                <a:cs typeface="Vazirmatn" pitchFamily="34" charset="-120"/>
              </a:rPr>
              <a:t>Max 5x</a:t>
            </a:r>
            <a:endParaRPr lang="en-US" sz="2000" dirty="0"/>
          </a:p>
        </p:txBody>
      </p:sp>
      <p:sp>
        <p:nvSpPr>
          <p:cNvPr id="16" name="Text 12"/>
          <p:cNvSpPr txBox="1"/>
          <p:nvPr/>
        </p:nvSpPr>
        <p:spPr>
          <a:xfrm>
            <a:off x="5120640" y="2926080"/>
            <a:ext cx="1920240" cy="731520"/>
          </a:xfrm>
          <a:prstGeom prst="rect">
            <a:avLst/>
          </a:prstGeom>
          <a:noFill/>
          <a:ln/>
        </p:spPr>
        <p:txBody>
          <a:bodyPr wrap="square" lIns="0" tIns="0" rIns="0" bIns="0" rtlCol="0" anchor="t"/>
          <a:lstStyle/>
          <a:p>
            <a:pPr marL="0" indent="0" algn="ctr">
              <a:buNone/>
            </a:pPr>
            <a:r>
              <a:rPr lang="en-US" sz="3400" b="1" dirty="0">
                <a:solidFill>
                  <a:srgbClr val="C15F3C"/>
                </a:solidFill>
                <a:latin typeface="Vazirmatn" pitchFamily="34" charset="0"/>
                <a:ea typeface="Vazirmatn" pitchFamily="34" charset="-122"/>
                <a:cs typeface="Vazirmatn" pitchFamily="34" charset="-120"/>
              </a:rPr>
              <a:t>$100</a:t>
            </a:r>
            <a:endParaRPr lang="en-US" sz="3400" dirty="0"/>
          </a:p>
        </p:txBody>
      </p:sp>
      <p:sp>
        <p:nvSpPr>
          <p:cNvPr id="17" name="Text 13"/>
          <p:cNvSpPr txBox="1"/>
          <p:nvPr/>
        </p:nvSpPr>
        <p:spPr>
          <a:xfrm>
            <a:off x="5166360" y="3840480"/>
            <a:ext cx="1828800" cy="2377440"/>
          </a:xfrm>
          <a:prstGeom prst="rect">
            <a:avLst/>
          </a:prstGeom>
          <a:noFill/>
          <a:ln/>
        </p:spPr>
        <p:txBody>
          <a:bodyPr wrap="square" lIns="0" tIns="0" rIns="0" bIns="0" rtlCol="0" anchor="t"/>
          <a:lstStyle/>
          <a:p>
            <a:pPr marL="0" indent="0" algn="ctr" rtl="1">
              <a:buNone/>
            </a:pPr>
            <a:r>
              <a:rPr lang="en-US" sz="1400" dirty="0">
                <a:solidFill>
                  <a:srgbClr val="5E5D59"/>
                </a:solidFill>
                <a:latin typeface="Vazirmatn" pitchFamily="34" charset="0"/>
                <a:ea typeface="Vazirmatn" pitchFamily="34" charset="-122"/>
                <a:cs typeface="Vazirmatn" pitchFamily="34" charset="-120"/>
              </a:rPr>
              <a:t>۵ برابر Pro</a:t>
            </a:r>
            <a:endParaRPr lang="en-US" sz="1400" dirty="0"/>
          </a:p>
          <a:p>
            <a:pPr marL="0" indent="0" algn="ctr" rtl="1">
              <a:buNone/>
            </a:pPr>
            <a:r>
              <a:rPr lang="en-US" sz="1400" dirty="0">
                <a:solidFill>
                  <a:srgbClr val="5E5D59"/>
                </a:solidFill>
                <a:latin typeface="Vazirmatn" pitchFamily="34" charset="0"/>
                <a:ea typeface="Vazirmatn" pitchFamily="34" charset="-122"/>
                <a:cs typeface="Vazirmatn" pitchFamily="34" charset="-120"/>
              </a:rPr>
              <a:t>اولویت در شلوغی</a:t>
            </a:r>
            <a:endParaRPr lang="en-US" sz="1400" dirty="0"/>
          </a:p>
        </p:txBody>
      </p:sp>
      <p:sp>
        <p:nvSpPr>
          <p:cNvPr id="18" name="Shape 14"/>
          <p:cNvSpPr/>
          <p:nvPr/>
        </p:nvSpPr>
        <p:spPr>
          <a:xfrm>
            <a:off x="2788920" y="1600200"/>
            <a:ext cx="2103120" cy="4297680"/>
          </a:xfrm>
          <a:prstGeom prst="roundRect">
            <a:avLst>
              <a:gd name="adj" fmla="val 5217"/>
            </a:avLst>
          </a:prstGeom>
          <a:solidFill>
            <a:srgbClr val="FFFFFF"/>
          </a:solidFill>
          <a:ln w="12700">
            <a:solidFill>
              <a:srgbClr val="E3DED3"/>
            </a:solidFill>
            <a:prstDash val="solid"/>
          </a:ln>
        </p:spPr>
      </p:sp>
      <p:sp>
        <p:nvSpPr>
          <p:cNvPr id="19" name="Text 15"/>
          <p:cNvSpPr txBox="1"/>
          <p:nvPr/>
        </p:nvSpPr>
        <p:spPr>
          <a:xfrm>
            <a:off x="2880360" y="2377440"/>
            <a:ext cx="1920240" cy="457200"/>
          </a:xfrm>
          <a:prstGeom prst="rect">
            <a:avLst/>
          </a:prstGeom>
          <a:noFill/>
          <a:ln/>
        </p:spPr>
        <p:txBody>
          <a:bodyPr wrap="square" lIns="0" tIns="0" rIns="0" bIns="0" rtlCol="0" anchor="t"/>
          <a:lstStyle/>
          <a:p>
            <a:pPr marL="0" indent="0" algn="ctr">
              <a:buNone/>
            </a:pPr>
            <a:r>
              <a:rPr lang="en-US" sz="2000" b="1" dirty="0">
                <a:solidFill>
                  <a:srgbClr val="1F1E1D"/>
                </a:solidFill>
                <a:latin typeface="Vazirmatn" pitchFamily="34" charset="0"/>
                <a:ea typeface="Vazirmatn" pitchFamily="34" charset="-122"/>
                <a:cs typeface="Vazirmatn" pitchFamily="34" charset="-120"/>
              </a:rPr>
              <a:t>Max 20x</a:t>
            </a:r>
            <a:endParaRPr lang="en-US" sz="2000" dirty="0"/>
          </a:p>
        </p:txBody>
      </p:sp>
      <p:sp>
        <p:nvSpPr>
          <p:cNvPr id="20" name="Text 16"/>
          <p:cNvSpPr txBox="1"/>
          <p:nvPr/>
        </p:nvSpPr>
        <p:spPr>
          <a:xfrm>
            <a:off x="2880360" y="2926080"/>
            <a:ext cx="1920240" cy="731520"/>
          </a:xfrm>
          <a:prstGeom prst="rect">
            <a:avLst/>
          </a:prstGeom>
          <a:noFill/>
          <a:ln/>
        </p:spPr>
        <p:txBody>
          <a:bodyPr wrap="square" lIns="0" tIns="0" rIns="0" bIns="0" rtlCol="0" anchor="t"/>
          <a:lstStyle/>
          <a:p>
            <a:pPr marL="0" indent="0" algn="ctr">
              <a:buNone/>
            </a:pPr>
            <a:r>
              <a:rPr lang="en-US" sz="3400" b="1" dirty="0">
                <a:solidFill>
                  <a:srgbClr val="C15F3C"/>
                </a:solidFill>
                <a:latin typeface="Vazirmatn" pitchFamily="34" charset="0"/>
                <a:ea typeface="Vazirmatn" pitchFamily="34" charset="-122"/>
                <a:cs typeface="Vazirmatn" pitchFamily="34" charset="-120"/>
              </a:rPr>
              <a:t>$200</a:t>
            </a:r>
            <a:endParaRPr lang="en-US" sz="3400" dirty="0"/>
          </a:p>
        </p:txBody>
      </p:sp>
      <p:sp>
        <p:nvSpPr>
          <p:cNvPr id="21" name="Text 17"/>
          <p:cNvSpPr txBox="1"/>
          <p:nvPr/>
        </p:nvSpPr>
        <p:spPr>
          <a:xfrm>
            <a:off x="2926080" y="3840480"/>
            <a:ext cx="1828800" cy="2377440"/>
          </a:xfrm>
          <a:prstGeom prst="rect">
            <a:avLst/>
          </a:prstGeom>
          <a:noFill/>
          <a:ln/>
        </p:spPr>
        <p:txBody>
          <a:bodyPr wrap="square" lIns="0" tIns="0" rIns="0" bIns="0" rtlCol="0" anchor="t"/>
          <a:lstStyle/>
          <a:p>
            <a:pPr marL="0" indent="0" algn="ctr" rtl="1">
              <a:buNone/>
            </a:pPr>
            <a:r>
              <a:rPr lang="en-US" sz="1400" dirty="0">
                <a:solidFill>
                  <a:srgbClr val="5E5D59"/>
                </a:solidFill>
                <a:latin typeface="Vazirmatn" pitchFamily="34" charset="0"/>
                <a:ea typeface="Vazirmatn" pitchFamily="34" charset="-122"/>
                <a:cs typeface="Vazirmatn" pitchFamily="34" charset="-120"/>
              </a:rPr>
              <a:t>۲۰ برابر Pro</a:t>
            </a:r>
            <a:endParaRPr lang="en-US" sz="1400" dirty="0"/>
          </a:p>
          <a:p>
            <a:pPr marL="0" indent="0" algn="ctr" rtl="1">
              <a:buNone/>
            </a:pPr>
            <a:r>
              <a:rPr lang="en-US" sz="1400" dirty="0">
                <a:solidFill>
                  <a:srgbClr val="5E5D59"/>
                </a:solidFill>
                <a:latin typeface="Vazirmatn" pitchFamily="34" charset="0"/>
                <a:ea typeface="Vazirmatn" pitchFamily="34" charset="-122"/>
                <a:cs typeface="Vazirmatn" pitchFamily="34" charset="-120"/>
              </a:rPr>
              <a:t>برای کار تمام‌وقت</a:t>
            </a:r>
            <a:endParaRPr lang="en-US" sz="1400" dirty="0"/>
          </a:p>
        </p:txBody>
      </p:sp>
      <p:sp>
        <p:nvSpPr>
          <p:cNvPr id="22" name="Shape 18"/>
          <p:cNvSpPr/>
          <p:nvPr/>
        </p:nvSpPr>
        <p:spPr>
          <a:xfrm>
            <a:off x="548640" y="1600200"/>
            <a:ext cx="2103120" cy="4297680"/>
          </a:xfrm>
          <a:prstGeom prst="roundRect">
            <a:avLst>
              <a:gd name="adj" fmla="val 5217"/>
            </a:avLst>
          </a:prstGeom>
          <a:solidFill>
            <a:srgbClr val="FFFFFF"/>
          </a:solidFill>
          <a:ln w="12700">
            <a:solidFill>
              <a:srgbClr val="E3DED3"/>
            </a:solidFill>
            <a:prstDash val="solid"/>
          </a:ln>
        </p:spPr>
      </p:sp>
      <p:sp>
        <p:nvSpPr>
          <p:cNvPr id="23" name="Text 19"/>
          <p:cNvSpPr txBox="1"/>
          <p:nvPr/>
        </p:nvSpPr>
        <p:spPr>
          <a:xfrm>
            <a:off x="640080" y="2377440"/>
            <a:ext cx="1920240" cy="457200"/>
          </a:xfrm>
          <a:prstGeom prst="rect">
            <a:avLst/>
          </a:prstGeom>
          <a:noFill/>
          <a:ln/>
        </p:spPr>
        <p:txBody>
          <a:bodyPr wrap="square" lIns="0" tIns="0" rIns="0" bIns="0" rtlCol="0" anchor="t"/>
          <a:lstStyle/>
          <a:p>
            <a:pPr marL="0" indent="0" algn="ctr">
              <a:buNone/>
            </a:pPr>
            <a:r>
              <a:rPr lang="en-US" sz="2000" b="1" dirty="0">
                <a:solidFill>
                  <a:srgbClr val="1F1E1D"/>
                </a:solidFill>
                <a:latin typeface="Vazirmatn" pitchFamily="34" charset="0"/>
                <a:ea typeface="Vazirmatn" pitchFamily="34" charset="-122"/>
                <a:cs typeface="Vazirmatn" pitchFamily="34" charset="-120"/>
              </a:rPr>
              <a:t>Team / Ent.</a:t>
            </a:r>
            <a:endParaRPr lang="en-US" sz="2000" dirty="0"/>
          </a:p>
        </p:txBody>
      </p:sp>
      <p:sp>
        <p:nvSpPr>
          <p:cNvPr id="24" name="Text 20"/>
          <p:cNvSpPr txBox="1"/>
          <p:nvPr/>
        </p:nvSpPr>
        <p:spPr>
          <a:xfrm>
            <a:off x="640080" y="2926080"/>
            <a:ext cx="1920240" cy="731520"/>
          </a:xfrm>
          <a:prstGeom prst="rect">
            <a:avLst/>
          </a:prstGeom>
          <a:noFill/>
          <a:ln/>
        </p:spPr>
        <p:txBody>
          <a:bodyPr wrap="square" lIns="0" tIns="0" rIns="0" bIns="0" rtlCol="0" anchor="t"/>
          <a:lstStyle/>
          <a:p>
            <a:pPr marL="0" indent="0" algn="ctr" rtl="0">
              <a:buNone/>
            </a:pPr>
            <a:r>
              <a:rPr lang="en-US" sz="3400" b="1" dirty="0">
                <a:solidFill>
                  <a:srgbClr val="C15F3C"/>
                </a:solidFill>
                <a:latin typeface="Vazirmatn" pitchFamily="34" charset="0"/>
                <a:ea typeface="Vazirmatn" pitchFamily="34" charset="-122"/>
                <a:cs typeface="Vazirmatn" pitchFamily="34" charset="-120"/>
              </a:rPr>
              <a:t>$25+</a:t>
            </a:r>
            <a:endParaRPr lang="en-US" sz="3400" dirty="0"/>
          </a:p>
        </p:txBody>
      </p:sp>
      <p:sp>
        <p:nvSpPr>
          <p:cNvPr id="25" name="Text 21"/>
          <p:cNvSpPr txBox="1"/>
          <p:nvPr/>
        </p:nvSpPr>
        <p:spPr>
          <a:xfrm>
            <a:off x="685800" y="3840480"/>
            <a:ext cx="1828800" cy="2377440"/>
          </a:xfrm>
          <a:prstGeom prst="rect">
            <a:avLst/>
          </a:prstGeom>
          <a:noFill/>
          <a:ln/>
        </p:spPr>
        <p:txBody>
          <a:bodyPr wrap="square" lIns="0" tIns="0" rIns="0" bIns="0" rtlCol="0" anchor="t"/>
          <a:lstStyle/>
          <a:p>
            <a:pPr marL="0" indent="0" algn="ctr" rtl="1">
              <a:buNone/>
            </a:pPr>
            <a:r>
              <a:rPr lang="en-US" sz="1400" dirty="0">
                <a:solidFill>
                  <a:srgbClr val="5E5D59"/>
                </a:solidFill>
                <a:latin typeface="Vazirmatn" pitchFamily="34" charset="0"/>
                <a:ea typeface="Vazirmatn" pitchFamily="34" charset="-122"/>
                <a:cs typeface="Vazirmatn" pitchFamily="34" charset="-120"/>
              </a:rPr>
              <a:t>برای سازمان‌ها</a:t>
            </a:r>
            <a:endParaRPr lang="en-US" sz="1400" dirty="0"/>
          </a:p>
          <a:p>
            <a:pPr marL="0" indent="0" algn="ctr" rtl="1">
              <a:buNone/>
            </a:pPr>
            <a:r>
              <a:rPr lang="en-US" sz="1400" dirty="0">
                <a:solidFill>
                  <a:srgbClr val="5E5D59"/>
                </a:solidFill>
                <a:latin typeface="Vazirmatn" pitchFamily="34" charset="0"/>
                <a:ea typeface="Vazirmatn" pitchFamily="34" charset="-122"/>
                <a:cs typeface="Vazirmatn" pitchFamily="34" charset="-120"/>
              </a:rPr>
              <a:t>به ازای هر نفر</a:t>
            </a:r>
            <a:endParaRPr lang="en-US" sz="1400" dirty="0"/>
          </a:p>
        </p:txBody>
      </p:sp>
      <p:sp>
        <p:nvSpPr>
          <p:cNvPr id="26" name="Text 22"/>
          <p:cNvSpPr txBox="1"/>
          <p:nvPr/>
        </p:nvSpPr>
        <p:spPr>
          <a:xfrm>
            <a:off x="7269480" y="5943600"/>
            <a:ext cx="2103120" cy="320040"/>
          </a:xfrm>
          <a:prstGeom prst="rect">
            <a:avLst/>
          </a:prstGeom>
          <a:noFill/>
          <a:ln/>
        </p:spPr>
        <p:txBody>
          <a:bodyPr wrap="square" lIns="0" tIns="0" rIns="0" bIns="0" rtlCol="0" anchor="t"/>
          <a:lstStyle/>
          <a:p>
            <a:pPr marL="0" indent="0" algn="ctr" rtl="1">
              <a:buNone/>
            </a:pPr>
            <a:r>
              <a:rPr lang="en-US" sz="1300" b="1" dirty="0">
                <a:solidFill>
                  <a:srgbClr val="C15F3C"/>
                </a:solidFill>
                <a:latin typeface="Vazirmatn" pitchFamily="34" charset="0"/>
                <a:ea typeface="Vazirmatn" pitchFamily="34" charset="-122"/>
                <a:cs typeface="Vazirmatn" pitchFamily="34" charset="-120"/>
              </a:rPr>
              <a:t>پیشنهاد برای دانشجو</a:t>
            </a:r>
            <a:endParaRPr lang="en-US" sz="1300" dirty="0"/>
          </a:p>
        </p:txBody>
      </p:sp>
      <p:sp>
        <p:nvSpPr>
          <p:cNvPr id="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16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1149085">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مقایسه‌ی سهمیه‌ی مصرف هر پلن</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تقریبی؛ سهمیه‌ی هر جلسه‌ی ۵ ساعته نسبت به Free = ۱</a:t>
            </a:r>
            <a:endParaRPr lang="en-US" sz="1400" dirty="0"/>
          </a:p>
        </p:txBody>
      </p:sp>
      <p:graphicFrame>
        <p:nvGraphicFramePr>
          <p:cNvPr id="6" name="Chart 0"/>
          <p:cNvGraphicFramePr/>
          <p:nvPr/>
        </p:nvGraphicFramePr>
        <p:xfrm>
          <a:off x="1097280" y="1554480"/>
          <a:ext cx="10058400" cy="4572000"/>
        </p:xfrm>
        <a:graphic>
          <a:graphicData uri="http://schemas.openxmlformats.org/drawingml/2006/chart">
            <c:chart xmlns:c="http://schemas.openxmlformats.org/drawingml/2006/chart" xmlns:r="http://schemas.openxmlformats.org/officeDocument/2006/relationships" r:id="rId4"/>
          </a:graphicData>
        </a:graphic>
      </p:graphicFrame>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17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15744061">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محدودیت مصرف چطور حساب می‌شود؟</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دو لایه: جلسه‌ی ۵ ساعته + سقف هفتگی</a:t>
            </a:r>
            <a:endParaRPr lang="en-US" sz="1400" dirty="0"/>
          </a:p>
        </p:txBody>
      </p:sp>
      <p:sp>
        <p:nvSpPr>
          <p:cNvPr id="6" name="Shape 2"/>
          <p:cNvSpPr/>
          <p:nvPr/>
        </p:nvSpPr>
        <p:spPr>
          <a:xfrm>
            <a:off x="6263640" y="1554480"/>
            <a:ext cx="5349240" cy="2514600"/>
          </a:xfrm>
          <a:prstGeom prst="roundRect">
            <a:avLst>
              <a:gd name="adj" fmla="val 4364"/>
            </a:avLst>
          </a:prstGeom>
          <a:solidFill>
            <a:srgbClr val="FFFFFF"/>
          </a:solidFill>
          <a:ln w="12700">
            <a:solidFill>
              <a:srgbClr val="E3DED3"/>
            </a:solidFill>
            <a:prstDash val="solid"/>
          </a:ln>
        </p:spPr>
      </p:sp>
      <p:sp>
        <p:nvSpPr>
          <p:cNvPr id="7" name="Shape 3"/>
          <p:cNvSpPr/>
          <p:nvPr/>
        </p:nvSpPr>
        <p:spPr>
          <a:xfrm>
            <a:off x="548640" y="1554480"/>
            <a:ext cx="5349240" cy="2514600"/>
          </a:xfrm>
          <a:prstGeom prst="roundRect">
            <a:avLst>
              <a:gd name="adj" fmla="val 4364"/>
            </a:avLst>
          </a:prstGeom>
          <a:solidFill>
            <a:srgbClr val="FFFFFF"/>
          </a:solidFill>
          <a:ln w="12700">
            <a:solidFill>
              <a:srgbClr val="E3DED3"/>
            </a:solidFill>
            <a:prstDash val="solid"/>
          </a:ln>
        </p:spPr>
      </p:sp>
      <p:pic>
        <p:nvPicPr>
          <p:cNvPr id="8" name="Image 1" descr="preencoded.png"/>
          <p:cNvPicPr>
            <a:picLocks noChangeAspect="1"/>
          </p:cNvPicPr>
          <p:nvPr/>
        </p:nvPicPr>
        <p:blipFill>
          <a:blip r:embed="rId4"/>
          <a:stretch>
            <a:fillRect/>
          </a:stretch>
        </p:blipFill>
        <p:spPr>
          <a:xfrm>
            <a:off x="10789920" y="1783080"/>
            <a:ext cx="548640" cy="548640"/>
          </a:xfrm>
          <a:prstGeom prst="rect">
            <a:avLst/>
          </a:prstGeom>
        </p:spPr>
      </p:pic>
      <p:sp>
        <p:nvSpPr>
          <p:cNvPr id="9" name="Text 4"/>
          <p:cNvSpPr txBox="1"/>
          <p:nvPr/>
        </p:nvSpPr>
        <p:spPr>
          <a:xfrm>
            <a:off x="6492240" y="1783080"/>
            <a:ext cx="4206240" cy="502920"/>
          </a:xfrm>
          <a:prstGeom prst="rect">
            <a:avLst/>
          </a:prstGeom>
          <a:noFill/>
          <a:ln/>
        </p:spPr>
        <p:txBody>
          <a:bodyPr wrap="square" lIns="0" tIns="0" rIns="0" bIns="0" rtlCol="0" anchor="t"/>
          <a:lstStyle/>
          <a:p>
            <a:pPr marL="0" indent="0" algn="r" rtl="1">
              <a:buNone/>
            </a:pPr>
            <a:r>
              <a:rPr lang="en-US" sz="1900" b="1" dirty="0">
                <a:solidFill>
                  <a:srgbClr val="1F1E1D"/>
                </a:solidFill>
                <a:latin typeface="Vazirmatn" pitchFamily="34" charset="0"/>
                <a:ea typeface="Vazirmatn" pitchFamily="34" charset="-122"/>
                <a:cs typeface="Vazirmatn" pitchFamily="34" charset="-120"/>
              </a:rPr>
              <a:t>جلسه‌ی ۵ ساعته (Session)</a:t>
            </a:r>
            <a:endParaRPr lang="en-US" sz="1900" dirty="0"/>
          </a:p>
        </p:txBody>
      </p:sp>
      <p:sp>
        <p:nvSpPr>
          <p:cNvPr id="10" name="Text 5"/>
          <p:cNvSpPr txBox="1"/>
          <p:nvPr/>
        </p:nvSpPr>
        <p:spPr>
          <a:xfrm>
            <a:off x="6492240" y="2423160"/>
            <a:ext cx="4846320" cy="1463040"/>
          </a:xfrm>
          <a:prstGeom prst="rect">
            <a:avLst/>
          </a:prstGeom>
          <a:noFill/>
          <a:ln/>
        </p:spPr>
        <p:txBody>
          <a:bodyPr wrap="square" lIns="0" tIns="0" rIns="0" bIns="0" rtlCol="0" anchor="t"/>
          <a:lstStyle/>
          <a:p>
            <a:pPr marL="0" indent="0" algn="r" rtl="1">
              <a:buNone/>
            </a:pPr>
            <a:r>
              <a:rPr lang="en-US" sz="1500" dirty="0">
                <a:solidFill>
                  <a:srgbClr val="5E5D59"/>
                </a:solidFill>
                <a:latin typeface="Vazirmatn" pitchFamily="34" charset="0"/>
                <a:ea typeface="Vazirmatn" pitchFamily="34" charset="-122"/>
                <a:cs typeface="Vazirmatn" pitchFamily="34" charset="-120"/>
              </a:rPr>
              <a:t>با اولین پیام شروع می‌شود؛ هر پیام از سهمیه کم می‌کند و پس از ۵ ساعت دوباره پر می‌شود.</a:t>
            </a:r>
            <a:endParaRPr lang="en-US" sz="1500" dirty="0"/>
          </a:p>
        </p:txBody>
      </p:sp>
      <p:pic>
        <p:nvPicPr>
          <p:cNvPr id="11" name="Image 2" descr="preencoded.png"/>
          <p:cNvPicPr>
            <a:picLocks noChangeAspect="1"/>
          </p:cNvPicPr>
          <p:nvPr/>
        </p:nvPicPr>
        <p:blipFill>
          <a:blip r:embed="rId5"/>
          <a:stretch>
            <a:fillRect/>
          </a:stretch>
        </p:blipFill>
        <p:spPr>
          <a:xfrm>
            <a:off x="5074920" y="1783080"/>
            <a:ext cx="548640" cy="548640"/>
          </a:xfrm>
          <a:prstGeom prst="rect">
            <a:avLst/>
          </a:prstGeom>
        </p:spPr>
      </p:pic>
      <p:sp>
        <p:nvSpPr>
          <p:cNvPr id="12" name="Text 6"/>
          <p:cNvSpPr txBox="1"/>
          <p:nvPr/>
        </p:nvSpPr>
        <p:spPr>
          <a:xfrm>
            <a:off x="777240" y="1783080"/>
            <a:ext cx="4206240" cy="502920"/>
          </a:xfrm>
          <a:prstGeom prst="rect">
            <a:avLst/>
          </a:prstGeom>
          <a:noFill/>
          <a:ln/>
        </p:spPr>
        <p:txBody>
          <a:bodyPr wrap="square" lIns="0" tIns="0" rIns="0" bIns="0" rtlCol="0" anchor="t"/>
          <a:lstStyle/>
          <a:p>
            <a:pPr marL="0" indent="0" algn="r" rtl="1">
              <a:buNone/>
            </a:pPr>
            <a:r>
              <a:rPr lang="en-US" sz="1900" b="1" dirty="0">
                <a:solidFill>
                  <a:srgbClr val="1F1E1D"/>
                </a:solidFill>
                <a:latin typeface="Vazirmatn" pitchFamily="34" charset="0"/>
                <a:ea typeface="Vazirmatn" pitchFamily="34" charset="-122"/>
                <a:cs typeface="Vazirmatn" pitchFamily="34" charset="-120"/>
              </a:rPr>
              <a:t>سقف هفتگی (Weekly)</a:t>
            </a:r>
            <a:endParaRPr lang="en-US" sz="1900" dirty="0"/>
          </a:p>
        </p:txBody>
      </p:sp>
      <p:sp>
        <p:nvSpPr>
          <p:cNvPr id="13" name="Text 7"/>
          <p:cNvSpPr txBox="1"/>
          <p:nvPr/>
        </p:nvSpPr>
        <p:spPr>
          <a:xfrm>
            <a:off x="777240" y="2423160"/>
            <a:ext cx="4846320" cy="1463040"/>
          </a:xfrm>
          <a:prstGeom prst="rect">
            <a:avLst/>
          </a:prstGeom>
          <a:noFill/>
          <a:ln/>
        </p:spPr>
        <p:txBody>
          <a:bodyPr wrap="square" lIns="0" tIns="0" rIns="0" bIns="0" rtlCol="0" anchor="t"/>
          <a:lstStyle/>
          <a:p>
            <a:pPr marL="0" indent="0" algn="r" rtl="1">
              <a:buNone/>
            </a:pPr>
            <a:r>
              <a:rPr lang="en-US" sz="1500" dirty="0">
                <a:solidFill>
                  <a:srgbClr val="5E5D59"/>
                </a:solidFill>
                <a:latin typeface="Vazirmatn" pitchFamily="34" charset="0"/>
                <a:ea typeface="Vazirmatn" pitchFamily="34" charset="-122"/>
                <a:cs typeface="Vazirmatn" pitchFamily="34" charset="-120"/>
              </a:rPr>
              <a:t>سقف کل هفته، مشترک بین همه‌ی مدل‌ها و ابزارها (اپ + Claude Code). ممکن است وسط هفته به آن برسید.</a:t>
            </a:r>
            <a:endParaRPr lang="en-US" sz="1500" dirty="0"/>
          </a:p>
        </p:txBody>
      </p:sp>
      <p:sp>
        <p:nvSpPr>
          <p:cNvPr id="14" name="Text 8"/>
          <p:cNvSpPr txBox="1"/>
          <p:nvPr/>
        </p:nvSpPr>
        <p:spPr>
          <a:xfrm>
            <a:off x="548640" y="4251960"/>
            <a:ext cx="11064240" cy="365760"/>
          </a:xfrm>
          <a:prstGeom prst="rect">
            <a:avLst/>
          </a:prstGeom>
          <a:noFill/>
          <a:ln/>
        </p:spPr>
        <p:txBody>
          <a:bodyPr wrap="square" lIns="0" tIns="0" rIns="0" bIns="0" rtlCol="0" anchor="t"/>
          <a:lstStyle/>
          <a:p>
            <a:pPr marL="0" indent="0" algn="r" rtl="1">
              <a:buNone/>
            </a:pPr>
            <a:r>
              <a:rPr lang="en-US" sz="1400" dirty="0">
                <a:solidFill>
                  <a:srgbClr val="1F1E1D"/>
                </a:solidFill>
                <a:latin typeface="Vazirmatn" pitchFamily="34" charset="0"/>
                <a:ea typeface="Vazirmatn" pitchFamily="34" charset="-122"/>
                <a:cs typeface="Vazirmatn" pitchFamily="34" charset="-120"/>
              </a:rPr>
              <a:t>یک هفته = چند جلسه‌ی ۵ ساعته، همه زیر یک سقف هفتگی</a:t>
            </a:r>
            <a:endParaRPr lang="en-US" sz="1400" dirty="0"/>
          </a:p>
        </p:txBody>
      </p:sp>
      <p:sp>
        <p:nvSpPr>
          <p:cNvPr id="15" name="Shape 9"/>
          <p:cNvSpPr/>
          <p:nvPr/>
        </p:nvSpPr>
        <p:spPr>
          <a:xfrm>
            <a:off x="548640" y="4709160"/>
            <a:ext cx="11064240" cy="502920"/>
          </a:xfrm>
          <a:prstGeom prst="roundRect">
            <a:avLst>
              <a:gd name="adj" fmla="val 14545"/>
            </a:avLst>
          </a:prstGeom>
          <a:solidFill>
            <a:srgbClr val="F0EEE6"/>
          </a:solidFill>
          <a:ln w="19050">
            <a:solidFill>
              <a:srgbClr val="C15F3C"/>
            </a:solidFill>
            <a:prstDash val="dash"/>
          </a:ln>
        </p:spPr>
      </p:sp>
      <p:sp>
        <p:nvSpPr>
          <p:cNvPr id="16" name="Shape 10"/>
          <p:cNvSpPr/>
          <p:nvPr/>
        </p:nvSpPr>
        <p:spPr>
          <a:xfrm>
            <a:off x="10195560" y="4773168"/>
            <a:ext cx="1110996" cy="374904"/>
          </a:xfrm>
          <a:prstGeom prst="roundRect">
            <a:avLst>
              <a:gd name="adj" fmla="val 12195"/>
            </a:avLst>
          </a:prstGeom>
          <a:solidFill>
            <a:srgbClr val="D97757"/>
          </a:solidFill>
          <a:ln w="12700">
            <a:solidFill>
              <a:srgbClr val="D97757"/>
            </a:solidFill>
            <a:prstDash val="solid"/>
          </a:ln>
        </p:spPr>
      </p:sp>
      <p:sp>
        <p:nvSpPr>
          <p:cNvPr id="17" name="Shape 11"/>
          <p:cNvSpPr/>
          <p:nvPr/>
        </p:nvSpPr>
        <p:spPr>
          <a:xfrm>
            <a:off x="8869680" y="4773168"/>
            <a:ext cx="740664" cy="374904"/>
          </a:xfrm>
          <a:prstGeom prst="roundRect">
            <a:avLst>
              <a:gd name="adj" fmla="val 12195"/>
            </a:avLst>
          </a:prstGeom>
          <a:solidFill>
            <a:srgbClr val="D97757"/>
          </a:solidFill>
          <a:ln w="12700">
            <a:solidFill>
              <a:srgbClr val="D97757"/>
            </a:solidFill>
            <a:prstDash val="solid"/>
          </a:ln>
        </p:spPr>
      </p:sp>
      <p:sp>
        <p:nvSpPr>
          <p:cNvPr id="18" name="Shape 12"/>
          <p:cNvSpPr/>
          <p:nvPr/>
        </p:nvSpPr>
        <p:spPr>
          <a:xfrm>
            <a:off x="7543800" y="4773168"/>
            <a:ext cx="1234440" cy="374904"/>
          </a:xfrm>
          <a:prstGeom prst="roundRect">
            <a:avLst>
              <a:gd name="adj" fmla="val 12195"/>
            </a:avLst>
          </a:prstGeom>
          <a:solidFill>
            <a:srgbClr val="C15F3C"/>
          </a:solidFill>
          <a:ln w="12700">
            <a:solidFill>
              <a:srgbClr val="D97757"/>
            </a:solidFill>
            <a:prstDash val="solid"/>
          </a:ln>
        </p:spPr>
      </p:sp>
      <p:sp>
        <p:nvSpPr>
          <p:cNvPr id="19" name="Shape 13"/>
          <p:cNvSpPr/>
          <p:nvPr/>
        </p:nvSpPr>
        <p:spPr>
          <a:xfrm>
            <a:off x="6217920" y="4773168"/>
            <a:ext cx="493776" cy="374904"/>
          </a:xfrm>
          <a:prstGeom prst="roundRect">
            <a:avLst>
              <a:gd name="adj" fmla="val 12195"/>
            </a:avLst>
          </a:prstGeom>
          <a:solidFill>
            <a:srgbClr val="D97757"/>
          </a:solidFill>
          <a:ln w="12700">
            <a:solidFill>
              <a:srgbClr val="D97757"/>
            </a:solidFill>
            <a:prstDash val="solid"/>
          </a:ln>
        </p:spPr>
      </p:sp>
      <p:sp>
        <p:nvSpPr>
          <p:cNvPr id="20" name="Shape 14"/>
          <p:cNvSpPr/>
          <p:nvPr/>
        </p:nvSpPr>
        <p:spPr>
          <a:xfrm>
            <a:off x="4892040" y="4773168"/>
            <a:ext cx="987552" cy="374904"/>
          </a:xfrm>
          <a:prstGeom prst="roundRect">
            <a:avLst>
              <a:gd name="adj" fmla="val 12195"/>
            </a:avLst>
          </a:prstGeom>
          <a:solidFill>
            <a:srgbClr val="D97757"/>
          </a:solidFill>
          <a:ln w="12700">
            <a:solidFill>
              <a:srgbClr val="D97757"/>
            </a:solidFill>
            <a:prstDash val="solid"/>
          </a:ln>
        </p:spPr>
      </p:sp>
      <p:sp>
        <p:nvSpPr>
          <p:cNvPr id="21" name="Shape 15"/>
          <p:cNvSpPr/>
          <p:nvPr/>
        </p:nvSpPr>
        <p:spPr>
          <a:xfrm>
            <a:off x="3566160" y="4773168"/>
            <a:ext cx="864108" cy="374904"/>
          </a:xfrm>
          <a:prstGeom prst="roundRect">
            <a:avLst>
              <a:gd name="adj" fmla="val 12195"/>
            </a:avLst>
          </a:prstGeom>
          <a:solidFill>
            <a:srgbClr val="D97757"/>
          </a:solidFill>
          <a:ln w="12700">
            <a:solidFill>
              <a:srgbClr val="D97757"/>
            </a:solidFill>
            <a:prstDash val="solid"/>
          </a:ln>
        </p:spPr>
      </p:sp>
      <p:sp>
        <p:nvSpPr>
          <p:cNvPr id="22" name="Shape 16"/>
          <p:cNvSpPr/>
          <p:nvPr/>
        </p:nvSpPr>
        <p:spPr>
          <a:xfrm>
            <a:off x="2240280" y="4773168"/>
            <a:ext cx="370332" cy="374904"/>
          </a:xfrm>
          <a:prstGeom prst="roundRect">
            <a:avLst>
              <a:gd name="adj" fmla="val 12346"/>
            </a:avLst>
          </a:prstGeom>
          <a:solidFill>
            <a:srgbClr val="D97757"/>
          </a:solidFill>
          <a:ln w="12700">
            <a:solidFill>
              <a:srgbClr val="D97757"/>
            </a:solidFill>
            <a:prstDash val="solid"/>
          </a:ln>
        </p:spPr>
      </p:sp>
      <p:sp>
        <p:nvSpPr>
          <p:cNvPr id="23" name="Shape 17"/>
          <p:cNvSpPr/>
          <p:nvPr/>
        </p:nvSpPr>
        <p:spPr>
          <a:xfrm>
            <a:off x="914400" y="4773168"/>
            <a:ext cx="1110996" cy="374904"/>
          </a:xfrm>
          <a:prstGeom prst="roundRect">
            <a:avLst>
              <a:gd name="adj" fmla="val 12195"/>
            </a:avLst>
          </a:prstGeom>
          <a:solidFill>
            <a:srgbClr val="D97757"/>
          </a:solidFill>
          <a:ln w="12700">
            <a:solidFill>
              <a:srgbClr val="D97757"/>
            </a:solidFill>
            <a:prstDash val="solid"/>
          </a:ln>
        </p:spPr>
      </p:sp>
      <p:sp>
        <p:nvSpPr>
          <p:cNvPr id="24" name="Text 18"/>
          <p:cNvSpPr txBox="1"/>
          <p:nvPr/>
        </p:nvSpPr>
        <p:spPr>
          <a:xfrm>
            <a:off x="548640" y="5394960"/>
            <a:ext cx="11064240" cy="73152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مصرف به حجم کار بستگی دارد نه تعداد پیام: گفتگوی طولانی، فایل بزرگ و مدل قوی‌تر (Opus) = مصرف بیشتر · تمام شد؟ Extra usage با نرخ API</a:t>
            </a:r>
            <a:endParaRPr lang="en-US" sz="14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18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صفحه‌ی Usage؛ کجا مصرف را ببینیم؟</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Settings ‏←‏ Usage</a:t>
            </a:r>
            <a:endParaRPr lang="en-US" sz="1400" dirty="0"/>
          </a:p>
        </p:txBody>
      </p:sp>
      <p:pic>
        <p:nvPicPr>
          <p:cNvPr id="6" name="Image 1" descr="img/usage.png"/>
          <p:cNvPicPr>
            <a:picLocks noChangeAspect="1"/>
          </p:cNvPicPr>
          <p:nvPr/>
        </p:nvPicPr>
        <p:blipFill>
          <a:blip r:embed="rId4"/>
          <a:stretch>
            <a:fillRect/>
          </a:stretch>
        </p:blipFill>
        <p:spPr>
          <a:xfrm>
            <a:off x="548640" y="1508760"/>
            <a:ext cx="6949440" cy="4343400"/>
          </a:xfrm>
          <a:prstGeom prst="rect">
            <a:avLst/>
          </a:prstGeom>
          <a:effectLst>
            <a:outerShdw blurRad="152400" dist="50800" dir="5400000" algn="bl" rotWithShape="0">
              <a:srgbClr val="000000">
                <a:alpha val="18000"/>
              </a:srgbClr>
            </a:outerShdw>
          </a:effectLst>
        </p:spPr>
      </p:pic>
      <p:sp>
        <p:nvSpPr>
          <p:cNvPr id="7" name="Text 2"/>
          <p:cNvSpPr txBox="1"/>
          <p:nvPr/>
        </p:nvSpPr>
        <p:spPr>
          <a:xfrm>
            <a:off x="548640" y="5943600"/>
            <a:ext cx="6949440" cy="320040"/>
          </a:xfrm>
          <a:prstGeom prst="rect">
            <a:avLst/>
          </a:prstGeom>
          <a:noFill/>
          <a:ln/>
        </p:spPr>
        <p:txBody>
          <a:bodyPr wrap="square" lIns="0" tIns="0" rIns="0" bIns="0" rtlCol="0" anchor="t"/>
          <a:lstStyle/>
          <a:p>
            <a:pPr marL="0" indent="0" algn="ctr" rtl="1">
              <a:buNone/>
            </a:pPr>
            <a:r>
              <a:rPr lang="en-US" sz="1200" dirty="0">
                <a:solidFill>
                  <a:srgbClr val="5E5D59"/>
                </a:solidFill>
                <a:latin typeface="Vazirmatn" pitchFamily="34" charset="0"/>
                <a:ea typeface="Vazirmatn" pitchFamily="34" charset="-122"/>
                <a:cs typeface="Vazirmatn" pitchFamily="34" charset="-120"/>
              </a:rPr>
              <a:t>طرح شماتیک صفحه‌ی Usage در تنظیمات اپ</a:t>
            </a:r>
            <a:endParaRPr lang="en-US" sz="1200" dirty="0"/>
          </a:p>
        </p:txBody>
      </p:sp>
      <p:sp>
        <p:nvSpPr>
          <p:cNvPr id="8" name="Text 3"/>
          <p:cNvSpPr txBox="1"/>
          <p:nvPr/>
        </p:nvSpPr>
        <p:spPr>
          <a:xfrm>
            <a:off x="7772400" y="1645920"/>
            <a:ext cx="3886200" cy="4206240"/>
          </a:xfrm>
          <a:prstGeom prst="rect">
            <a:avLst/>
          </a:prstGeom>
          <a:noFill/>
          <a:ln/>
        </p:spPr>
        <p:txBody>
          <a:bodyPr wrap="square" lIns="0" tIns="0" rIns="0" bIns="0" rtlCol="0" anchor="t"/>
          <a:lstStyle/>
          <a:p>
            <a:pPr marL="342900" indent="-342900" algn="r" rtl="1">
              <a:spcAft>
                <a:spcPts val="1400"/>
              </a:spcAft>
              <a:buSzPct val="100000"/>
              <a:buChar char="•"/>
            </a:pPr>
            <a:r>
              <a:rPr lang="en-US" sz="1500">
                <a:solidFill>
                  <a:srgbClr val="1F1E1D"/>
                </a:solidFill>
                <a:latin typeface="Vazirmatn" pitchFamily="34" charset="0"/>
                <a:ea typeface="Vazirmatn" pitchFamily="34" charset="-122"/>
                <a:cs typeface="Vazirmatn" pitchFamily="34" charset="-120"/>
              </a:rPr>
              <a:t> : Current session درصد </a:t>
            </a:r>
            <a:r>
              <a:rPr lang="en-US" sz="1500" dirty="0">
                <a:solidFill>
                  <a:srgbClr val="1F1E1D"/>
                </a:solidFill>
                <a:latin typeface="Vazirmatn" pitchFamily="34" charset="0"/>
                <a:ea typeface="Vazirmatn" pitchFamily="34" charset="-122"/>
                <a:cs typeface="Vazirmatn" pitchFamily="34" charset="-120"/>
              </a:rPr>
              <a:t>مصرف جلسه‌ی ۵ ساعته و زمان ریست</a:t>
            </a:r>
            <a:endParaRPr lang="en-US" sz="1500" dirty="0"/>
          </a:p>
          <a:p>
            <a:pPr marL="342900" indent="-342900" algn="r" rtl="1">
              <a:spcAft>
                <a:spcPts val="1400"/>
              </a:spcAft>
              <a:buSzPct val="100000"/>
              <a:buChar char="•"/>
            </a:pPr>
            <a:r>
              <a:rPr lang="en-US" sz="1500">
                <a:solidFill>
                  <a:srgbClr val="1F1E1D"/>
                </a:solidFill>
                <a:latin typeface="Vazirmatn" pitchFamily="34" charset="0"/>
                <a:ea typeface="Vazirmatn" pitchFamily="34" charset="-122"/>
                <a:cs typeface="Vazirmatn" pitchFamily="34" charset="-120"/>
              </a:rPr>
              <a:t> : Weekly limits </a:t>
            </a:r>
            <a:r>
              <a:rPr lang="en-US" sz="1500" dirty="0">
                <a:solidFill>
                  <a:srgbClr val="1F1E1D"/>
                </a:solidFill>
                <a:latin typeface="Vazirmatn" pitchFamily="34" charset="0"/>
                <a:ea typeface="Vazirmatn" pitchFamily="34" charset="-122"/>
                <a:cs typeface="Vazirmatn" pitchFamily="34" charset="-120"/>
              </a:rPr>
              <a:t>سقف هفتگی همه‌ی مدل‌ها</a:t>
            </a:r>
            <a:endParaRPr lang="en-US" sz="1500" dirty="0"/>
          </a:p>
          <a:p>
            <a:pPr marL="342900" indent="-342900" algn="r" rtl="1">
              <a:spcAft>
                <a:spcPts val="1400"/>
              </a:spcAft>
              <a:buSzPct val="100000"/>
              <a:buChar char="•"/>
            </a:pPr>
            <a:r>
              <a:rPr lang="en-US" sz="1500">
                <a:solidFill>
                  <a:srgbClr val="1F1E1D"/>
                </a:solidFill>
                <a:latin typeface="Vazirmatn" pitchFamily="34" charset="0"/>
                <a:ea typeface="Vazirmatn" pitchFamily="34" charset="-122"/>
                <a:cs typeface="Vazirmatn" pitchFamily="34" charset="-120"/>
              </a:rPr>
              <a:t> Fable </a:t>
            </a:r>
            <a:r>
              <a:rPr lang="en-US" sz="1500" dirty="0">
                <a:solidFill>
                  <a:srgbClr val="1F1E1D"/>
                </a:solidFill>
                <a:latin typeface="Vazirmatn" pitchFamily="34" charset="0"/>
                <a:ea typeface="Vazirmatn" pitchFamily="34" charset="-122"/>
                <a:cs typeface="Vazirmatn" pitchFamily="34" charset="-120"/>
              </a:rPr>
              <a:t>سهمیه‌ی جداگانه دارد</a:t>
            </a:r>
            <a:endParaRPr lang="en-US" sz="1500" dirty="0"/>
          </a:p>
          <a:p>
            <a:pPr marL="342900" indent="-342900" algn="r" rtl="1">
              <a:spcAft>
                <a:spcPts val="1400"/>
              </a:spcAft>
              <a:buSzPct val="100000"/>
              <a:buChar char="•"/>
            </a:pPr>
            <a:r>
              <a:rPr lang="en-US" sz="1500">
                <a:solidFill>
                  <a:srgbClr val="1F1E1D"/>
                </a:solidFill>
                <a:latin typeface="Vazirmatn" pitchFamily="34" charset="0"/>
                <a:ea typeface="Vazirmatn" pitchFamily="34" charset="-122"/>
                <a:cs typeface="Vazirmatn" pitchFamily="34" charset="-120"/>
              </a:rPr>
              <a:t> : Extra usageادامه </a:t>
            </a:r>
            <a:r>
              <a:rPr lang="en-US" sz="1500" dirty="0">
                <a:solidFill>
                  <a:srgbClr val="1F1E1D"/>
                </a:solidFill>
                <a:latin typeface="Vazirmatn" pitchFamily="34" charset="0"/>
                <a:ea typeface="Vazirmatn" pitchFamily="34" charset="-122"/>
                <a:cs typeface="Vazirmatn" pitchFamily="34" charset="-120"/>
              </a:rPr>
              <a:t>با نرخ API پس از </a:t>
            </a:r>
            <a:r>
              <a:rPr lang="en-US" sz="1500">
                <a:solidFill>
                  <a:srgbClr val="1F1E1D"/>
                </a:solidFill>
                <a:latin typeface="Vazirmatn" pitchFamily="34" charset="0"/>
                <a:ea typeface="Vazirmatn" pitchFamily="34" charset="-122"/>
                <a:cs typeface="Vazirmatn" pitchFamily="34" charset="-120"/>
              </a:rPr>
              <a:t>اتمام سهمیه</a:t>
            </a:r>
            <a:endParaRPr lang="en-US" sz="15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19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1064166">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مقایسه با رقبا</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قیمت ماهانه‌ی پلن‌ها (دلار)</a:t>
            </a:r>
            <a:endParaRPr lang="en-US" sz="1400" dirty="0"/>
          </a:p>
        </p:txBody>
      </p:sp>
      <p:graphicFrame>
        <p:nvGraphicFramePr>
          <p:cNvPr id="6" name="Chart 0"/>
          <p:cNvGraphicFramePr/>
          <p:nvPr/>
        </p:nvGraphicFramePr>
        <p:xfrm>
          <a:off x="6126480" y="1463040"/>
          <a:ext cx="5486400" cy="44805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303520" cy="3401568"/>
        </p:xfrm>
        <a:graphic>
          <a:graphicData uri="http://schemas.openxmlformats.org/drawingml/2006/table">
            <a:tbl>
              <a:tblPr/>
              <a:tblGrid>
                <a:gridCol w="13258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566928">
                <a:tc>
                  <a:txBody>
                    <a:bodyPr/>
                    <a:lstStyle/>
                    <a:p>
                      <a:pPr marL="0" indent="0" algn="ctr">
                        <a:buNone/>
                      </a:pPr>
                      <a:r>
                        <a:rPr lang="en-US" sz="1300" b="1" dirty="0">
                          <a:solidFill>
                            <a:srgbClr val="FFFFFF"/>
                          </a:solidFill>
                          <a:latin typeface="Vazirmatn" pitchFamily="34" charset="0"/>
                          <a:ea typeface="Vazirmatn" pitchFamily="34" charset="-122"/>
                          <a:cs typeface="Vazirmatn" pitchFamily="34" charset="-120"/>
                        </a:rPr>
                        <a:t>Gemini</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D97757"/>
                    </a:solidFill>
                  </a:tcPr>
                </a:tc>
                <a:tc>
                  <a:txBody>
                    <a:bodyPr/>
                    <a:lstStyle/>
                    <a:p>
                      <a:pPr marL="0" indent="0" algn="ctr">
                        <a:buNone/>
                      </a:pPr>
                      <a:r>
                        <a:rPr lang="en-US" sz="1300" b="1" dirty="0">
                          <a:solidFill>
                            <a:srgbClr val="FFFFFF"/>
                          </a:solidFill>
                          <a:latin typeface="Vazirmatn" pitchFamily="34" charset="0"/>
                          <a:ea typeface="Vazirmatn" pitchFamily="34" charset="-122"/>
                          <a:cs typeface="Vazirmatn" pitchFamily="34" charset="-120"/>
                        </a:rPr>
                        <a:t>ChatGPT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D97757"/>
                    </a:solidFill>
                  </a:tcPr>
                </a:tc>
                <a:tc>
                  <a:txBody>
                    <a:bodyPr/>
                    <a:lstStyle/>
                    <a:p>
                      <a:pPr marL="0" indent="0" algn="ctr">
                        <a:buNone/>
                      </a:pPr>
                      <a:r>
                        <a:rPr lang="en-US" sz="1300" b="1" dirty="0">
                          <a:solidFill>
                            <a:srgbClr val="FFFFFF"/>
                          </a:solidFill>
                          <a:latin typeface="Vazirmatn" pitchFamily="34" charset="0"/>
                          <a:ea typeface="Vazirmatn" pitchFamily="34" charset="-122"/>
                          <a:cs typeface="Vazirmatn" pitchFamily="34" charset="-120"/>
                        </a:rPr>
                        <a:t>Claude</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D97757"/>
                    </a:solidFill>
                  </a:tcPr>
                </a:tc>
                <a:tc>
                  <a:txBody>
                    <a:bodyPr/>
                    <a:lstStyle/>
                    <a:p>
                      <a:pPr marL="0" indent="0" algn="ctr">
                        <a:buNone/>
                      </a:pP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D97757"/>
                    </a:solidFill>
                  </a:tcPr>
                </a:tc>
                <a:extLst>
                  <a:ext uri="{0D108BD9-81ED-4DB2-BD59-A6C34878D82A}">
                    <a16:rowId xmlns:a16="http://schemas.microsoft.com/office/drawing/2014/main" val="10000"/>
                  </a:ext>
                </a:extLst>
              </a:tr>
              <a:tr h="566928">
                <a:tc>
                  <a:txBody>
                    <a:bodyPr/>
                    <a:lstStyle/>
                    <a:p>
                      <a:pPr marL="0" indent="0" algn="ctr">
                        <a:buNone/>
                      </a:pPr>
                      <a:r>
                        <a:rPr lang="en-US" sz="1300" dirty="0">
                          <a:solidFill>
                            <a:srgbClr val="1F1E1D"/>
                          </a:solidFill>
                          <a:latin typeface="Vazirmatn" pitchFamily="34" charset="0"/>
                          <a:ea typeface="Vazirmatn" pitchFamily="34" charset="-122"/>
                          <a:cs typeface="Vazirmatn" pitchFamily="34" charset="-120"/>
                        </a:rPr>
                        <a: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1E1D"/>
                          </a:solidFill>
                          <a:latin typeface="Vazirmatn" pitchFamily="34" charset="0"/>
                          <a:ea typeface="Vazirmatn" pitchFamily="34" charset="-122"/>
                          <a:cs typeface="Vazirmatn" pitchFamily="34" charset="-120"/>
                        </a:rPr>
                        <a: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1E1D"/>
                          </a:solidFill>
                          <a:latin typeface="Vazirmatn" pitchFamily="34" charset="0"/>
                          <a:ea typeface="Vazirmatn" pitchFamily="34" charset="-122"/>
                          <a:cs typeface="Vazirmatn" pitchFamily="34" charset="-120"/>
                        </a:rPr>
                        <a: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rtl="1">
                        <a:buNone/>
                      </a:pPr>
                      <a:r>
                        <a:rPr lang="en-US" sz="1300" dirty="0">
                          <a:solidFill>
                            <a:srgbClr val="1F1E1D"/>
                          </a:solidFill>
                          <a:latin typeface="Vazirmatn" pitchFamily="34" charset="0"/>
                          <a:ea typeface="Vazirmatn" pitchFamily="34" charset="-122"/>
                          <a:cs typeface="Vazirmatn" pitchFamily="34" charset="-120"/>
                        </a:rPr>
                        <a:t>برنامه‌نویسی</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ctr">
                        <a:buNone/>
                      </a:pPr>
                      <a:r>
                        <a:rPr lang="en-US" sz="1300" dirty="0">
                          <a:solidFill>
                            <a:srgbClr val="1F1E1D"/>
                          </a:solidFill>
                          <a:latin typeface="Vazirmatn" pitchFamily="34" charset="0"/>
                          <a:ea typeface="Vazirmatn" pitchFamily="34" charset="-122"/>
                          <a:cs typeface="Vazirmatn" pitchFamily="34" charset="-120"/>
                        </a:rPr>
                        <a: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1E1D"/>
                          </a:solidFill>
                          <a:latin typeface="Vazirmatn" pitchFamily="34" charset="0"/>
                          <a:ea typeface="Vazirmatn" pitchFamily="34" charset="-122"/>
                          <a:cs typeface="Vazirmatn" pitchFamily="34" charset="-120"/>
                        </a:rPr>
                        <a: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1E1D"/>
                          </a:solidFill>
                          <a:latin typeface="Vazirmatn" pitchFamily="34" charset="0"/>
                          <a:ea typeface="Vazirmatn" pitchFamily="34" charset="-122"/>
                          <a:cs typeface="Vazirmatn" pitchFamily="34" charset="-120"/>
                        </a:rPr>
                        <a: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rtl="1">
                        <a:buNone/>
                      </a:pPr>
                      <a:r>
                        <a:rPr lang="en-US" sz="1300" dirty="0">
                          <a:solidFill>
                            <a:srgbClr val="1F1E1D"/>
                          </a:solidFill>
                          <a:latin typeface="Vazirmatn" pitchFamily="34" charset="0"/>
                          <a:ea typeface="Vazirmatn" pitchFamily="34" charset="-122"/>
                          <a:cs typeface="Vazirmatn" pitchFamily="34" charset="-120"/>
                        </a:rPr>
                        <a:t>نوشتن طبیعی</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ctr">
                        <a:buNone/>
                      </a:pPr>
                      <a:r>
                        <a:rPr lang="en-US" sz="1300" dirty="0">
                          <a:solidFill>
                            <a:srgbClr val="1F1E1D"/>
                          </a:solidFill>
                          <a:latin typeface="Vazirmatn" pitchFamily="34" charset="0"/>
                          <a:ea typeface="Vazirmatn" pitchFamily="34" charset="-122"/>
                          <a:cs typeface="Vazirmatn" pitchFamily="34" charset="-120"/>
                        </a:rPr>
                        <a: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1E1D"/>
                          </a:solidFill>
                          <a:latin typeface="Vazirmatn" pitchFamily="34" charset="0"/>
                          <a:ea typeface="Vazirmatn" pitchFamily="34" charset="-122"/>
                          <a:cs typeface="Vazirmatn" pitchFamily="34" charset="-120"/>
                        </a:rPr>
                        <a: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1E1D"/>
                          </a:solidFill>
                          <a:latin typeface="Vazirmatn" pitchFamily="34" charset="0"/>
                          <a:ea typeface="Vazirmatn" pitchFamily="34" charset="-122"/>
                          <a:cs typeface="Vazirmatn" pitchFamily="34" charset="-120"/>
                        </a:rPr>
                        <a: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rtl="1">
                        <a:buNone/>
                      </a:pPr>
                      <a:r>
                        <a:rPr lang="en-US" sz="1300" dirty="0">
                          <a:solidFill>
                            <a:srgbClr val="1F1E1D"/>
                          </a:solidFill>
                          <a:latin typeface="Vazirmatn" pitchFamily="34" charset="0"/>
                          <a:ea typeface="Vazirmatn" pitchFamily="34" charset="-122"/>
                          <a:cs typeface="Vazirmatn" pitchFamily="34" charset="-120"/>
                        </a:rPr>
                        <a:t>متن طولانی</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ctr">
                        <a:buNone/>
                      </a:pPr>
                      <a:r>
                        <a:rPr lang="en-US" sz="1300" dirty="0">
                          <a:solidFill>
                            <a:srgbClr val="1F1E1D"/>
                          </a:solidFill>
                          <a:latin typeface="Vazirmatn" pitchFamily="34" charset="0"/>
                          <a:ea typeface="Vazirmatn" pitchFamily="34" charset="-122"/>
                          <a:cs typeface="Vazirmatn" pitchFamily="34" charset="-120"/>
                        </a:rPr>
                        <a: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1E1D"/>
                          </a:solidFill>
                          <a:latin typeface="Vazirmatn" pitchFamily="34" charset="0"/>
                          <a:ea typeface="Vazirmatn" pitchFamily="34" charset="-122"/>
                          <a:cs typeface="Vazirmatn" pitchFamily="34" charset="-120"/>
                        </a:rPr>
                        <a: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1E1D"/>
                          </a:solidFill>
                          <a:latin typeface="Vazirmatn" pitchFamily="34" charset="0"/>
                          <a:ea typeface="Vazirmatn" pitchFamily="34" charset="-122"/>
                          <a:cs typeface="Vazirmatn" pitchFamily="34" charset="-120"/>
                        </a:rPr>
                        <a:t>—</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rtl="1">
                        <a:buNone/>
                      </a:pPr>
                      <a:r>
                        <a:rPr lang="en-US" sz="1300" dirty="0">
                          <a:solidFill>
                            <a:srgbClr val="1F1E1D"/>
                          </a:solidFill>
                          <a:latin typeface="Vazirmatn" pitchFamily="34" charset="0"/>
                          <a:ea typeface="Vazirmatn" pitchFamily="34" charset="-122"/>
                          <a:cs typeface="Vazirmatn" pitchFamily="34" charset="-120"/>
                        </a:rPr>
                        <a:t>تولید تصویر</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ctr" rtl="1">
                        <a:buNone/>
                      </a:pPr>
                      <a:r>
                        <a:rPr lang="en-US" sz="1300" dirty="0">
                          <a:solidFill>
                            <a:srgbClr val="1F1E1D"/>
                          </a:solidFill>
                          <a:latin typeface="Vazirmatn" pitchFamily="34" charset="0"/>
                          <a:ea typeface="Vazirmatn" pitchFamily="34" charset="-122"/>
                          <a:cs typeface="Vazirmatn" pitchFamily="34" charset="-120"/>
                        </a:rPr>
                        <a:t>سرویس‌های گوگل</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rtl="1">
                        <a:buNone/>
                      </a:pPr>
                      <a:r>
                        <a:rPr lang="en-US" sz="1300" dirty="0">
                          <a:solidFill>
                            <a:srgbClr val="1F1E1D"/>
                          </a:solidFill>
                          <a:latin typeface="Vazirmatn" pitchFamily="34" charset="0"/>
                          <a:ea typeface="Vazirmatn" pitchFamily="34" charset="-122"/>
                          <a:cs typeface="Vazirmatn" pitchFamily="34" charset="-120"/>
                        </a:rPr>
                        <a:t>صدا و تصویر</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rtl="1">
                        <a:buNone/>
                      </a:pPr>
                      <a:r>
                        <a:rPr lang="en-US" sz="1300" dirty="0">
                          <a:solidFill>
                            <a:srgbClr val="1F1E1D"/>
                          </a:solidFill>
                          <a:latin typeface="Vazirmatn" pitchFamily="34" charset="0"/>
                          <a:ea typeface="Vazirmatn" pitchFamily="34" charset="-122"/>
                          <a:cs typeface="Vazirmatn" pitchFamily="34" charset="-120"/>
                        </a:rPr>
                        <a:t>API، Code</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tc>
                  <a:txBody>
                    <a:bodyPr/>
                    <a:lstStyle/>
                    <a:p>
                      <a:pPr marL="0" indent="0" algn="ctr" rtl="1">
                        <a:buNone/>
                      </a:pPr>
                      <a:r>
                        <a:rPr lang="en-US" sz="1300" dirty="0">
                          <a:solidFill>
                            <a:srgbClr val="1F1E1D"/>
                          </a:solidFill>
                          <a:latin typeface="Vazirmatn" pitchFamily="34" charset="0"/>
                          <a:ea typeface="Vazirmatn" pitchFamily="34" charset="-122"/>
                          <a:cs typeface="Vazirmatn" pitchFamily="34" charset="-120"/>
                        </a:rPr>
                        <a:t>اکوسیستم</a:t>
                      </a:r>
                      <a:endParaRPr lang="en-US" sz="1300" dirty="0">
                        <a:latin typeface="Vazirmatn" charset="0"/>
                        <a:ea typeface="Vazirmatn" charset="0"/>
                        <a:cs typeface="Vazirmatn" charset="0"/>
                      </a:endParaRPr>
                    </a:p>
                  </a:txBody>
                  <a:tcPr anchor="ctr">
                    <a:lnL w="12700" cap="flat" cmpd="sng" algn="ctr">
                      <a:solidFill>
                        <a:srgbClr val="E3DED3"/>
                      </a:solidFill>
                      <a:prstDash val="solid"/>
                      <a:round/>
                      <a:headEnd type="none" w="med" len="med"/>
                      <a:tailEnd type="none" w="med" len="med"/>
                    </a:lnL>
                    <a:lnR w="12700" cap="flat" cmpd="sng" algn="ctr">
                      <a:solidFill>
                        <a:srgbClr val="E3DED3"/>
                      </a:solidFill>
                      <a:prstDash val="solid"/>
                      <a:round/>
                      <a:headEnd type="none" w="med" len="med"/>
                      <a:tailEnd type="none" w="med" len="med"/>
                    </a:lnR>
                    <a:lnT w="12700" cap="flat" cmpd="sng" algn="ctr">
                      <a:solidFill>
                        <a:srgbClr val="E3DED3"/>
                      </a:solidFill>
                      <a:prstDash val="solid"/>
                      <a:round/>
                      <a:headEnd type="none" w="med" len="med"/>
                      <a:tailEnd type="none" w="med" len="med"/>
                    </a:lnT>
                    <a:lnB w="12700" cap="flat" cmpd="sng" algn="ctr">
                      <a:solidFill>
                        <a:srgbClr val="E3DE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2"/>
          <p:cNvSpPr txBox="1"/>
          <p:nvPr/>
        </p:nvSpPr>
        <p:spPr>
          <a:xfrm>
            <a:off x="548640" y="5257800"/>
            <a:ext cx="5303520" cy="365760"/>
          </a:xfrm>
          <a:prstGeom prst="rect">
            <a:avLst/>
          </a:prstGeom>
          <a:noFill/>
          <a:ln/>
        </p:spPr>
        <p:txBody>
          <a:bodyPr wrap="square" lIns="0" tIns="0" rIns="0" bIns="0" rtlCol="0" anchor="t"/>
          <a:lstStyle/>
          <a:p>
            <a:pPr marL="0" indent="0" algn="r" rtl="1">
              <a:buNone/>
            </a:pPr>
            <a:r>
              <a:rPr lang="en-US" sz="1300" dirty="0">
                <a:solidFill>
                  <a:srgbClr val="5E5D59"/>
                </a:solidFill>
                <a:latin typeface="Vazirmatn" pitchFamily="34" charset="0"/>
                <a:ea typeface="Vazirmatn" pitchFamily="34" charset="-122"/>
                <a:cs typeface="Vazirmatn" pitchFamily="34" charset="-120"/>
              </a:rPr>
              <a:t>ارزیابی کیفی و تقریبی؛ رتبه‌ها مدام تغییر می‌کنند.</a:t>
            </a:r>
            <a:endParaRPr lang="en-US" sz="13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20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18939095">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خرید اشتراک از ایران: گیفت‌کارت اپل + اپ iOS</a:t>
            </a:r>
            <a:endParaRPr lang="en-US" sz="3000" dirty="0"/>
          </a:p>
        </p:txBody>
      </p:sp>
      <p:sp>
        <p:nvSpPr>
          <p:cNvPr id="5" name="Shape 1"/>
          <p:cNvSpPr/>
          <p:nvPr/>
        </p:nvSpPr>
        <p:spPr>
          <a:xfrm>
            <a:off x="9509760" y="1554480"/>
            <a:ext cx="2103120" cy="4206240"/>
          </a:xfrm>
          <a:prstGeom prst="roundRect">
            <a:avLst>
              <a:gd name="adj" fmla="val 5217"/>
            </a:avLst>
          </a:prstGeom>
          <a:solidFill>
            <a:srgbClr val="FFFFFF"/>
          </a:solidFill>
          <a:ln w="12700">
            <a:solidFill>
              <a:srgbClr val="E3DED3"/>
            </a:solidFill>
            <a:prstDash val="solid"/>
          </a:ln>
        </p:spPr>
      </p:sp>
      <p:sp>
        <p:nvSpPr>
          <p:cNvPr id="6" name="Shape 2"/>
          <p:cNvSpPr/>
          <p:nvPr/>
        </p:nvSpPr>
        <p:spPr>
          <a:xfrm>
            <a:off x="10287000" y="1325880"/>
            <a:ext cx="548640" cy="548640"/>
          </a:xfrm>
          <a:prstGeom prst="ellipse">
            <a:avLst/>
          </a:prstGeom>
          <a:solidFill>
            <a:srgbClr val="C15F3C"/>
          </a:solidFill>
          <a:ln/>
        </p:spPr>
      </p:sp>
      <p:sp>
        <p:nvSpPr>
          <p:cNvPr id="7" name="Text 3"/>
          <p:cNvSpPr txBox="1"/>
          <p:nvPr/>
        </p:nvSpPr>
        <p:spPr>
          <a:xfrm>
            <a:off x="10287000" y="132588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۱</a:t>
            </a:r>
            <a:endParaRPr lang="en-US" sz="1800" dirty="0"/>
          </a:p>
        </p:txBody>
      </p:sp>
      <p:pic>
        <p:nvPicPr>
          <p:cNvPr id="8" name="Image 1" descr="preencoded.png"/>
          <p:cNvPicPr>
            <a:picLocks noChangeAspect="1"/>
          </p:cNvPicPr>
          <p:nvPr/>
        </p:nvPicPr>
        <p:blipFill>
          <a:blip r:embed="rId4"/>
          <a:stretch>
            <a:fillRect/>
          </a:stretch>
        </p:blipFill>
        <p:spPr>
          <a:xfrm>
            <a:off x="10241280" y="2560320"/>
            <a:ext cx="640080" cy="640080"/>
          </a:xfrm>
          <a:prstGeom prst="rect">
            <a:avLst/>
          </a:prstGeom>
        </p:spPr>
      </p:pic>
      <p:sp>
        <p:nvSpPr>
          <p:cNvPr id="9" name="Text 4"/>
          <p:cNvSpPr txBox="1"/>
          <p:nvPr/>
        </p:nvSpPr>
        <p:spPr>
          <a:xfrm>
            <a:off x="9601200" y="3337560"/>
            <a:ext cx="1920240" cy="45720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Apple ID آمریکا</a:t>
            </a:r>
            <a:endParaRPr lang="en-US" sz="1700" dirty="0"/>
          </a:p>
        </p:txBody>
      </p:sp>
      <p:sp>
        <p:nvSpPr>
          <p:cNvPr id="10" name="Text 5"/>
          <p:cNvSpPr txBox="1"/>
          <p:nvPr/>
        </p:nvSpPr>
        <p:spPr>
          <a:xfrm>
            <a:off x="9646920" y="3886200"/>
            <a:ext cx="1828800" cy="2103120"/>
          </a:xfrm>
          <a:prstGeom prst="rect">
            <a:avLst/>
          </a:prstGeom>
          <a:noFill/>
          <a:ln/>
        </p:spPr>
        <p:txBody>
          <a:bodyPr wrap="square" lIns="0" tIns="0" rIns="0" bIns="0" rtlCol="0" anchor="t"/>
          <a:lstStyle/>
          <a:p>
            <a:pPr marL="0" indent="0" algn="ctr" rtl="1">
              <a:buNone/>
            </a:pPr>
            <a:r>
              <a:rPr lang="en-US" sz="1400" dirty="0">
                <a:solidFill>
                  <a:srgbClr val="5E5D59"/>
                </a:solidFill>
                <a:latin typeface="Vazirmatn" pitchFamily="34" charset="0"/>
                <a:ea typeface="Vazirmatn" pitchFamily="34" charset="-122"/>
                <a:cs typeface="Vazirmatn" pitchFamily="34" charset="-120"/>
              </a:rPr>
              <a:t>یک اپل آیدی با ریجن آمریکا بسازید یا تهیه کنید</a:t>
            </a:r>
            <a:endParaRPr lang="en-US" sz="1400" dirty="0"/>
          </a:p>
        </p:txBody>
      </p:sp>
      <p:sp>
        <p:nvSpPr>
          <p:cNvPr id="11" name="Text 6"/>
          <p:cNvSpPr txBox="1"/>
          <p:nvPr/>
        </p:nvSpPr>
        <p:spPr>
          <a:xfrm>
            <a:off x="9354312" y="3840480"/>
            <a:ext cx="182880" cy="365760"/>
          </a:xfrm>
          <a:prstGeom prst="rect">
            <a:avLst/>
          </a:prstGeom>
          <a:noFill/>
          <a:ln/>
        </p:spPr>
        <p:txBody>
          <a:bodyPr wrap="square" lIns="0" tIns="0" rIns="0" bIns="0" rtlCol="0" anchor="t"/>
          <a:lstStyle/>
          <a:p>
            <a:pPr marL="0" indent="0" algn="ctr" rtl="1">
              <a:buNone/>
            </a:pPr>
            <a:r>
              <a:rPr lang="en-US" sz="1800" dirty="0">
                <a:solidFill>
                  <a:srgbClr val="D97757"/>
                </a:solidFill>
                <a:latin typeface="Vazirmatn" pitchFamily="34" charset="0"/>
                <a:ea typeface="Vazirmatn" pitchFamily="34" charset="-122"/>
                <a:cs typeface="Vazirmatn" pitchFamily="34" charset="-120"/>
              </a:rPr>
              <a:t>‏←‏</a:t>
            </a:r>
            <a:endParaRPr lang="en-US" sz="1800" dirty="0"/>
          </a:p>
        </p:txBody>
      </p:sp>
      <p:sp>
        <p:nvSpPr>
          <p:cNvPr id="12" name="Shape 7"/>
          <p:cNvSpPr/>
          <p:nvPr/>
        </p:nvSpPr>
        <p:spPr>
          <a:xfrm>
            <a:off x="7269480" y="1554480"/>
            <a:ext cx="2103120" cy="4206240"/>
          </a:xfrm>
          <a:prstGeom prst="roundRect">
            <a:avLst>
              <a:gd name="adj" fmla="val 5217"/>
            </a:avLst>
          </a:prstGeom>
          <a:solidFill>
            <a:srgbClr val="FFFFFF"/>
          </a:solidFill>
          <a:ln w="12700">
            <a:solidFill>
              <a:srgbClr val="E3DED3"/>
            </a:solidFill>
            <a:prstDash val="solid"/>
          </a:ln>
        </p:spPr>
      </p:sp>
      <p:sp>
        <p:nvSpPr>
          <p:cNvPr id="13" name="Shape 8"/>
          <p:cNvSpPr/>
          <p:nvPr/>
        </p:nvSpPr>
        <p:spPr>
          <a:xfrm>
            <a:off x="8046720" y="1325880"/>
            <a:ext cx="548640" cy="548640"/>
          </a:xfrm>
          <a:prstGeom prst="ellipse">
            <a:avLst/>
          </a:prstGeom>
          <a:solidFill>
            <a:srgbClr val="C15F3C"/>
          </a:solidFill>
          <a:ln/>
        </p:spPr>
      </p:sp>
      <p:sp>
        <p:nvSpPr>
          <p:cNvPr id="14" name="Text 9"/>
          <p:cNvSpPr txBox="1"/>
          <p:nvPr/>
        </p:nvSpPr>
        <p:spPr>
          <a:xfrm>
            <a:off x="8046720" y="132588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۲</a:t>
            </a:r>
            <a:endParaRPr lang="en-US" sz="1800" dirty="0"/>
          </a:p>
        </p:txBody>
      </p:sp>
      <p:pic>
        <p:nvPicPr>
          <p:cNvPr id="15" name="Image 2" descr="preencoded.png"/>
          <p:cNvPicPr>
            <a:picLocks noChangeAspect="1"/>
          </p:cNvPicPr>
          <p:nvPr/>
        </p:nvPicPr>
        <p:blipFill>
          <a:blip r:embed="rId5"/>
          <a:stretch>
            <a:fillRect/>
          </a:stretch>
        </p:blipFill>
        <p:spPr>
          <a:xfrm>
            <a:off x="8001000" y="2560320"/>
            <a:ext cx="640080" cy="640080"/>
          </a:xfrm>
          <a:prstGeom prst="rect">
            <a:avLst/>
          </a:prstGeom>
        </p:spPr>
      </p:pic>
      <p:sp>
        <p:nvSpPr>
          <p:cNvPr id="16" name="Text 10"/>
          <p:cNvSpPr txBox="1"/>
          <p:nvPr/>
        </p:nvSpPr>
        <p:spPr>
          <a:xfrm>
            <a:off x="7360920" y="3337560"/>
            <a:ext cx="1920240" cy="45720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خرید گیفت‌کارت</a:t>
            </a:r>
            <a:endParaRPr lang="en-US" sz="1700" dirty="0"/>
          </a:p>
        </p:txBody>
      </p:sp>
      <p:sp>
        <p:nvSpPr>
          <p:cNvPr id="17" name="Text 11"/>
          <p:cNvSpPr txBox="1"/>
          <p:nvPr/>
        </p:nvSpPr>
        <p:spPr>
          <a:xfrm>
            <a:off x="7406640" y="3886200"/>
            <a:ext cx="1828800" cy="2103120"/>
          </a:xfrm>
          <a:prstGeom prst="rect">
            <a:avLst/>
          </a:prstGeom>
          <a:noFill/>
          <a:ln/>
        </p:spPr>
        <p:txBody>
          <a:bodyPr wrap="square" lIns="0" tIns="0" rIns="0" bIns="0" rtlCol="0" anchor="t"/>
          <a:lstStyle/>
          <a:p>
            <a:pPr marL="0" indent="0" algn="ctr" rtl="1">
              <a:buNone/>
            </a:pPr>
            <a:r>
              <a:rPr lang="en-US" sz="1400" dirty="0">
                <a:solidFill>
                  <a:srgbClr val="5E5D59"/>
                </a:solidFill>
                <a:latin typeface="Vazirmatn" pitchFamily="34" charset="0"/>
                <a:ea typeface="Vazirmatn" pitchFamily="34" charset="-122"/>
                <a:cs typeface="Vazirmatn" pitchFamily="34" charset="-120"/>
              </a:rPr>
              <a:t>گیفت‌کارت اپل آمریکا از فروشگاه معتبر (برای Pro کمی بیش از $20)</a:t>
            </a:r>
            <a:endParaRPr lang="en-US" sz="1400" dirty="0"/>
          </a:p>
        </p:txBody>
      </p:sp>
      <p:sp>
        <p:nvSpPr>
          <p:cNvPr id="18" name="Text 12"/>
          <p:cNvSpPr txBox="1"/>
          <p:nvPr/>
        </p:nvSpPr>
        <p:spPr>
          <a:xfrm>
            <a:off x="7114032" y="3840480"/>
            <a:ext cx="182880" cy="365760"/>
          </a:xfrm>
          <a:prstGeom prst="rect">
            <a:avLst/>
          </a:prstGeom>
          <a:noFill/>
          <a:ln/>
        </p:spPr>
        <p:txBody>
          <a:bodyPr wrap="square" lIns="0" tIns="0" rIns="0" bIns="0" rtlCol="0" anchor="t"/>
          <a:lstStyle/>
          <a:p>
            <a:pPr marL="0" indent="0" algn="ctr" rtl="1">
              <a:buNone/>
            </a:pPr>
            <a:r>
              <a:rPr lang="en-US" sz="1800" dirty="0">
                <a:solidFill>
                  <a:srgbClr val="D97757"/>
                </a:solidFill>
                <a:latin typeface="Vazirmatn" pitchFamily="34" charset="0"/>
                <a:ea typeface="Vazirmatn" pitchFamily="34" charset="-122"/>
                <a:cs typeface="Vazirmatn" pitchFamily="34" charset="-120"/>
              </a:rPr>
              <a:t>‏←‏</a:t>
            </a:r>
            <a:endParaRPr lang="en-US" sz="1800" dirty="0"/>
          </a:p>
        </p:txBody>
      </p:sp>
      <p:sp>
        <p:nvSpPr>
          <p:cNvPr id="19" name="Shape 13"/>
          <p:cNvSpPr/>
          <p:nvPr/>
        </p:nvSpPr>
        <p:spPr>
          <a:xfrm>
            <a:off x="5029200" y="1554480"/>
            <a:ext cx="2103120" cy="4206240"/>
          </a:xfrm>
          <a:prstGeom prst="roundRect">
            <a:avLst>
              <a:gd name="adj" fmla="val 5217"/>
            </a:avLst>
          </a:prstGeom>
          <a:solidFill>
            <a:srgbClr val="FFFFFF"/>
          </a:solidFill>
          <a:ln w="12700">
            <a:solidFill>
              <a:srgbClr val="E3DED3"/>
            </a:solidFill>
            <a:prstDash val="solid"/>
          </a:ln>
        </p:spPr>
      </p:sp>
      <p:sp>
        <p:nvSpPr>
          <p:cNvPr id="20" name="Shape 14"/>
          <p:cNvSpPr/>
          <p:nvPr/>
        </p:nvSpPr>
        <p:spPr>
          <a:xfrm>
            <a:off x="5806440" y="1325880"/>
            <a:ext cx="548640" cy="548640"/>
          </a:xfrm>
          <a:prstGeom prst="ellipse">
            <a:avLst/>
          </a:prstGeom>
          <a:solidFill>
            <a:srgbClr val="C15F3C"/>
          </a:solidFill>
          <a:ln/>
        </p:spPr>
      </p:sp>
      <p:sp>
        <p:nvSpPr>
          <p:cNvPr id="21" name="Text 15"/>
          <p:cNvSpPr txBox="1"/>
          <p:nvPr/>
        </p:nvSpPr>
        <p:spPr>
          <a:xfrm>
            <a:off x="5806440" y="132588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۳</a:t>
            </a:r>
            <a:endParaRPr lang="en-US" sz="1800" dirty="0"/>
          </a:p>
        </p:txBody>
      </p:sp>
      <p:pic>
        <p:nvPicPr>
          <p:cNvPr id="22" name="Image 3" descr="preencoded.png"/>
          <p:cNvPicPr>
            <a:picLocks noChangeAspect="1"/>
          </p:cNvPicPr>
          <p:nvPr/>
        </p:nvPicPr>
        <p:blipFill>
          <a:blip r:embed="rId6"/>
          <a:stretch>
            <a:fillRect/>
          </a:stretch>
        </p:blipFill>
        <p:spPr>
          <a:xfrm>
            <a:off x="5760720" y="2560320"/>
            <a:ext cx="640080" cy="640080"/>
          </a:xfrm>
          <a:prstGeom prst="rect">
            <a:avLst/>
          </a:prstGeom>
        </p:spPr>
      </p:pic>
      <p:sp>
        <p:nvSpPr>
          <p:cNvPr id="23" name="Text 16"/>
          <p:cNvSpPr txBox="1"/>
          <p:nvPr/>
        </p:nvSpPr>
        <p:spPr>
          <a:xfrm>
            <a:off x="5120640" y="3337560"/>
            <a:ext cx="1920240" cy="45720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Redeem</a:t>
            </a:r>
            <a:endParaRPr lang="en-US" sz="1700" dirty="0"/>
          </a:p>
        </p:txBody>
      </p:sp>
      <p:sp>
        <p:nvSpPr>
          <p:cNvPr id="24" name="Text 17"/>
          <p:cNvSpPr txBox="1"/>
          <p:nvPr/>
        </p:nvSpPr>
        <p:spPr>
          <a:xfrm>
            <a:off x="5166360" y="3886200"/>
            <a:ext cx="1828800" cy="2103120"/>
          </a:xfrm>
          <a:prstGeom prst="rect">
            <a:avLst/>
          </a:prstGeom>
          <a:noFill/>
          <a:ln/>
        </p:spPr>
        <p:txBody>
          <a:bodyPr wrap="square" lIns="0" tIns="0" rIns="0" bIns="0" rtlCol="0" anchor="t"/>
          <a:lstStyle/>
          <a:p>
            <a:pPr marL="0" indent="0" algn="ctr" rtl="1">
              <a:buNone/>
            </a:pPr>
            <a:r>
              <a:rPr lang="en-US" sz="1400" dirty="0">
                <a:solidFill>
                  <a:srgbClr val="5E5D59"/>
                </a:solidFill>
                <a:latin typeface="Vazirmatn" pitchFamily="34" charset="0"/>
                <a:ea typeface="Vazirmatn" pitchFamily="34" charset="-122"/>
                <a:cs typeface="Vazirmatn" pitchFamily="34" charset="-120"/>
              </a:rPr>
              <a:t>App Store ‏←‏ پروفایل ‏←‏ Redeem Gift Card ‏←‏ واردکردن کد</a:t>
            </a:r>
            <a:endParaRPr lang="en-US" sz="1400" dirty="0"/>
          </a:p>
        </p:txBody>
      </p:sp>
      <p:sp>
        <p:nvSpPr>
          <p:cNvPr id="25" name="Text 18"/>
          <p:cNvSpPr txBox="1"/>
          <p:nvPr/>
        </p:nvSpPr>
        <p:spPr>
          <a:xfrm>
            <a:off x="4873752" y="3840480"/>
            <a:ext cx="182880" cy="365760"/>
          </a:xfrm>
          <a:prstGeom prst="rect">
            <a:avLst/>
          </a:prstGeom>
          <a:noFill/>
          <a:ln/>
        </p:spPr>
        <p:txBody>
          <a:bodyPr wrap="square" lIns="0" tIns="0" rIns="0" bIns="0" rtlCol="0" anchor="t"/>
          <a:lstStyle/>
          <a:p>
            <a:pPr marL="0" indent="0" algn="ctr" rtl="1">
              <a:buNone/>
            </a:pPr>
            <a:r>
              <a:rPr lang="en-US" sz="1800" dirty="0">
                <a:solidFill>
                  <a:srgbClr val="D97757"/>
                </a:solidFill>
                <a:latin typeface="Vazirmatn" pitchFamily="34" charset="0"/>
                <a:ea typeface="Vazirmatn" pitchFamily="34" charset="-122"/>
                <a:cs typeface="Vazirmatn" pitchFamily="34" charset="-120"/>
              </a:rPr>
              <a:t>‏←‏</a:t>
            </a:r>
            <a:endParaRPr lang="en-US" sz="1800" dirty="0"/>
          </a:p>
        </p:txBody>
      </p:sp>
      <p:sp>
        <p:nvSpPr>
          <p:cNvPr id="26" name="Shape 19"/>
          <p:cNvSpPr/>
          <p:nvPr/>
        </p:nvSpPr>
        <p:spPr>
          <a:xfrm>
            <a:off x="2788920" y="1554480"/>
            <a:ext cx="2103120" cy="4206240"/>
          </a:xfrm>
          <a:prstGeom prst="roundRect">
            <a:avLst>
              <a:gd name="adj" fmla="val 5217"/>
            </a:avLst>
          </a:prstGeom>
          <a:solidFill>
            <a:srgbClr val="FFFFFF"/>
          </a:solidFill>
          <a:ln w="12700">
            <a:solidFill>
              <a:srgbClr val="E3DED3"/>
            </a:solidFill>
            <a:prstDash val="solid"/>
          </a:ln>
        </p:spPr>
      </p:sp>
      <p:sp>
        <p:nvSpPr>
          <p:cNvPr id="27" name="Shape 20"/>
          <p:cNvSpPr/>
          <p:nvPr/>
        </p:nvSpPr>
        <p:spPr>
          <a:xfrm>
            <a:off x="3566160" y="1325880"/>
            <a:ext cx="548640" cy="548640"/>
          </a:xfrm>
          <a:prstGeom prst="ellipse">
            <a:avLst/>
          </a:prstGeom>
          <a:solidFill>
            <a:srgbClr val="C15F3C"/>
          </a:solidFill>
          <a:ln/>
        </p:spPr>
      </p:sp>
      <p:sp>
        <p:nvSpPr>
          <p:cNvPr id="28" name="Text 21"/>
          <p:cNvSpPr txBox="1"/>
          <p:nvPr/>
        </p:nvSpPr>
        <p:spPr>
          <a:xfrm>
            <a:off x="3566160" y="132588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۴</a:t>
            </a:r>
            <a:endParaRPr lang="en-US" sz="1800" dirty="0"/>
          </a:p>
        </p:txBody>
      </p:sp>
      <p:pic>
        <p:nvPicPr>
          <p:cNvPr id="29" name="Image 4" descr="preencoded.png"/>
          <p:cNvPicPr>
            <a:picLocks noChangeAspect="1"/>
          </p:cNvPicPr>
          <p:nvPr/>
        </p:nvPicPr>
        <p:blipFill>
          <a:blip r:embed="rId7"/>
          <a:stretch>
            <a:fillRect/>
          </a:stretch>
        </p:blipFill>
        <p:spPr>
          <a:xfrm>
            <a:off x="3520440" y="2560320"/>
            <a:ext cx="640080" cy="640080"/>
          </a:xfrm>
          <a:prstGeom prst="rect">
            <a:avLst/>
          </a:prstGeom>
        </p:spPr>
      </p:pic>
      <p:sp>
        <p:nvSpPr>
          <p:cNvPr id="30" name="Text 22"/>
          <p:cNvSpPr txBox="1"/>
          <p:nvPr/>
        </p:nvSpPr>
        <p:spPr>
          <a:xfrm>
            <a:off x="2880360" y="3337560"/>
            <a:ext cx="1920240" cy="45720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نصب اپ Claude</a:t>
            </a:r>
            <a:endParaRPr lang="en-US" sz="1700" dirty="0"/>
          </a:p>
        </p:txBody>
      </p:sp>
      <p:sp>
        <p:nvSpPr>
          <p:cNvPr id="31" name="Text 23"/>
          <p:cNvSpPr txBox="1"/>
          <p:nvPr/>
        </p:nvSpPr>
        <p:spPr>
          <a:xfrm>
            <a:off x="2926080" y="3886200"/>
            <a:ext cx="1828800" cy="2103120"/>
          </a:xfrm>
          <a:prstGeom prst="rect">
            <a:avLst/>
          </a:prstGeom>
          <a:noFill/>
          <a:ln/>
        </p:spPr>
        <p:txBody>
          <a:bodyPr wrap="square" lIns="0" tIns="0" rIns="0" bIns="0" rtlCol="0" anchor="t"/>
          <a:lstStyle/>
          <a:p>
            <a:pPr marL="0" indent="0" algn="ctr" rtl="1">
              <a:buNone/>
            </a:pPr>
            <a:r>
              <a:rPr lang="en-US" sz="1400" dirty="0">
                <a:solidFill>
                  <a:srgbClr val="5E5D59"/>
                </a:solidFill>
                <a:latin typeface="Vazirmatn" pitchFamily="34" charset="0"/>
                <a:ea typeface="Vazirmatn" pitchFamily="34" charset="-122"/>
                <a:cs typeface="Vazirmatn" pitchFamily="34" charset="-120"/>
              </a:rPr>
              <a:t>اپ را از App Store نصب و وارد حساب Claude شوید</a:t>
            </a:r>
            <a:endParaRPr lang="en-US" sz="1400" dirty="0"/>
          </a:p>
        </p:txBody>
      </p:sp>
      <p:sp>
        <p:nvSpPr>
          <p:cNvPr id="32" name="Text 24"/>
          <p:cNvSpPr txBox="1"/>
          <p:nvPr/>
        </p:nvSpPr>
        <p:spPr>
          <a:xfrm>
            <a:off x="2633472" y="3840480"/>
            <a:ext cx="182880" cy="365760"/>
          </a:xfrm>
          <a:prstGeom prst="rect">
            <a:avLst/>
          </a:prstGeom>
          <a:noFill/>
          <a:ln/>
        </p:spPr>
        <p:txBody>
          <a:bodyPr wrap="square" lIns="0" tIns="0" rIns="0" bIns="0" rtlCol="0" anchor="t"/>
          <a:lstStyle/>
          <a:p>
            <a:pPr marL="0" indent="0" algn="ctr" rtl="1">
              <a:buNone/>
            </a:pPr>
            <a:r>
              <a:rPr lang="en-US" sz="1800" dirty="0">
                <a:solidFill>
                  <a:srgbClr val="D97757"/>
                </a:solidFill>
                <a:latin typeface="Vazirmatn" pitchFamily="34" charset="0"/>
                <a:ea typeface="Vazirmatn" pitchFamily="34" charset="-122"/>
                <a:cs typeface="Vazirmatn" pitchFamily="34" charset="-120"/>
              </a:rPr>
              <a:t>‏←‏</a:t>
            </a:r>
            <a:endParaRPr lang="en-US" sz="1800" dirty="0"/>
          </a:p>
        </p:txBody>
      </p:sp>
      <p:sp>
        <p:nvSpPr>
          <p:cNvPr id="33" name="Shape 25"/>
          <p:cNvSpPr/>
          <p:nvPr/>
        </p:nvSpPr>
        <p:spPr>
          <a:xfrm>
            <a:off x="548640" y="1554480"/>
            <a:ext cx="2103120" cy="4206240"/>
          </a:xfrm>
          <a:prstGeom prst="roundRect">
            <a:avLst>
              <a:gd name="adj" fmla="val 5217"/>
            </a:avLst>
          </a:prstGeom>
          <a:solidFill>
            <a:srgbClr val="FFFFFF"/>
          </a:solidFill>
          <a:ln w="12700">
            <a:solidFill>
              <a:srgbClr val="E3DED3"/>
            </a:solidFill>
            <a:prstDash val="solid"/>
          </a:ln>
        </p:spPr>
      </p:sp>
      <p:sp>
        <p:nvSpPr>
          <p:cNvPr id="34" name="Shape 26"/>
          <p:cNvSpPr/>
          <p:nvPr/>
        </p:nvSpPr>
        <p:spPr>
          <a:xfrm>
            <a:off x="1325880" y="1325880"/>
            <a:ext cx="548640" cy="548640"/>
          </a:xfrm>
          <a:prstGeom prst="ellipse">
            <a:avLst/>
          </a:prstGeom>
          <a:solidFill>
            <a:srgbClr val="C15F3C"/>
          </a:solidFill>
          <a:ln/>
        </p:spPr>
      </p:sp>
      <p:sp>
        <p:nvSpPr>
          <p:cNvPr id="35" name="Text 27"/>
          <p:cNvSpPr txBox="1"/>
          <p:nvPr/>
        </p:nvSpPr>
        <p:spPr>
          <a:xfrm>
            <a:off x="1325880" y="1325880"/>
            <a:ext cx="548640" cy="548640"/>
          </a:xfrm>
          <a:prstGeom prst="rect">
            <a:avLst/>
          </a:prstGeom>
          <a:noFill/>
          <a:ln/>
        </p:spPr>
        <p:txBody>
          <a:bodyPr wrap="square" lIns="0" tIns="0" rIns="0" bIns="0" rtlCol="0" anchor="ctr"/>
          <a:lstStyle/>
          <a:p>
            <a:pPr marL="0" indent="0" algn="ctr" rtl="1">
              <a:buNone/>
            </a:pPr>
            <a:r>
              <a:rPr lang="en-US" sz="1800" b="1" dirty="0">
                <a:solidFill>
                  <a:srgbClr val="FFFFFF"/>
                </a:solidFill>
                <a:latin typeface="Vazirmatn" pitchFamily="34" charset="0"/>
                <a:ea typeface="Vazirmatn" pitchFamily="34" charset="-122"/>
                <a:cs typeface="Vazirmatn" pitchFamily="34" charset="-120"/>
              </a:rPr>
              <a:t>۵</a:t>
            </a:r>
            <a:endParaRPr lang="en-US" sz="1800" dirty="0"/>
          </a:p>
        </p:txBody>
      </p:sp>
      <p:pic>
        <p:nvPicPr>
          <p:cNvPr id="36" name="Image 5" descr="preencoded.png"/>
          <p:cNvPicPr>
            <a:picLocks noChangeAspect="1"/>
          </p:cNvPicPr>
          <p:nvPr/>
        </p:nvPicPr>
        <p:blipFill>
          <a:blip r:embed="rId8"/>
          <a:stretch>
            <a:fillRect/>
          </a:stretch>
        </p:blipFill>
        <p:spPr>
          <a:xfrm>
            <a:off x="1280160" y="2560320"/>
            <a:ext cx="640080" cy="640080"/>
          </a:xfrm>
          <a:prstGeom prst="rect">
            <a:avLst/>
          </a:prstGeom>
        </p:spPr>
      </p:pic>
      <p:sp>
        <p:nvSpPr>
          <p:cNvPr id="37" name="Text 28"/>
          <p:cNvSpPr txBox="1"/>
          <p:nvPr/>
        </p:nvSpPr>
        <p:spPr>
          <a:xfrm>
            <a:off x="640080" y="3337560"/>
            <a:ext cx="1920240" cy="457200"/>
          </a:xfrm>
          <a:prstGeom prst="rect">
            <a:avLst/>
          </a:prstGeom>
          <a:noFill/>
          <a:ln/>
        </p:spPr>
        <p:txBody>
          <a:bodyPr wrap="square" lIns="0" tIns="0" rIns="0" bIns="0" rtlCol="0" anchor="t"/>
          <a:lstStyle/>
          <a:p>
            <a:pPr marL="0" indent="0" algn="ctr" rtl="1">
              <a:buNone/>
            </a:pPr>
            <a:r>
              <a:rPr lang="en-US" sz="1700" b="1" dirty="0">
                <a:solidFill>
                  <a:srgbClr val="1F1E1D"/>
                </a:solidFill>
                <a:latin typeface="Vazirmatn" pitchFamily="34" charset="0"/>
                <a:ea typeface="Vazirmatn" pitchFamily="34" charset="-122"/>
                <a:cs typeface="Vazirmatn" pitchFamily="34" charset="-120"/>
              </a:rPr>
              <a:t>Upgrade</a:t>
            </a:r>
            <a:endParaRPr lang="en-US" sz="1700" dirty="0"/>
          </a:p>
        </p:txBody>
      </p:sp>
      <p:sp>
        <p:nvSpPr>
          <p:cNvPr id="38" name="Text 29"/>
          <p:cNvSpPr txBox="1"/>
          <p:nvPr/>
        </p:nvSpPr>
        <p:spPr>
          <a:xfrm>
            <a:off x="685800" y="3886200"/>
            <a:ext cx="1828800" cy="2103120"/>
          </a:xfrm>
          <a:prstGeom prst="rect">
            <a:avLst/>
          </a:prstGeom>
          <a:noFill/>
          <a:ln/>
        </p:spPr>
        <p:txBody>
          <a:bodyPr wrap="square" lIns="0" tIns="0" rIns="0" bIns="0" rtlCol="0" anchor="t"/>
          <a:lstStyle/>
          <a:p>
            <a:pPr marL="0" indent="0" algn="ctr" rtl="1">
              <a:buNone/>
            </a:pPr>
            <a:r>
              <a:rPr lang="en-US" sz="1400" dirty="0">
                <a:solidFill>
                  <a:srgbClr val="5E5D59"/>
                </a:solidFill>
                <a:latin typeface="Vazirmatn" pitchFamily="34" charset="0"/>
                <a:ea typeface="Vazirmatn" pitchFamily="34" charset="-122"/>
                <a:cs typeface="Vazirmatn" pitchFamily="34" charset="-120"/>
              </a:rPr>
              <a:t>تنظیمات اپ ‏←‏ Upgrade ‏←‏ انتخاب پلن ‏←‏ پرداخت با موجودی اپل</a:t>
            </a:r>
            <a:endParaRPr lang="en-US" sz="1400" dirty="0"/>
          </a:p>
        </p:txBody>
      </p:sp>
      <p:sp>
        <p:nvSpPr>
          <p:cNvPr id="39" name="Text 30"/>
          <p:cNvSpPr txBox="1"/>
          <p:nvPr/>
        </p:nvSpPr>
        <p:spPr>
          <a:xfrm>
            <a:off x="548640" y="5897880"/>
            <a:ext cx="11064240" cy="365760"/>
          </a:xfrm>
          <a:prstGeom prst="rect">
            <a:avLst/>
          </a:prstGeom>
          <a:noFill/>
          <a:ln/>
        </p:spPr>
        <p:txBody>
          <a:bodyPr wrap="square" lIns="0" tIns="0" rIns="0" bIns="0" rtlCol="0" anchor="t"/>
          <a:lstStyle/>
          <a:p>
            <a:pPr marL="0" indent="0" algn="ctr" rtl="1">
              <a:buNone/>
            </a:pPr>
            <a:r>
              <a:rPr lang="en-US" sz="1400" b="1" dirty="0">
                <a:solidFill>
                  <a:srgbClr val="C15F3C"/>
                </a:solidFill>
                <a:latin typeface="Vazirmatn" pitchFamily="34" charset="0"/>
                <a:ea typeface="Vazirmatn" pitchFamily="34" charset="-122"/>
                <a:cs typeface="Vazirmatn" pitchFamily="34" charset="-120"/>
              </a:rPr>
              <a:t>اشتراک روی همه‌ی دستگاه‌ها (وب، کامپیوتر، موبایل) فعال می‌شود.</a:t>
            </a:r>
            <a:endParaRPr lang="en-US" sz="1400" dirty="0"/>
          </a:p>
        </p:txBody>
      </p:sp>
      <p:sp>
        <p:nvSpPr>
          <p:cNvPr id="4"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21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نکات مهم خرید</a:t>
            </a:r>
            <a:endParaRPr lang="en-US" sz="3000" dirty="0"/>
          </a:p>
        </p:txBody>
      </p:sp>
      <p:sp>
        <p:nvSpPr>
          <p:cNvPr id="5" name="Shape 1"/>
          <p:cNvSpPr/>
          <p:nvPr/>
        </p:nvSpPr>
        <p:spPr>
          <a:xfrm>
            <a:off x="548640" y="1417320"/>
            <a:ext cx="11064240" cy="804672"/>
          </a:xfrm>
          <a:prstGeom prst="roundRect">
            <a:avLst>
              <a:gd name="adj" fmla="val 13636"/>
            </a:avLst>
          </a:prstGeom>
          <a:solidFill>
            <a:srgbClr val="FFFFFF"/>
          </a:solidFill>
          <a:ln w="12700">
            <a:solidFill>
              <a:srgbClr val="E3DED3"/>
            </a:solidFill>
            <a:prstDash val="solid"/>
          </a:ln>
        </p:spPr>
      </p:sp>
      <p:pic>
        <p:nvPicPr>
          <p:cNvPr id="6" name="Image 1" descr="preencoded.png"/>
          <p:cNvPicPr>
            <a:picLocks noChangeAspect="1"/>
          </p:cNvPicPr>
          <p:nvPr/>
        </p:nvPicPr>
        <p:blipFill>
          <a:blip r:embed="rId4"/>
          <a:stretch>
            <a:fillRect/>
          </a:stretch>
        </p:blipFill>
        <p:spPr>
          <a:xfrm>
            <a:off x="10927080" y="1591056"/>
            <a:ext cx="457200" cy="457200"/>
          </a:xfrm>
          <a:prstGeom prst="rect">
            <a:avLst/>
          </a:prstGeom>
        </p:spPr>
      </p:pic>
      <p:sp>
        <p:nvSpPr>
          <p:cNvPr id="7" name="Text 2"/>
          <p:cNvSpPr txBox="1"/>
          <p:nvPr/>
        </p:nvSpPr>
        <p:spPr>
          <a:xfrm>
            <a:off x="822960" y="1545336"/>
            <a:ext cx="9875520" cy="548640"/>
          </a:xfrm>
          <a:prstGeom prst="rect">
            <a:avLst/>
          </a:prstGeom>
          <a:noFill/>
          <a:ln/>
        </p:spPr>
        <p:txBody>
          <a:bodyPr wrap="square" lIns="0" tIns="0" rIns="0" bIns="0" rtlCol="0" anchor="ctr"/>
          <a:lstStyle/>
          <a:p>
            <a:pPr marL="0" indent="0" algn="r" rtl="1">
              <a:buNone/>
            </a:pPr>
            <a:r>
              <a:rPr lang="en-US" sz="1700" dirty="0">
                <a:solidFill>
                  <a:srgbClr val="1F1E1D"/>
                </a:solidFill>
                <a:latin typeface="Vazirmatn" pitchFamily="34" charset="0"/>
                <a:ea typeface="Vazirmatn" pitchFamily="34" charset="-122"/>
                <a:cs typeface="Vazirmatn" pitchFamily="34" charset="-120"/>
              </a:rPr>
              <a:t>قیمت داخل اپ iOS کمی بیشتر از سایت است (کارمزد اپل).</a:t>
            </a:r>
            <a:endParaRPr lang="en-US" sz="1700" dirty="0"/>
          </a:p>
        </p:txBody>
      </p:sp>
      <p:sp>
        <p:nvSpPr>
          <p:cNvPr id="8" name="Shape 3"/>
          <p:cNvSpPr/>
          <p:nvPr/>
        </p:nvSpPr>
        <p:spPr>
          <a:xfrm>
            <a:off x="548640" y="2359152"/>
            <a:ext cx="11064240" cy="804672"/>
          </a:xfrm>
          <a:prstGeom prst="roundRect">
            <a:avLst>
              <a:gd name="adj" fmla="val 13636"/>
            </a:avLst>
          </a:prstGeom>
          <a:solidFill>
            <a:srgbClr val="FFFFFF"/>
          </a:solidFill>
          <a:ln w="12700">
            <a:solidFill>
              <a:srgbClr val="E3DED3"/>
            </a:solidFill>
            <a:prstDash val="solid"/>
          </a:ln>
        </p:spPr>
      </p:sp>
      <p:pic>
        <p:nvPicPr>
          <p:cNvPr id="9" name="Image 2" descr="preencoded.png"/>
          <p:cNvPicPr>
            <a:picLocks noChangeAspect="1"/>
          </p:cNvPicPr>
          <p:nvPr/>
        </p:nvPicPr>
        <p:blipFill>
          <a:blip r:embed="rId5"/>
          <a:stretch>
            <a:fillRect/>
          </a:stretch>
        </p:blipFill>
        <p:spPr>
          <a:xfrm>
            <a:off x="10927080" y="2532888"/>
            <a:ext cx="457200" cy="457200"/>
          </a:xfrm>
          <a:prstGeom prst="rect">
            <a:avLst/>
          </a:prstGeom>
        </p:spPr>
      </p:pic>
      <p:sp>
        <p:nvSpPr>
          <p:cNvPr id="10" name="Text 4"/>
          <p:cNvSpPr txBox="1"/>
          <p:nvPr/>
        </p:nvSpPr>
        <p:spPr>
          <a:xfrm>
            <a:off x="822960" y="2487168"/>
            <a:ext cx="9875520" cy="548640"/>
          </a:xfrm>
          <a:prstGeom prst="rect">
            <a:avLst/>
          </a:prstGeom>
          <a:noFill/>
          <a:ln/>
        </p:spPr>
        <p:txBody>
          <a:bodyPr wrap="square" lIns="0" tIns="0" rIns="0" bIns="0" rtlCol="0" anchor="ctr"/>
          <a:lstStyle/>
          <a:p>
            <a:pPr marL="0" indent="0" algn="r" rtl="1">
              <a:buNone/>
            </a:pPr>
            <a:r>
              <a:rPr lang="en-US" sz="1700" dirty="0">
                <a:solidFill>
                  <a:srgbClr val="1F1E1D"/>
                </a:solidFill>
                <a:latin typeface="Vazirmatn" pitchFamily="34" charset="0"/>
                <a:ea typeface="Vazirmatn" pitchFamily="34" charset="-122"/>
                <a:cs typeface="Vazirmatn" pitchFamily="34" charset="-120"/>
              </a:rPr>
              <a:t>تمدید خودکار است؛ قبل از تمدید، موجودی اپل آیدی را شارژ کنید.</a:t>
            </a:r>
            <a:endParaRPr lang="en-US" sz="1700" dirty="0"/>
          </a:p>
        </p:txBody>
      </p:sp>
      <p:sp>
        <p:nvSpPr>
          <p:cNvPr id="11" name="Shape 5"/>
          <p:cNvSpPr/>
          <p:nvPr/>
        </p:nvSpPr>
        <p:spPr>
          <a:xfrm>
            <a:off x="548640" y="3300984"/>
            <a:ext cx="11064240" cy="804672"/>
          </a:xfrm>
          <a:prstGeom prst="roundRect">
            <a:avLst>
              <a:gd name="adj" fmla="val 13636"/>
            </a:avLst>
          </a:prstGeom>
          <a:solidFill>
            <a:srgbClr val="FFFFFF"/>
          </a:solidFill>
          <a:ln w="12700">
            <a:solidFill>
              <a:srgbClr val="E3DED3"/>
            </a:solidFill>
            <a:prstDash val="solid"/>
          </a:ln>
        </p:spPr>
      </p:sp>
      <p:pic>
        <p:nvPicPr>
          <p:cNvPr id="12" name="Image 3" descr="preencoded.png"/>
          <p:cNvPicPr>
            <a:picLocks noChangeAspect="1"/>
          </p:cNvPicPr>
          <p:nvPr/>
        </p:nvPicPr>
        <p:blipFill>
          <a:blip r:embed="rId6"/>
          <a:stretch>
            <a:fillRect/>
          </a:stretch>
        </p:blipFill>
        <p:spPr>
          <a:xfrm>
            <a:off x="10927080" y="3474720"/>
            <a:ext cx="457200" cy="457200"/>
          </a:xfrm>
          <a:prstGeom prst="rect">
            <a:avLst/>
          </a:prstGeom>
        </p:spPr>
      </p:pic>
      <p:sp>
        <p:nvSpPr>
          <p:cNvPr id="13" name="Text 6"/>
          <p:cNvSpPr txBox="1"/>
          <p:nvPr/>
        </p:nvSpPr>
        <p:spPr>
          <a:xfrm>
            <a:off x="822960" y="3429000"/>
            <a:ext cx="9875520" cy="548640"/>
          </a:xfrm>
          <a:prstGeom prst="rect">
            <a:avLst/>
          </a:prstGeom>
          <a:noFill/>
          <a:ln/>
        </p:spPr>
        <p:txBody>
          <a:bodyPr wrap="square" lIns="0" tIns="0" rIns="0" bIns="0" rtlCol="0" anchor="ctr"/>
          <a:lstStyle/>
          <a:p>
            <a:pPr marL="0" indent="0" algn="r" rtl="1">
              <a:buNone/>
            </a:pPr>
            <a:r>
              <a:rPr lang="en-US" sz="1700" dirty="0">
                <a:solidFill>
                  <a:srgbClr val="1F1E1D"/>
                </a:solidFill>
                <a:latin typeface="Vazirmatn" pitchFamily="34" charset="0"/>
                <a:ea typeface="Vazirmatn" pitchFamily="34" charset="-122"/>
                <a:cs typeface="Vazirmatn" pitchFamily="34" charset="-120"/>
              </a:rPr>
              <a:t>لغو فقط از Settings ‏←‏ Apple ID ‏←‏ Subscriptions در آیفون.</a:t>
            </a:r>
            <a:endParaRPr lang="en-US" sz="1700" dirty="0"/>
          </a:p>
        </p:txBody>
      </p:sp>
      <p:sp>
        <p:nvSpPr>
          <p:cNvPr id="14" name="Shape 7"/>
          <p:cNvSpPr/>
          <p:nvPr/>
        </p:nvSpPr>
        <p:spPr>
          <a:xfrm>
            <a:off x="548640" y="4242816"/>
            <a:ext cx="11064240" cy="804672"/>
          </a:xfrm>
          <a:prstGeom prst="roundRect">
            <a:avLst>
              <a:gd name="adj" fmla="val 13636"/>
            </a:avLst>
          </a:prstGeom>
          <a:solidFill>
            <a:srgbClr val="FBEDE6"/>
          </a:solidFill>
          <a:ln w="12700">
            <a:solidFill>
              <a:srgbClr val="E3DED3"/>
            </a:solidFill>
            <a:prstDash val="solid"/>
          </a:ln>
        </p:spPr>
      </p:sp>
      <p:pic>
        <p:nvPicPr>
          <p:cNvPr id="15" name="Image 4" descr="preencoded.png"/>
          <p:cNvPicPr>
            <a:picLocks noChangeAspect="1"/>
          </p:cNvPicPr>
          <p:nvPr/>
        </p:nvPicPr>
        <p:blipFill>
          <a:blip r:embed="rId7"/>
          <a:stretch>
            <a:fillRect/>
          </a:stretch>
        </p:blipFill>
        <p:spPr>
          <a:xfrm>
            <a:off x="10927080" y="4416552"/>
            <a:ext cx="457200" cy="457200"/>
          </a:xfrm>
          <a:prstGeom prst="rect">
            <a:avLst/>
          </a:prstGeom>
        </p:spPr>
      </p:pic>
      <p:sp>
        <p:nvSpPr>
          <p:cNvPr id="16" name="Text 8"/>
          <p:cNvSpPr txBox="1"/>
          <p:nvPr/>
        </p:nvSpPr>
        <p:spPr>
          <a:xfrm>
            <a:off x="822960" y="4370832"/>
            <a:ext cx="9875520" cy="548640"/>
          </a:xfrm>
          <a:prstGeom prst="rect">
            <a:avLst/>
          </a:prstGeom>
          <a:noFill/>
          <a:ln/>
        </p:spPr>
        <p:txBody>
          <a:bodyPr wrap="square" lIns="0" tIns="0" rIns="0" bIns="0" rtlCol="0" anchor="ctr"/>
          <a:lstStyle/>
          <a:p>
            <a:pPr marL="0" indent="0" algn="r" rtl="1">
              <a:buNone/>
            </a:pPr>
            <a:r>
              <a:rPr lang="en-US" sz="1700" dirty="0">
                <a:solidFill>
                  <a:srgbClr val="1F1E1D"/>
                </a:solidFill>
                <a:latin typeface="Vazirmatn" pitchFamily="34" charset="0"/>
                <a:ea typeface="Vazirmatn" pitchFamily="34" charset="-122"/>
                <a:cs typeface="Vazirmatn" pitchFamily="34" charset="-120"/>
              </a:rPr>
              <a:t>ایران جزو کشورهای پشتیبانی‌شده نیست؛ مسئولیت با کاربر است و حساب ممکن است محدود شود.</a:t>
            </a:r>
            <a:endParaRPr lang="en-US" sz="1700" dirty="0"/>
          </a:p>
        </p:txBody>
      </p:sp>
      <p:sp>
        <p:nvSpPr>
          <p:cNvPr id="17" name="Shape 9"/>
          <p:cNvSpPr/>
          <p:nvPr/>
        </p:nvSpPr>
        <p:spPr>
          <a:xfrm>
            <a:off x="548640" y="5184648"/>
            <a:ext cx="11064240" cy="804672"/>
          </a:xfrm>
          <a:prstGeom prst="roundRect">
            <a:avLst>
              <a:gd name="adj" fmla="val 13636"/>
            </a:avLst>
          </a:prstGeom>
          <a:solidFill>
            <a:srgbClr val="FFFFFF"/>
          </a:solidFill>
          <a:ln w="12700">
            <a:solidFill>
              <a:srgbClr val="E3DED3"/>
            </a:solidFill>
            <a:prstDash val="solid"/>
          </a:ln>
        </p:spPr>
      </p:sp>
      <p:pic>
        <p:nvPicPr>
          <p:cNvPr id="18" name="Image 5" descr="preencoded.png"/>
          <p:cNvPicPr>
            <a:picLocks noChangeAspect="1"/>
          </p:cNvPicPr>
          <p:nvPr/>
        </p:nvPicPr>
        <p:blipFill>
          <a:blip r:embed="rId8"/>
          <a:stretch>
            <a:fillRect/>
          </a:stretch>
        </p:blipFill>
        <p:spPr>
          <a:xfrm>
            <a:off x="10927080" y="5358384"/>
            <a:ext cx="457200" cy="457200"/>
          </a:xfrm>
          <a:prstGeom prst="rect">
            <a:avLst/>
          </a:prstGeom>
        </p:spPr>
      </p:pic>
      <p:sp>
        <p:nvSpPr>
          <p:cNvPr id="19" name="Text 10"/>
          <p:cNvSpPr txBox="1"/>
          <p:nvPr/>
        </p:nvSpPr>
        <p:spPr>
          <a:xfrm>
            <a:off x="822960" y="5312664"/>
            <a:ext cx="9875520" cy="548640"/>
          </a:xfrm>
          <a:prstGeom prst="rect">
            <a:avLst/>
          </a:prstGeom>
          <a:noFill/>
          <a:ln/>
        </p:spPr>
        <p:txBody>
          <a:bodyPr wrap="square" lIns="0" tIns="0" rIns="0" bIns="0" rtlCol="0" anchor="ctr"/>
          <a:lstStyle/>
          <a:p>
            <a:pPr marL="0" indent="0" algn="r" rtl="1">
              <a:buNone/>
            </a:pPr>
            <a:r>
              <a:rPr lang="en-US" sz="1700" dirty="0">
                <a:solidFill>
                  <a:srgbClr val="1F1E1D"/>
                </a:solidFill>
                <a:latin typeface="Vazirmatn" pitchFamily="34" charset="0"/>
                <a:ea typeface="Vazirmatn" pitchFamily="34" charset="-122"/>
                <a:cs typeface="Vazirmatn" pitchFamily="34" charset="-120"/>
              </a:rPr>
              <a:t>گیفت‌کارت را فقط از فروشنده‌های معتبر بخرید.</a:t>
            </a:r>
            <a:endParaRPr lang="en-US" sz="17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22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2669635">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دانستنی‌های جذاب</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چیزهایی که شاید نمی‌دانستید</a:t>
            </a:r>
            <a:endParaRPr lang="en-US" sz="1400" dirty="0"/>
          </a:p>
        </p:txBody>
      </p:sp>
      <p:sp>
        <p:nvSpPr>
          <p:cNvPr id="6" name="Shape 2"/>
          <p:cNvSpPr/>
          <p:nvPr/>
        </p:nvSpPr>
        <p:spPr>
          <a:xfrm>
            <a:off x="7991856" y="1554480"/>
            <a:ext cx="3566160" cy="2057400"/>
          </a:xfrm>
          <a:prstGeom prst="roundRect">
            <a:avLst>
              <a:gd name="adj" fmla="val 5333"/>
            </a:avLst>
          </a:prstGeom>
          <a:solidFill>
            <a:srgbClr val="FFFFFF"/>
          </a:solidFill>
          <a:ln w="12700">
            <a:solidFill>
              <a:srgbClr val="E3DED3"/>
            </a:solidFill>
            <a:prstDash val="solid"/>
          </a:ln>
        </p:spPr>
      </p:sp>
      <p:pic>
        <p:nvPicPr>
          <p:cNvPr id="7" name="Image 1" descr="preencoded.png"/>
          <p:cNvPicPr>
            <a:picLocks noChangeAspect="1"/>
          </p:cNvPicPr>
          <p:nvPr/>
        </p:nvPicPr>
        <p:blipFill>
          <a:blip r:embed="rId4"/>
          <a:stretch>
            <a:fillRect/>
          </a:stretch>
        </p:blipFill>
        <p:spPr>
          <a:xfrm>
            <a:off x="10735056" y="1828800"/>
            <a:ext cx="548640" cy="548640"/>
          </a:xfrm>
          <a:prstGeom prst="rect">
            <a:avLst/>
          </a:prstGeom>
        </p:spPr>
      </p:pic>
      <p:sp>
        <p:nvSpPr>
          <p:cNvPr id="8" name="Text 3"/>
          <p:cNvSpPr txBox="1"/>
          <p:nvPr/>
        </p:nvSpPr>
        <p:spPr>
          <a:xfrm>
            <a:off x="8266176" y="1874520"/>
            <a:ext cx="2377440" cy="502920"/>
          </a:xfrm>
          <a:prstGeom prst="rect">
            <a:avLst/>
          </a:prstGeom>
          <a:noFill/>
          <a:ln/>
        </p:spPr>
        <p:txBody>
          <a:bodyPr wrap="square" lIns="0" tIns="0" rIns="0" bIns="0" rtlCol="0" anchor="ctr"/>
          <a:lstStyle/>
          <a:p>
            <a:pPr marL="0" indent="0" algn="r" rtl="1">
              <a:buNone/>
            </a:pPr>
            <a:r>
              <a:rPr lang="en-US" sz="1900" b="1" dirty="0">
                <a:solidFill>
                  <a:srgbClr val="1F1E1D"/>
                </a:solidFill>
                <a:latin typeface="Vazirmatn" pitchFamily="34" charset="0"/>
                <a:ea typeface="Vazirmatn" pitchFamily="34" charset="-122"/>
                <a:cs typeface="Vazirmatn" pitchFamily="34" charset="-120"/>
              </a:rPr>
              <a:t>نام‌گذاری</a:t>
            </a:r>
            <a:endParaRPr lang="en-US" sz="1900" dirty="0"/>
          </a:p>
        </p:txBody>
      </p:sp>
      <p:sp>
        <p:nvSpPr>
          <p:cNvPr id="9" name="Text 4"/>
          <p:cNvSpPr txBox="1"/>
          <p:nvPr/>
        </p:nvSpPr>
        <p:spPr>
          <a:xfrm>
            <a:off x="8266176" y="2560320"/>
            <a:ext cx="3017520" cy="914400"/>
          </a:xfrm>
          <a:prstGeom prst="rect">
            <a:avLst/>
          </a:prstGeom>
          <a:noFill/>
          <a:ln/>
        </p:spPr>
        <p:txBody>
          <a:bodyPr wrap="square" lIns="0" tIns="0" rIns="0" bIns="0" rtlCol="0" anchor="t"/>
          <a:lstStyle/>
          <a:p>
            <a:pPr marL="0" indent="0" algn="r" rtl="1">
              <a:buNone/>
            </a:pPr>
            <a:r>
              <a:rPr lang="en-US" sz="1500" dirty="0">
                <a:solidFill>
                  <a:srgbClr val="5E5D59"/>
                </a:solidFill>
                <a:latin typeface="Vazirmatn" pitchFamily="34" charset="0"/>
                <a:ea typeface="Vazirmatn" pitchFamily="34" charset="-122"/>
                <a:cs typeface="Vazirmatn" pitchFamily="34" charset="-120"/>
              </a:rPr>
              <a:t>به احترام کلود شانون، پدر نظریه‌ی اطلاعات</a:t>
            </a:r>
            <a:endParaRPr lang="en-US" sz="1500" dirty="0"/>
          </a:p>
        </p:txBody>
      </p:sp>
      <p:sp>
        <p:nvSpPr>
          <p:cNvPr id="10" name="Shape 5"/>
          <p:cNvSpPr/>
          <p:nvPr/>
        </p:nvSpPr>
        <p:spPr>
          <a:xfrm>
            <a:off x="4270248" y="1554480"/>
            <a:ext cx="3566160" cy="2057400"/>
          </a:xfrm>
          <a:prstGeom prst="roundRect">
            <a:avLst>
              <a:gd name="adj" fmla="val 5333"/>
            </a:avLst>
          </a:prstGeom>
          <a:solidFill>
            <a:srgbClr val="FFFFFF"/>
          </a:solidFill>
          <a:ln w="12700">
            <a:solidFill>
              <a:srgbClr val="E3DED3"/>
            </a:solidFill>
            <a:prstDash val="solid"/>
          </a:ln>
        </p:spPr>
      </p:sp>
      <p:pic>
        <p:nvPicPr>
          <p:cNvPr id="11" name="Image 2" descr="preencoded.png"/>
          <p:cNvPicPr>
            <a:picLocks noChangeAspect="1"/>
          </p:cNvPicPr>
          <p:nvPr/>
        </p:nvPicPr>
        <p:blipFill>
          <a:blip r:embed="rId5"/>
          <a:stretch>
            <a:fillRect/>
          </a:stretch>
        </p:blipFill>
        <p:spPr>
          <a:xfrm>
            <a:off x="7013448" y="1828800"/>
            <a:ext cx="548640" cy="548640"/>
          </a:xfrm>
          <a:prstGeom prst="rect">
            <a:avLst/>
          </a:prstGeom>
        </p:spPr>
      </p:pic>
      <p:sp>
        <p:nvSpPr>
          <p:cNvPr id="12" name="Text 6"/>
          <p:cNvSpPr txBox="1"/>
          <p:nvPr/>
        </p:nvSpPr>
        <p:spPr>
          <a:xfrm>
            <a:off x="4544568" y="1874520"/>
            <a:ext cx="2377440" cy="502920"/>
          </a:xfrm>
          <a:prstGeom prst="rect">
            <a:avLst/>
          </a:prstGeom>
          <a:noFill/>
          <a:ln/>
        </p:spPr>
        <p:txBody>
          <a:bodyPr wrap="square" lIns="0" tIns="0" rIns="0" bIns="0" rtlCol="0" anchor="ctr"/>
          <a:lstStyle/>
          <a:p>
            <a:pPr marL="0" indent="0" algn="r" rtl="1">
              <a:buNone/>
            </a:pPr>
            <a:r>
              <a:rPr lang="en-US" sz="1900" b="1" dirty="0">
                <a:solidFill>
                  <a:srgbClr val="1F1E1D"/>
                </a:solidFill>
                <a:latin typeface="Vazirmatn" pitchFamily="34" charset="0"/>
                <a:ea typeface="Vazirmatn" pitchFamily="34" charset="-122"/>
                <a:cs typeface="Vazirmatn" pitchFamily="34" charset="-120"/>
              </a:rPr>
              <a:t>قانون اساسی</a:t>
            </a:r>
            <a:endParaRPr lang="en-US" sz="1900" dirty="0"/>
          </a:p>
        </p:txBody>
      </p:sp>
      <p:sp>
        <p:nvSpPr>
          <p:cNvPr id="13" name="Text 7"/>
          <p:cNvSpPr txBox="1"/>
          <p:nvPr/>
        </p:nvSpPr>
        <p:spPr>
          <a:xfrm>
            <a:off x="4544568" y="2560320"/>
            <a:ext cx="3017520" cy="914400"/>
          </a:xfrm>
          <a:prstGeom prst="rect">
            <a:avLst/>
          </a:prstGeom>
          <a:noFill/>
          <a:ln/>
        </p:spPr>
        <p:txBody>
          <a:bodyPr wrap="square" lIns="0" tIns="0" rIns="0" bIns="0" rtlCol="0" anchor="t"/>
          <a:lstStyle/>
          <a:p>
            <a:pPr marL="0" indent="0" algn="r" rtl="1">
              <a:buNone/>
            </a:pPr>
            <a:r>
              <a:rPr lang="en-US" sz="1500" dirty="0">
                <a:solidFill>
                  <a:srgbClr val="5E5D59"/>
                </a:solidFill>
                <a:latin typeface="Vazirmatn" pitchFamily="34" charset="0"/>
                <a:ea typeface="Vazirmatn" pitchFamily="34" charset="-122"/>
                <a:cs typeface="Vazirmatn" pitchFamily="34" charset="-120"/>
              </a:rPr>
              <a:t>سندی عمومی که ارزش‌ها و شخصیت Claude را تعریف می‌کند</a:t>
            </a:r>
            <a:endParaRPr lang="en-US" sz="1500" dirty="0"/>
          </a:p>
        </p:txBody>
      </p:sp>
      <p:sp>
        <p:nvSpPr>
          <p:cNvPr id="14" name="Shape 8"/>
          <p:cNvSpPr/>
          <p:nvPr/>
        </p:nvSpPr>
        <p:spPr>
          <a:xfrm>
            <a:off x="548640" y="1554480"/>
            <a:ext cx="3566160" cy="2057400"/>
          </a:xfrm>
          <a:prstGeom prst="roundRect">
            <a:avLst>
              <a:gd name="adj" fmla="val 5333"/>
            </a:avLst>
          </a:prstGeom>
          <a:solidFill>
            <a:srgbClr val="FFFFFF"/>
          </a:solidFill>
          <a:ln w="12700">
            <a:solidFill>
              <a:srgbClr val="E3DED3"/>
            </a:solidFill>
            <a:prstDash val="solid"/>
          </a:ln>
        </p:spPr>
      </p:sp>
      <p:pic>
        <p:nvPicPr>
          <p:cNvPr id="15" name="Image 3" descr="preencoded.png"/>
          <p:cNvPicPr>
            <a:picLocks noChangeAspect="1"/>
          </p:cNvPicPr>
          <p:nvPr/>
        </p:nvPicPr>
        <p:blipFill>
          <a:blip r:embed="rId6"/>
          <a:stretch>
            <a:fillRect/>
          </a:stretch>
        </p:blipFill>
        <p:spPr>
          <a:xfrm>
            <a:off x="3291840" y="1828800"/>
            <a:ext cx="548640" cy="548640"/>
          </a:xfrm>
          <a:prstGeom prst="rect">
            <a:avLst/>
          </a:prstGeom>
        </p:spPr>
      </p:pic>
      <p:sp>
        <p:nvSpPr>
          <p:cNvPr id="16" name="Text 9"/>
          <p:cNvSpPr txBox="1"/>
          <p:nvPr/>
        </p:nvSpPr>
        <p:spPr>
          <a:xfrm>
            <a:off x="822960" y="1874520"/>
            <a:ext cx="2377440" cy="502920"/>
          </a:xfrm>
          <a:prstGeom prst="rect">
            <a:avLst/>
          </a:prstGeom>
          <a:noFill/>
          <a:ln/>
        </p:spPr>
        <p:txBody>
          <a:bodyPr wrap="square" lIns="0" tIns="0" rIns="0" bIns="0" rtlCol="0" anchor="ctr"/>
          <a:lstStyle/>
          <a:p>
            <a:pPr marL="0" indent="0" algn="r" rtl="1">
              <a:buNone/>
            </a:pPr>
            <a:r>
              <a:rPr lang="en-US" sz="1900" b="1" dirty="0">
                <a:solidFill>
                  <a:srgbClr val="1F1E1D"/>
                </a:solidFill>
                <a:latin typeface="Vazirmatn" pitchFamily="34" charset="0"/>
                <a:ea typeface="Vazirmatn" pitchFamily="34" charset="-122"/>
                <a:cs typeface="Vazirmatn" pitchFamily="34" charset="-120"/>
              </a:rPr>
              <a:t>۱ میلیون توکن</a:t>
            </a:r>
            <a:endParaRPr lang="en-US" sz="1900" dirty="0"/>
          </a:p>
        </p:txBody>
      </p:sp>
      <p:sp>
        <p:nvSpPr>
          <p:cNvPr id="17" name="Text 10"/>
          <p:cNvSpPr txBox="1"/>
          <p:nvPr/>
        </p:nvSpPr>
        <p:spPr>
          <a:xfrm>
            <a:off x="822960" y="2560320"/>
            <a:ext cx="3017520" cy="914400"/>
          </a:xfrm>
          <a:prstGeom prst="rect">
            <a:avLst/>
          </a:prstGeom>
          <a:noFill/>
          <a:ln/>
        </p:spPr>
        <p:txBody>
          <a:bodyPr wrap="square" lIns="0" tIns="0" rIns="0" bIns="0" rtlCol="0" anchor="t"/>
          <a:lstStyle/>
          <a:p>
            <a:pPr marL="0" indent="0" algn="r" rtl="1">
              <a:buNone/>
            </a:pPr>
            <a:r>
              <a:rPr lang="en-US" sz="1500" dirty="0">
                <a:solidFill>
                  <a:srgbClr val="5E5D59"/>
                </a:solidFill>
                <a:latin typeface="Vazirmatn" pitchFamily="34" charset="0"/>
                <a:ea typeface="Vazirmatn" pitchFamily="34" charset="-122"/>
                <a:cs typeface="Vazirmatn" pitchFamily="34" charset="-120"/>
              </a:rPr>
              <a:t>≈ ۷۵۰ هزار کلمه؛ تقریباً کل مجموعه‌ی هری پاتر</a:t>
            </a:r>
            <a:endParaRPr lang="en-US" sz="1500" dirty="0"/>
          </a:p>
        </p:txBody>
      </p:sp>
      <p:sp>
        <p:nvSpPr>
          <p:cNvPr id="18" name="Shape 11"/>
          <p:cNvSpPr/>
          <p:nvPr/>
        </p:nvSpPr>
        <p:spPr>
          <a:xfrm>
            <a:off x="7991856" y="3840480"/>
            <a:ext cx="3566160" cy="2057400"/>
          </a:xfrm>
          <a:prstGeom prst="roundRect">
            <a:avLst>
              <a:gd name="adj" fmla="val 5333"/>
            </a:avLst>
          </a:prstGeom>
          <a:solidFill>
            <a:srgbClr val="FFFFFF"/>
          </a:solidFill>
          <a:ln w="12700">
            <a:solidFill>
              <a:srgbClr val="E3DED3"/>
            </a:solidFill>
            <a:prstDash val="solid"/>
          </a:ln>
        </p:spPr>
      </p:sp>
      <p:pic>
        <p:nvPicPr>
          <p:cNvPr id="19" name="Image 4" descr="preencoded.png"/>
          <p:cNvPicPr>
            <a:picLocks noChangeAspect="1"/>
          </p:cNvPicPr>
          <p:nvPr/>
        </p:nvPicPr>
        <p:blipFill>
          <a:blip r:embed="rId7"/>
          <a:stretch>
            <a:fillRect/>
          </a:stretch>
        </p:blipFill>
        <p:spPr>
          <a:xfrm>
            <a:off x="10735056" y="4114800"/>
            <a:ext cx="548640" cy="548640"/>
          </a:xfrm>
          <a:prstGeom prst="rect">
            <a:avLst/>
          </a:prstGeom>
        </p:spPr>
      </p:pic>
      <p:sp>
        <p:nvSpPr>
          <p:cNvPr id="20" name="Text 12"/>
          <p:cNvSpPr txBox="1"/>
          <p:nvPr/>
        </p:nvSpPr>
        <p:spPr>
          <a:xfrm>
            <a:off x="8266176" y="4160520"/>
            <a:ext cx="2377440" cy="502920"/>
          </a:xfrm>
          <a:prstGeom prst="rect">
            <a:avLst/>
          </a:prstGeom>
          <a:noFill/>
          <a:ln/>
        </p:spPr>
        <p:txBody>
          <a:bodyPr wrap="square" lIns="0" tIns="0" rIns="0" bIns="0" rtlCol="0" anchor="ctr"/>
          <a:lstStyle/>
          <a:p>
            <a:pPr marL="0" indent="0" algn="r" rtl="1">
              <a:buNone/>
            </a:pPr>
            <a:r>
              <a:rPr lang="en-US" sz="1900" b="1" dirty="0">
                <a:solidFill>
                  <a:srgbClr val="1F1E1D"/>
                </a:solidFill>
                <a:latin typeface="Vazirmatn" pitchFamily="34" charset="0"/>
                <a:ea typeface="Vazirmatn" pitchFamily="34" charset="-122"/>
                <a:cs typeface="Vazirmatn" pitchFamily="34" charset="-120"/>
              </a:rPr>
              <a:t>کار چندساعته</a:t>
            </a:r>
            <a:endParaRPr lang="en-US" sz="1900" dirty="0"/>
          </a:p>
        </p:txBody>
      </p:sp>
      <p:sp>
        <p:nvSpPr>
          <p:cNvPr id="21" name="Text 13"/>
          <p:cNvSpPr txBox="1"/>
          <p:nvPr/>
        </p:nvSpPr>
        <p:spPr>
          <a:xfrm>
            <a:off x="8266176" y="4846320"/>
            <a:ext cx="3017520" cy="914400"/>
          </a:xfrm>
          <a:prstGeom prst="rect">
            <a:avLst/>
          </a:prstGeom>
          <a:noFill/>
          <a:ln/>
        </p:spPr>
        <p:txBody>
          <a:bodyPr wrap="square" lIns="0" tIns="0" rIns="0" bIns="0" rtlCol="0" anchor="t"/>
          <a:lstStyle/>
          <a:p>
            <a:pPr marL="0" indent="0" algn="r" rtl="1">
              <a:buNone/>
            </a:pPr>
            <a:r>
              <a:rPr lang="en-US" sz="1500" dirty="0">
                <a:solidFill>
                  <a:srgbClr val="5E5D59"/>
                </a:solidFill>
                <a:latin typeface="Vazirmatn" pitchFamily="34" charset="0"/>
                <a:ea typeface="Vazirmatn" pitchFamily="34" charset="-122"/>
                <a:cs typeface="Vazirmatn" pitchFamily="34" charset="-120"/>
              </a:rPr>
              <a:t>می‌نویسد، تست می‌کند و خطا را خودش رفع می‌کند</a:t>
            </a:r>
            <a:endParaRPr lang="en-US" sz="1500" dirty="0"/>
          </a:p>
        </p:txBody>
      </p:sp>
      <p:sp>
        <p:nvSpPr>
          <p:cNvPr id="22" name="Shape 14"/>
          <p:cNvSpPr/>
          <p:nvPr/>
        </p:nvSpPr>
        <p:spPr>
          <a:xfrm>
            <a:off x="4270248" y="3840480"/>
            <a:ext cx="3566160" cy="2057400"/>
          </a:xfrm>
          <a:prstGeom prst="roundRect">
            <a:avLst>
              <a:gd name="adj" fmla="val 5333"/>
            </a:avLst>
          </a:prstGeom>
          <a:solidFill>
            <a:srgbClr val="FFFFFF"/>
          </a:solidFill>
          <a:ln w="12700">
            <a:solidFill>
              <a:srgbClr val="E3DED3"/>
            </a:solidFill>
            <a:prstDash val="solid"/>
          </a:ln>
        </p:spPr>
      </p:sp>
      <p:pic>
        <p:nvPicPr>
          <p:cNvPr id="23" name="Image 5" descr="preencoded.png"/>
          <p:cNvPicPr>
            <a:picLocks noChangeAspect="1"/>
          </p:cNvPicPr>
          <p:nvPr/>
        </p:nvPicPr>
        <p:blipFill>
          <a:blip r:embed="rId8"/>
          <a:stretch>
            <a:fillRect/>
          </a:stretch>
        </p:blipFill>
        <p:spPr>
          <a:xfrm>
            <a:off x="7013448" y="4114800"/>
            <a:ext cx="548640" cy="548640"/>
          </a:xfrm>
          <a:prstGeom prst="rect">
            <a:avLst/>
          </a:prstGeom>
        </p:spPr>
      </p:pic>
      <p:sp>
        <p:nvSpPr>
          <p:cNvPr id="24" name="Text 15"/>
          <p:cNvSpPr txBox="1"/>
          <p:nvPr/>
        </p:nvSpPr>
        <p:spPr>
          <a:xfrm>
            <a:off x="4544568" y="4160520"/>
            <a:ext cx="2377440" cy="502920"/>
          </a:xfrm>
          <a:prstGeom prst="rect">
            <a:avLst/>
          </a:prstGeom>
          <a:noFill/>
          <a:ln/>
        </p:spPr>
        <p:txBody>
          <a:bodyPr wrap="square" lIns="0" tIns="0" rIns="0" bIns="0" rtlCol="0" anchor="ctr"/>
          <a:lstStyle/>
          <a:p>
            <a:pPr marL="0" indent="0" algn="r" rtl="1">
              <a:buNone/>
            </a:pPr>
            <a:r>
              <a:rPr lang="en-US" sz="1900" b="1" dirty="0">
                <a:solidFill>
                  <a:srgbClr val="1F1E1D"/>
                </a:solidFill>
                <a:latin typeface="Vazirmatn" pitchFamily="34" charset="0"/>
                <a:ea typeface="Vazirmatn" pitchFamily="34" charset="-122"/>
                <a:cs typeface="Vazirmatn" pitchFamily="34" charset="-120"/>
              </a:rPr>
              <a:t>تفسیرپذیری</a:t>
            </a:r>
            <a:endParaRPr lang="en-US" sz="1900" dirty="0"/>
          </a:p>
        </p:txBody>
      </p:sp>
      <p:sp>
        <p:nvSpPr>
          <p:cNvPr id="25" name="Text 16"/>
          <p:cNvSpPr txBox="1"/>
          <p:nvPr/>
        </p:nvSpPr>
        <p:spPr>
          <a:xfrm>
            <a:off x="4544568" y="4846320"/>
            <a:ext cx="3017520" cy="914400"/>
          </a:xfrm>
          <a:prstGeom prst="rect">
            <a:avLst/>
          </a:prstGeom>
          <a:noFill/>
          <a:ln/>
        </p:spPr>
        <p:txBody>
          <a:bodyPr wrap="square" lIns="0" tIns="0" rIns="0" bIns="0" rtlCol="0" anchor="t"/>
          <a:lstStyle/>
          <a:p>
            <a:pPr marL="0" indent="0" algn="r" rtl="1">
              <a:buNone/>
            </a:pPr>
            <a:r>
              <a:rPr lang="en-US" sz="1500" dirty="0">
                <a:solidFill>
                  <a:srgbClr val="5E5D59"/>
                </a:solidFill>
                <a:latin typeface="Vazirmatn" pitchFamily="34" charset="0"/>
                <a:ea typeface="Vazirmatn" pitchFamily="34" charset="-122"/>
                <a:cs typeface="Vazirmatn" pitchFamily="34" charset="-120"/>
              </a:rPr>
              <a:t>پژوهش برای دیدن «درون مغز» مدل</a:t>
            </a:r>
            <a:endParaRPr lang="en-US" sz="1500" dirty="0"/>
          </a:p>
        </p:txBody>
      </p:sp>
      <p:sp>
        <p:nvSpPr>
          <p:cNvPr id="26" name="Shape 17"/>
          <p:cNvSpPr/>
          <p:nvPr/>
        </p:nvSpPr>
        <p:spPr>
          <a:xfrm>
            <a:off x="548640" y="3840480"/>
            <a:ext cx="3566160" cy="2057400"/>
          </a:xfrm>
          <a:prstGeom prst="roundRect">
            <a:avLst>
              <a:gd name="adj" fmla="val 5333"/>
            </a:avLst>
          </a:prstGeom>
          <a:solidFill>
            <a:srgbClr val="FFFFFF"/>
          </a:solidFill>
          <a:ln w="12700">
            <a:solidFill>
              <a:srgbClr val="E3DED3"/>
            </a:solidFill>
            <a:prstDash val="solid"/>
          </a:ln>
        </p:spPr>
      </p:sp>
      <p:pic>
        <p:nvPicPr>
          <p:cNvPr id="27" name="Image 6" descr="preencoded.png"/>
          <p:cNvPicPr>
            <a:picLocks noChangeAspect="1"/>
          </p:cNvPicPr>
          <p:nvPr/>
        </p:nvPicPr>
        <p:blipFill>
          <a:blip r:embed="rId9"/>
          <a:stretch>
            <a:fillRect/>
          </a:stretch>
        </p:blipFill>
        <p:spPr>
          <a:xfrm>
            <a:off x="3291840" y="4114800"/>
            <a:ext cx="548640" cy="548640"/>
          </a:xfrm>
          <a:prstGeom prst="rect">
            <a:avLst/>
          </a:prstGeom>
        </p:spPr>
      </p:pic>
      <p:sp>
        <p:nvSpPr>
          <p:cNvPr id="28" name="Text 18"/>
          <p:cNvSpPr txBox="1"/>
          <p:nvPr/>
        </p:nvSpPr>
        <p:spPr>
          <a:xfrm>
            <a:off x="822960" y="4160520"/>
            <a:ext cx="2377440" cy="502920"/>
          </a:xfrm>
          <a:prstGeom prst="rect">
            <a:avLst/>
          </a:prstGeom>
          <a:noFill/>
          <a:ln/>
        </p:spPr>
        <p:txBody>
          <a:bodyPr wrap="square" lIns="0" tIns="0" rIns="0" bIns="0" rtlCol="0" anchor="ctr"/>
          <a:lstStyle/>
          <a:p>
            <a:pPr marL="0" indent="0" algn="r" rtl="1">
              <a:buNone/>
            </a:pPr>
            <a:r>
              <a:rPr lang="en-US" sz="1900" b="1" dirty="0">
                <a:solidFill>
                  <a:srgbClr val="1F1E1D"/>
                </a:solidFill>
                <a:latin typeface="Vazirmatn" pitchFamily="34" charset="0"/>
                <a:ea typeface="Vazirmatn" pitchFamily="34" charset="-122"/>
                <a:cs typeface="Vazirmatn" pitchFamily="34" charset="-120"/>
              </a:rPr>
              <a:t>چندزبانه</a:t>
            </a:r>
            <a:endParaRPr lang="en-US" sz="1900" dirty="0"/>
          </a:p>
        </p:txBody>
      </p:sp>
      <p:sp>
        <p:nvSpPr>
          <p:cNvPr id="29" name="Text 19"/>
          <p:cNvSpPr txBox="1"/>
          <p:nvPr/>
        </p:nvSpPr>
        <p:spPr>
          <a:xfrm>
            <a:off x="822960" y="4846320"/>
            <a:ext cx="3017520" cy="914400"/>
          </a:xfrm>
          <a:prstGeom prst="rect">
            <a:avLst/>
          </a:prstGeom>
          <a:noFill/>
          <a:ln/>
        </p:spPr>
        <p:txBody>
          <a:bodyPr wrap="square" lIns="0" tIns="0" rIns="0" bIns="0" rtlCol="0" anchor="t"/>
          <a:lstStyle/>
          <a:p>
            <a:pPr marL="0" indent="0" algn="r" rtl="1">
              <a:buNone/>
            </a:pPr>
            <a:r>
              <a:rPr lang="en-US" sz="1500" dirty="0">
                <a:solidFill>
                  <a:srgbClr val="5E5D59"/>
                </a:solidFill>
                <a:latin typeface="Vazirmatn" pitchFamily="34" charset="0"/>
                <a:ea typeface="Vazirmatn" pitchFamily="34" charset="-122"/>
                <a:cs typeface="Vazirmatn" pitchFamily="34" charset="-120"/>
              </a:rPr>
              <a:t>فارسی را روان می‌خواند و می‌نویسد</a:t>
            </a:r>
            <a:endParaRPr lang="en-US" sz="1500" dirty="0"/>
          </a:p>
        </p:txBody>
      </p:sp>
      <p:sp>
        <p:nvSpPr>
          <p:cNvPr id="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23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20634672">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Mythos و آینده‌ی ایمنی</a:t>
            </a:r>
            <a:endParaRPr lang="en-US" sz="3000" dirty="0"/>
          </a:p>
        </p:txBody>
      </p:sp>
      <p:sp>
        <p:nvSpPr>
          <p:cNvPr id="4" name="Text 1"/>
          <p:cNvSpPr txBox="1"/>
          <p:nvPr/>
        </p:nvSpPr>
        <p:spPr>
          <a:xfrm>
            <a:off x="548640" y="1024128"/>
            <a:ext cx="10607040" cy="365760"/>
          </a:xfrm>
          <a:prstGeom prst="rect">
            <a:avLst/>
          </a:prstGeom>
          <a:noFill/>
          <a:ln/>
        </p:spPr>
        <p:txBody>
          <a:bodyPr wrap="square" lIns="0" tIns="0" rIns="0" bIns="0" rtlCol="0" anchor="t"/>
          <a:lstStyle/>
          <a:p>
            <a:pPr marL="0" indent="0" algn="r" rtl="1">
              <a:buNone/>
            </a:pPr>
            <a:r>
              <a:rPr lang="en-US" sz="1400" dirty="0">
                <a:solidFill>
                  <a:srgbClr val="5E5D59"/>
                </a:solidFill>
                <a:latin typeface="Vazirmatn" pitchFamily="34" charset="0"/>
                <a:ea typeface="Vazirmatn" pitchFamily="34" charset="-122"/>
                <a:cs typeface="Vazirmatn" pitchFamily="34" charset="-120"/>
              </a:rPr>
              <a:t>وقتی مدل آن‌قدر قوی است که باید با احتیاط عرضه شود</a:t>
            </a:r>
            <a:endParaRPr lang="en-US" sz="1400" dirty="0"/>
          </a:p>
        </p:txBody>
      </p:sp>
      <p:sp>
        <p:nvSpPr>
          <p:cNvPr id="6" name="Shape 2"/>
          <p:cNvSpPr/>
          <p:nvPr/>
        </p:nvSpPr>
        <p:spPr>
          <a:xfrm>
            <a:off x="8915400" y="1737360"/>
            <a:ext cx="2606040" cy="3931920"/>
          </a:xfrm>
          <a:prstGeom prst="roundRect">
            <a:avLst>
              <a:gd name="adj" fmla="val 4211"/>
            </a:avLst>
          </a:prstGeom>
          <a:solidFill>
            <a:srgbClr val="FFFFFF"/>
          </a:solidFill>
          <a:ln w="12700">
            <a:solidFill>
              <a:srgbClr val="E3DED3"/>
            </a:solidFill>
            <a:prstDash val="solid"/>
          </a:ln>
        </p:spPr>
      </p:sp>
      <p:sp>
        <p:nvSpPr>
          <p:cNvPr id="8" name="Text 4"/>
          <p:cNvSpPr txBox="1"/>
          <p:nvPr/>
        </p:nvSpPr>
        <p:spPr>
          <a:xfrm>
            <a:off x="9098280" y="2468880"/>
            <a:ext cx="2240280" cy="411480"/>
          </a:xfrm>
          <a:prstGeom prst="rect">
            <a:avLst/>
          </a:prstGeom>
          <a:noFill/>
          <a:ln/>
        </p:spPr>
        <p:txBody>
          <a:bodyPr wrap="square" lIns="0" tIns="0" rIns="0" bIns="0" rtlCol="0" anchor="t"/>
          <a:lstStyle/>
          <a:p>
            <a:pPr marL="0" indent="0" algn="ctr" rtl="1">
              <a:buNone/>
            </a:pPr>
            <a:r>
              <a:rPr lang="en-US" sz="1400" b="1" dirty="0">
                <a:solidFill>
                  <a:srgbClr val="C15F3C"/>
                </a:solidFill>
                <a:latin typeface="Vazirmatn" pitchFamily="34" charset="0"/>
                <a:ea typeface="Vazirmatn" pitchFamily="34" charset="-122"/>
                <a:cs typeface="Vazirmatn" pitchFamily="34" charset="-120"/>
              </a:rPr>
              <a:t>آوریل ۲۰۲۶</a:t>
            </a:r>
            <a:endParaRPr lang="en-US" sz="1400" dirty="0"/>
          </a:p>
        </p:txBody>
      </p:sp>
      <p:sp>
        <p:nvSpPr>
          <p:cNvPr id="9" name="Text 5"/>
          <p:cNvSpPr txBox="1"/>
          <p:nvPr/>
        </p:nvSpPr>
        <p:spPr>
          <a:xfrm>
            <a:off x="9098280" y="3017520"/>
            <a:ext cx="2240280" cy="822960"/>
          </a:xfrm>
          <a:prstGeom prst="rect">
            <a:avLst/>
          </a:prstGeom>
          <a:noFill/>
          <a:ln/>
        </p:spPr>
        <p:txBody>
          <a:bodyPr wrap="square" lIns="0" tIns="0" rIns="0" bIns="0" rtlCol="0" anchor="t"/>
          <a:lstStyle/>
          <a:p>
            <a:pPr marL="0" indent="0" algn="ctr" rtl="1">
              <a:buNone/>
            </a:pPr>
            <a:r>
              <a:rPr lang="en-US" sz="1900" b="1" dirty="0">
                <a:solidFill>
                  <a:srgbClr val="1F1E1D"/>
                </a:solidFill>
                <a:latin typeface="Vazirmatn" pitchFamily="34" charset="0"/>
                <a:ea typeface="Vazirmatn" pitchFamily="34" charset="-122"/>
                <a:cs typeface="Vazirmatn" pitchFamily="34" charset="-120"/>
              </a:rPr>
              <a:t>معرفی Mythos Preview</a:t>
            </a:r>
            <a:endParaRPr lang="en-US" sz="1900" dirty="0"/>
          </a:p>
        </p:txBody>
      </p:sp>
      <p:sp>
        <p:nvSpPr>
          <p:cNvPr id="10" name="Text 6"/>
          <p:cNvSpPr txBox="1"/>
          <p:nvPr/>
        </p:nvSpPr>
        <p:spPr>
          <a:xfrm>
            <a:off x="9098280" y="3977640"/>
            <a:ext cx="2240280" cy="1828800"/>
          </a:xfrm>
          <a:prstGeom prst="rect">
            <a:avLst/>
          </a:prstGeom>
          <a:noFill/>
          <a:ln/>
        </p:spPr>
        <p:txBody>
          <a:bodyPr wrap="square" lIns="0" tIns="0" rIns="0" bIns="0" rtlCol="0" anchor="t"/>
          <a:lstStyle/>
          <a:p>
            <a:pPr marL="0" indent="0" algn="ctr" rtl="1">
              <a:buNone/>
            </a:pPr>
            <a:r>
              <a:rPr lang="en-US" sz="1500" dirty="0">
                <a:solidFill>
                  <a:srgbClr val="5E5D59"/>
                </a:solidFill>
                <a:latin typeface="Vazirmatn" pitchFamily="34" charset="0"/>
                <a:ea typeface="Vazirmatn" pitchFamily="34" charset="-122"/>
                <a:cs typeface="Vazirmatn" pitchFamily="34" charset="-120"/>
              </a:rPr>
              <a:t>فقط برای سازمان‌های منتخب</a:t>
            </a:r>
            <a:endParaRPr lang="en-US" sz="1500" dirty="0"/>
          </a:p>
        </p:txBody>
      </p:sp>
      <p:sp>
        <p:nvSpPr>
          <p:cNvPr id="11" name="Shape 7"/>
          <p:cNvSpPr/>
          <p:nvPr/>
        </p:nvSpPr>
        <p:spPr>
          <a:xfrm>
            <a:off x="6126480" y="1737360"/>
            <a:ext cx="2606040" cy="3931920"/>
          </a:xfrm>
          <a:prstGeom prst="roundRect">
            <a:avLst>
              <a:gd name="adj" fmla="val 4211"/>
            </a:avLst>
          </a:prstGeom>
          <a:solidFill>
            <a:srgbClr val="FFFFFF"/>
          </a:solidFill>
          <a:ln w="12700">
            <a:solidFill>
              <a:srgbClr val="E3DED3"/>
            </a:solidFill>
            <a:prstDash val="solid"/>
          </a:ln>
        </p:spPr>
      </p:sp>
      <p:sp>
        <p:nvSpPr>
          <p:cNvPr id="13" name="Text 9"/>
          <p:cNvSpPr txBox="1"/>
          <p:nvPr/>
        </p:nvSpPr>
        <p:spPr>
          <a:xfrm>
            <a:off x="6309360" y="2468880"/>
            <a:ext cx="2240280" cy="411480"/>
          </a:xfrm>
          <a:prstGeom prst="rect">
            <a:avLst/>
          </a:prstGeom>
          <a:noFill/>
          <a:ln/>
        </p:spPr>
        <p:txBody>
          <a:bodyPr wrap="square" lIns="0" tIns="0" rIns="0" bIns="0" rtlCol="0" anchor="t"/>
          <a:lstStyle/>
          <a:p>
            <a:pPr marL="0" indent="0" algn="ctr" rtl="1">
              <a:buNone/>
            </a:pPr>
            <a:r>
              <a:rPr lang="en-US" sz="1400" b="1" dirty="0">
                <a:solidFill>
                  <a:srgbClr val="C15F3C"/>
                </a:solidFill>
                <a:latin typeface="Vazirmatn" pitchFamily="34" charset="0"/>
                <a:ea typeface="Vazirmatn" pitchFamily="34" charset="-122"/>
                <a:cs typeface="Vazirmatn" pitchFamily="34" charset="-120"/>
              </a:rPr>
              <a:t>Project Glasswing</a:t>
            </a:r>
            <a:endParaRPr lang="en-US" sz="1400" dirty="0"/>
          </a:p>
        </p:txBody>
      </p:sp>
      <p:sp>
        <p:nvSpPr>
          <p:cNvPr id="14" name="Text 10"/>
          <p:cNvSpPr txBox="1"/>
          <p:nvPr/>
        </p:nvSpPr>
        <p:spPr>
          <a:xfrm>
            <a:off x="6309360" y="3017520"/>
            <a:ext cx="2240280" cy="822960"/>
          </a:xfrm>
          <a:prstGeom prst="rect">
            <a:avLst/>
          </a:prstGeom>
          <a:noFill/>
          <a:ln/>
        </p:spPr>
        <p:txBody>
          <a:bodyPr wrap="square" lIns="0" tIns="0" rIns="0" bIns="0" rtlCol="0" anchor="t"/>
          <a:lstStyle/>
          <a:p>
            <a:pPr marL="0" indent="0" algn="ctr" rtl="1">
              <a:buNone/>
            </a:pPr>
            <a:r>
              <a:rPr lang="en-US" sz="1900" b="1" dirty="0">
                <a:solidFill>
                  <a:srgbClr val="1F1E1D"/>
                </a:solidFill>
                <a:latin typeface="Vazirmatn" pitchFamily="34" charset="0"/>
                <a:ea typeface="Vazirmatn" pitchFamily="34" charset="-122"/>
                <a:cs typeface="Vazirmatn" pitchFamily="34" charset="-120"/>
              </a:rPr>
              <a:t>شکار آسیب‌پذیری‌ها</a:t>
            </a:r>
            <a:endParaRPr lang="en-US" sz="1900" dirty="0"/>
          </a:p>
        </p:txBody>
      </p:sp>
      <p:sp>
        <p:nvSpPr>
          <p:cNvPr id="15" name="Text 11"/>
          <p:cNvSpPr txBox="1"/>
          <p:nvPr/>
        </p:nvSpPr>
        <p:spPr>
          <a:xfrm>
            <a:off x="6309360" y="3977640"/>
            <a:ext cx="2240280" cy="1828800"/>
          </a:xfrm>
          <a:prstGeom prst="rect">
            <a:avLst/>
          </a:prstGeom>
          <a:noFill/>
          <a:ln/>
        </p:spPr>
        <p:txBody>
          <a:bodyPr wrap="square" lIns="0" tIns="0" rIns="0" bIns="0" rtlCol="0" anchor="t"/>
          <a:lstStyle/>
          <a:p>
            <a:pPr marL="0" indent="0" algn="ctr" rtl="1">
              <a:buNone/>
            </a:pPr>
            <a:r>
              <a:rPr lang="en-US" sz="1500" dirty="0">
                <a:solidFill>
                  <a:srgbClr val="5E5D59"/>
                </a:solidFill>
                <a:latin typeface="Vazirmatn" pitchFamily="34" charset="0"/>
                <a:ea typeface="Vazirmatn" pitchFamily="34" charset="-122"/>
                <a:cs typeface="Vazirmatn" pitchFamily="34" charset="-120"/>
              </a:rPr>
              <a:t>رفع باگ‌های امنیتی نرم‌افزارهای حیاتی قبل از هکرها</a:t>
            </a:r>
            <a:endParaRPr lang="en-US" sz="1500" dirty="0"/>
          </a:p>
        </p:txBody>
      </p:sp>
      <p:sp>
        <p:nvSpPr>
          <p:cNvPr id="16" name="Shape 12"/>
          <p:cNvSpPr/>
          <p:nvPr/>
        </p:nvSpPr>
        <p:spPr>
          <a:xfrm>
            <a:off x="3337560" y="1737360"/>
            <a:ext cx="2606040" cy="3931920"/>
          </a:xfrm>
          <a:prstGeom prst="roundRect">
            <a:avLst>
              <a:gd name="adj" fmla="val 4211"/>
            </a:avLst>
          </a:prstGeom>
          <a:solidFill>
            <a:srgbClr val="FFFFFF"/>
          </a:solidFill>
          <a:ln w="12700">
            <a:solidFill>
              <a:srgbClr val="E3DED3"/>
            </a:solidFill>
            <a:prstDash val="solid"/>
          </a:ln>
        </p:spPr>
      </p:sp>
      <p:sp>
        <p:nvSpPr>
          <p:cNvPr id="18" name="Text 14"/>
          <p:cNvSpPr txBox="1"/>
          <p:nvPr/>
        </p:nvSpPr>
        <p:spPr>
          <a:xfrm>
            <a:off x="3520440" y="2468880"/>
            <a:ext cx="2240280" cy="411480"/>
          </a:xfrm>
          <a:prstGeom prst="rect">
            <a:avLst/>
          </a:prstGeom>
          <a:noFill/>
          <a:ln/>
        </p:spPr>
        <p:txBody>
          <a:bodyPr wrap="square" lIns="0" tIns="0" rIns="0" bIns="0" rtlCol="0" anchor="t"/>
          <a:lstStyle/>
          <a:p>
            <a:pPr marL="0" indent="0" algn="ctr" rtl="1">
              <a:buNone/>
            </a:pPr>
            <a:r>
              <a:rPr lang="en-US" sz="1400" b="1" dirty="0">
                <a:solidFill>
                  <a:srgbClr val="C15F3C"/>
                </a:solidFill>
                <a:latin typeface="Vazirmatn" pitchFamily="34" charset="0"/>
                <a:ea typeface="Vazirmatn" pitchFamily="34" charset="-122"/>
                <a:cs typeface="Vazirmatn" pitchFamily="34" charset="-120"/>
              </a:rPr>
              <a:t>ژوئن ۲۰۲۶</a:t>
            </a:r>
            <a:endParaRPr lang="en-US" sz="1400" dirty="0"/>
          </a:p>
        </p:txBody>
      </p:sp>
      <p:sp>
        <p:nvSpPr>
          <p:cNvPr id="19" name="Text 15"/>
          <p:cNvSpPr txBox="1"/>
          <p:nvPr/>
        </p:nvSpPr>
        <p:spPr>
          <a:xfrm>
            <a:off x="3520440" y="3017520"/>
            <a:ext cx="2240280" cy="822960"/>
          </a:xfrm>
          <a:prstGeom prst="rect">
            <a:avLst/>
          </a:prstGeom>
          <a:noFill/>
          <a:ln/>
        </p:spPr>
        <p:txBody>
          <a:bodyPr wrap="square" lIns="0" tIns="0" rIns="0" bIns="0" rtlCol="0" anchor="t"/>
          <a:lstStyle/>
          <a:p>
            <a:pPr marL="0" indent="0" algn="ctr" rtl="1">
              <a:buNone/>
            </a:pPr>
            <a:r>
              <a:rPr lang="en-US" sz="1900" b="1" dirty="0">
                <a:solidFill>
                  <a:srgbClr val="1F1E1D"/>
                </a:solidFill>
                <a:latin typeface="Vazirmatn" pitchFamily="34" charset="0"/>
                <a:ea typeface="Vazirmatn" pitchFamily="34" charset="-122"/>
                <a:cs typeface="Vazirmatn" pitchFamily="34" charset="-120"/>
              </a:rPr>
              <a:t>عرضه‌ی Fable 5</a:t>
            </a:r>
            <a:endParaRPr lang="en-US" sz="1900" dirty="0"/>
          </a:p>
        </p:txBody>
      </p:sp>
      <p:sp>
        <p:nvSpPr>
          <p:cNvPr id="20" name="Text 16"/>
          <p:cNvSpPr txBox="1"/>
          <p:nvPr/>
        </p:nvSpPr>
        <p:spPr>
          <a:xfrm>
            <a:off x="3520440" y="3977640"/>
            <a:ext cx="2240280" cy="1828800"/>
          </a:xfrm>
          <a:prstGeom prst="rect">
            <a:avLst/>
          </a:prstGeom>
          <a:noFill/>
          <a:ln/>
        </p:spPr>
        <p:txBody>
          <a:bodyPr wrap="square" lIns="0" tIns="0" rIns="0" bIns="0" rtlCol="0" anchor="t"/>
          <a:lstStyle/>
          <a:p>
            <a:pPr marL="0" indent="0" algn="ctr" rtl="1">
              <a:buNone/>
            </a:pPr>
            <a:r>
              <a:rPr lang="en-US" sz="1500" dirty="0">
                <a:solidFill>
                  <a:srgbClr val="5E5D59"/>
                </a:solidFill>
                <a:latin typeface="Vazirmatn" pitchFamily="34" charset="0"/>
                <a:ea typeface="Vazirmatn" pitchFamily="34" charset="-122"/>
                <a:cs typeface="Vazirmatn" pitchFamily="34" charset="-120"/>
              </a:rPr>
              <a:t>همان مدل با محافظ‌های ایمنی بیشتر، برای همه</a:t>
            </a:r>
            <a:endParaRPr lang="en-US" sz="1500" dirty="0"/>
          </a:p>
        </p:txBody>
      </p:sp>
      <p:sp>
        <p:nvSpPr>
          <p:cNvPr id="21" name="Shape 17"/>
          <p:cNvSpPr/>
          <p:nvPr/>
        </p:nvSpPr>
        <p:spPr>
          <a:xfrm>
            <a:off x="548640" y="1737360"/>
            <a:ext cx="2606040" cy="3931920"/>
          </a:xfrm>
          <a:prstGeom prst="roundRect">
            <a:avLst>
              <a:gd name="adj" fmla="val 4211"/>
            </a:avLst>
          </a:prstGeom>
          <a:solidFill>
            <a:srgbClr val="FBEDE6"/>
          </a:solidFill>
          <a:ln w="12700">
            <a:solidFill>
              <a:srgbClr val="E3DED3"/>
            </a:solidFill>
            <a:prstDash val="solid"/>
          </a:ln>
        </p:spPr>
      </p:sp>
      <p:sp>
        <p:nvSpPr>
          <p:cNvPr id="23" name="Text 19"/>
          <p:cNvSpPr txBox="1"/>
          <p:nvPr/>
        </p:nvSpPr>
        <p:spPr>
          <a:xfrm>
            <a:off x="731520" y="2468880"/>
            <a:ext cx="2240280" cy="411480"/>
          </a:xfrm>
          <a:prstGeom prst="rect">
            <a:avLst/>
          </a:prstGeom>
          <a:noFill/>
          <a:ln/>
        </p:spPr>
        <p:txBody>
          <a:bodyPr wrap="square" lIns="0" tIns="0" rIns="0" bIns="0" rtlCol="0" anchor="t"/>
          <a:lstStyle/>
          <a:p>
            <a:pPr marL="0" indent="0" algn="ctr" rtl="1">
              <a:buNone/>
            </a:pPr>
            <a:r>
              <a:rPr lang="en-US" sz="1400" b="1" dirty="0">
                <a:solidFill>
                  <a:srgbClr val="C15F3C"/>
                </a:solidFill>
                <a:latin typeface="Vazirmatn" pitchFamily="34" charset="0"/>
                <a:ea typeface="Vazirmatn" pitchFamily="34" charset="-122"/>
                <a:cs typeface="Vazirmatn" pitchFamily="34" charset="-120"/>
              </a:rPr>
              <a:t>آینده</a:t>
            </a:r>
            <a:endParaRPr lang="en-US" sz="1400" dirty="0"/>
          </a:p>
        </p:txBody>
      </p:sp>
      <p:sp>
        <p:nvSpPr>
          <p:cNvPr id="24" name="Text 20"/>
          <p:cNvSpPr txBox="1"/>
          <p:nvPr/>
        </p:nvSpPr>
        <p:spPr>
          <a:xfrm>
            <a:off x="731520" y="3017520"/>
            <a:ext cx="2240280" cy="822960"/>
          </a:xfrm>
          <a:prstGeom prst="rect">
            <a:avLst/>
          </a:prstGeom>
          <a:noFill/>
          <a:ln/>
        </p:spPr>
        <p:txBody>
          <a:bodyPr wrap="square" lIns="0" tIns="0" rIns="0" bIns="0" rtlCol="0" anchor="t"/>
          <a:lstStyle/>
          <a:p>
            <a:pPr marL="0" indent="0" algn="ctr" rtl="1">
              <a:buNone/>
            </a:pPr>
            <a:r>
              <a:rPr lang="en-US" sz="1900" b="1" dirty="0">
                <a:solidFill>
                  <a:srgbClr val="1F1E1D"/>
                </a:solidFill>
                <a:latin typeface="Vazirmatn" pitchFamily="34" charset="0"/>
                <a:ea typeface="Vazirmatn" pitchFamily="34" charset="-122"/>
                <a:cs typeface="Vazirmatn" pitchFamily="34" charset="-120"/>
              </a:rPr>
              <a:t>عامل‌های مستقل‌تر</a:t>
            </a:r>
            <a:endParaRPr lang="en-US" sz="1900" dirty="0"/>
          </a:p>
        </p:txBody>
      </p:sp>
      <p:sp>
        <p:nvSpPr>
          <p:cNvPr id="25" name="Text 21"/>
          <p:cNvSpPr txBox="1"/>
          <p:nvPr/>
        </p:nvSpPr>
        <p:spPr>
          <a:xfrm>
            <a:off x="731520" y="3977640"/>
            <a:ext cx="2240280" cy="1828800"/>
          </a:xfrm>
          <a:prstGeom prst="rect">
            <a:avLst/>
          </a:prstGeom>
          <a:noFill/>
          <a:ln/>
        </p:spPr>
        <p:txBody>
          <a:bodyPr wrap="square" lIns="0" tIns="0" rIns="0" bIns="0" rtlCol="0" anchor="t"/>
          <a:lstStyle/>
          <a:p>
            <a:pPr marL="0" indent="0" algn="ctr" rtl="1">
              <a:buNone/>
            </a:pPr>
            <a:r>
              <a:rPr lang="en-US" sz="1500" dirty="0">
                <a:solidFill>
                  <a:srgbClr val="5E5D59"/>
                </a:solidFill>
                <a:latin typeface="Vazirmatn" pitchFamily="34" charset="0"/>
                <a:ea typeface="Vazirmatn" pitchFamily="34" charset="-122"/>
                <a:cs typeface="Vazirmatn" pitchFamily="34" charset="-120"/>
              </a:rPr>
              <a:t>کار طولانی‌تر و همکاری نزدیک‌تر با انسان</a:t>
            </a:r>
            <a:endParaRPr lang="en-US" sz="1500" dirty="0"/>
          </a:p>
        </p:txBody>
      </p:sp>
      <p:sp>
        <p:nvSpPr>
          <p:cNvPr id="26" name="Text 22"/>
          <p:cNvSpPr txBox="1"/>
          <p:nvPr/>
        </p:nvSpPr>
        <p:spPr>
          <a:xfrm>
            <a:off x="548640" y="5852160"/>
            <a:ext cx="11064240" cy="365760"/>
          </a:xfrm>
          <a:prstGeom prst="rect">
            <a:avLst/>
          </a:prstGeom>
          <a:noFill/>
          <a:ln/>
        </p:spPr>
        <p:txBody>
          <a:bodyPr wrap="square" lIns="0" tIns="0" rIns="0" bIns="0" rtlCol="0" anchor="t"/>
          <a:lstStyle/>
          <a:p>
            <a:pPr marL="0" indent="0" algn="ctr" rtl="1">
              <a:buNone/>
            </a:pPr>
            <a:r>
              <a:rPr lang="en-US" sz="1500" b="1" dirty="0">
                <a:solidFill>
                  <a:srgbClr val="C15F3C"/>
                </a:solidFill>
                <a:latin typeface="Vazirmatn" pitchFamily="34" charset="0"/>
                <a:ea typeface="Vazirmatn" pitchFamily="34" charset="-122"/>
                <a:cs typeface="Vazirmatn" pitchFamily="34" charset="-120"/>
              </a:rPr>
              <a:t>پیام اصلی: هرچه هوش مصنوعی قوی‌تر شود، عرضه‌ی مسئولانه مهم‌تر می‌شود.</a:t>
            </a:r>
            <a:endParaRPr lang="en-US" sz="1500" dirty="0"/>
          </a:p>
        </p:txBody>
      </p:sp>
      <p:sp>
        <p:nvSpPr>
          <p:cNvPr id="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24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rot="2424928">
            <a:off x="11292840" y="502920"/>
            <a:ext cx="411480" cy="411480"/>
          </a:xfrm>
          <a:prstGeom prst="rect">
            <a:avLst/>
          </a:prstGeom>
        </p:spPr>
      </p:pic>
      <p:sp>
        <p:nvSpPr>
          <p:cNvPr id="3" name="Text 0"/>
          <p:cNvSpPr txBox="1"/>
          <p:nvPr/>
        </p:nvSpPr>
        <p:spPr>
          <a:xfrm>
            <a:off x="548640" y="411480"/>
            <a:ext cx="10607040" cy="594360"/>
          </a:xfrm>
          <a:prstGeom prst="rect">
            <a:avLst/>
          </a:prstGeom>
          <a:noFill/>
          <a:ln/>
        </p:spPr>
        <p:txBody>
          <a:bodyPr wrap="square" lIns="0" tIns="0" rIns="0" bIns="0" rtlCol="0" anchor="ctr"/>
          <a:lstStyle/>
          <a:p>
            <a:pPr marL="0" indent="0" algn="r" rtl="1">
              <a:buNone/>
            </a:pPr>
            <a:r>
              <a:rPr lang="en-US" sz="3000" b="1" dirty="0">
                <a:solidFill>
                  <a:srgbClr val="1F1E1D"/>
                </a:solidFill>
                <a:latin typeface="Vazirmatn" pitchFamily="34" charset="0"/>
                <a:ea typeface="Vazirmatn" pitchFamily="34" charset="-122"/>
                <a:cs typeface="Vazirmatn" pitchFamily="34" charset="-120"/>
              </a:rPr>
              <a:t>نکات استفاده‌ی بهتر از Claude</a:t>
            </a:r>
            <a:endParaRPr lang="en-US" sz="3000" dirty="0"/>
          </a:p>
        </p:txBody>
      </p:sp>
      <p:sp>
        <p:nvSpPr>
          <p:cNvPr id="5" name="Text 1"/>
          <p:cNvSpPr txBox="1"/>
          <p:nvPr/>
        </p:nvSpPr>
        <p:spPr>
          <a:xfrm>
            <a:off x="10881360" y="1463040"/>
            <a:ext cx="731520" cy="777240"/>
          </a:xfrm>
          <a:prstGeom prst="rect">
            <a:avLst/>
          </a:prstGeom>
          <a:noFill/>
          <a:ln/>
        </p:spPr>
        <p:txBody>
          <a:bodyPr wrap="square" lIns="0" tIns="0" rIns="0" bIns="0" rtlCol="0" anchor="ctr"/>
          <a:lstStyle/>
          <a:p>
            <a:pPr marL="0" indent="0" algn="ctr" rtl="1">
              <a:buNone/>
            </a:pPr>
            <a:r>
              <a:rPr lang="en-US" sz="4000" b="1" dirty="0">
                <a:solidFill>
                  <a:srgbClr val="D97757"/>
                </a:solidFill>
                <a:latin typeface="Vazirmatn" pitchFamily="34" charset="0"/>
                <a:ea typeface="Vazirmatn" pitchFamily="34" charset="-122"/>
                <a:cs typeface="Vazirmatn" pitchFamily="34" charset="-120"/>
              </a:rPr>
              <a:t>۱</a:t>
            </a:r>
            <a:endParaRPr lang="en-US" sz="4000" dirty="0"/>
          </a:p>
        </p:txBody>
      </p:sp>
      <p:sp>
        <p:nvSpPr>
          <p:cNvPr id="6" name="Text 2"/>
          <p:cNvSpPr txBox="1"/>
          <p:nvPr/>
        </p:nvSpPr>
        <p:spPr>
          <a:xfrm>
            <a:off x="6675120" y="1572768"/>
            <a:ext cx="4114800" cy="548640"/>
          </a:xfrm>
          <a:prstGeom prst="rect">
            <a:avLst/>
          </a:prstGeom>
          <a:noFill/>
          <a:ln/>
        </p:spPr>
        <p:txBody>
          <a:bodyPr wrap="square" lIns="0" tIns="0" rIns="0" bIns="0" rtlCol="0" anchor="ctr"/>
          <a:lstStyle/>
          <a:p>
            <a:pPr marL="0" indent="0" algn="r" rtl="1">
              <a:buNone/>
            </a:pPr>
            <a:r>
              <a:rPr lang="en-US" sz="2100" b="1" dirty="0">
                <a:solidFill>
                  <a:srgbClr val="1F1E1D"/>
                </a:solidFill>
                <a:latin typeface="Vazirmatn" pitchFamily="34" charset="0"/>
                <a:ea typeface="Vazirmatn" pitchFamily="34" charset="-122"/>
                <a:cs typeface="Vazirmatn" pitchFamily="34" charset="-120"/>
              </a:rPr>
              <a:t>دقیق بنویسید</a:t>
            </a:r>
            <a:endParaRPr lang="en-US" sz="2100" dirty="0"/>
          </a:p>
        </p:txBody>
      </p:sp>
      <p:sp>
        <p:nvSpPr>
          <p:cNvPr id="7" name="Text 3"/>
          <p:cNvSpPr txBox="1"/>
          <p:nvPr/>
        </p:nvSpPr>
        <p:spPr>
          <a:xfrm>
            <a:off x="548640" y="1572768"/>
            <a:ext cx="6035040" cy="548640"/>
          </a:xfrm>
          <a:prstGeom prst="rect">
            <a:avLst/>
          </a:prstGeom>
          <a:noFill/>
          <a:ln/>
        </p:spPr>
        <p:txBody>
          <a:bodyPr wrap="square" lIns="0" tIns="0" rIns="0" bIns="0" rtlCol="0" anchor="ctr"/>
          <a:lstStyle/>
          <a:p>
            <a:pPr marL="0" indent="0" algn="r" rtl="1">
              <a:buNone/>
            </a:pPr>
            <a:r>
              <a:rPr lang="en-US" sz="1700" dirty="0">
                <a:solidFill>
                  <a:srgbClr val="5E5D59"/>
                </a:solidFill>
                <a:latin typeface="Vazirmatn" pitchFamily="34" charset="0"/>
                <a:ea typeface="Vazirmatn" pitchFamily="34" charset="-122"/>
                <a:cs typeface="Vazirmatn" pitchFamily="34" charset="-120"/>
              </a:rPr>
              <a:t>هدف، مخاطب و قالب خروجی را بگویید</a:t>
            </a:r>
            <a:endParaRPr lang="en-US" sz="1700" dirty="0"/>
          </a:p>
        </p:txBody>
      </p:sp>
      <p:sp>
        <p:nvSpPr>
          <p:cNvPr id="8" name="Shape 4"/>
          <p:cNvSpPr/>
          <p:nvPr/>
        </p:nvSpPr>
        <p:spPr>
          <a:xfrm>
            <a:off x="548640" y="2331720"/>
            <a:ext cx="11064240" cy="0"/>
          </a:xfrm>
          <a:prstGeom prst="line">
            <a:avLst/>
          </a:prstGeom>
          <a:noFill/>
          <a:ln w="12700">
            <a:solidFill>
              <a:srgbClr val="E3DED3"/>
            </a:solidFill>
            <a:prstDash val="solid"/>
          </a:ln>
        </p:spPr>
      </p:sp>
      <p:sp>
        <p:nvSpPr>
          <p:cNvPr id="9" name="Text 5"/>
          <p:cNvSpPr txBox="1"/>
          <p:nvPr/>
        </p:nvSpPr>
        <p:spPr>
          <a:xfrm>
            <a:off x="10881360" y="2395728"/>
            <a:ext cx="731520" cy="777240"/>
          </a:xfrm>
          <a:prstGeom prst="rect">
            <a:avLst/>
          </a:prstGeom>
          <a:noFill/>
          <a:ln/>
        </p:spPr>
        <p:txBody>
          <a:bodyPr wrap="square" lIns="0" tIns="0" rIns="0" bIns="0" rtlCol="0" anchor="ctr"/>
          <a:lstStyle/>
          <a:p>
            <a:pPr marL="0" indent="0" algn="ctr" rtl="1">
              <a:buNone/>
            </a:pPr>
            <a:r>
              <a:rPr lang="en-US" sz="4000" b="1" dirty="0">
                <a:solidFill>
                  <a:srgbClr val="D97757"/>
                </a:solidFill>
                <a:latin typeface="Vazirmatn" pitchFamily="34" charset="0"/>
                <a:ea typeface="Vazirmatn" pitchFamily="34" charset="-122"/>
                <a:cs typeface="Vazirmatn" pitchFamily="34" charset="-120"/>
              </a:rPr>
              <a:t>۲</a:t>
            </a:r>
            <a:endParaRPr lang="en-US" sz="4000" dirty="0"/>
          </a:p>
        </p:txBody>
      </p:sp>
      <p:sp>
        <p:nvSpPr>
          <p:cNvPr id="10" name="Text 6"/>
          <p:cNvSpPr txBox="1"/>
          <p:nvPr/>
        </p:nvSpPr>
        <p:spPr>
          <a:xfrm>
            <a:off x="6675120" y="2505456"/>
            <a:ext cx="4114800" cy="548640"/>
          </a:xfrm>
          <a:prstGeom prst="rect">
            <a:avLst/>
          </a:prstGeom>
          <a:noFill/>
          <a:ln/>
        </p:spPr>
        <p:txBody>
          <a:bodyPr wrap="square" lIns="0" tIns="0" rIns="0" bIns="0" rtlCol="0" anchor="ctr"/>
          <a:lstStyle/>
          <a:p>
            <a:pPr marL="0" indent="0" algn="r" rtl="1">
              <a:buNone/>
            </a:pPr>
            <a:r>
              <a:rPr lang="en-US" sz="2100" b="1" dirty="0">
                <a:solidFill>
                  <a:srgbClr val="1F1E1D"/>
                </a:solidFill>
                <a:latin typeface="Vazirmatn" pitchFamily="34" charset="0"/>
                <a:ea typeface="Vazirmatn" pitchFamily="34" charset="-122"/>
                <a:cs typeface="Vazirmatn" pitchFamily="34" charset="-120"/>
              </a:rPr>
              <a:t>مثال بدهید</a:t>
            </a:r>
            <a:endParaRPr lang="en-US" sz="2100" dirty="0"/>
          </a:p>
        </p:txBody>
      </p:sp>
      <p:sp>
        <p:nvSpPr>
          <p:cNvPr id="11" name="Text 7"/>
          <p:cNvSpPr txBox="1"/>
          <p:nvPr/>
        </p:nvSpPr>
        <p:spPr>
          <a:xfrm>
            <a:off x="548640" y="2505456"/>
            <a:ext cx="6035040" cy="548640"/>
          </a:xfrm>
          <a:prstGeom prst="rect">
            <a:avLst/>
          </a:prstGeom>
          <a:noFill/>
          <a:ln/>
        </p:spPr>
        <p:txBody>
          <a:bodyPr wrap="square" lIns="0" tIns="0" rIns="0" bIns="0" rtlCol="0" anchor="ctr"/>
          <a:lstStyle/>
          <a:p>
            <a:pPr marL="0" indent="0" algn="r" rtl="1">
              <a:buNone/>
            </a:pPr>
            <a:r>
              <a:rPr lang="en-US" sz="1700" dirty="0">
                <a:solidFill>
                  <a:srgbClr val="5E5D59"/>
                </a:solidFill>
                <a:latin typeface="Vazirmatn" pitchFamily="34" charset="0"/>
                <a:ea typeface="Vazirmatn" pitchFamily="34" charset="-122"/>
                <a:cs typeface="Vazirmatn" pitchFamily="34" charset="-120"/>
              </a:rPr>
              <a:t>یک نمونه‌ی خوب بهتر از ده خط توضیح</a:t>
            </a:r>
            <a:endParaRPr lang="en-US" sz="1700" dirty="0"/>
          </a:p>
        </p:txBody>
      </p:sp>
      <p:sp>
        <p:nvSpPr>
          <p:cNvPr id="12" name="Shape 8"/>
          <p:cNvSpPr/>
          <p:nvPr/>
        </p:nvSpPr>
        <p:spPr>
          <a:xfrm>
            <a:off x="548640" y="3264408"/>
            <a:ext cx="11064240" cy="0"/>
          </a:xfrm>
          <a:prstGeom prst="line">
            <a:avLst/>
          </a:prstGeom>
          <a:noFill/>
          <a:ln w="12700">
            <a:solidFill>
              <a:srgbClr val="E3DED3"/>
            </a:solidFill>
            <a:prstDash val="solid"/>
          </a:ln>
        </p:spPr>
      </p:sp>
      <p:sp>
        <p:nvSpPr>
          <p:cNvPr id="13" name="Text 9"/>
          <p:cNvSpPr txBox="1"/>
          <p:nvPr/>
        </p:nvSpPr>
        <p:spPr>
          <a:xfrm>
            <a:off x="10881360" y="3328416"/>
            <a:ext cx="731520" cy="777240"/>
          </a:xfrm>
          <a:prstGeom prst="rect">
            <a:avLst/>
          </a:prstGeom>
          <a:noFill/>
          <a:ln/>
        </p:spPr>
        <p:txBody>
          <a:bodyPr wrap="square" lIns="0" tIns="0" rIns="0" bIns="0" rtlCol="0" anchor="ctr"/>
          <a:lstStyle/>
          <a:p>
            <a:pPr marL="0" indent="0" algn="ctr" rtl="1">
              <a:buNone/>
            </a:pPr>
            <a:r>
              <a:rPr lang="en-US" sz="4000" b="1" dirty="0">
                <a:solidFill>
                  <a:srgbClr val="D97757"/>
                </a:solidFill>
                <a:latin typeface="Vazirmatn" pitchFamily="34" charset="0"/>
                <a:ea typeface="Vazirmatn" pitchFamily="34" charset="-122"/>
                <a:cs typeface="Vazirmatn" pitchFamily="34" charset="-120"/>
              </a:rPr>
              <a:t>۳</a:t>
            </a:r>
            <a:endParaRPr lang="en-US" sz="4000" dirty="0"/>
          </a:p>
        </p:txBody>
      </p:sp>
      <p:sp>
        <p:nvSpPr>
          <p:cNvPr id="14" name="Text 10"/>
          <p:cNvSpPr txBox="1"/>
          <p:nvPr/>
        </p:nvSpPr>
        <p:spPr>
          <a:xfrm>
            <a:off x="6675120" y="3438144"/>
            <a:ext cx="4114800" cy="548640"/>
          </a:xfrm>
          <a:prstGeom prst="rect">
            <a:avLst/>
          </a:prstGeom>
          <a:noFill/>
          <a:ln/>
        </p:spPr>
        <p:txBody>
          <a:bodyPr wrap="square" lIns="0" tIns="0" rIns="0" bIns="0" rtlCol="0" anchor="ctr"/>
          <a:lstStyle/>
          <a:p>
            <a:pPr marL="0" indent="0" algn="r" rtl="1">
              <a:buNone/>
            </a:pPr>
            <a:r>
              <a:rPr lang="en-US" sz="2100" b="1" dirty="0">
                <a:solidFill>
                  <a:srgbClr val="1F1E1D"/>
                </a:solidFill>
                <a:latin typeface="Vazirmatn" pitchFamily="34" charset="0"/>
                <a:ea typeface="Vazirmatn" pitchFamily="34" charset="-122"/>
                <a:cs typeface="Vazirmatn" pitchFamily="34" charset="-120"/>
              </a:rPr>
              <a:t>گفتگوی جدید</a:t>
            </a:r>
            <a:endParaRPr lang="en-US" sz="2100" dirty="0"/>
          </a:p>
        </p:txBody>
      </p:sp>
      <p:sp>
        <p:nvSpPr>
          <p:cNvPr id="15" name="Text 11"/>
          <p:cNvSpPr txBox="1"/>
          <p:nvPr/>
        </p:nvSpPr>
        <p:spPr>
          <a:xfrm>
            <a:off x="548640" y="3438144"/>
            <a:ext cx="6035040" cy="548640"/>
          </a:xfrm>
          <a:prstGeom prst="rect">
            <a:avLst/>
          </a:prstGeom>
          <a:noFill/>
          <a:ln/>
        </p:spPr>
        <p:txBody>
          <a:bodyPr wrap="square" lIns="0" tIns="0" rIns="0" bIns="0" rtlCol="0" anchor="ctr"/>
          <a:lstStyle/>
          <a:p>
            <a:pPr marL="0" indent="0" algn="r" rtl="1">
              <a:buNone/>
            </a:pPr>
            <a:r>
              <a:rPr lang="en-US" sz="1700" dirty="0">
                <a:solidFill>
                  <a:srgbClr val="5E5D59"/>
                </a:solidFill>
                <a:latin typeface="Vazirmatn" pitchFamily="34" charset="0"/>
                <a:ea typeface="Vazirmatn" pitchFamily="34" charset="-122"/>
                <a:cs typeface="Vazirmatn" pitchFamily="34" charset="-120"/>
              </a:rPr>
              <a:t>برای هر موضوع یک چت تازه = مصرف کمتر</a:t>
            </a:r>
            <a:endParaRPr lang="en-US" sz="1700" dirty="0"/>
          </a:p>
        </p:txBody>
      </p:sp>
      <p:sp>
        <p:nvSpPr>
          <p:cNvPr id="16" name="Shape 12"/>
          <p:cNvSpPr/>
          <p:nvPr/>
        </p:nvSpPr>
        <p:spPr>
          <a:xfrm>
            <a:off x="548640" y="4197096"/>
            <a:ext cx="11064240" cy="0"/>
          </a:xfrm>
          <a:prstGeom prst="line">
            <a:avLst/>
          </a:prstGeom>
          <a:noFill/>
          <a:ln w="12700">
            <a:solidFill>
              <a:srgbClr val="E3DED3"/>
            </a:solidFill>
            <a:prstDash val="solid"/>
          </a:ln>
        </p:spPr>
      </p:sp>
      <p:sp>
        <p:nvSpPr>
          <p:cNvPr id="17" name="Text 13"/>
          <p:cNvSpPr txBox="1"/>
          <p:nvPr/>
        </p:nvSpPr>
        <p:spPr>
          <a:xfrm>
            <a:off x="10881360" y="4261104"/>
            <a:ext cx="731520" cy="777240"/>
          </a:xfrm>
          <a:prstGeom prst="rect">
            <a:avLst/>
          </a:prstGeom>
          <a:noFill/>
          <a:ln/>
        </p:spPr>
        <p:txBody>
          <a:bodyPr wrap="square" lIns="0" tIns="0" rIns="0" bIns="0" rtlCol="0" anchor="ctr"/>
          <a:lstStyle/>
          <a:p>
            <a:pPr marL="0" indent="0" algn="ctr" rtl="1">
              <a:buNone/>
            </a:pPr>
            <a:r>
              <a:rPr lang="en-US" sz="4000" b="1" dirty="0">
                <a:solidFill>
                  <a:srgbClr val="D97757"/>
                </a:solidFill>
                <a:latin typeface="Vazirmatn" pitchFamily="34" charset="0"/>
                <a:ea typeface="Vazirmatn" pitchFamily="34" charset="-122"/>
                <a:cs typeface="Vazirmatn" pitchFamily="34" charset="-120"/>
              </a:rPr>
              <a:t>۴</a:t>
            </a:r>
            <a:endParaRPr lang="en-US" sz="4000" dirty="0"/>
          </a:p>
        </p:txBody>
      </p:sp>
      <p:sp>
        <p:nvSpPr>
          <p:cNvPr id="18" name="Text 14"/>
          <p:cNvSpPr txBox="1"/>
          <p:nvPr/>
        </p:nvSpPr>
        <p:spPr>
          <a:xfrm>
            <a:off x="6675120" y="4370832"/>
            <a:ext cx="4114800" cy="548640"/>
          </a:xfrm>
          <a:prstGeom prst="rect">
            <a:avLst/>
          </a:prstGeom>
          <a:noFill/>
          <a:ln/>
        </p:spPr>
        <p:txBody>
          <a:bodyPr wrap="square" lIns="0" tIns="0" rIns="0" bIns="0" rtlCol="0" anchor="ctr"/>
          <a:lstStyle/>
          <a:p>
            <a:pPr marL="0" indent="0" algn="r" rtl="1">
              <a:buNone/>
            </a:pPr>
            <a:r>
              <a:rPr lang="en-US" sz="2100" b="1" dirty="0">
                <a:solidFill>
                  <a:srgbClr val="1F1E1D"/>
                </a:solidFill>
                <a:latin typeface="Vazirmatn" pitchFamily="34" charset="0"/>
                <a:ea typeface="Vazirmatn" pitchFamily="34" charset="-122"/>
                <a:cs typeface="Vazirmatn" pitchFamily="34" charset="-120"/>
              </a:rPr>
              <a:t>از Projects استفاده کنید</a:t>
            </a:r>
            <a:endParaRPr lang="en-US" sz="2100" dirty="0"/>
          </a:p>
        </p:txBody>
      </p:sp>
      <p:sp>
        <p:nvSpPr>
          <p:cNvPr id="19" name="Text 15"/>
          <p:cNvSpPr txBox="1"/>
          <p:nvPr/>
        </p:nvSpPr>
        <p:spPr>
          <a:xfrm>
            <a:off x="548640" y="4370832"/>
            <a:ext cx="6035040" cy="548640"/>
          </a:xfrm>
          <a:prstGeom prst="rect">
            <a:avLst/>
          </a:prstGeom>
          <a:noFill/>
          <a:ln/>
        </p:spPr>
        <p:txBody>
          <a:bodyPr wrap="square" lIns="0" tIns="0" rIns="0" bIns="0" rtlCol="0" anchor="ctr"/>
          <a:lstStyle/>
          <a:p>
            <a:pPr marL="0" indent="0" algn="r" rtl="1">
              <a:buNone/>
            </a:pPr>
            <a:r>
              <a:rPr lang="en-US" sz="1700" dirty="0">
                <a:solidFill>
                  <a:srgbClr val="5E5D59"/>
                </a:solidFill>
                <a:latin typeface="Vazirmatn" pitchFamily="34" charset="0"/>
                <a:ea typeface="Vazirmatn" pitchFamily="34" charset="-122"/>
                <a:cs typeface="Vazirmatn" pitchFamily="34" charset="-120"/>
              </a:rPr>
              <a:t>فایل‌ها و دستورهای ثابت یک‌جا</a:t>
            </a:r>
            <a:endParaRPr lang="en-US" sz="1700" dirty="0"/>
          </a:p>
        </p:txBody>
      </p:sp>
      <p:sp>
        <p:nvSpPr>
          <p:cNvPr id="20" name="Shape 16"/>
          <p:cNvSpPr/>
          <p:nvPr/>
        </p:nvSpPr>
        <p:spPr>
          <a:xfrm>
            <a:off x="548640" y="5129784"/>
            <a:ext cx="11064240" cy="0"/>
          </a:xfrm>
          <a:prstGeom prst="line">
            <a:avLst/>
          </a:prstGeom>
          <a:noFill/>
          <a:ln w="12700">
            <a:solidFill>
              <a:srgbClr val="E3DED3"/>
            </a:solidFill>
            <a:prstDash val="solid"/>
          </a:ln>
        </p:spPr>
      </p:sp>
      <p:sp>
        <p:nvSpPr>
          <p:cNvPr id="21" name="Text 17"/>
          <p:cNvSpPr txBox="1"/>
          <p:nvPr/>
        </p:nvSpPr>
        <p:spPr>
          <a:xfrm>
            <a:off x="10881360" y="5193792"/>
            <a:ext cx="731520" cy="777240"/>
          </a:xfrm>
          <a:prstGeom prst="rect">
            <a:avLst/>
          </a:prstGeom>
          <a:noFill/>
          <a:ln/>
        </p:spPr>
        <p:txBody>
          <a:bodyPr wrap="square" lIns="0" tIns="0" rIns="0" bIns="0" rtlCol="0" anchor="ctr"/>
          <a:lstStyle/>
          <a:p>
            <a:pPr marL="0" indent="0" algn="ctr" rtl="1">
              <a:buNone/>
            </a:pPr>
            <a:r>
              <a:rPr lang="en-US" sz="4000" b="1" dirty="0">
                <a:solidFill>
                  <a:srgbClr val="D97757"/>
                </a:solidFill>
                <a:latin typeface="Vazirmatn" pitchFamily="34" charset="0"/>
                <a:ea typeface="Vazirmatn" pitchFamily="34" charset="-122"/>
                <a:cs typeface="Vazirmatn" pitchFamily="34" charset="-120"/>
              </a:rPr>
              <a:t>۵</a:t>
            </a:r>
            <a:endParaRPr lang="en-US" sz="4000" dirty="0"/>
          </a:p>
        </p:txBody>
      </p:sp>
      <p:sp>
        <p:nvSpPr>
          <p:cNvPr id="22" name="Text 18"/>
          <p:cNvSpPr txBox="1"/>
          <p:nvPr/>
        </p:nvSpPr>
        <p:spPr>
          <a:xfrm>
            <a:off x="6675120" y="5303520"/>
            <a:ext cx="4114800" cy="548640"/>
          </a:xfrm>
          <a:prstGeom prst="rect">
            <a:avLst/>
          </a:prstGeom>
          <a:noFill/>
          <a:ln/>
        </p:spPr>
        <p:txBody>
          <a:bodyPr wrap="square" lIns="0" tIns="0" rIns="0" bIns="0" rtlCol="0" anchor="ctr"/>
          <a:lstStyle/>
          <a:p>
            <a:pPr marL="0" indent="0" algn="r" rtl="1">
              <a:buNone/>
            </a:pPr>
            <a:r>
              <a:rPr lang="en-US" sz="2100" b="1" dirty="0">
                <a:solidFill>
                  <a:srgbClr val="1F1E1D"/>
                </a:solidFill>
                <a:latin typeface="Vazirmatn" pitchFamily="34" charset="0"/>
                <a:ea typeface="Vazirmatn" pitchFamily="34" charset="-122"/>
                <a:cs typeface="Vazirmatn" pitchFamily="34" charset="-120"/>
              </a:rPr>
              <a:t>خروجی را بررسی کنید</a:t>
            </a:r>
            <a:endParaRPr lang="en-US" sz="2100" dirty="0"/>
          </a:p>
        </p:txBody>
      </p:sp>
      <p:sp>
        <p:nvSpPr>
          <p:cNvPr id="23" name="Text 19"/>
          <p:cNvSpPr txBox="1"/>
          <p:nvPr/>
        </p:nvSpPr>
        <p:spPr>
          <a:xfrm>
            <a:off x="548640" y="5303520"/>
            <a:ext cx="6035040" cy="548640"/>
          </a:xfrm>
          <a:prstGeom prst="rect">
            <a:avLst/>
          </a:prstGeom>
          <a:noFill/>
          <a:ln/>
        </p:spPr>
        <p:txBody>
          <a:bodyPr wrap="square" lIns="0" tIns="0" rIns="0" bIns="0" rtlCol="0" anchor="ctr"/>
          <a:lstStyle/>
          <a:p>
            <a:pPr marL="0" indent="0" algn="r" rtl="1">
              <a:buNone/>
            </a:pPr>
            <a:r>
              <a:rPr lang="en-US" sz="1700" dirty="0">
                <a:solidFill>
                  <a:srgbClr val="5E5D59"/>
                </a:solidFill>
                <a:latin typeface="Vazirmatn" pitchFamily="34" charset="0"/>
                <a:ea typeface="Vazirmatn" pitchFamily="34" charset="-122"/>
                <a:cs typeface="Vazirmatn" pitchFamily="34" charset="-120"/>
              </a:rPr>
              <a:t>هوش مصنوعی هم اشتباه می‌کند</a:t>
            </a:r>
            <a:endParaRPr lang="en-US" sz="1700" dirty="0"/>
          </a:p>
        </p:txBody>
      </p:sp>
      <p:sp>
        <p:nvSpPr>
          <p:cNvPr id="25" name="Slide Number Placeholder 0"/>
          <p:cNvSpPr>
            <a:spLocks noGrp="1"/>
          </p:cNvSpPr>
          <p:nvPr>
            <p:ph type="sldNum" sz="quarter" idx="4294967295"/>
          </p:nvPr>
        </p:nvSpPr>
        <p:spPr>
          <a:xfrm>
            <a:off x="548640" y="6355080"/>
            <a:ext cx="4572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5D59"/>
                </a:solidFill>
                <a:latin typeface="Vazirmatn"/>
                <a:ea typeface="Vazirmatn"/>
                <a:cs typeface="Vazirmatn"/>
              </a:defRPr>
            </a:lvl1pPr>
          </a:lstStyle>
          <a:p>
            <a:pPr algn="l"/>
            <a:fld id="{F7021451-1387-4CA6-816F-3879F97B5CBC}" type="slidenum">
              <a:rPr lang="en-US" b="0"/>
              <a:t>25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165365" y="2331720"/>
            <a:ext cx="1830789" cy="1830789"/>
          </a:xfrm>
          <a:prstGeom prst="rect">
            <a:avLst/>
          </a:prstGeom>
        </p:spPr>
      </p:pic>
      <p:sp>
        <p:nvSpPr>
          <p:cNvPr id="4" name="Text 0"/>
          <p:cNvSpPr txBox="1"/>
          <p:nvPr/>
        </p:nvSpPr>
        <p:spPr>
          <a:xfrm>
            <a:off x="548640" y="1600200"/>
            <a:ext cx="11064240" cy="731520"/>
          </a:xfrm>
          <a:prstGeom prst="rect">
            <a:avLst/>
          </a:prstGeom>
          <a:noFill/>
          <a:ln/>
        </p:spPr>
        <p:txBody>
          <a:bodyPr wrap="square" lIns="0" tIns="0" rIns="0" bIns="0" rtlCol="0" anchor="t"/>
          <a:lstStyle/>
          <a:p>
            <a:pPr marL="0" indent="0" algn="ctr" defTabSz="914400" rtl="0" eaLnBrk="1" latinLnBrk="0" hangingPunct="1">
              <a:buNone/>
            </a:pPr>
            <a:endParaRPr lang="en-US" sz="3600" dirty="0"/>
          </a:p>
        </p:txBody>
      </p:sp>
      <p:sp>
        <p:nvSpPr>
          <p:cNvPr id="6" name="Text 2"/>
          <p:cNvSpPr txBox="1"/>
          <p:nvPr/>
        </p:nvSpPr>
        <p:spPr>
          <a:xfrm>
            <a:off x="563880" y="4426889"/>
            <a:ext cx="11064240" cy="640080"/>
          </a:xfrm>
          <a:prstGeom prst="rect">
            <a:avLst/>
          </a:prstGeom>
          <a:noFill/>
          <a:ln/>
        </p:spPr>
        <p:txBody>
          <a:bodyPr wrap="square" lIns="0" tIns="0" rIns="0" bIns="0" rtlCol="0" anchor="t"/>
          <a:lstStyle/>
          <a:p>
            <a:pPr marL="0" indent="0" algn="ctr" rtl="1">
              <a:buNone/>
            </a:pPr>
            <a:r>
              <a:rPr lang="en-US" sz="2400" b="1" dirty="0">
                <a:solidFill>
                  <a:schemeClr val="bg1"/>
                </a:solidFill>
                <a:latin typeface="Vazirmatn" pitchFamily="34" charset="0"/>
                <a:ea typeface="Vazirmatn" pitchFamily="34" charset="-122"/>
                <a:cs typeface="Vazirmatn" pitchFamily="34" charset="-120"/>
              </a:rPr>
              <a:t>ممنون از </a:t>
            </a:r>
            <a:r>
              <a:rPr lang="en-US" sz="2400" b="1">
                <a:solidFill>
                  <a:schemeClr val="bg1"/>
                </a:solidFill>
                <a:latin typeface="Vazirmatn" pitchFamily="34" charset="0"/>
                <a:ea typeface="Vazirmatn" pitchFamily="34" charset="-122"/>
                <a:cs typeface="Vazirmatn" pitchFamily="34" charset="-120"/>
              </a:rPr>
              <a:t>توجه شما</a:t>
            </a:r>
          </a:p>
          <a:p>
            <a:pPr marL="0" indent="0" algn="ctr" rtl="1">
              <a:buNone/>
            </a:pPr>
            <a:endParaRPr lang="en-US" sz="2400" b="1">
              <a:solidFill>
                <a:schemeClr val="bg1"/>
              </a:solidFill>
              <a:latin typeface="Vazirmatn" pitchFamily="34" charset="0"/>
              <a:ea typeface="Vazirmatn" pitchFamily="34" charset="-122"/>
              <a:cs typeface="Vazirmatn" pitchFamily="34" charset="-120"/>
            </a:endParaRPr>
          </a:p>
          <a:p>
            <a:pPr marL="0" indent="0" algn="ctr" rtl="1">
              <a:buNone/>
            </a:pPr>
            <a:r>
              <a:rPr lang="en-US" sz="2400" b="1">
                <a:solidFill>
                  <a:schemeClr val="bg1"/>
                </a:solidFill>
                <a:latin typeface="Vazirmatn" pitchFamily="34" charset="0"/>
                <a:ea typeface="Vazirmatn" pitchFamily="34" charset="-122"/>
                <a:cs typeface="Vazirmatn" pitchFamily="34" charset="-120"/>
              </a:rPr>
              <a:t>Q/A</a:t>
            </a:r>
          </a:p>
          <a:p>
            <a:pPr marL="0" indent="0" algn="ctr" rtl="1">
              <a:buNone/>
            </a:pPr>
            <a:endParaRPr lang="en-US" sz="2400" b="1">
              <a:solidFill>
                <a:schemeClr val="bg1"/>
              </a:solidFill>
              <a:latin typeface="Vazirmatn" pitchFamily="34" charset="0"/>
              <a:ea typeface="Vazirmatn" pitchFamily="34" charset="-122"/>
              <a:cs typeface="Vazirmatn" pitchFamily="34" charset="-120"/>
            </a:endParaRPr>
          </a:p>
          <a:p>
            <a:pPr marL="0" indent="0" algn="ctr" rtl="1">
              <a:buNone/>
            </a:pPr>
            <a:endParaRPr lang="en-US" sz="2400" b="1">
              <a:solidFill>
                <a:schemeClr val="bg1"/>
              </a:solidFill>
              <a:latin typeface="Vazirmatn" pitchFamily="34" charset="0"/>
              <a:ea typeface="Vazirmatn" pitchFamily="34" charset="-122"/>
              <a:cs typeface="Vazirmatn" pitchFamily="34" charset="-120"/>
            </a:endParaRPr>
          </a:p>
          <a:p>
            <a:pPr marL="0" indent="0" algn="ctr" rtl="1">
              <a:buNone/>
            </a:pPr>
            <a:endParaRPr lang="en-US" sz="2400" b="1">
              <a:solidFill>
                <a:schemeClr val="bg1"/>
              </a:solidFill>
              <a:latin typeface="Vazirmatn" pitchFamily="34" charset="0"/>
              <a:ea typeface="Vazirmatn" pitchFamily="34" charset="-122"/>
              <a:cs typeface="Vazirmatn" pitchFamily="34" charset="-120"/>
            </a:endParaRPr>
          </a:p>
          <a:p>
            <a:pPr marL="0" indent="0" algn="ctr" rtl="1">
              <a:buNone/>
            </a:pPr>
            <a:endParaRPr lang="en-US" sz="2400" b="1">
              <a:solidFill>
                <a:schemeClr val="bg1"/>
              </a:solidFill>
              <a:latin typeface="Vazirmatn" pitchFamily="34" charset="0"/>
              <a:ea typeface="Vazirmatn" pitchFamily="34" charset="-122"/>
              <a:cs typeface="Vazirmatn" pitchFamily="34" charset="-120"/>
            </a:endParaRPr>
          </a:p>
          <a:p>
            <a:pPr marL="0" indent="0" algn="ctr" rtl="1">
              <a:buNone/>
            </a:pPr>
            <a:endParaRPr lang="en-US" sz="2400" b="1">
              <a:solidFill>
                <a:schemeClr val="bg1"/>
              </a:solidFill>
              <a:latin typeface="Vazirmatn" pitchFamily="34" charset="0"/>
              <a:ea typeface="Vazirmatn" pitchFamily="34" charset="-122"/>
              <a:cs typeface="Vazirmatn" pitchFamily="34" charset="-120"/>
            </a:endParaRPr>
          </a:p>
          <a:p>
            <a:pPr marL="0" indent="0" algn="ctr" rtl="1">
              <a:buNone/>
            </a:pPr>
            <a:endParaRPr lang="en-US" sz="2400" b="1">
              <a:solidFill>
                <a:schemeClr val="bg1"/>
              </a:solidFill>
              <a:latin typeface="Vazirmatn" pitchFamily="34" charset="0"/>
              <a:ea typeface="Vazirmatn" pitchFamily="34" charset="-122"/>
              <a:cs typeface="Vazirmatn" pitchFamily="34" charset="-120"/>
            </a:endParaRPr>
          </a:p>
          <a:p>
            <a:pPr marL="0" indent="0" algn="ctr" rtl="1">
              <a:buNone/>
            </a:pPr>
            <a:endParaRPr lang="en-US" sz="2400" b="1">
              <a:solidFill>
                <a:schemeClr val="bg1"/>
              </a:solidFill>
              <a:latin typeface="Vazirmatn" pitchFamily="34" charset="0"/>
              <a:ea typeface="Vazirmatn" pitchFamily="34" charset="-122"/>
              <a:cs typeface="Vazirmatn" pitchFamily="34" charset="-120"/>
            </a:endParaRPr>
          </a:p>
          <a:p>
            <a:pPr marL="0" indent="0" algn="ctr" rtl="1">
              <a:buNone/>
            </a:pPr>
            <a:endParaRPr lang="en-US" sz="2400" b="1">
              <a:solidFill>
                <a:schemeClr val="bg1"/>
              </a:solidFill>
              <a:latin typeface="Vazirmatn" pitchFamily="34" charset="0"/>
              <a:ea typeface="Vazirmatn" pitchFamily="34" charset="-122"/>
              <a:cs typeface="Vazirmatn" pitchFamily="34" charset="-120"/>
            </a:endParaRPr>
          </a:p>
          <a:p>
            <a:pPr marL="0" indent="0" algn="ctr" rtl="1">
              <a:buNone/>
            </a:pPr>
            <a:r>
              <a:rPr lang="en-US" sz="2400" b="1">
                <a:solidFill>
                  <a:schemeClr val="bg1"/>
                </a:solidFill>
                <a:latin typeface="Vazirmatn" pitchFamily="34" charset="0"/>
                <a:ea typeface="Vazirmatn" pitchFamily="34" charset="-122"/>
                <a:cs typeface="Vazirmatn" pitchFamily="34" charset="-120"/>
              </a:rPr>
              <a:t> </a:t>
            </a:r>
            <a:br>
              <a:rPr lang="en-US" sz="2400" b="1">
                <a:solidFill>
                  <a:schemeClr val="bg1"/>
                </a:solidFill>
                <a:latin typeface="Vazirmatn" pitchFamily="34" charset="0"/>
                <a:ea typeface="Vazirmatn" pitchFamily="34" charset="-122"/>
                <a:cs typeface="Vazirmatn" pitchFamily="34" charset="-120"/>
              </a:rPr>
            </a:br>
            <a:endParaRPr lang="en-US" sz="2400" dirty="0">
              <a:solidFill>
                <a:schemeClr val="bg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5000" fill="hold"/>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laude Warm">
  <a:themeElements>
    <a:clrScheme name="Claude Warm">
      <a:dk1>
        <a:srgbClr val="1F1E1D"/>
      </a:dk1>
      <a:lt1>
        <a:srgbClr val="FAF9F5"/>
      </a:lt1>
      <a:dk2>
        <a:srgbClr val="3D3929"/>
      </a:dk2>
      <a:lt2>
        <a:srgbClr val="F0EEE6"/>
      </a:lt2>
      <a:accent1>
        <a:srgbClr val="D97757"/>
      </a:accent1>
      <a:accent2>
        <a:srgbClr val="C15F3C"/>
      </a:accent2>
      <a:accent3>
        <a:srgbClr val="6A9BCC"/>
      </a:accent3>
      <a:accent4>
        <a:srgbClr val="788C5D"/>
      </a:accent4>
      <a:accent5>
        <a:srgbClr val="B0AEA5"/>
      </a:accent5>
      <a:accent6>
        <a:srgbClr val="E8D5C4"/>
      </a:accent6>
      <a:hlink>
        <a:srgbClr val="C15F3C"/>
      </a:hlink>
      <a:folHlink>
        <a:srgbClr val="8C6A5D"/>
      </a:folHlink>
    </a:clrScheme>
    <a:fontScheme name="Claude Warm">
      <a:majorFont>
        <a:latin typeface="Vazirmat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azirmat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4294</Words>
  <Application>Microsoft Macintosh PowerPoint</Application>
  <PresentationFormat>Widescreen</PresentationFormat>
  <Paragraphs>429</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Vazirmatn</vt:lpstr>
      <vt:lpstr>Claude Warm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dc:title>
  <dc:subject>PptxGenJS Presentation</dc:subject>
  <dc:creator>سید پارسا بنی‌طبا</dc:creator>
  <cp:lastModifiedBy>Parsa Banitaba</cp:lastModifiedBy>
  <cp:revision>2</cp:revision>
  <dcterms:created xsi:type="dcterms:W3CDTF">2026-10-03T08:50:31Z</dcterms:created>
  <dcterms:modified xsi:type="dcterms:W3CDTF">2026-10-04T06:00:37Z</dcterms:modified>
</cp:coreProperties>
</file>