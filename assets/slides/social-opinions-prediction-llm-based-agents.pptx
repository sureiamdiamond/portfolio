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71" d="100"/>
          <a:sy n="171" d="100"/>
        </p:scale>
        <p:origin x="464"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5C6B7A"/>
                </a:solidFill>
                <a:latin typeface="Calibri"/>
              </a:defRPr>
            </a:pPr>
            <a:r>
              <a:rPr sz="1100" b="0" i="0" u="none" strike="noStrike">
                <a:solidFill>
                  <a:srgbClr val="5C6B7A"/>
                </a:solidFill>
                <a:latin typeface="Calibri"/>
              </a:rPr>
              <a:t>Average DTW (lower is better)</a:t>
            </a:r>
          </a:p>
        </c:rich>
      </c:tx>
      <c:overlay val="0"/>
    </c:title>
    <c:autoTitleDeleted val="0"/>
    <c:plotArea>
      <c:layout/>
      <c:barChart>
        <c:barDir val="bar"/>
        <c:grouping val="clustered"/>
        <c:varyColors val="0"/>
        <c:ser>
          <c:idx val="0"/>
          <c:order val="0"/>
          <c:tx>
            <c:strRef>
              <c:f>Sheet1!$B$1</c:f>
              <c:strCache>
                <c:ptCount val="1"/>
                <c:pt idx="0">
                  <c:v>DTW</c:v>
                </c:pt>
              </c:strCache>
            </c:strRef>
          </c:tx>
          <c:spPr>
            <a:solidFill>
              <a:srgbClr val="17A398"/>
            </a:solidFill>
            <a:effectLst/>
          </c:spPr>
          <c:invertIfNegative val="0"/>
          <c:dPt>
            <c:idx val="0"/>
            <c:invertIfNegative val="0"/>
            <c:bubble3D val="0"/>
            <c:extLst>
              <c:ext xmlns:c16="http://schemas.microsoft.com/office/drawing/2014/chart" uri="{C3380CC4-5D6E-409C-BE32-E72D297353CC}">
                <c16:uniqueId val="{00000001-3EAA-0041-8A7E-1D76F35B493E}"/>
              </c:ext>
            </c:extLst>
          </c:dPt>
          <c:dPt>
            <c:idx val="1"/>
            <c:invertIfNegative val="0"/>
            <c:bubble3D val="0"/>
            <c:spPr>
              <a:solidFill>
                <a:srgbClr val="B8C4D3"/>
              </a:solidFill>
              <a:effectLst/>
            </c:spPr>
            <c:extLst>
              <c:ext xmlns:c16="http://schemas.microsoft.com/office/drawing/2014/chart" uri="{C3380CC4-5D6E-409C-BE32-E72D297353CC}">
                <c16:uniqueId val="{00000003-3EAA-0041-8A7E-1D76F35B493E}"/>
              </c:ext>
            </c:extLst>
          </c:dPt>
          <c:dPt>
            <c:idx val="2"/>
            <c:invertIfNegative val="0"/>
            <c:bubble3D val="0"/>
            <c:spPr>
              <a:solidFill>
                <a:srgbClr val="B8C4D3"/>
              </a:solidFill>
              <a:effectLst/>
            </c:spPr>
            <c:extLst>
              <c:ext xmlns:c16="http://schemas.microsoft.com/office/drawing/2014/chart" uri="{C3380CC4-5D6E-409C-BE32-E72D297353CC}">
                <c16:uniqueId val="{00000005-3EAA-0041-8A7E-1D76F35B493E}"/>
              </c:ext>
            </c:extLst>
          </c:dPt>
          <c:dPt>
            <c:idx val="3"/>
            <c:invertIfNegative val="0"/>
            <c:bubble3D val="0"/>
            <c:spPr>
              <a:solidFill>
                <a:srgbClr val="B8C4D3"/>
              </a:solidFill>
              <a:effectLst/>
            </c:spPr>
            <c:extLst>
              <c:ext xmlns:c16="http://schemas.microsoft.com/office/drawing/2014/chart" uri="{C3380CC4-5D6E-409C-BE32-E72D297353CC}">
                <c16:uniqueId val="{00000007-3EAA-0041-8A7E-1D76F35B493E}"/>
              </c:ext>
            </c:extLst>
          </c:dPt>
          <c:dPt>
            <c:idx val="4"/>
            <c:invertIfNegative val="0"/>
            <c:bubble3D val="0"/>
            <c:spPr>
              <a:solidFill>
                <a:srgbClr val="B8C4D3"/>
              </a:solidFill>
              <a:effectLst/>
            </c:spPr>
            <c:extLst>
              <c:ext xmlns:c16="http://schemas.microsoft.com/office/drawing/2014/chart" uri="{C3380CC4-5D6E-409C-BE32-E72D297353CC}">
                <c16:uniqueId val="{00000009-3EAA-0041-8A7E-1D76F35B493E}"/>
              </c:ext>
            </c:extLst>
          </c:dPt>
          <c:dLbls>
            <c:numFmt formatCode="0.00" sourceLinked="0"/>
            <c:spPr>
              <a:noFill/>
              <a:ln>
                <a:noFill/>
              </a:ln>
              <a:effectLst/>
            </c:spPr>
            <c:txPr>
              <a:bodyPr/>
              <a:lstStyle/>
              <a:p>
                <a:pPr>
                  <a:defRPr sz="1000" b="0" i="0" u="none" strike="noStrike">
                    <a:solidFill>
                      <a:srgbClr val="1F293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FDE-LLM</c:v>
                </c:pt>
                <c:pt idx="1">
                  <c:v>LLM+ABM(CA)</c:v>
                </c:pt>
                <c:pt idx="2">
                  <c:v>ABM(CA)</c:v>
                </c:pt>
                <c:pt idx="3">
                  <c:v>LLM</c:v>
                </c:pt>
                <c:pt idx="4">
                  <c:v>ABM(HK)</c:v>
                </c:pt>
              </c:strCache>
            </c:strRef>
          </c:cat>
          <c:val>
            <c:numRef>
              <c:f>Sheet1!$B$2:$B$6</c:f>
              <c:numCache>
                <c:formatCode>General</c:formatCode>
                <c:ptCount val="5"/>
                <c:pt idx="0">
                  <c:v>0.72</c:v>
                </c:pt>
                <c:pt idx="1">
                  <c:v>0.82</c:v>
                </c:pt>
                <c:pt idx="2">
                  <c:v>0.76</c:v>
                </c:pt>
                <c:pt idx="3">
                  <c:v>0.91</c:v>
                </c:pt>
                <c:pt idx="4">
                  <c:v>1.23</c:v>
                </c:pt>
              </c:numCache>
            </c:numRef>
          </c:val>
          <c:extLst>
            <c:ext xmlns:c16="http://schemas.microsoft.com/office/drawing/2014/chart" uri="{C3380CC4-5D6E-409C-BE32-E72D297353CC}">
              <c16:uniqueId val="{0000000A-3EAA-0041-8A7E-1D76F35B493E}"/>
            </c:ext>
          </c:extLst>
        </c:ser>
        <c:dLbls>
          <c:showLegendKey val="0"/>
          <c:showVal val="1"/>
          <c:showCatName val="0"/>
          <c:showSerName val="0"/>
          <c:showPercent val="0"/>
          <c:showBubbleSize val="0"/>
        </c:dLbls>
        <c:gapWidth val="45"/>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F2933"/>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5C6B7A"/>
                </a:solidFill>
                <a:latin typeface="Calibri"/>
              </a:defRPr>
            </a:pPr>
            <a:r>
              <a:rPr sz="1100" b="0" i="0" u="none" strike="noStrike">
                <a:solidFill>
                  <a:srgbClr val="5C6B7A"/>
                </a:solidFill>
                <a:latin typeface="Calibri"/>
              </a:rPr>
              <a:t>Average Pearson r (higher is better)</a:t>
            </a:r>
          </a:p>
        </c:rich>
      </c:tx>
      <c:overlay val="0"/>
    </c:title>
    <c:autoTitleDeleted val="0"/>
    <c:plotArea>
      <c:layout/>
      <c:barChart>
        <c:barDir val="bar"/>
        <c:grouping val="clustered"/>
        <c:varyColors val="0"/>
        <c:ser>
          <c:idx val="0"/>
          <c:order val="0"/>
          <c:tx>
            <c:strRef>
              <c:f>Sheet1!$B$1</c:f>
              <c:strCache>
                <c:ptCount val="1"/>
                <c:pt idx="0">
                  <c:v>r</c:v>
                </c:pt>
              </c:strCache>
            </c:strRef>
          </c:tx>
          <c:spPr>
            <a:solidFill>
              <a:srgbClr val="17A398"/>
            </a:solidFill>
            <a:effectLst/>
          </c:spPr>
          <c:invertIfNegative val="0"/>
          <c:dPt>
            <c:idx val="0"/>
            <c:invertIfNegative val="0"/>
            <c:bubble3D val="0"/>
            <c:extLst>
              <c:ext xmlns:c16="http://schemas.microsoft.com/office/drawing/2014/chart" uri="{C3380CC4-5D6E-409C-BE32-E72D297353CC}">
                <c16:uniqueId val="{00000001-A2B1-2141-856D-AA1ECCFACE48}"/>
              </c:ext>
            </c:extLst>
          </c:dPt>
          <c:dPt>
            <c:idx val="1"/>
            <c:invertIfNegative val="0"/>
            <c:bubble3D val="0"/>
            <c:spPr>
              <a:solidFill>
                <a:srgbClr val="B8C4D3"/>
              </a:solidFill>
              <a:effectLst/>
            </c:spPr>
            <c:extLst>
              <c:ext xmlns:c16="http://schemas.microsoft.com/office/drawing/2014/chart" uri="{C3380CC4-5D6E-409C-BE32-E72D297353CC}">
                <c16:uniqueId val="{00000003-A2B1-2141-856D-AA1ECCFACE48}"/>
              </c:ext>
            </c:extLst>
          </c:dPt>
          <c:dPt>
            <c:idx val="2"/>
            <c:invertIfNegative val="0"/>
            <c:bubble3D val="0"/>
            <c:spPr>
              <a:solidFill>
                <a:srgbClr val="B8C4D3"/>
              </a:solidFill>
              <a:effectLst/>
            </c:spPr>
            <c:extLst>
              <c:ext xmlns:c16="http://schemas.microsoft.com/office/drawing/2014/chart" uri="{C3380CC4-5D6E-409C-BE32-E72D297353CC}">
                <c16:uniqueId val="{00000005-A2B1-2141-856D-AA1ECCFACE48}"/>
              </c:ext>
            </c:extLst>
          </c:dPt>
          <c:dPt>
            <c:idx val="3"/>
            <c:invertIfNegative val="0"/>
            <c:bubble3D val="0"/>
            <c:spPr>
              <a:solidFill>
                <a:srgbClr val="B8C4D3"/>
              </a:solidFill>
              <a:effectLst/>
            </c:spPr>
            <c:extLst>
              <c:ext xmlns:c16="http://schemas.microsoft.com/office/drawing/2014/chart" uri="{C3380CC4-5D6E-409C-BE32-E72D297353CC}">
                <c16:uniqueId val="{00000007-A2B1-2141-856D-AA1ECCFACE48}"/>
              </c:ext>
            </c:extLst>
          </c:dPt>
          <c:dPt>
            <c:idx val="4"/>
            <c:invertIfNegative val="0"/>
            <c:bubble3D val="0"/>
            <c:spPr>
              <a:solidFill>
                <a:srgbClr val="B8C4D3"/>
              </a:solidFill>
              <a:effectLst/>
            </c:spPr>
            <c:extLst>
              <c:ext xmlns:c16="http://schemas.microsoft.com/office/drawing/2014/chart" uri="{C3380CC4-5D6E-409C-BE32-E72D297353CC}">
                <c16:uniqueId val="{00000009-A2B1-2141-856D-AA1ECCFACE48}"/>
              </c:ext>
            </c:extLst>
          </c:dPt>
          <c:dLbls>
            <c:numFmt formatCode="0.00" sourceLinked="0"/>
            <c:spPr>
              <a:noFill/>
              <a:ln>
                <a:noFill/>
              </a:ln>
              <a:effectLst/>
            </c:spPr>
            <c:txPr>
              <a:bodyPr/>
              <a:lstStyle/>
              <a:p>
                <a:pPr>
                  <a:defRPr sz="1000" b="0" i="0" u="none" strike="noStrike">
                    <a:solidFill>
                      <a:srgbClr val="1F293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FDE-LLM</c:v>
                </c:pt>
                <c:pt idx="1">
                  <c:v>LLM+ABM(CA)</c:v>
                </c:pt>
                <c:pt idx="2">
                  <c:v>ABM(CA)</c:v>
                </c:pt>
                <c:pt idx="3">
                  <c:v>LLM</c:v>
                </c:pt>
                <c:pt idx="4">
                  <c:v>ABM(HK)</c:v>
                </c:pt>
              </c:strCache>
            </c:strRef>
          </c:cat>
          <c:val>
            <c:numRef>
              <c:f>Sheet1!$B$2:$B$6</c:f>
              <c:numCache>
                <c:formatCode>General</c:formatCode>
                <c:ptCount val="5"/>
                <c:pt idx="0">
                  <c:v>0.72</c:v>
                </c:pt>
                <c:pt idx="1">
                  <c:v>0.68</c:v>
                </c:pt>
                <c:pt idx="2">
                  <c:v>0.39</c:v>
                </c:pt>
                <c:pt idx="3">
                  <c:v>0.54</c:v>
                </c:pt>
                <c:pt idx="4">
                  <c:v>0.44</c:v>
                </c:pt>
              </c:numCache>
            </c:numRef>
          </c:val>
          <c:extLst>
            <c:ext xmlns:c16="http://schemas.microsoft.com/office/drawing/2014/chart" uri="{C3380CC4-5D6E-409C-BE32-E72D297353CC}">
              <c16:uniqueId val="{0000000A-A2B1-2141-856D-AA1ECCFACE48}"/>
            </c:ext>
          </c:extLst>
        </c:ser>
        <c:dLbls>
          <c:showLegendKey val="0"/>
          <c:showVal val="1"/>
          <c:showCatName val="0"/>
          <c:showSerName val="0"/>
          <c:showPercent val="0"/>
          <c:showBubbleSize val="0"/>
        </c:dLbls>
        <c:gapWidth val="45"/>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F2933"/>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118169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[۳۰ ثانیه] سلام. موضوع من شماره ۱۰ است: شبیه‌سازی شبکه اجتماعی با LLM. من مقاله FDE-LLM را که سال ۲۰۲۵ در Scientific Reports (JCR Q1) چاپ شده، مطالعه و به‌صورت ساده‌شده پیاده‌سازی کرده‌ام.</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[۲۰ ثانیه] ارائه شش بخش دارد: بیان مسئله، مرور ادبیات، روش پیشنهادی مقاله، داده و معیارهای ارزیابی، پیاده‌سازی و نتایج خودم، و جمع‌بندی.</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[۱.۵ دقیقه] مسئله: پیش‌بینی تغییر افکار عمومی در شبکه‌های اجتماعی، مخصوصاً در «اخبار وارونه»؛ یعنی خبری که اول شایعه است و بعد حقیقتش معلوم می‌شود.
سه مشکل: ۱) مدل‌های کلاسیک قواعد ایده‌آل دارند و جهش بزرگ نظر را نمی‌گیرند. ۲) LLM تنها بیش‌واکنشی دارد و روی نظرهای افراطی گیر می‌کند. ۳) در داده واقعی، نظر جمعی بعد از هر موج به سمت خنثی برمی‌گردد و مدل باید این را هم نشان دهد.
هدف مقاله ترکیب این دو دنیاست.</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[۲ دقیقه] کارهای قبلی را در سه گروه می‌شود دید:
۱) مدل‌های کلاسیک مثل DeGroot، Voter، Deffuant، HK و Cellular Automata؛ ساده و قابل تحلیل‌اند ولی محتوای خبر را نمی‌فهمند.
۲) ABMهای مبتنی بر داده واقعی مثل مدل Duggins و Carpentras؛ واقع‌گراترند ولی نوسان بزرگ و میرایی را نمی‌گیرند.
۳) شبیه‌سازی با LLM مثل Generative Agents، کار Törnberg، Chuang و HiSim؛ رفتار انسانی‌تر دارند ولی پرهزینه‌اند و بدون قید، نظرها افراطی می‌شود.
شکاف: روشی که قدرت LLM را با پایداری معادلات دینامیکی ترکیب کند. FDE-LLM همین کار را می‌کند.</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[۱.۵ دقیقه] ایده اصلی: کاربران دو نقش دارند. رهبران افکار (۱۰٪) با LLM شبیه‌سازی می‌شوند و دنبال‌کننده‌ها (۹۰٪) فقط با معادلات.
مراحل: ۱) خبر شایعه منتشر می‌شود و در روز واقعی افشا، خبر حقیقت. ۲) رهبران با LLM اکشن انتخاب می‌کنند و CA تغییر نگرششان را نرم می‌کند. ۳) دنبال‌کننده‌ها از همسایه‌ها و رهبران تأثیر می‌گیرند و با میرایی SIR به حالت خنثی برمی‌گردند. ۴) میانگین نگرش دنبال‌کننده‌ها با داده واقعی مقایسه می‌شود.</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[۱.۵ دقیقه] رهبران: نگرش جدید ترکیبی از خروجی CA و خروجی LLM است، با ضریب α. در CA، ε مثل سوگیری تأییدی عمل می‌کند و فقط همسایه‌های با نظر نزدیک تأثیر دارند.
دنبال‌کننده‌ها: CA روی همسایه‌ها، و با احتمال γ نظرشان با نرخ λ به سمت صفر میرا می‌شود؛ این ایده بهبودی در مدل SIR است.
LLM-Action اکشن رهبر را انتخاب می‌کند و LLM-Attitude به متن آن نگرش ۱، ۰ یا ۱- می‌دهد.</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[۱.۵ دقیقه] داده مقاله ۴ رویداد واقعی «خبر وارونه» از ویبو است، با حدود ۲۵۵ هزار پست. هر رویداد اول یک روایت دارد و بعد حقیقت چیز دیگری از آب درمی‌آید. نسبت رهبر به دنبال‌کننده در هر ۴ رویداد ۱ به ۹ است.
نگرش هر پست را GLM-4 بین ۱- و ۱ برچسب زده و میانگین روزانه، منحنی واقعی است.
در پیاده‌سازی من، پست‌های خام در دسترس نبودند؛ پس منحنی روزانه را مستقیم از شکل ۲ مقاله استخراج کردم. این برای ارزیابی کافی است، چون ارزیابی فقط همین منحنی را لازم دارد.</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[۱ دقیقه] دو معیار مقاله: DTW فاصله دو سری زمانی بعد از هم‌ترازی است و هرچه کمتر، بهتر. پیرسون نشان می‌دهد روندها هم‌جهت‌اند یا نه و هرچه به ۱ نزدیک‌تر، بهتر.
FDE-LLM با این روش‌ها مقایسه می‌شود: LLM تنها، دو ABM کلاسیک (CA و HK)، ترکیب LLM و CA بدون SIR، و آزمایش حذف CA.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[۱.۵ دقیقه] مقاله کد منتشر نکرده؛ من از روی معادلات مقاله در یک نوت‌بوک Colab پیاده‌سازی کردم.
تفاوت‌ها با مقاله در جدول است: مدل زبانی کوچک‌تر و متن‌باز، ۱۰۰ ایجنت، گام روزانه، و منحنی واقعی از روی شکل مقاله.
برای سرعت، جواب LLM برای همه حالت‌های ممکن یک بار ساخته و ذخیره می‌شود (۷۲۰ جواب) و شبیه‌سازی از همان جدول می‌خواند. پارامترها مثل مقاله با جست‌وجوی شبکه‌ای انتخاب شده‌اند و هر روش ۵ بار اجرا و میانگین گرفته شده.</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[۱ دقیقه] همه نتایجی که نشان می‌دهم از این نوت‌بوک آمده که در Google Colab روی GPU مدل T4 اجرا شد. نوت‌بوک شش بخش دارد: تنظیمات و دانلود مدل، داده واقعی، ساخت ۷۲۰ جواب LLM، شبیه‌سازی با معادلات مقاله، جست‌وجوی پارامتر، و نتایج و نمودارها. همه خروجی‌ها در پوشه results ذخیره می‌شوند و نوت‌بوک اجراشده همراه گزارش تحویل داده شده تا داوران بتوانند بررسی کنند.</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[۱ دقیقه] میانگین روی ۴ رویداد: FDE-LLM در هر دو معیار اول است؛ کمترین DTW (۰.۷۲) و بیشترین همبستگی (۰.۷۲). پس یافته اصلی مقاله در نسخه ساده‌شده من هم تکرار شد.
عددهای من از مقاله ضعیف‌ترند (DTW حدود ۰.۷ در برابر ۰.۳۵)، که به‌خاطر مدل کوچک‌تر، ایجنت کمتر، گام روزانه و داده استخراج‌شده از شکل طبیعی است.
ABM(CA) از نظر DTW دوم است ولی همبستگی‌اش پایین است (۰.۳۹)؛ یعنی مقدارش نزدیک است ولی روند را نمی‌گیرد.</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[۱ دقیقه] به تفکیک رویداد: FDE-LLM همه‌جا اول نیست (Pangmao: ABM(CA)، Qingdao و Dianduji: LLM تنها)، ولی همیشه پایدار است و همبستگی‌اش در هر ۴ رویداد بالای ۰.۵۹ است.
LLM تنها خیلی ناپایدار است: روی Pangmao همبستگی حتی کمی منفی است و روی Dianduji خیلی بالا.
نکته مهم: در هیچ روشی منحنی بعد از افشای حقیقت منفی نشد. دلیلش را در اسلاید بعد نشان می‌دهم.</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[۱.۵ دقیقه] در نمودار، خط قرمز داده واقعی است و خط سبز FDE-LLM. FDE-LLM کاهش تدریجی نظر قبل از افشای حقیقت (میرایی) و نزدیک صفر ماندن در انتها را خوب می‌گیرد؛ مخصوصاً در Pangmao و Jiangping قبل از خط‌چین. ولی افت منفی بعد از خط‌چین را بازتولید نمی‌کند.
آزمایش حذف: در مقاله، حذف CA خطا را بیشتر می‌کند. مثل مقاله، بدون CA میانگین خطا بیشتر می‌شود (در ۳ رویداد از ۴)؛ ولی اثر در نسخه من کوچک‌تر از مقاله است.</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[۱ دقیقه] در FDE-LLM سیگنال «وارونگی» باید از LLM بیاید؛ یعنی رهبران بعد از خبر حقیقت باید مخالف شوند. ولی مدل کوچک من به خبر حقیقت واکنش درستی نشان نداد. نمودار روش «LLM تنها» که میانگین مستقیم خروجی LLM است، بعد از خط‌چین در Jiangping مثبت می‌ماند و در Qingdao روی صفر است. حتی بعد از اتهام تقلب، یکی از ایجنت‌ها نوشت «دستاورد شگفت‌انگیزی است!».
پس معادلات CA و SIR درست کار کردند و میرایی را ساختند، ولی بدون واکنش درست LLM، افت منفی شکل نمی‌گیرد. مقاله با GLM-4 که مدل قوی‌تری است این مشکل را نداشته.</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[۱ دقیقه] جمع‌بندی: FDE-LLM در هر دو معیار بهترین روش بود، پس ادعای اصلی مقاله تأیید شد. میرایی SIR خوب کار کرد. ولی وارونگی نظر بعد از خبر حقیقت بازتولید نشد، چون مدل زبانی کوچک به آن خبر واکنش نداد.
محدودیت‌ها: مدل کوچک، تعداد کم ایجنت، گام روزانه، داده استخراج‌شده از شکل، و اینکه پارامترها مثل خود مقاله روی همان داده آزمون تنظیم شده‌اند. ممنون از توجه‌تان.</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hyperlink" Target="https://colab.research.google.com/drive/1NgjRjfoLSilUTUtkEgy8bh7Kd-TbYTsp"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a:effectLst/>
      </p:bgPr>
    </p:bg>
    <p:spTree>
      <p:nvGrpSpPr>
        <p:cNvPr id="1" name=""/>
        <p:cNvGrpSpPr/>
        <p:nvPr/>
      </p:nvGrpSpPr>
      <p:grpSpPr>
        <a:xfrm>
          <a:off x="0" y="0"/>
          <a:ext cx="0" cy="0"/>
          <a:chOff x="0" y="0"/>
          <a:chExt cx="0" cy="0"/>
        </a:xfrm>
      </p:grpSpPr>
      <p:sp>
        <p:nvSpPr>
          <p:cNvPr id="2" name="Shape 0"/>
          <p:cNvSpPr/>
          <p:nvPr/>
        </p:nvSpPr>
        <p:spPr>
          <a:xfrm>
            <a:off x="548640" y="640080"/>
            <a:ext cx="822960" cy="822960"/>
          </a:xfrm>
          <a:prstGeom prst="ellipse">
            <a:avLst/>
          </a:prstGeom>
          <a:solidFill>
            <a:srgbClr val="17A398"/>
          </a:solidFill>
          <a:ln w="12700">
            <a:solidFill>
              <a:srgbClr val="17A398"/>
            </a:solidFill>
            <a:prstDash val="solid"/>
          </a:ln>
        </p:spPr>
      </p:sp>
      <p:sp>
        <p:nvSpPr>
          <p:cNvPr id="3" name="Shape 1"/>
          <p:cNvSpPr/>
          <p:nvPr/>
        </p:nvSpPr>
        <p:spPr>
          <a:xfrm>
            <a:off x="1463040" y="1417320"/>
            <a:ext cx="411480" cy="411480"/>
          </a:xfrm>
          <a:prstGeom prst="ellipse">
            <a:avLst/>
          </a:prstGeom>
          <a:solidFill>
            <a:srgbClr val="E4572E"/>
          </a:solidFill>
          <a:ln w="12700">
            <a:solidFill>
              <a:srgbClr val="E4572E"/>
            </a:solidFill>
            <a:prstDash val="solid"/>
          </a:ln>
        </p:spPr>
      </p:sp>
      <p:sp>
        <p:nvSpPr>
          <p:cNvPr id="4" name="Shape 2"/>
          <p:cNvSpPr/>
          <p:nvPr/>
        </p:nvSpPr>
        <p:spPr>
          <a:xfrm>
            <a:off x="320040" y="1645920"/>
            <a:ext cx="256032" cy="256032"/>
          </a:xfrm>
          <a:prstGeom prst="ellipse">
            <a:avLst/>
          </a:prstGeom>
          <a:solidFill>
            <a:srgbClr val="C9D6E8">
              <a:alpha val="60000"/>
            </a:srgbClr>
          </a:solidFill>
          <a:ln w="12700">
            <a:solidFill>
              <a:srgbClr val="C9D6E8"/>
            </a:solidFill>
            <a:prstDash val="solid"/>
          </a:ln>
        </p:spPr>
      </p:sp>
      <p:sp>
        <p:nvSpPr>
          <p:cNvPr id="5" name="Shape 3"/>
          <p:cNvSpPr/>
          <p:nvPr/>
        </p:nvSpPr>
        <p:spPr>
          <a:xfrm>
            <a:off x="1143000" y="320040"/>
            <a:ext cx="182880" cy="182880"/>
          </a:xfrm>
          <a:prstGeom prst="ellipse">
            <a:avLst/>
          </a:prstGeom>
          <a:solidFill>
            <a:srgbClr val="C9D6E8">
              <a:alpha val="60000"/>
            </a:srgbClr>
          </a:solidFill>
          <a:ln w="12700">
            <a:solidFill>
              <a:srgbClr val="C9D6E8"/>
            </a:solidFill>
            <a:prstDash val="solid"/>
          </a:ln>
        </p:spPr>
      </p:sp>
      <p:sp>
        <p:nvSpPr>
          <p:cNvPr id="6" name="Shape 4"/>
          <p:cNvSpPr/>
          <p:nvPr/>
        </p:nvSpPr>
        <p:spPr>
          <a:xfrm>
            <a:off x="1920240" y="822960"/>
            <a:ext cx="146304" cy="146304"/>
          </a:xfrm>
          <a:prstGeom prst="ellipse">
            <a:avLst/>
          </a:prstGeom>
          <a:solidFill>
            <a:srgbClr val="17A398">
              <a:alpha val="70000"/>
            </a:srgbClr>
          </a:solidFill>
          <a:ln w="12700">
            <a:solidFill>
              <a:srgbClr val="17A398"/>
            </a:solidFill>
            <a:prstDash val="solid"/>
          </a:ln>
        </p:spPr>
      </p:sp>
      <p:sp>
        <p:nvSpPr>
          <p:cNvPr id="7" name="Text 5"/>
          <p:cNvSpPr txBox="1"/>
          <p:nvPr/>
        </p:nvSpPr>
        <p:spPr>
          <a:xfrm>
            <a:off x="2743200" y="502920"/>
            <a:ext cx="5943600" cy="320040"/>
          </a:xfrm>
          <a:prstGeom prst="rect">
            <a:avLst/>
          </a:prstGeom>
          <a:noFill/>
          <a:ln/>
        </p:spPr>
        <p:txBody>
          <a:bodyPr wrap="square" lIns="0" tIns="0" rIns="0" bIns="0" rtlCol="0" anchor="t"/>
          <a:lstStyle/>
          <a:p>
            <a:pPr marL="0" indent="0" algn="r" rtl="1">
              <a:buNone/>
            </a:pPr>
            <a:r>
              <a:rPr lang="fa-IR" altLang="en-US" sz="1200" dirty="0">
                <a:solidFill>
                  <a:srgbClr val="C9D6E8"/>
                </a:solidFill>
                <a:latin typeface="Shabnam" pitchFamily="34" charset="0"/>
                <a:ea typeface="Shabnam" pitchFamily="34" charset="-122"/>
                <a:cs typeface="Shabnam" pitchFamily="34" charset="-120"/>
              </a:rPr>
              <a:t>دانشگاه آزاد اسلامی واحد تهران مرکز</a:t>
            </a:r>
            <a:endParaRPr lang="fa-IR" sz="1200" dirty="0"/>
          </a:p>
        </p:txBody>
      </p:sp>
      <p:sp>
        <p:nvSpPr>
          <p:cNvPr id="8" name="Text 6"/>
          <p:cNvSpPr txBox="1"/>
          <p:nvPr/>
        </p:nvSpPr>
        <p:spPr>
          <a:xfrm>
            <a:off x="2743200" y="1097280"/>
            <a:ext cx="5943600" cy="320040"/>
          </a:xfrm>
          <a:prstGeom prst="rect">
            <a:avLst/>
          </a:prstGeom>
          <a:noFill/>
          <a:ln/>
        </p:spPr>
        <p:txBody>
          <a:bodyPr wrap="square" lIns="0" tIns="0" rIns="0" bIns="0" rtlCol="0" anchor="t"/>
          <a:lstStyle/>
          <a:p>
            <a:pPr marL="0" indent="0" algn="r" rtl="1">
              <a:buNone/>
            </a:pPr>
            <a:r>
              <a:rPr lang="fa-IR" altLang="en-US" sz="1300" b="1" dirty="0">
                <a:solidFill>
                  <a:srgbClr val="17A398"/>
                </a:solidFill>
                <a:latin typeface="Shabnam" pitchFamily="34" charset="0"/>
                <a:ea typeface="Shabnam" pitchFamily="34" charset="-122"/>
                <a:cs typeface="Shabnam" pitchFamily="34" charset="-120"/>
              </a:rPr>
              <a:t>پروژه درس  ·  موضوع ۱۰</a:t>
            </a:r>
            <a:endParaRPr lang="fa-IR" sz="1300" dirty="0"/>
          </a:p>
        </p:txBody>
      </p:sp>
      <p:sp>
        <p:nvSpPr>
          <p:cNvPr id="9" name="Text 7"/>
          <p:cNvSpPr txBox="1"/>
          <p:nvPr/>
        </p:nvSpPr>
        <p:spPr>
          <a:xfrm>
            <a:off x="2286000" y="1463040"/>
            <a:ext cx="6400800" cy="685800"/>
          </a:xfrm>
          <a:prstGeom prst="rect">
            <a:avLst/>
          </a:prstGeom>
          <a:noFill/>
          <a:ln/>
        </p:spPr>
        <p:txBody>
          <a:bodyPr wrap="square" lIns="0" tIns="0" rIns="0" bIns="0" rtlCol="0" anchor="t"/>
          <a:lstStyle/>
          <a:p>
            <a:pPr marL="0" indent="0" algn="r" rtl="1">
              <a:buNone/>
            </a:pPr>
            <a:r>
              <a:rPr lang="fa-IR" altLang="en-US" sz="3000" b="1" dirty="0">
                <a:solidFill>
                  <a:srgbClr val="FFFFFF"/>
                </a:solidFill>
                <a:latin typeface="Shabnam" pitchFamily="34" charset="0"/>
                <a:ea typeface="Shabnam" pitchFamily="34" charset="-122"/>
                <a:cs typeface="Shabnam" pitchFamily="34" charset="-120"/>
              </a:rPr>
              <a:t>شبیه‌سازی شبکه اجتماعی مبتنی بر LLM</a:t>
            </a:r>
            <a:endParaRPr lang="fa-IR" sz="3000" dirty="0"/>
          </a:p>
        </p:txBody>
      </p:sp>
      <p:sp>
        <p:nvSpPr>
          <p:cNvPr id="10" name="Text 8"/>
          <p:cNvSpPr txBox="1"/>
          <p:nvPr/>
        </p:nvSpPr>
        <p:spPr>
          <a:xfrm>
            <a:off x="2286000" y="2194560"/>
            <a:ext cx="6400800" cy="411480"/>
          </a:xfrm>
          <a:prstGeom prst="rect">
            <a:avLst/>
          </a:prstGeom>
          <a:noFill/>
          <a:ln/>
        </p:spPr>
        <p:txBody>
          <a:bodyPr wrap="square" lIns="0" tIns="0" rIns="0" bIns="0" rtlCol="0" anchor="t"/>
          <a:lstStyle/>
          <a:p>
            <a:pPr marL="0" indent="0" algn="r" rtl="1">
              <a:buNone/>
            </a:pPr>
            <a:r>
              <a:rPr lang="fa-IR" altLang="en-US" sz="1500" dirty="0">
                <a:solidFill>
                  <a:srgbClr val="C9D6E8"/>
                </a:solidFill>
                <a:latin typeface="Shabnam" pitchFamily="34" charset="0"/>
                <a:ea typeface="Shabnam" pitchFamily="34" charset="-122"/>
                <a:cs typeface="Shabnam" pitchFamily="34" charset="-120"/>
              </a:rPr>
              <a:t>پیش‌بینی نوسان افکار عمومی با ترکیب ایجنت‌های LLM و معادلات دینامیکی</a:t>
            </a:r>
            <a:endParaRPr lang="fa-IR" sz="1500" dirty="0"/>
          </a:p>
        </p:txBody>
      </p:sp>
      <p:sp>
        <p:nvSpPr>
          <p:cNvPr id="11" name="Text 9"/>
          <p:cNvSpPr txBox="1"/>
          <p:nvPr/>
        </p:nvSpPr>
        <p:spPr>
          <a:xfrm>
            <a:off x="2286000" y="2651760"/>
            <a:ext cx="6400800" cy="320040"/>
          </a:xfrm>
          <a:prstGeom prst="rect">
            <a:avLst/>
          </a:prstGeom>
          <a:noFill/>
          <a:ln/>
        </p:spPr>
        <p:txBody>
          <a:bodyPr wrap="square" lIns="0" tIns="0" rIns="0" bIns="0" rtlCol="0" anchor="t"/>
          <a:lstStyle/>
          <a:p>
            <a:pPr marL="0" indent="0" algn="r" rtl="1">
              <a:buNone/>
            </a:pPr>
            <a:r>
              <a:rPr lang="fa-IR" altLang="en-US" sz="1300" b="1" dirty="0">
                <a:solidFill>
                  <a:srgbClr val="FFFFFF"/>
                </a:solidFill>
                <a:latin typeface="Shabnam" pitchFamily="34" charset="0"/>
                <a:ea typeface="Shabnam" pitchFamily="34" charset="-122"/>
                <a:cs typeface="Shabnam" pitchFamily="34" charset="-120"/>
              </a:rPr>
              <a:t>استاد: دکتر هارون‌آبادی   ·   ارائه‌دهنده: سید پارسا بنی‌طبا</a:t>
            </a:r>
            <a:endParaRPr lang="fa-IR" sz="1300" dirty="0"/>
          </a:p>
        </p:txBody>
      </p:sp>
      <p:sp>
        <p:nvSpPr>
          <p:cNvPr id="12" name="Shape 10"/>
          <p:cNvSpPr/>
          <p:nvPr/>
        </p:nvSpPr>
        <p:spPr>
          <a:xfrm>
            <a:off x="3657600" y="3063240"/>
            <a:ext cx="5029200" cy="1143000"/>
          </a:xfrm>
          <a:prstGeom prst="roundRect">
            <a:avLst>
              <a:gd name="adj" fmla="val 6400"/>
            </a:avLst>
          </a:prstGeom>
          <a:solidFill>
            <a:srgbClr val="1F3057"/>
          </a:solidFill>
          <a:ln w="12700">
            <a:solidFill>
              <a:srgbClr val="1F3057"/>
            </a:solidFill>
            <a:prstDash val="solid"/>
          </a:ln>
        </p:spPr>
      </p:sp>
      <p:sp>
        <p:nvSpPr>
          <p:cNvPr id="13" name="Text 11"/>
          <p:cNvSpPr txBox="1"/>
          <p:nvPr/>
        </p:nvSpPr>
        <p:spPr>
          <a:xfrm>
            <a:off x="3840480" y="3182112"/>
            <a:ext cx="4663440" cy="274320"/>
          </a:xfrm>
          <a:prstGeom prst="rect">
            <a:avLst/>
          </a:prstGeom>
          <a:noFill/>
          <a:ln/>
        </p:spPr>
        <p:txBody>
          <a:bodyPr wrap="square" lIns="0" tIns="0" rIns="0" bIns="0" rtlCol="0" anchor="t"/>
          <a:lstStyle/>
          <a:p>
            <a:pPr marL="0" indent="0" algn="r" rtl="1">
              <a:buNone/>
            </a:pPr>
            <a:r>
              <a:rPr lang="fa-IR" altLang="en-US" sz="1100" b="1" dirty="0">
                <a:solidFill>
                  <a:srgbClr val="17A398"/>
                </a:solidFill>
                <a:latin typeface="Shabnam" pitchFamily="34" charset="0"/>
                <a:ea typeface="Shabnam" pitchFamily="34" charset="-122"/>
                <a:cs typeface="Shabnam" pitchFamily="34" charset="-120"/>
              </a:rPr>
              <a:t>بازتولید مقاله پایه</a:t>
            </a:r>
            <a:endParaRPr lang="fa-IR" sz="1100" dirty="0"/>
          </a:p>
        </p:txBody>
      </p:sp>
      <p:sp>
        <p:nvSpPr>
          <p:cNvPr id="14" name="Text 12"/>
          <p:cNvSpPr txBox="1"/>
          <p:nvPr/>
        </p:nvSpPr>
        <p:spPr>
          <a:xfrm>
            <a:off x="3840480" y="3474720"/>
            <a:ext cx="4663440" cy="411480"/>
          </a:xfrm>
          <a:prstGeom prst="rect">
            <a:avLst/>
          </a:prstGeom>
          <a:noFill/>
          <a:ln/>
        </p:spPr>
        <p:txBody>
          <a:bodyPr wrap="square" lIns="0" tIns="0" rIns="0" bIns="0" rtlCol="0" anchor="t"/>
          <a:lstStyle/>
          <a:p>
            <a:pPr marL="0" indent="0" algn="r">
              <a:buNone/>
            </a:pPr>
            <a:r>
              <a:rPr lang="en-US" sz="1200" b="1" dirty="0">
                <a:solidFill>
                  <a:srgbClr val="FFFFFF"/>
                </a:solidFill>
                <a:latin typeface="Cambria" pitchFamily="34" charset="0"/>
                <a:ea typeface="Cambria" pitchFamily="34" charset="-122"/>
                <a:cs typeface="Cambria" pitchFamily="34" charset="-120"/>
              </a:rPr>
              <a:t>Social opinions prediction utilizes fusing dynamics equation with LLM-based agents</a:t>
            </a:r>
            <a:endParaRPr lang="en-US" sz="1200" dirty="0"/>
          </a:p>
        </p:txBody>
      </p:sp>
      <p:sp>
        <p:nvSpPr>
          <p:cNvPr id="15" name="Text 13"/>
          <p:cNvSpPr txBox="1"/>
          <p:nvPr/>
        </p:nvSpPr>
        <p:spPr>
          <a:xfrm>
            <a:off x="3840480" y="3886200"/>
            <a:ext cx="4663440" cy="228600"/>
          </a:xfrm>
          <a:prstGeom prst="rect">
            <a:avLst/>
          </a:prstGeom>
          <a:noFill/>
          <a:ln/>
        </p:spPr>
        <p:txBody>
          <a:bodyPr wrap="square" lIns="0" tIns="0" rIns="0" bIns="0" rtlCol="0" anchor="t"/>
          <a:lstStyle/>
          <a:p>
            <a:pPr marL="0" indent="0" algn="r">
              <a:buNone/>
            </a:pPr>
            <a:r>
              <a:rPr lang="en-US" sz="1050" dirty="0">
                <a:solidFill>
                  <a:srgbClr val="C9D6E8"/>
                </a:solidFill>
                <a:latin typeface="Calibri" pitchFamily="34" charset="0"/>
                <a:ea typeface="Calibri" pitchFamily="34" charset="-122"/>
                <a:cs typeface="Calibri" pitchFamily="34" charset="-120"/>
              </a:rPr>
              <a:t>Yao et al. · Scientific Reports 15:15472 · 2025 · JCR Q1</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7863840" cy="274320"/>
          </a:xfrm>
          <a:prstGeom prst="rect">
            <a:avLst/>
          </a:prstGeom>
          <a:noFill/>
          <a:ln/>
        </p:spPr>
        <p:txBody>
          <a:bodyPr wrap="square" lIns="0" tIns="0" rIns="0" bIns="0" rtlCol="0" anchor="t"/>
          <a:lstStyle/>
          <a:p>
            <a:pPr marL="0" indent="0" algn="r" rtl="1">
              <a:buNone/>
            </a:pPr>
            <a:r>
              <a:rPr lang="fa-IR" altLang="en-US" sz="1100" dirty="0">
                <a:solidFill>
                  <a:srgbClr val="5C6B7A"/>
                </a:solidFill>
                <a:latin typeface="Shabnam" pitchFamily="34" charset="0"/>
                <a:ea typeface="Shabnam" pitchFamily="34" charset="-122"/>
                <a:cs typeface="Shabnam" pitchFamily="34" charset="-120"/>
              </a:rPr>
              <a:t>فهرست</a:t>
            </a:r>
            <a:endParaRPr lang="fa-IR" sz="1100" dirty="0"/>
          </a:p>
        </p:txBody>
      </p:sp>
      <p:sp>
        <p:nvSpPr>
          <p:cNvPr id="3" name="Text 1"/>
          <p:cNvSpPr txBox="1"/>
          <p:nvPr/>
        </p:nvSpPr>
        <p:spPr>
          <a:xfrm>
            <a:off x="457200" y="566928"/>
            <a:ext cx="8229600" cy="594360"/>
          </a:xfrm>
          <a:prstGeom prst="rect">
            <a:avLst/>
          </a:prstGeom>
          <a:noFill/>
          <a:ln/>
        </p:spPr>
        <p:txBody>
          <a:bodyPr wrap="square" lIns="0" tIns="0" rIns="0" bIns="0" rtlCol="0" anchor="t"/>
          <a:lstStyle/>
          <a:p>
            <a:pPr marL="0" indent="0" algn="r" rtl="1">
              <a:buNone/>
            </a:pPr>
            <a:r>
              <a:rPr lang="fa-IR" altLang="en-US" sz="2400" b="1" dirty="0">
                <a:solidFill>
                  <a:srgbClr val="14213D"/>
                </a:solidFill>
                <a:latin typeface="Shabnam" pitchFamily="34" charset="0"/>
                <a:ea typeface="Shabnam" pitchFamily="34" charset="-122"/>
                <a:cs typeface="Shabnam" pitchFamily="34" charset="-120"/>
              </a:rPr>
              <a:t>مسیر ارائه</a:t>
            </a:r>
            <a:endParaRPr lang="fa-IR" sz="2400" dirty="0"/>
          </a:p>
        </p:txBody>
      </p:sp>
      <p:sp>
        <p:nvSpPr>
          <p:cNvPr id="4" name="Shape 2"/>
          <p:cNvSpPr/>
          <p:nvPr/>
        </p:nvSpPr>
        <p:spPr>
          <a:xfrm>
            <a:off x="4663440" y="1371600"/>
            <a:ext cx="4023360" cy="868680"/>
          </a:xfrm>
          <a:prstGeom prst="roundRect">
            <a:avLst>
              <a:gd name="adj" fmla="val 8421"/>
            </a:avLst>
          </a:prstGeom>
          <a:solidFill>
            <a:srgbClr val="EEF2F7"/>
          </a:solidFill>
          <a:ln w="12700">
            <a:solidFill>
              <a:srgbClr val="EEF2F7"/>
            </a:solidFill>
            <a:prstDash val="solid"/>
          </a:ln>
        </p:spPr>
      </p:sp>
      <p:sp>
        <p:nvSpPr>
          <p:cNvPr id="5" name="Shape 3"/>
          <p:cNvSpPr/>
          <p:nvPr/>
        </p:nvSpPr>
        <p:spPr>
          <a:xfrm>
            <a:off x="8092440" y="1554480"/>
            <a:ext cx="475488" cy="475488"/>
          </a:xfrm>
          <a:prstGeom prst="ellipse">
            <a:avLst/>
          </a:prstGeom>
          <a:solidFill>
            <a:srgbClr val="E4572E"/>
          </a:solidFill>
          <a:ln w="12700">
            <a:solidFill>
              <a:srgbClr val="E4572E"/>
            </a:solidFill>
            <a:prstDash val="solid"/>
          </a:ln>
        </p:spPr>
      </p:sp>
      <p:sp>
        <p:nvSpPr>
          <p:cNvPr id="6" name="Text 4"/>
          <p:cNvSpPr txBox="1"/>
          <p:nvPr/>
        </p:nvSpPr>
        <p:spPr>
          <a:xfrm>
            <a:off x="8092440" y="1554480"/>
            <a:ext cx="475488" cy="475488"/>
          </a:xfrm>
          <a:prstGeom prst="rect">
            <a:avLst/>
          </a:prstGeom>
          <a:noFill/>
          <a:ln/>
        </p:spPr>
        <p:txBody>
          <a:bodyPr wrap="square" lIns="0" tIns="0" rIns="0" bIns="0" rtlCol="0" anchor="ctr"/>
          <a:lstStyle/>
          <a:p>
            <a:pPr marL="0" indent="0" algn="ctr" rtl="1">
              <a:buNone/>
            </a:pPr>
            <a:r>
              <a:rPr lang="fa-IR" altLang="en-US" sz="1600" b="1" dirty="0">
                <a:solidFill>
                  <a:srgbClr val="FFFFFF"/>
                </a:solidFill>
                <a:latin typeface="Shabnam" pitchFamily="34" charset="0"/>
                <a:ea typeface="Shabnam" pitchFamily="34" charset="-122"/>
                <a:cs typeface="Shabnam" pitchFamily="34" charset="-120"/>
              </a:rPr>
              <a:t>۱</a:t>
            </a:r>
            <a:endParaRPr lang="fa-IR" sz="1600" dirty="0"/>
          </a:p>
        </p:txBody>
      </p:sp>
      <p:sp>
        <p:nvSpPr>
          <p:cNvPr id="7" name="Text 5"/>
          <p:cNvSpPr txBox="1"/>
          <p:nvPr/>
        </p:nvSpPr>
        <p:spPr>
          <a:xfrm>
            <a:off x="4846320" y="1499616"/>
            <a:ext cx="3108960" cy="320040"/>
          </a:xfrm>
          <a:prstGeom prst="rect">
            <a:avLst/>
          </a:prstGeom>
          <a:noFill/>
          <a:ln/>
        </p:spPr>
        <p:txBody>
          <a:bodyPr wrap="square" lIns="0" tIns="0" rIns="0" bIns="0" rtlCol="0" anchor="t"/>
          <a:lstStyle/>
          <a:p>
            <a:pPr marL="0" indent="0" algn="r" rtl="1">
              <a:buNone/>
            </a:pPr>
            <a:r>
              <a:rPr lang="fa-IR" altLang="en-US" sz="1500" b="1" dirty="0">
                <a:solidFill>
                  <a:srgbClr val="14213D"/>
                </a:solidFill>
                <a:latin typeface="Shabnam" pitchFamily="34" charset="0"/>
                <a:ea typeface="Shabnam" pitchFamily="34" charset="-122"/>
                <a:cs typeface="Shabnam" pitchFamily="34" charset="-120"/>
              </a:rPr>
              <a:t>بیان مسئله</a:t>
            </a:r>
            <a:endParaRPr lang="fa-IR" sz="1500" dirty="0"/>
          </a:p>
        </p:txBody>
      </p:sp>
      <p:sp>
        <p:nvSpPr>
          <p:cNvPr id="8" name="Text 6"/>
          <p:cNvSpPr txBox="1"/>
          <p:nvPr/>
        </p:nvSpPr>
        <p:spPr>
          <a:xfrm>
            <a:off x="4846320" y="1847088"/>
            <a:ext cx="3108960" cy="320040"/>
          </a:xfrm>
          <a:prstGeom prst="rect">
            <a:avLst/>
          </a:prstGeom>
          <a:noFill/>
          <a:ln/>
        </p:spPr>
        <p:txBody>
          <a:bodyPr wrap="square" lIns="0" tIns="0" rIns="0" bIns="0" rtlCol="0" anchor="t"/>
          <a:lstStyle/>
          <a:p>
            <a:pPr marL="0" indent="0" algn="r" rtl="1">
              <a:buNone/>
            </a:pPr>
            <a:r>
              <a:rPr lang="fa-IR" altLang="en-US" sz="1050" dirty="0">
                <a:solidFill>
                  <a:srgbClr val="5C6B7A"/>
                </a:solidFill>
                <a:latin typeface="Shabnam" pitchFamily="34" charset="0"/>
                <a:ea typeface="Shabnam" pitchFamily="34" charset="-122"/>
                <a:cs typeface="Shabnam" pitchFamily="34" charset="-120"/>
              </a:rPr>
              <a:t>چرا شبیه‌سازی افکار عمومی سخت است</a:t>
            </a:r>
            <a:endParaRPr lang="fa-IR" sz="1050" dirty="0"/>
          </a:p>
        </p:txBody>
      </p:sp>
      <p:sp>
        <p:nvSpPr>
          <p:cNvPr id="9" name="Shape 7"/>
          <p:cNvSpPr/>
          <p:nvPr/>
        </p:nvSpPr>
        <p:spPr>
          <a:xfrm>
            <a:off x="4663440" y="2423160"/>
            <a:ext cx="4023360" cy="868680"/>
          </a:xfrm>
          <a:prstGeom prst="roundRect">
            <a:avLst>
              <a:gd name="adj" fmla="val 8421"/>
            </a:avLst>
          </a:prstGeom>
          <a:solidFill>
            <a:srgbClr val="EEF2F7"/>
          </a:solidFill>
          <a:ln w="12700">
            <a:solidFill>
              <a:srgbClr val="EEF2F7"/>
            </a:solidFill>
            <a:prstDash val="solid"/>
          </a:ln>
        </p:spPr>
      </p:sp>
      <p:sp>
        <p:nvSpPr>
          <p:cNvPr id="10" name="Shape 8"/>
          <p:cNvSpPr/>
          <p:nvPr/>
        </p:nvSpPr>
        <p:spPr>
          <a:xfrm>
            <a:off x="8092440" y="2606040"/>
            <a:ext cx="475488" cy="475488"/>
          </a:xfrm>
          <a:prstGeom prst="ellipse">
            <a:avLst/>
          </a:prstGeom>
          <a:solidFill>
            <a:srgbClr val="14213D"/>
          </a:solidFill>
          <a:ln w="12700">
            <a:solidFill>
              <a:srgbClr val="14213D"/>
            </a:solidFill>
            <a:prstDash val="solid"/>
          </a:ln>
        </p:spPr>
      </p:sp>
      <p:sp>
        <p:nvSpPr>
          <p:cNvPr id="11" name="Text 9"/>
          <p:cNvSpPr txBox="1"/>
          <p:nvPr/>
        </p:nvSpPr>
        <p:spPr>
          <a:xfrm>
            <a:off x="8092440" y="2606040"/>
            <a:ext cx="475488" cy="475488"/>
          </a:xfrm>
          <a:prstGeom prst="rect">
            <a:avLst/>
          </a:prstGeom>
          <a:noFill/>
          <a:ln/>
        </p:spPr>
        <p:txBody>
          <a:bodyPr wrap="square" lIns="0" tIns="0" rIns="0" bIns="0" rtlCol="0" anchor="ctr"/>
          <a:lstStyle/>
          <a:p>
            <a:pPr marL="0" indent="0" algn="ctr" rtl="1">
              <a:buNone/>
            </a:pPr>
            <a:r>
              <a:rPr lang="fa-IR" altLang="en-US" sz="1600" b="1" dirty="0">
                <a:solidFill>
                  <a:srgbClr val="FFFFFF"/>
                </a:solidFill>
                <a:latin typeface="Shabnam" pitchFamily="34" charset="0"/>
                <a:ea typeface="Shabnam" pitchFamily="34" charset="-122"/>
                <a:cs typeface="Shabnam" pitchFamily="34" charset="-120"/>
              </a:rPr>
              <a:t>۲</a:t>
            </a:r>
            <a:endParaRPr lang="fa-IR" sz="1600" dirty="0"/>
          </a:p>
        </p:txBody>
      </p:sp>
      <p:sp>
        <p:nvSpPr>
          <p:cNvPr id="12" name="Text 10"/>
          <p:cNvSpPr txBox="1"/>
          <p:nvPr/>
        </p:nvSpPr>
        <p:spPr>
          <a:xfrm>
            <a:off x="4846320" y="2551176"/>
            <a:ext cx="3108960" cy="320040"/>
          </a:xfrm>
          <a:prstGeom prst="rect">
            <a:avLst/>
          </a:prstGeom>
          <a:noFill/>
          <a:ln/>
        </p:spPr>
        <p:txBody>
          <a:bodyPr wrap="square" lIns="0" tIns="0" rIns="0" bIns="0" rtlCol="0" anchor="t"/>
          <a:lstStyle/>
          <a:p>
            <a:pPr marL="0" indent="0" algn="r" rtl="1">
              <a:buNone/>
            </a:pPr>
            <a:r>
              <a:rPr lang="fa-IR" altLang="en-US" sz="1500" b="1" dirty="0">
                <a:solidFill>
                  <a:srgbClr val="14213D"/>
                </a:solidFill>
                <a:latin typeface="Shabnam" pitchFamily="34" charset="0"/>
                <a:ea typeface="Shabnam" pitchFamily="34" charset="-122"/>
                <a:cs typeface="Shabnam" pitchFamily="34" charset="-120"/>
              </a:rPr>
              <a:t>مرور ادبیات</a:t>
            </a:r>
            <a:endParaRPr lang="fa-IR" sz="1500" dirty="0"/>
          </a:p>
        </p:txBody>
      </p:sp>
      <p:sp>
        <p:nvSpPr>
          <p:cNvPr id="13" name="Text 11"/>
          <p:cNvSpPr txBox="1"/>
          <p:nvPr/>
        </p:nvSpPr>
        <p:spPr>
          <a:xfrm>
            <a:off x="4846320" y="2898648"/>
            <a:ext cx="3108960" cy="320040"/>
          </a:xfrm>
          <a:prstGeom prst="rect">
            <a:avLst/>
          </a:prstGeom>
          <a:noFill/>
          <a:ln/>
        </p:spPr>
        <p:txBody>
          <a:bodyPr wrap="square" lIns="0" tIns="0" rIns="0" bIns="0" rtlCol="0" anchor="t"/>
          <a:lstStyle/>
          <a:p>
            <a:pPr marL="0" indent="0" algn="r" rtl="1">
              <a:buNone/>
            </a:pPr>
            <a:r>
              <a:rPr lang="fa-IR" altLang="en-US" sz="1050" dirty="0">
                <a:solidFill>
                  <a:srgbClr val="5C6B7A"/>
                </a:solidFill>
                <a:latin typeface="Shabnam" pitchFamily="34" charset="0"/>
                <a:ea typeface="Shabnam" pitchFamily="34" charset="-122"/>
                <a:cs typeface="Shabnam" pitchFamily="34" charset="-120"/>
              </a:rPr>
              <a:t>مدل‌های کلاسیک و شبیه‌سازهای مبتنی بر LLM</a:t>
            </a:r>
            <a:endParaRPr lang="fa-IR" sz="1050" dirty="0"/>
          </a:p>
        </p:txBody>
      </p:sp>
      <p:sp>
        <p:nvSpPr>
          <p:cNvPr id="14" name="Shape 12"/>
          <p:cNvSpPr/>
          <p:nvPr/>
        </p:nvSpPr>
        <p:spPr>
          <a:xfrm>
            <a:off x="4663440" y="3474720"/>
            <a:ext cx="4023360" cy="868680"/>
          </a:xfrm>
          <a:prstGeom prst="roundRect">
            <a:avLst>
              <a:gd name="adj" fmla="val 8421"/>
            </a:avLst>
          </a:prstGeom>
          <a:solidFill>
            <a:srgbClr val="EEF2F7"/>
          </a:solidFill>
          <a:ln w="12700">
            <a:solidFill>
              <a:srgbClr val="EEF2F7"/>
            </a:solidFill>
            <a:prstDash val="solid"/>
          </a:ln>
        </p:spPr>
      </p:sp>
      <p:sp>
        <p:nvSpPr>
          <p:cNvPr id="15" name="Shape 13"/>
          <p:cNvSpPr/>
          <p:nvPr/>
        </p:nvSpPr>
        <p:spPr>
          <a:xfrm>
            <a:off x="8092440" y="3657600"/>
            <a:ext cx="475488" cy="475488"/>
          </a:xfrm>
          <a:prstGeom prst="ellipse">
            <a:avLst/>
          </a:prstGeom>
          <a:solidFill>
            <a:srgbClr val="17A398"/>
          </a:solidFill>
          <a:ln w="12700">
            <a:solidFill>
              <a:srgbClr val="17A398"/>
            </a:solidFill>
            <a:prstDash val="solid"/>
          </a:ln>
        </p:spPr>
      </p:sp>
      <p:sp>
        <p:nvSpPr>
          <p:cNvPr id="16" name="Text 14"/>
          <p:cNvSpPr txBox="1"/>
          <p:nvPr/>
        </p:nvSpPr>
        <p:spPr>
          <a:xfrm>
            <a:off x="8092440" y="3657600"/>
            <a:ext cx="475488" cy="475488"/>
          </a:xfrm>
          <a:prstGeom prst="rect">
            <a:avLst/>
          </a:prstGeom>
          <a:noFill/>
          <a:ln/>
        </p:spPr>
        <p:txBody>
          <a:bodyPr wrap="square" lIns="0" tIns="0" rIns="0" bIns="0" rtlCol="0" anchor="ctr"/>
          <a:lstStyle/>
          <a:p>
            <a:pPr marL="0" indent="0" algn="ctr" rtl="1">
              <a:buNone/>
            </a:pPr>
            <a:r>
              <a:rPr lang="fa-IR" altLang="en-US" sz="1600" b="1" dirty="0">
                <a:solidFill>
                  <a:srgbClr val="FFFFFF"/>
                </a:solidFill>
                <a:latin typeface="Shabnam" pitchFamily="34" charset="0"/>
                <a:ea typeface="Shabnam" pitchFamily="34" charset="-122"/>
                <a:cs typeface="Shabnam" pitchFamily="34" charset="-120"/>
              </a:rPr>
              <a:t>۳</a:t>
            </a:r>
            <a:endParaRPr lang="fa-IR" sz="1600" dirty="0"/>
          </a:p>
        </p:txBody>
      </p:sp>
      <p:sp>
        <p:nvSpPr>
          <p:cNvPr id="17" name="Text 15"/>
          <p:cNvSpPr txBox="1"/>
          <p:nvPr/>
        </p:nvSpPr>
        <p:spPr>
          <a:xfrm>
            <a:off x="4846320" y="3602736"/>
            <a:ext cx="3108960" cy="320040"/>
          </a:xfrm>
          <a:prstGeom prst="rect">
            <a:avLst/>
          </a:prstGeom>
          <a:noFill/>
          <a:ln/>
        </p:spPr>
        <p:txBody>
          <a:bodyPr wrap="square" lIns="0" tIns="0" rIns="0" bIns="0" rtlCol="0" anchor="t"/>
          <a:lstStyle/>
          <a:p>
            <a:pPr marL="0" indent="0" algn="r" rtl="1">
              <a:buNone/>
            </a:pPr>
            <a:r>
              <a:rPr lang="fa-IR" altLang="en-US" sz="1500" b="1" dirty="0">
                <a:solidFill>
                  <a:srgbClr val="14213D"/>
                </a:solidFill>
                <a:latin typeface="Shabnam" pitchFamily="34" charset="0"/>
                <a:ea typeface="Shabnam" pitchFamily="34" charset="-122"/>
                <a:cs typeface="Shabnam" pitchFamily="34" charset="-120"/>
              </a:rPr>
              <a:t>روش پیشنهادی</a:t>
            </a:r>
            <a:endParaRPr lang="fa-IR" sz="1500" dirty="0"/>
          </a:p>
        </p:txBody>
      </p:sp>
      <p:sp>
        <p:nvSpPr>
          <p:cNvPr id="18" name="Text 16"/>
          <p:cNvSpPr txBox="1"/>
          <p:nvPr/>
        </p:nvSpPr>
        <p:spPr>
          <a:xfrm>
            <a:off x="4846320" y="3950208"/>
            <a:ext cx="3108960" cy="320040"/>
          </a:xfrm>
          <a:prstGeom prst="rect">
            <a:avLst/>
          </a:prstGeom>
          <a:noFill/>
          <a:ln/>
        </p:spPr>
        <p:txBody>
          <a:bodyPr wrap="square" lIns="0" tIns="0" rIns="0" bIns="0" rtlCol="0" anchor="t"/>
          <a:lstStyle/>
          <a:p>
            <a:pPr marL="0" indent="0" algn="r" rtl="1">
              <a:buNone/>
            </a:pPr>
            <a:r>
              <a:rPr lang="fa-IR" altLang="en-US" sz="1050" dirty="0">
                <a:solidFill>
                  <a:srgbClr val="5C6B7A"/>
                </a:solidFill>
                <a:latin typeface="Shabnam" pitchFamily="34" charset="0"/>
                <a:ea typeface="Shabnam" pitchFamily="34" charset="-122"/>
                <a:cs typeface="Shabnam" pitchFamily="34" charset="-120"/>
              </a:rPr>
              <a:t>FDE-LLM: رهبران با LLM، دنبال‌کننده‌ها با معادلات</a:t>
            </a:r>
            <a:endParaRPr lang="fa-IR" sz="1050" dirty="0"/>
          </a:p>
        </p:txBody>
      </p:sp>
      <p:sp>
        <p:nvSpPr>
          <p:cNvPr id="19" name="Shape 17"/>
          <p:cNvSpPr/>
          <p:nvPr/>
        </p:nvSpPr>
        <p:spPr>
          <a:xfrm>
            <a:off x="457200" y="1371600"/>
            <a:ext cx="4023360" cy="868680"/>
          </a:xfrm>
          <a:prstGeom prst="roundRect">
            <a:avLst>
              <a:gd name="adj" fmla="val 8421"/>
            </a:avLst>
          </a:prstGeom>
          <a:solidFill>
            <a:srgbClr val="EEF2F7"/>
          </a:solidFill>
          <a:ln w="12700">
            <a:solidFill>
              <a:srgbClr val="EEF2F7"/>
            </a:solidFill>
            <a:prstDash val="solid"/>
          </a:ln>
        </p:spPr>
      </p:sp>
      <p:sp>
        <p:nvSpPr>
          <p:cNvPr id="20" name="Shape 18"/>
          <p:cNvSpPr/>
          <p:nvPr/>
        </p:nvSpPr>
        <p:spPr>
          <a:xfrm>
            <a:off x="3886200" y="1554480"/>
            <a:ext cx="475488" cy="475488"/>
          </a:xfrm>
          <a:prstGeom prst="ellipse">
            <a:avLst/>
          </a:prstGeom>
          <a:solidFill>
            <a:srgbClr val="5C6B7A"/>
          </a:solidFill>
          <a:ln w="12700">
            <a:solidFill>
              <a:srgbClr val="5C6B7A"/>
            </a:solidFill>
            <a:prstDash val="solid"/>
          </a:ln>
        </p:spPr>
      </p:sp>
      <p:sp>
        <p:nvSpPr>
          <p:cNvPr id="21" name="Text 19"/>
          <p:cNvSpPr txBox="1"/>
          <p:nvPr/>
        </p:nvSpPr>
        <p:spPr>
          <a:xfrm>
            <a:off x="3886200" y="1554480"/>
            <a:ext cx="475488" cy="475488"/>
          </a:xfrm>
          <a:prstGeom prst="rect">
            <a:avLst/>
          </a:prstGeom>
          <a:noFill/>
          <a:ln/>
        </p:spPr>
        <p:txBody>
          <a:bodyPr wrap="square" lIns="0" tIns="0" rIns="0" bIns="0" rtlCol="0" anchor="ctr"/>
          <a:lstStyle/>
          <a:p>
            <a:pPr marL="0" indent="0" algn="ctr" rtl="1">
              <a:buNone/>
            </a:pPr>
            <a:r>
              <a:rPr lang="fa-IR" altLang="en-US" sz="1600" b="1" dirty="0">
                <a:solidFill>
                  <a:srgbClr val="FFFFFF"/>
                </a:solidFill>
                <a:latin typeface="Shabnam" pitchFamily="34" charset="0"/>
                <a:ea typeface="Shabnam" pitchFamily="34" charset="-122"/>
                <a:cs typeface="Shabnam" pitchFamily="34" charset="-120"/>
              </a:rPr>
              <a:t>۴</a:t>
            </a:r>
            <a:endParaRPr lang="fa-IR" sz="1600" dirty="0"/>
          </a:p>
        </p:txBody>
      </p:sp>
      <p:sp>
        <p:nvSpPr>
          <p:cNvPr id="22" name="Text 20"/>
          <p:cNvSpPr txBox="1"/>
          <p:nvPr/>
        </p:nvSpPr>
        <p:spPr>
          <a:xfrm>
            <a:off x="640080" y="1499616"/>
            <a:ext cx="3108960" cy="320040"/>
          </a:xfrm>
          <a:prstGeom prst="rect">
            <a:avLst/>
          </a:prstGeom>
          <a:noFill/>
          <a:ln/>
        </p:spPr>
        <p:txBody>
          <a:bodyPr wrap="square" lIns="0" tIns="0" rIns="0" bIns="0" rtlCol="0" anchor="t"/>
          <a:lstStyle/>
          <a:p>
            <a:pPr marL="0" indent="0" algn="r" rtl="1">
              <a:buNone/>
            </a:pPr>
            <a:r>
              <a:rPr lang="fa-IR" altLang="en-US" sz="1500" b="1" dirty="0">
                <a:solidFill>
                  <a:srgbClr val="14213D"/>
                </a:solidFill>
                <a:latin typeface="Shabnam" pitchFamily="34" charset="0"/>
                <a:ea typeface="Shabnam" pitchFamily="34" charset="-122"/>
                <a:cs typeface="Shabnam" pitchFamily="34" charset="-120"/>
              </a:rPr>
              <a:t>داده و معیار ارزیابی</a:t>
            </a:r>
            <a:endParaRPr lang="fa-IR" sz="1500" dirty="0"/>
          </a:p>
        </p:txBody>
      </p:sp>
      <p:sp>
        <p:nvSpPr>
          <p:cNvPr id="23" name="Text 21"/>
          <p:cNvSpPr txBox="1"/>
          <p:nvPr/>
        </p:nvSpPr>
        <p:spPr>
          <a:xfrm>
            <a:off x="640080" y="1847088"/>
            <a:ext cx="3108960" cy="320040"/>
          </a:xfrm>
          <a:prstGeom prst="rect">
            <a:avLst/>
          </a:prstGeom>
          <a:noFill/>
          <a:ln/>
        </p:spPr>
        <p:txBody>
          <a:bodyPr wrap="square" lIns="0" tIns="0" rIns="0" bIns="0" rtlCol="0" anchor="t"/>
          <a:lstStyle/>
          <a:p>
            <a:pPr marL="0" indent="0" algn="r" rtl="1">
              <a:buNone/>
            </a:pPr>
            <a:r>
              <a:rPr lang="fa-IR" altLang="en-US" sz="1050" dirty="0">
                <a:solidFill>
                  <a:srgbClr val="5C6B7A"/>
                </a:solidFill>
                <a:latin typeface="Shabnam" pitchFamily="34" charset="0"/>
                <a:ea typeface="Shabnam" pitchFamily="34" charset="-122"/>
                <a:cs typeface="Shabnam" pitchFamily="34" charset="-120"/>
              </a:rPr>
              <a:t>۴ رویداد خبر وارونه ویبو، DTW و پیرسون</a:t>
            </a:r>
            <a:endParaRPr lang="fa-IR" sz="1050" dirty="0"/>
          </a:p>
        </p:txBody>
      </p:sp>
      <p:sp>
        <p:nvSpPr>
          <p:cNvPr id="24" name="Shape 22"/>
          <p:cNvSpPr/>
          <p:nvPr/>
        </p:nvSpPr>
        <p:spPr>
          <a:xfrm>
            <a:off x="457200" y="2423160"/>
            <a:ext cx="4023360" cy="868680"/>
          </a:xfrm>
          <a:prstGeom prst="roundRect">
            <a:avLst>
              <a:gd name="adj" fmla="val 8421"/>
            </a:avLst>
          </a:prstGeom>
          <a:solidFill>
            <a:srgbClr val="EEF2F7"/>
          </a:solidFill>
          <a:ln w="12700">
            <a:solidFill>
              <a:srgbClr val="EEF2F7"/>
            </a:solidFill>
            <a:prstDash val="solid"/>
          </a:ln>
        </p:spPr>
      </p:sp>
      <p:sp>
        <p:nvSpPr>
          <p:cNvPr id="25" name="Shape 23"/>
          <p:cNvSpPr/>
          <p:nvPr/>
        </p:nvSpPr>
        <p:spPr>
          <a:xfrm>
            <a:off x="3886200" y="2606040"/>
            <a:ext cx="475488" cy="475488"/>
          </a:xfrm>
          <a:prstGeom prst="ellipse">
            <a:avLst/>
          </a:prstGeom>
          <a:solidFill>
            <a:srgbClr val="E4572E"/>
          </a:solidFill>
          <a:ln w="12700">
            <a:solidFill>
              <a:srgbClr val="E4572E"/>
            </a:solidFill>
            <a:prstDash val="solid"/>
          </a:ln>
        </p:spPr>
      </p:sp>
      <p:sp>
        <p:nvSpPr>
          <p:cNvPr id="26" name="Text 24"/>
          <p:cNvSpPr txBox="1"/>
          <p:nvPr/>
        </p:nvSpPr>
        <p:spPr>
          <a:xfrm>
            <a:off x="3886200" y="2606040"/>
            <a:ext cx="475488" cy="475488"/>
          </a:xfrm>
          <a:prstGeom prst="rect">
            <a:avLst/>
          </a:prstGeom>
          <a:noFill/>
          <a:ln/>
        </p:spPr>
        <p:txBody>
          <a:bodyPr wrap="square" lIns="0" tIns="0" rIns="0" bIns="0" rtlCol="0" anchor="ctr"/>
          <a:lstStyle/>
          <a:p>
            <a:pPr marL="0" indent="0" algn="ctr" rtl="1">
              <a:buNone/>
            </a:pPr>
            <a:r>
              <a:rPr lang="fa-IR" altLang="en-US" sz="1600" b="1" dirty="0">
                <a:solidFill>
                  <a:srgbClr val="FFFFFF"/>
                </a:solidFill>
                <a:latin typeface="Shabnam" pitchFamily="34" charset="0"/>
                <a:ea typeface="Shabnam" pitchFamily="34" charset="-122"/>
                <a:cs typeface="Shabnam" pitchFamily="34" charset="-120"/>
              </a:rPr>
              <a:t>۵</a:t>
            </a:r>
            <a:endParaRPr lang="fa-IR" sz="1600" dirty="0"/>
          </a:p>
        </p:txBody>
      </p:sp>
      <p:sp>
        <p:nvSpPr>
          <p:cNvPr id="27" name="Text 25"/>
          <p:cNvSpPr txBox="1"/>
          <p:nvPr/>
        </p:nvSpPr>
        <p:spPr>
          <a:xfrm>
            <a:off x="640080" y="2551176"/>
            <a:ext cx="3108960" cy="320040"/>
          </a:xfrm>
          <a:prstGeom prst="rect">
            <a:avLst/>
          </a:prstGeom>
          <a:noFill/>
          <a:ln/>
        </p:spPr>
        <p:txBody>
          <a:bodyPr wrap="square" lIns="0" tIns="0" rIns="0" bIns="0" rtlCol="0" anchor="t"/>
          <a:lstStyle/>
          <a:p>
            <a:pPr marL="0" indent="0" algn="r" rtl="1">
              <a:buNone/>
            </a:pPr>
            <a:r>
              <a:rPr lang="fa-IR" altLang="en-US" sz="1500" b="1" dirty="0">
                <a:solidFill>
                  <a:srgbClr val="14213D"/>
                </a:solidFill>
                <a:latin typeface="Shabnam" pitchFamily="34" charset="0"/>
                <a:ea typeface="Shabnam" pitchFamily="34" charset="-122"/>
                <a:cs typeface="Shabnam" pitchFamily="34" charset="-120"/>
              </a:rPr>
              <a:t>پیاده‌سازی و نتایج</a:t>
            </a:r>
            <a:endParaRPr lang="fa-IR" sz="1500" dirty="0"/>
          </a:p>
        </p:txBody>
      </p:sp>
      <p:sp>
        <p:nvSpPr>
          <p:cNvPr id="28" name="Text 26"/>
          <p:cNvSpPr txBox="1"/>
          <p:nvPr/>
        </p:nvSpPr>
        <p:spPr>
          <a:xfrm>
            <a:off x="640080" y="2898648"/>
            <a:ext cx="3108960" cy="320040"/>
          </a:xfrm>
          <a:prstGeom prst="rect">
            <a:avLst/>
          </a:prstGeom>
          <a:noFill/>
          <a:ln/>
        </p:spPr>
        <p:txBody>
          <a:bodyPr wrap="square" lIns="0" tIns="0" rIns="0" bIns="0" rtlCol="0" anchor="t"/>
          <a:lstStyle/>
          <a:p>
            <a:pPr marL="0" indent="0" algn="r" rtl="1">
              <a:buNone/>
            </a:pPr>
            <a:r>
              <a:rPr lang="fa-IR" altLang="en-US" sz="1050" dirty="0">
                <a:solidFill>
                  <a:srgbClr val="5C6B7A"/>
                </a:solidFill>
                <a:latin typeface="Shabnam" pitchFamily="34" charset="0"/>
                <a:ea typeface="Shabnam" pitchFamily="34" charset="-122"/>
                <a:cs typeface="Shabnam" pitchFamily="34" charset="-120"/>
              </a:rPr>
              <a:t>بازتولید من در Colab و مقایسه با مقاله</a:t>
            </a:r>
            <a:endParaRPr lang="fa-IR" sz="1050" dirty="0"/>
          </a:p>
        </p:txBody>
      </p:sp>
      <p:sp>
        <p:nvSpPr>
          <p:cNvPr id="29" name="Shape 27"/>
          <p:cNvSpPr/>
          <p:nvPr/>
        </p:nvSpPr>
        <p:spPr>
          <a:xfrm>
            <a:off x="457200" y="3474720"/>
            <a:ext cx="4023360" cy="868680"/>
          </a:xfrm>
          <a:prstGeom prst="roundRect">
            <a:avLst>
              <a:gd name="adj" fmla="val 8421"/>
            </a:avLst>
          </a:prstGeom>
          <a:solidFill>
            <a:srgbClr val="EEF2F7"/>
          </a:solidFill>
          <a:ln w="12700">
            <a:solidFill>
              <a:srgbClr val="EEF2F7"/>
            </a:solidFill>
            <a:prstDash val="solid"/>
          </a:ln>
        </p:spPr>
      </p:sp>
      <p:sp>
        <p:nvSpPr>
          <p:cNvPr id="30" name="Shape 28"/>
          <p:cNvSpPr/>
          <p:nvPr/>
        </p:nvSpPr>
        <p:spPr>
          <a:xfrm>
            <a:off x="3886200" y="3657600"/>
            <a:ext cx="475488" cy="475488"/>
          </a:xfrm>
          <a:prstGeom prst="ellipse">
            <a:avLst/>
          </a:prstGeom>
          <a:solidFill>
            <a:srgbClr val="14213D"/>
          </a:solidFill>
          <a:ln w="12700">
            <a:solidFill>
              <a:srgbClr val="14213D"/>
            </a:solidFill>
            <a:prstDash val="solid"/>
          </a:ln>
        </p:spPr>
      </p:sp>
      <p:sp>
        <p:nvSpPr>
          <p:cNvPr id="31" name="Text 29"/>
          <p:cNvSpPr txBox="1"/>
          <p:nvPr/>
        </p:nvSpPr>
        <p:spPr>
          <a:xfrm>
            <a:off x="3886200" y="3657600"/>
            <a:ext cx="475488" cy="475488"/>
          </a:xfrm>
          <a:prstGeom prst="rect">
            <a:avLst/>
          </a:prstGeom>
          <a:noFill/>
          <a:ln/>
        </p:spPr>
        <p:txBody>
          <a:bodyPr wrap="square" lIns="0" tIns="0" rIns="0" bIns="0" rtlCol="0" anchor="ctr"/>
          <a:lstStyle/>
          <a:p>
            <a:pPr marL="0" indent="0" algn="ctr" rtl="1">
              <a:buNone/>
            </a:pPr>
            <a:r>
              <a:rPr lang="fa-IR" altLang="en-US" sz="1600" b="1" dirty="0">
                <a:solidFill>
                  <a:srgbClr val="FFFFFF"/>
                </a:solidFill>
                <a:latin typeface="Shabnam" pitchFamily="34" charset="0"/>
                <a:ea typeface="Shabnam" pitchFamily="34" charset="-122"/>
                <a:cs typeface="Shabnam" pitchFamily="34" charset="-120"/>
              </a:rPr>
              <a:t>۶</a:t>
            </a:r>
            <a:endParaRPr lang="fa-IR" sz="1600" dirty="0"/>
          </a:p>
        </p:txBody>
      </p:sp>
      <p:sp>
        <p:nvSpPr>
          <p:cNvPr id="32" name="Text 30"/>
          <p:cNvSpPr txBox="1"/>
          <p:nvPr/>
        </p:nvSpPr>
        <p:spPr>
          <a:xfrm>
            <a:off x="640080" y="3602736"/>
            <a:ext cx="3108960" cy="320040"/>
          </a:xfrm>
          <a:prstGeom prst="rect">
            <a:avLst/>
          </a:prstGeom>
          <a:noFill/>
          <a:ln/>
        </p:spPr>
        <p:txBody>
          <a:bodyPr wrap="square" lIns="0" tIns="0" rIns="0" bIns="0" rtlCol="0" anchor="t"/>
          <a:lstStyle/>
          <a:p>
            <a:pPr marL="0" indent="0" algn="r" rtl="1">
              <a:buNone/>
            </a:pPr>
            <a:r>
              <a:rPr lang="fa-IR" altLang="en-US" sz="1500" b="1" dirty="0">
                <a:solidFill>
                  <a:srgbClr val="14213D"/>
                </a:solidFill>
                <a:latin typeface="Shabnam" pitchFamily="34" charset="0"/>
                <a:ea typeface="Shabnam" pitchFamily="34" charset="-122"/>
                <a:cs typeface="Shabnam" pitchFamily="34" charset="-120"/>
              </a:rPr>
              <a:t>جمع‌بندی</a:t>
            </a:r>
            <a:endParaRPr lang="fa-IR" sz="1500" dirty="0"/>
          </a:p>
        </p:txBody>
      </p:sp>
      <p:sp>
        <p:nvSpPr>
          <p:cNvPr id="33" name="Text 31"/>
          <p:cNvSpPr txBox="1"/>
          <p:nvPr/>
        </p:nvSpPr>
        <p:spPr>
          <a:xfrm>
            <a:off x="640080" y="3950208"/>
            <a:ext cx="3108960" cy="320040"/>
          </a:xfrm>
          <a:prstGeom prst="rect">
            <a:avLst/>
          </a:prstGeom>
          <a:noFill/>
          <a:ln/>
        </p:spPr>
        <p:txBody>
          <a:bodyPr wrap="square" lIns="0" tIns="0" rIns="0" bIns="0" rtlCol="0" anchor="t"/>
          <a:lstStyle/>
          <a:p>
            <a:pPr marL="0" indent="0" algn="r" rtl="1">
              <a:buNone/>
            </a:pPr>
            <a:r>
              <a:rPr lang="fa-IR" altLang="en-US" sz="1050" dirty="0">
                <a:solidFill>
                  <a:srgbClr val="5C6B7A"/>
                </a:solidFill>
                <a:latin typeface="Shabnam" pitchFamily="34" charset="0"/>
                <a:ea typeface="Shabnam" pitchFamily="34" charset="-122"/>
                <a:cs typeface="Shabnam" pitchFamily="34" charset="-120"/>
              </a:rPr>
              <a:t>یافته‌ها و محدودیت‌ها</a:t>
            </a:r>
            <a:endParaRPr lang="fa-IR" sz="1050" dirty="0"/>
          </a:p>
        </p:txBody>
      </p:sp>
      <p:sp>
        <p:nvSpPr>
          <p:cNvPr id="34" name="Text 32"/>
          <p:cNvSpPr txBox="1"/>
          <p:nvPr/>
        </p:nvSpPr>
        <p:spPr>
          <a:xfrm>
            <a:off x="457200" y="4800600"/>
            <a:ext cx="5486400" cy="228600"/>
          </a:xfrm>
          <a:prstGeom prst="rect">
            <a:avLst/>
          </a:prstGeom>
          <a:noFill/>
          <a:ln/>
        </p:spPr>
        <p:txBody>
          <a:bodyPr wrap="square" lIns="0" tIns="0" rIns="0" bIns="0" rtlCol="0" anchor="t"/>
          <a:lstStyle/>
          <a:p>
            <a:pPr marL="0" indent="0" algn="l">
              <a:buNone/>
            </a:pPr>
            <a:r>
              <a:rPr lang="en-US" sz="900" dirty="0">
                <a:solidFill>
                  <a:srgbClr val="5C6B7A"/>
                </a:solidFill>
                <a:latin typeface="Calibri" pitchFamily="34" charset="0"/>
                <a:ea typeface="Calibri" pitchFamily="34" charset="-122"/>
                <a:cs typeface="Calibri" pitchFamily="34" charset="-120"/>
              </a:rPr>
              <a:t>Yao et al., Scientific Reports 15:15472 (2025)</a:t>
            </a:r>
            <a:endParaRPr lang="en-US" sz="900" dirty="0"/>
          </a:p>
        </p:txBody>
      </p:sp>
      <p:sp>
        <p:nvSpPr>
          <p:cNvPr id="35" name="Text 33"/>
          <p:cNvSpPr txBox="1"/>
          <p:nvPr/>
        </p:nvSpPr>
        <p:spPr>
          <a:xfrm>
            <a:off x="8229600" y="4773168"/>
            <a:ext cx="457200" cy="228600"/>
          </a:xfrm>
          <a:prstGeom prst="rect">
            <a:avLst/>
          </a:prstGeom>
          <a:noFill/>
          <a:ln/>
        </p:spPr>
        <p:txBody>
          <a:bodyPr wrap="square" lIns="0" tIns="0" rIns="0" bIns="0" rtlCol="0" anchor="t"/>
          <a:lstStyle/>
          <a:p>
            <a:pPr marL="0" indent="0" algn="r" rtl="1">
              <a:buNone/>
            </a:pPr>
            <a:r>
              <a:rPr lang="fa-IR" altLang="en-US" sz="1000" dirty="0">
                <a:solidFill>
                  <a:srgbClr val="5C6B7A"/>
                </a:solidFill>
                <a:latin typeface="Shabnam" pitchFamily="34" charset="0"/>
                <a:ea typeface="Shabnam" pitchFamily="34" charset="-122"/>
                <a:cs typeface="Shabnam" pitchFamily="34" charset="-120"/>
              </a:rPr>
              <a:t>۲</a:t>
            </a:r>
            <a:endParaRPr lang="fa-IR"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213D"/>
        </a:solidFill>
        <a:effectLst/>
      </p:bgPr>
    </p:bg>
    <p:spTree>
      <p:nvGrpSpPr>
        <p:cNvPr id="1" name=""/>
        <p:cNvGrpSpPr/>
        <p:nvPr/>
      </p:nvGrpSpPr>
      <p:grpSpPr>
        <a:xfrm>
          <a:off x="0" y="0"/>
          <a:ext cx="0" cy="0"/>
          <a:chOff x="0" y="0"/>
          <a:chExt cx="0" cy="0"/>
        </a:xfrm>
      </p:grpSpPr>
      <p:sp>
        <p:nvSpPr>
          <p:cNvPr id="2" name="Shape 0"/>
          <p:cNvSpPr/>
          <p:nvPr/>
        </p:nvSpPr>
        <p:spPr>
          <a:xfrm>
            <a:off x="411480" y="457200"/>
            <a:ext cx="365760" cy="365760"/>
          </a:xfrm>
          <a:prstGeom prst="ellipse">
            <a:avLst/>
          </a:prstGeom>
          <a:solidFill>
            <a:srgbClr val="17A398"/>
          </a:solidFill>
          <a:ln w="12700">
            <a:solidFill>
              <a:srgbClr val="17A398"/>
            </a:solidFill>
            <a:prstDash val="solid"/>
          </a:ln>
        </p:spPr>
      </p:sp>
      <p:sp>
        <p:nvSpPr>
          <p:cNvPr id="3" name="Shape 1"/>
          <p:cNvSpPr/>
          <p:nvPr/>
        </p:nvSpPr>
        <p:spPr>
          <a:xfrm>
            <a:off x="914400" y="868680"/>
            <a:ext cx="201168" cy="201168"/>
          </a:xfrm>
          <a:prstGeom prst="ellipse">
            <a:avLst/>
          </a:prstGeom>
          <a:solidFill>
            <a:srgbClr val="E4572E"/>
          </a:solidFill>
          <a:ln w="12700">
            <a:solidFill>
              <a:srgbClr val="E4572E"/>
            </a:solidFill>
            <a:prstDash val="solid"/>
          </a:ln>
        </p:spPr>
      </p:sp>
      <p:sp>
        <p:nvSpPr>
          <p:cNvPr id="4" name="Text 2"/>
          <p:cNvSpPr txBox="1"/>
          <p:nvPr/>
        </p:nvSpPr>
        <p:spPr>
          <a:xfrm>
            <a:off x="457200" y="274320"/>
            <a:ext cx="7863840" cy="274320"/>
          </a:xfrm>
          <a:prstGeom prst="rect">
            <a:avLst/>
          </a:prstGeom>
          <a:noFill/>
          <a:ln/>
        </p:spPr>
        <p:txBody>
          <a:bodyPr wrap="square" lIns="0" tIns="0" rIns="0" bIns="0" rtlCol="0" anchor="t"/>
          <a:lstStyle/>
          <a:p>
            <a:pPr marL="0" indent="0" algn="r" rtl="1">
              <a:buNone/>
            </a:pPr>
            <a:r>
              <a:rPr lang="fa-IR" altLang="en-US" sz="1100" dirty="0">
                <a:solidFill>
                  <a:srgbClr val="C9D6E8"/>
                </a:solidFill>
                <a:latin typeface="Shabnam" pitchFamily="34" charset="0"/>
                <a:ea typeface="Shabnam" pitchFamily="34" charset="-122"/>
                <a:cs typeface="Shabnam" pitchFamily="34" charset="-120"/>
              </a:rPr>
              <a:t>۱  ·  بیان مسئله (Problem Statement)</a:t>
            </a:r>
            <a:endParaRPr lang="fa-IR" sz="1100" dirty="0"/>
          </a:p>
        </p:txBody>
      </p:sp>
      <p:sp>
        <p:nvSpPr>
          <p:cNvPr id="5" name="Text 3"/>
          <p:cNvSpPr txBox="1"/>
          <p:nvPr/>
        </p:nvSpPr>
        <p:spPr>
          <a:xfrm>
            <a:off x="1371600" y="566928"/>
            <a:ext cx="7315200" cy="868680"/>
          </a:xfrm>
          <a:prstGeom prst="rect">
            <a:avLst/>
          </a:prstGeom>
          <a:noFill/>
          <a:ln/>
        </p:spPr>
        <p:txBody>
          <a:bodyPr wrap="square" lIns="0" tIns="0" rIns="0" bIns="0" rtlCol="0" anchor="t"/>
          <a:lstStyle/>
          <a:p>
            <a:pPr marL="0" indent="0" algn="r" rtl="1">
              <a:buNone/>
            </a:pPr>
            <a:r>
              <a:rPr lang="fa-IR" altLang="en-US" sz="2200" b="1" dirty="0">
                <a:solidFill>
                  <a:srgbClr val="FFFFFF"/>
                </a:solidFill>
                <a:latin typeface="Shabnam" pitchFamily="34" charset="0"/>
                <a:ea typeface="Shabnam" pitchFamily="34" charset="-122"/>
                <a:cs typeface="Shabnam" pitchFamily="34" charset="-120"/>
              </a:rPr>
              <a:t>آیا می‌شود نوسان واقعی افکار عمومی را شبیه‌سازی و پیش‌بینی کرد؟</a:t>
            </a:r>
            <a:endParaRPr lang="fa-IR" sz="2200" dirty="0"/>
          </a:p>
        </p:txBody>
      </p:sp>
      <p:sp>
        <p:nvSpPr>
          <p:cNvPr id="6" name="Shape 4"/>
          <p:cNvSpPr/>
          <p:nvPr/>
        </p:nvSpPr>
        <p:spPr>
          <a:xfrm>
            <a:off x="8394192" y="1719072"/>
            <a:ext cx="292608" cy="292608"/>
          </a:xfrm>
          <a:prstGeom prst="ellipse">
            <a:avLst/>
          </a:prstGeom>
          <a:solidFill>
            <a:srgbClr val="C9D6E8"/>
          </a:solidFill>
          <a:ln w="12700">
            <a:solidFill>
              <a:srgbClr val="C9D6E8"/>
            </a:solidFill>
            <a:prstDash val="solid"/>
          </a:ln>
        </p:spPr>
      </p:sp>
      <p:sp>
        <p:nvSpPr>
          <p:cNvPr id="7" name="Text 5"/>
          <p:cNvSpPr txBox="1"/>
          <p:nvPr/>
        </p:nvSpPr>
        <p:spPr>
          <a:xfrm>
            <a:off x="8394192" y="1719072"/>
            <a:ext cx="292608" cy="292608"/>
          </a:xfrm>
          <a:prstGeom prst="rect">
            <a:avLst/>
          </a:prstGeom>
          <a:noFill/>
          <a:ln/>
        </p:spPr>
        <p:txBody>
          <a:bodyPr wrap="square" lIns="0" tIns="0" rIns="0" bIns="0" rtlCol="0" anchor="ctr"/>
          <a:lstStyle/>
          <a:p>
            <a:pPr marL="0" indent="0" algn="ctr" rtl="1">
              <a:buNone/>
            </a:pPr>
            <a:r>
              <a:rPr lang="fa-IR" altLang="en-US" sz="1200" b="1" dirty="0">
                <a:solidFill>
                  <a:srgbClr val="14213D"/>
                </a:solidFill>
                <a:latin typeface="Shabnam" pitchFamily="34" charset="0"/>
                <a:ea typeface="Shabnam" pitchFamily="34" charset="-122"/>
                <a:cs typeface="Shabnam" pitchFamily="34" charset="-120"/>
              </a:rPr>
              <a:t>۱</a:t>
            </a:r>
            <a:endParaRPr lang="fa-IR" sz="1200" dirty="0"/>
          </a:p>
        </p:txBody>
      </p:sp>
      <p:sp>
        <p:nvSpPr>
          <p:cNvPr id="8" name="Text 6"/>
          <p:cNvSpPr txBox="1"/>
          <p:nvPr/>
        </p:nvSpPr>
        <p:spPr>
          <a:xfrm>
            <a:off x="4023360" y="1691640"/>
            <a:ext cx="4206240" cy="320040"/>
          </a:xfrm>
          <a:prstGeom prst="rect">
            <a:avLst/>
          </a:prstGeom>
          <a:noFill/>
          <a:ln/>
        </p:spPr>
        <p:txBody>
          <a:bodyPr wrap="square" lIns="0" tIns="0" rIns="0" bIns="0" rtlCol="0" anchor="t"/>
          <a:lstStyle/>
          <a:p>
            <a:pPr marL="0" indent="0" algn="r" rtl="1">
              <a:buNone/>
            </a:pPr>
            <a:r>
              <a:rPr lang="fa-IR" altLang="en-US" sz="1400" b="1" dirty="0">
                <a:solidFill>
                  <a:srgbClr val="FFFFFF"/>
                </a:solidFill>
                <a:latin typeface="Shabnam" pitchFamily="34" charset="0"/>
                <a:ea typeface="Shabnam" pitchFamily="34" charset="-122"/>
                <a:cs typeface="Shabnam" pitchFamily="34" charset="-120"/>
              </a:rPr>
              <a:t>مدل‌های ABM کلاسیک بیش از حد ایده‌آل‌اند</a:t>
            </a:r>
            <a:endParaRPr lang="fa-IR" sz="1400" dirty="0"/>
          </a:p>
        </p:txBody>
      </p:sp>
      <p:sp>
        <p:nvSpPr>
          <p:cNvPr id="9" name="Text 7"/>
          <p:cNvSpPr txBox="1"/>
          <p:nvPr/>
        </p:nvSpPr>
        <p:spPr>
          <a:xfrm>
            <a:off x="4023360" y="2039112"/>
            <a:ext cx="4206240" cy="502920"/>
          </a:xfrm>
          <a:prstGeom prst="rect">
            <a:avLst/>
          </a:prstGeom>
          <a:noFill/>
          <a:ln/>
        </p:spPr>
        <p:txBody>
          <a:bodyPr wrap="square" lIns="0" tIns="0" rIns="0" bIns="0" rtlCol="0" anchor="t"/>
          <a:lstStyle/>
          <a:p>
            <a:pPr marL="0" indent="0" algn="r" rtl="1">
              <a:buNone/>
            </a:pPr>
            <a:r>
              <a:rPr lang="fa-IR" altLang="en-US" sz="1050" dirty="0">
                <a:solidFill>
                  <a:srgbClr val="C9D6E8"/>
                </a:solidFill>
                <a:latin typeface="Shabnam" pitchFamily="34" charset="0"/>
                <a:ea typeface="Shabnam" pitchFamily="34" charset="-122"/>
                <a:cs typeface="Shabnam" pitchFamily="34" charset="-120"/>
              </a:rPr>
              <a:t>DeGroot، HK و Voter با قواعد ساده کار می‌کنند و جهش بزرگ نظر بعد از افشای حقیقت را نمی‌گیرند.</a:t>
            </a:r>
            <a:endParaRPr lang="fa-IR" sz="1050" dirty="0"/>
          </a:p>
        </p:txBody>
      </p:sp>
      <p:sp>
        <p:nvSpPr>
          <p:cNvPr id="10" name="Shape 8"/>
          <p:cNvSpPr/>
          <p:nvPr/>
        </p:nvSpPr>
        <p:spPr>
          <a:xfrm>
            <a:off x="8394192" y="2615184"/>
            <a:ext cx="292608" cy="292608"/>
          </a:xfrm>
          <a:prstGeom prst="ellipse">
            <a:avLst/>
          </a:prstGeom>
          <a:solidFill>
            <a:srgbClr val="E4572E"/>
          </a:solidFill>
          <a:ln w="12700">
            <a:solidFill>
              <a:srgbClr val="E4572E"/>
            </a:solidFill>
            <a:prstDash val="solid"/>
          </a:ln>
        </p:spPr>
      </p:sp>
      <p:sp>
        <p:nvSpPr>
          <p:cNvPr id="11" name="Text 9"/>
          <p:cNvSpPr txBox="1"/>
          <p:nvPr/>
        </p:nvSpPr>
        <p:spPr>
          <a:xfrm>
            <a:off x="8394192" y="2615184"/>
            <a:ext cx="292608" cy="292608"/>
          </a:xfrm>
          <a:prstGeom prst="rect">
            <a:avLst/>
          </a:prstGeom>
          <a:noFill/>
          <a:ln/>
        </p:spPr>
        <p:txBody>
          <a:bodyPr wrap="square" lIns="0" tIns="0" rIns="0" bIns="0" rtlCol="0" anchor="ctr"/>
          <a:lstStyle/>
          <a:p>
            <a:pPr marL="0" indent="0" algn="ctr" rtl="1">
              <a:buNone/>
            </a:pPr>
            <a:r>
              <a:rPr lang="fa-IR" altLang="en-US" sz="1200" b="1" dirty="0">
                <a:solidFill>
                  <a:srgbClr val="14213D"/>
                </a:solidFill>
                <a:latin typeface="Shabnam" pitchFamily="34" charset="0"/>
                <a:ea typeface="Shabnam" pitchFamily="34" charset="-122"/>
                <a:cs typeface="Shabnam" pitchFamily="34" charset="-120"/>
              </a:rPr>
              <a:t>۲</a:t>
            </a:r>
            <a:endParaRPr lang="fa-IR" sz="1200" dirty="0"/>
          </a:p>
        </p:txBody>
      </p:sp>
      <p:sp>
        <p:nvSpPr>
          <p:cNvPr id="12" name="Text 10"/>
          <p:cNvSpPr txBox="1"/>
          <p:nvPr/>
        </p:nvSpPr>
        <p:spPr>
          <a:xfrm>
            <a:off x="4023360" y="2587752"/>
            <a:ext cx="4206240" cy="320040"/>
          </a:xfrm>
          <a:prstGeom prst="rect">
            <a:avLst/>
          </a:prstGeom>
          <a:noFill/>
          <a:ln/>
        </p:spPr>
        <p:txBody>
          <a:bodyPr wrap="square" lIns="0" tIns="0" rIns="0" bIns="0" rtlCol="0" anchor="t"/>
          <a:lstStyle/>
          <a:p>
            <a:pPr marL="0" indent="0" algn="r" rtl="1">
              <a:buNone/>
            </a:pPr>
            <a:r>
              <a:rPr lang="fa-IR" altLang="en-US" sz="1400" b="1" dirty="0">
                <a:solidFill>
                  <a:srgbClr val="FFFFFF"/>
                </a:solidFill>
                <a:latin typeface="Shabnam" pitchFamily="34" charset="0"/>
                <a:ea typeface="Shabnam" pitchFamily="34" charset="-122"/>
                <a:cs typeface="Shabnam" pitchFamily="34" charset="-120"/>
              </a:rPr>
              <a:t>ایجنت‌های LLM خالص بیش‌واکنشی دارند</a:t>
            </a:r>
            <a:endParaRPr lang="fa-IR" sz="1400" dirty="0"/>
          </a:p>
        </p:txBody>
      </p:sp>
      <p:sp>
        <p:nvSpPr>
          <p:cNvPr id="13" name="Text 11"/>
          <p:cNvSpPr txBox="1"/>
          <p:nvPr/>
        </p:nvSpPr>
        <p:spPr>
          <a:xfrm>
            <a:off x="4023360" y="2935224"/>
            <a:ext cx="4206240" cy="502920"/>
          </a:xfrm>
          <a:prstGeom prst="rect">
            <a:avLst/>
          </a:prstGeom>
          <a:noFill/>
          <a:ln/>
        </p:spPr>
        <p:txBody>
          <a:bodyPr wrap="square" lIns="0" tIns="0" rIns="0" bIns="0" rtlCol="0" anchor="t"/>
          <a:lstStyle/>
          <a:p>
            <a:pPr marL="0" indent="0" algn="r" rtl="1">
              <a:buNone/>
            </a:pPr>
            <a:r>
              <a:rPr lang="fa-IR" altLang="en-US" sz="1050" dirty="0">
                <a:solidFill>
                  <a:srgbClr val="C9D6E8"/>
                </a:solidFill>
                <a:latin typeface="Shabnam" pitchFamily="34" charset="0"/>
                <a:ea typeface="Shabnam" pitchFamily="34" charset="-122"/>
                <a:cs typeface="Shabnam" pitchFamily="34" charset="-120"/>
              </a:rPr>
              <a:t>نگرش آن‌ها ناگهان برمی‌گردد و روی نقطه افراطی ثابت می‌ماند (در مقاله: میانگین DTW حدود 2.7).</a:t>
            </a:r>
            <a:endParaRPr lang="fa-IR" sz="1050" dirty="0"/>
          </a:p>
        </p:txBody>
      </p:sp>
      <p:sp>
        <p:nvSpPr>
          <p:cNvPr id="14" name="Shape 12"/>
          <p:cNvSpPr/>
          <p:nvPr/>
        </p:nvSpPr>
        <p:spPr>
          <a:xfrm>
            <a:off x="8394192" y="3511296"/>
            <a:ext cx="292608" cy="292608"/>
          </a:xfrm>
          <a:prstGeom prst="ellipse">
            <a:avLst/>
          </a:prstGeom>
          <a:solidFill>
            <a:srgbClr val="17A398"/>
          </a:solidFill>
          <a:ln w="12700">
            <a:solidFill>
              <a:srgbClr val="17A398"/>
            </a:solidFill>
            <a:prstDash val="solid"/>
          </a:ln>
        </p:spPr>
      </p:sp>
      <p:sp>
        <p:nvSpPr>
          <p:cNvPr id="15" name="Text 13"/>
          <p:cNvSpPr txBox="1"/>
          <p:nvPr/>
        </p:nvSpPr>
        <p:spPr>
          <a:xfrm>
            <a:off x="8394192" y="3511296"/>
            <a:ext cx="292608" cy="292608"/>
          </a:xfrm>
          <a:prstGeom prst="rect">
            <a:avLst/>
          </a:prstGeom>
          <a:noFill/>
          <a:ln/>
        </p:spPr>
        <p:txBody>
          <a:bodyPr wrap="square" lIns="0" tIns="0" rIns="0" bIns="0" rtlCol="0" anchor="ctr"/>
          <a:lstStyle/>
          <a:p>
            <a:pPr marL="0" indent="0" algn="ctr" rtl="1">
              <a:buNone/>
            </a:pPr>
            <a:r>
              <a:rPr lang="fa-IR" altLang="en-US" sz="1200" b="1" dirty="0">
                <a:solidFill>
                  <a:srgbClr val="14213D"/>
                </a:solidFill>
                <a:latin typeface="Shabnam" pitchFamily="34" charset="0"/>
                <a:ea typeface="Shabnam" pitchFamily="34" charset="-122"/>
                <a:cs typeface="Shabnam" pitchFamily="34" charset="-120"/>
              </a:rPr>
              <a:t>۳</a:t>
            </a:r>
            <a:endParaRPr lang="fa-IR" sz="1200" dirty="0"/>
          </a:p>
        </p:txBody>
      </p:sp>
      <p:sp>
        <p:nvSpPr>
          <p:cNvPr id="16" name="Text 14"/>
          <p:cNvSpPr txBox="1"/>
          <p:nvPr/>
        </p:nvSpPr>
        <p:spPr>
          <a:xfrm>
            <a:off x="4023360" y="3483864"/>
            <a:ext cx="4206240" cy="320040"/>
          </a:xfrm>
          <a:prstGeom prst="rect">
            <a:avLst/>
          </a:prstGeom>
          <a:noFill/>
          <a:ln/>
        </p:spPr>
        <p:txBody>
          <a:bodyPr wrap="square" lIns="0" tIns="0" rIns="0" bIns="0" rtlCol="0" anchor="t"/>
          <a:lstStyle/>
          <a:p>
            <a:pPr marL="0" indent="0" algn="r" rtl="1">
              <a:buNone/>
            </a:pPr>
            <a:r>
              <a:rPr lang="fa-IR" altLang="en-US" sz="1400" b="1" dirty="0">
                <a:solidFill>
                  <a:srgbClr val="FFFFFF"/>
                </a:solidFill>
                <a:latin typeface="Shabnam" pitchFamily="34" charset="0"/>
                <a:ea typeface="Shabnam" pitchFamily="34" charset="-122"/>
                <a:cs typeface="Shabnam" pitchFamily="34" charset="-120"/>
              </a:rPr>
              <a:t>داده واقعی «میرایی خودبه‌خود» دارد</a:t>
            </a:r>
            <a:endParaRPr lang="fa-IR" sz="1400" dirty="0"/>
          </a:p>
        </p:txBody>
      </p:sp>
      <p:sp>
        <p:nvSpPr>
          <p:cNvPr id="17" name="Text 15"/>
          <p:cNvSpPr txBox="1"/>
          <p:nvPr/>
        </p:nvSpPr>
        <p:spPr>
          <a:xfrm>
            <a:off x="4023360" y="3831336"/>
            <a:ext cx="4206240" cy="502920"/>
          </a:xfrm>
          <a:prstGeom prst="rect">
            <a:avLst/>
          </a:prstGeom>
          <a:noFill/>
          <a:ln/>
        </p:spPr>
        <p:txBody>
          <a:bodyPr wrap="square" lIns="0" tIns="0" rIns="0" bIns="0" rtlCol="0" anchor="t"/>
          <a:lstStyle/>
          <a:p>
            <a:pPr marL="0" indent="0" algn="r" rtl="1">
              <a:buNone/>
            </a:pPr>
            <a:r>
              <a:rPr lang="fa-IR" altLang="en-US" sz="1050" dirty="0">
                <a:solidFill>
                  <a:srgbClr val="C9D6E8"/>
                </a:solidFill>
                <a:latin typeface="Shabnam" pitchFamily="34" charset="0"/>
                <a:ea typeface="Shabnam" pitchFamily="34" charset="-122"/>
                <a:cs typeface="Shabnam" pitchFamily="34" charset="-120"/>
              </a:rPr>
              <a:t>بعد از هر موج خبری، نظر جمعی کم‌کم به سمت خنثی برمی‌گردد (Self-decay).</a:t>
            </a:r>
            <a:endParaRPr lang="fa-IR" sz="1050" dirty="0"/>
          </a:p>
        </p:txBody>
      </p:sp>
      <p:sp>
        <p:nvSpPr>
          <p:cNvPr id="18" name="Shape 16"/>
          <p:cNvSpPr/>
          <p:nvPr/>
        </p:nvSpPr>
        <p:spPr>
          <a:xfrm>
            <a:off x="457200" y="1691640"/>
            <a:ext cx="3246120" cy="2606040"/>
          </a:xfrm>
          <a:prstGeom prst="roundRect">
            <a:avLst>
              <a:gd name="adj" fmla="val 2807"/>
            </a:avLst>
          </a:prstGeom>
          <a:solidFill>
            <a:srgbClr val="1F3057"/>
          </a:solidFill>
          <a:ln w="12700">
            <a:solidFill>
              <a:srgbClr val="1F3057"/>
            </a:solidFill>
            <a:prstDash val="solid"/>
          </a:ln>
        </p:spPr>
      </p:sp>
      <p:sp>
        <p:nvSpPr>
          <p:cNvPr id="19" name="Text 17"/>
          <p:cNvSpPr txBox="1"/>
          <p:nvPr/>
        </p:nvSpPr>
        <p:spPr>
          <a:xfrm>
            <a:off x="640080" y="1828800"/>
            <a:ext cx="2880360" cy="274320"/>
          </a:xfrm>
          <a:prstGeom prst="rect">
            <a:avLst/>
          </a:prstGeom>
          <a:noFill/>
          <a:ln/>
        </p:spPr>
        <p:txBody>
          <a:bodyPr wrap="square" lIns="0" tIns="0" rIns="0" bIns="0" rtlCol="0" anchor="t"/>
          <a:lstStyle/>
          <a:p>
            <a:pPr marL="0" indent="0" algn="r" rtl="1">
              <a:buNone/>
            </a:pPr>
            <a:r>
              <a:rPr lang="fa-IR" altLang="en-US" sz="1200" b="1" dirty="0">
                <a:solidFill>
                  <a:srgbClr val="17A398"/>
                </a:solidFill>
                <a:latin typeface="Shabnam" pitchFamily="34" charset="0"/>
                <a:ea typeface="Shabnam" pitchFamily="34" charset="-122"/>
                <a:cs typeface="Shabnam" pitchFamily="34" charset="-120"/>
              </a:rPr>
              <a:t>هدف مقاله</a:t>
            </a:r>
            <a:endParaRPr lang="fa-IR" sz="1200" dirty="0"/>
          </a:p>
        </p:txBody>
      </p:sp>
      <p:sp>
        <p:nvSpPr>
          <p:cNvPr id="20" name="Text 18"/>
          <p:cNvSpPr txBox="1"/>
          <p:nvPr/>
        </p:nvSpPr>
        <p:spPr>
          <a:xfrm>
            <a:off x="640080" y="2176272"/>
            <a:ext cx="2880360" cy="1188720"/>
          </a:xfrm>
          <a:prstGeom prst="rect">
            <a:avLst/>
          </a:prstGeom>
          <a:noFill/>
          <a:ln/>
        </p:spPr>
        <p:txBody>
          <a:bodyPr wrap="square" lIns="0" tIns="0" rIns="0" bIns="0" rtlCol="0" anchor="t"/>
          <a:lstStyle/>
          <a:p>
            <a:pPr marL="0" indent="0" algn="r" rtl="1">
              <a:buNone/>
            </a:pPr>
            <a:r>
              <a:rPr lang="fa-IR" altLang="en-US" sz="1200" dirty="0">
                <a:solidFill>
                  <a:srgbClr val="FFFFFF"/>
                </a:solidFill>
                <a:latin typeface="Shabnam" pitchFamily="34" charset="0"/>
                <a:ea typeface="Shabnam" pitchFamily="34" charset="-122"/>
                <a:cs typeface="Shabnam" pitchFamily="34" charset="-120"/>
              </a:rPr>
              <a:t>شبیه‌سازی‌ای که هم مثل LLM به خبرهای ناگهانی واکنش بدهد، هم مثل معادلات دینامیکی پایدار بماند و کم‌کم به حالت خنثی برگردد.</a:t>
            </a:r>
            <a:endParaRPr lang="fa-IR" sz="1200" dirty="0"/>
          </a:p>
        </p:txBody>
      </p:sp>
      <p:sp>
        <p:nvSpPr>
          <p:cNvPr id="21" name="Text 19"/>
          <p:cNvSpPr txBox="1"/>
          <p:nvPr/>
        </p:nvSpPr>
        <p:spPr>
          <a:xfrm>
            <a:off x="640080" y="3520440"/>
            <a:ext cx="2880360" cy="640080"/>
          </a:xfrm>
          <a:prstGeom prst="rect">
            <a:avLst/>
          </a:prstGeom>
          <a:noFill/>
          <a:ln/>
        </p:spPr>
        <p:txBody>
          <a:bodyPr wrap="square" lIns="0" tIns="0" rIns="0" bIns="0" rtlCol="0" anchor="t"/>
          <a:lstStyle/>
          <a:p>
            <a:pPr marL="0" indent="0" algn="r" rtl="1">
              <a:buNone/>
            </a:pPr>
            <a:r>
              <a:rPr lang="fa-IR" altLang="en-US" sz="1050" dirty="0">
                <a:solidFill>
                  <a:srgbClr val="C9D6E8"/>
                </a:solidFill>
                <a:latin typeface="Shabnam" pitchFamily="34" charset="0"/>
                <a:ea typeface="Shabnam" pitchFamily="34" charset="-122"/>
                <a:cs typeface="Shabnam" pitchFamily="34" charset="-120"/>
              </a:rPr>
              <a:t>سنجش: شباهت منحنی نگرش شبیه‌سازی‌شده با منحنی واقعی ویبو</a:t>
            </a:r>
            <a:endParaRPr lang="fa-IR" sz="1050" dirty="0"/>
          </a:p>
        </p:txBody>
      </p:sp>
      <p:sp>
        <p:nvSpPr>
          <p:cNvPr id="22" name="Text 20"/>
          <p:cNvSpPr txBox="1"/>
          <p:nvPr/>
        </p:nvSpPr>
        <p:spPr>
          <a:xfrm>
            <a:off x="457200" y="4800600"/>
            <a:ext cx="5486400" cy="228600"/>
          </a:xfrm>
          <a:prstGeom prst="rect">
            <a:avLst/>
          </a:prstGeom>
          <a:noFill/>
          <a:ln/>
        </p:spPr>
        <p:txBody>
          <a:bodyPr wrap="square" lIns="0" tIns="0" rIns="0" bIns="0" rtlCol="0" anchor="t"/>
          <a:lstStyle/>
          <a:p>
            <a:pPr marL="0" indent="0" algn="l">
              <a:buNone/>
            </a:pPr>
            <a:r>
              <a:rPr lang="en-US" sz="900" dirty="0">
                <a:solidFill>
                  <a:srgbClr val="5C6B7A"/>
                </a:solidFill>
                <a:latin typeface="Calibri" pitchFamily="34" charset="0"/>
                <a:ea typeface="Calibri" pitchFamily="34" charset="-122"/>
                <a:cs typeface="Calibri" pitchFamily="34" charset="-120"/>
              </a:rPr>
              <a:t>Yao et al., Scientific Reports 15:15472 (2025)</a:t>
            </a:r>
            <a:endParaRPr lang="en-US" sz="900" dirty="0"/>
          </a:p>
        </p:txBody>
      </p:sp>
      <p:sp>
        <p:nvSpPr>
          <p:cNvPr id="23" name="Text 21"/>
          <p:cNvSpPr txBox="1"/>
          <p:nvPr/>
        </p:nvSpPr>
        <p:spPr>
          <a:xfrm>
            <a:off x="8229600" y="4773168"/>
            <a:ext cx="457200" cy="228600"/>
          </a:xfrm>
          <a:prstGeom prst="rect">
            <a:avLst/>
          </a:prstGeom>
          <a:noFill/>
          <a:ln/>
        </p:spPr>
        <p:txBody>
          <a:bodyPr wrap="square" lIns="0" tIns="0" rIns="0" bIns="0" rtlCol="0" anchor="t"/>
          <a:lstStyle/>
          <a:p>
            <a:pPr marL="0" indent="0" algn="r" rtl="1">
              <a:buNone/>
            </a:pPr>
            <a:r>
              <a:rPr lang="fa-IR" altLang="en-US" sz="1000" dirty="0">
                <a:solidFill>
                  <a:srgbClr val="5C6B7A"/>
                </a:solidFill>
                <a:latin typeface="Shabnam" pitchFamily="34" charset="0"/>
                <a:ea typeface="Shabnam" pitchFamily="34" charset="-122"/>
                <a:cs typeface="Shabnam" pitchFamily="34" charset="-120"/>
              </a:rPr>
              <a:t>۳</a:t>
            </a:r>
            <a:endParaRPr lang="fa-IR"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7863840" cy="274320"/>
          </a:xfrm>
          <a:prstGeom prst="rect">
            <a:avLst/>
          </a:prstGeom>
          <a:noFill/>
          <a:ln/>
        </p:spPr>
        <p:txBody>
          <a:bodyPr wrap="square" lIns="0" tIns="0" rIns="0" bIns="0" rtlCol="0" anchor="t"/>
          <a:lstStyle/>
          <a:p>
            <a:pPr marL="0" indent="0" algn="r" rtl="1">
              <a:buNone/>
            </a:pPr>
            <a:r>
              <a:rPr lang="fa-IR" altLang="en-US" sz="1100" dirty="0">
                <a:solidFill>
                  <a:srgbClr val="5C6B7A"/>
                </a:solidFill>
                <a:latin typeface="Shabnam" pitchFamily="34" charset="0"/>
                <a:ea typeface="Shabnam" pitchFamily="34" charset="-122"/>
                <a:cs typeface="Shabnam" pitchFamily="34" charset="-120"/>
              </a:rPr>
              <a:t>۲  ·  مرور ادبیات (Literature Review)</a:t>
            </a:r>
            <a:endParaRPr lang="fa-IR" sz="1100" dirty="0"/>
          </a:p>
        </p:txBody>
      </p:sp>
      <p:sp>
        <p:nvSpPr>
          <p:cNvPr id="3" name="Text 1"/>
          <p:cNvSpPr txBox="1"/>
          <p:nvPr/>
        </p:nvSpPr>
        <p:spPr>
          <a:xfrm>
            <a:off x="457200" y="566928"/>
            <a:ext cx="8229600" cy="594360"/>
          </a:xfrm>
          <a:prstGeom prst="rect">
            <a:avLst/>
          </a:prstGeom>
          <a:noFill/>
          <a:ln/>
        </p:spPr>
        <p:txBody>
          <a:bodyPr wrap="square" lIns="0" tIns="0" rIns="0" bIns="0" rtlCol="0" anchor="t"/>
          <a:lstStyle/>
          <a:p>
            <a:pPr marL="0" indent="0" algn="r" rtl="1">
              <a:buNone/>
            </a:pPr>
            <a:r>
              <a:rPr lang="fa-IR" altLang="en-US" sz="2400" b="1" dirty="0">
                <a:solidFill>
                  <a:srgbClr val="14213D"/>
                </a:solidFill>
                <a:latin typeface="Shabnam" pitchFamily="34" charset="0"/>
                <a:ea typeface="Shabnam" pitchFamily="34" charset="-122"/>
                <a:cs typeface="Shabnam" pitchFamily="34" charset="-120"/>
              </a:rPr>
              <a:t>کارهای قبلی و شکاف پژوهشی</a:t>
            </a:r>
            <a:endParaRPr lang="fa-IR" sz="2400" dirty="0"/>
          </a:p>
        </p:txBody>
      </p:sp>
      <p:sp>
        <p:nvSpPr>
          <p:cNvPr id="4" name="Shape 2"/>
          <p:cNvSpPr/>
          <p:nvPr/>
        </p:nvSpPr>
        <p:spPr>
          <a:xfrm>
            <a:off x="5943600" y="1234440"/>
            <a:ext cx="2560320" cy="2743200"/>
          </a:xfrm>
          <a:prstGeom prst="roundRect">
            <a:avLst>
              <a:gd name="adj" fmla="val 2857"/>
            </a:avLst>
          </a:prstGeom>
          <a:solidFill>
            <a:srgbClr val="EEF2F7"/>
          </a:solidFill>
          <a:ln w="12700">
            <a:solidFill>
              <a:srgbClr val="EEF2F7"/>
            </a:solidFill>
            <a:prstDash val="solid"/>
          </a:ln>
        </p:spPr>
      </p:sp>
      <p:sp>
        <p:nvSpPr>
          <p:cNvPr id="5" name="Shape 3"/>
          <p:cNvSpPr/>
          <p:nvPr/>
        </p:nvSpPr>
        <p:spPr>
          <a:xfrm>
            <a:off x="8001000" y="1344168"/>
            <a:ext cx="329184" cy="329184"/>
          </a:xfrm>
          <a:prstGeom prst="ellipse">
            <a:avLst/>
          </a:prstGeom>
          <a:solidFill>
            <a:srgbClr val="5C6B7A"/>
          </a:solidFill>
          <a:ln w="12700">
            <a:solidFill>
              <a:srgbClr val="5C6B7A"/>
            </a:solidFill>
            <a:prstDash val="solid"/>
          </a:ln>
        </p:spPr>
      </p:sp>
      <p:sp>
        <p:nvSpPr>
          <p:cNvPr id="6" name="Text 4"/>
          <p:cNvSpPr txBox="1"/>
          <p:nvPr/>
        </p:nvSpPr>
        <p:spPr>
          <a:xfrm>
            <a:off x="6080760" y="1325880"/>
            <a:ext cx="1828800" cy="411480"/>
          </a:xfrm>
          <a:prstGeom prst="rect">
            <a:avLst/>
          </a:prstGeom>
          <a:noFill/>
          <a:ln/>
        </p:spPr>
        <p:txBody>
          <a:bodyPr wrap="square" lIns="0" tIns="0" rIns="0" bIns="0" rtlCol="0" anchor="ctr"/>
          <a:lstStyle/>
          <a:p>
            <a:pPr marL="0" indent="0" algn="r" rtl="1">
              <a:buNone/>
            </a:pPr>
            <a:r>
              <a:rPr lang="fa-IR" altLang="en-US" sz="1150" b="1" dirty="0">
                <a:solidFill>
                  <a:srgbClr val="14213D"/>
                </a:solidFill>
                <a:latin typeface="Shabnam" pitchFamily="34" charset="0"/>
                <a:ea typeface="Shabnam" pitchFamily="34" charset="-122"/>
                <a:cs typeface="Shabnam" pitchFamily="34" charset="-120"/>
              </a:rPr>
              <a:t>مدل‌های کلاسیک دینامیک نظر</a:t>
            </a:r>
            <a:endParaRPr lang="fa-IR" sz="1150" dirty="0"/>
          </a:p>
        </p:txBody>
      </p:sp>
      <p:sp>
        <p:nvSpPr>
          <p:cNvPr id="7" name="Text 5"/>
          <p:cNvSpPr txBox="1"/>
          <p:nvPr/>
        </p:nvSpPr>
        <p:spPr>
          <a:xfrm>
            <a:off x="6080760" y="1828800"/>
            <a:ext cx="2286000" cy="384048"/>
          </a:xfrm>
          <a:prstGeom prst="rect">
            <a:avLst/>
          </a:prstGeom>
          <a:noFill/>
          <a:ln/>
        </p:spPr>
        <p:txBody>
          <a:bodyPr wrap="square" lIns="0" tIns="0" rIns="0" bIns="0" rtlCol="0" anchor="t"/>
          <a:lstStyle/>
          <a:p>
            <a:pPr marL="0" indent="0" algn="r" rtl="1">
              <a:buNone/>
            </a:pPr>
            <a:r>
              <a:rPr lang="fa-IR" altLang="en-US" sz="900" dirty="0">
                <a:solidFill>
                  <a:srgbClr val="1F2933"/>
                </a:solidFill>
                <a:latin typeface="Shabnam" pitchFamily="34" charset="0"/>
                <a:ea typeface="Shabnam" pitchFamily="34" charset="-122"/>
                <a:cs typeface="Shabnam" pitchFamily="34" charset="-120"/>
              </a:rPr>
              <a:t>DeGroot (1974): میانگین‌گیری از همسایه‌ها</a:t>
            </a:r>
            <a:endParaRPr lang="fa-IR" sz="900" dirty="0"/>
          </a:p>
        </p:txBody>
      </p:sp>
      <p:sp>
        <p:nvSpPr>
          <p:cNvPr id="8" name="Text 6"/>
          <p:cNvSpPr txBox="1"/>
          <p:nvPr/>
        </p:nvSpPr>
        <p:spPr>
          <a:xfrm>
            <a:off x="6080760" y="2212848"/>
            <a:ext cx="2286000" cy="384048"/>
          </a:xfrm>
          <a:prstGeom prst="rect">
            <a:avLst/>
          </a:prstGeom>
          <a:noFill/>
          <a:ln/>
        </p:spPr>
        <p:txBody>
          <a:bodyPr wrap="square" lIns="0" tIns="0" rIns="0" bIns="0" rtlCol="0" anchor="t"/>
          <a:lstStyle/>
          <a:p>
            <a:pPr marL="0" indent="0" algn="r" rtl="1">
              <a:buNone/>
            </a:pPr>
            <a:r>
              <a:rPr lang="fa-IR" altLang="en-US" sz="900" dirty="0">
                <a:solidFill>
                  <a:srgbClr val="1F2933"/>
                </a:solidFill>
                <a:latin typeface="Shabnam" pitchFamily="34" charset="0"/>
                <a:ea typeface="Shabnam" pitchFamily="34" charset="-122"/>
                <a:cs typeface="Shabnam" pitchFamily="34" charset="-120"/>
              </a:rPr>
              <a:t>Voter (1973): تقلید از یک همسایه تصادفی</a:t>
            </a:r>
            <a:endParaRPr lang="fa-IR" sz="900" dirty="0"/>
          </a:p>
        </p:txBody>
      </p:sp>
      <p:sp>
        <p:nvSpPr>
          <p:cNvPr id="9" name="Text 7"/>
          <p:cNvSpPr txBox="1"/>
          <p:nvPr/>
        </p:nvSpPr>
        <p:spPr>
          <a:xfrm>
            <a:off x="6080760" y="2596896"/>
            <a:ext cx="2286000" cy="384048"/>
          </a:xfrm>
          <a:prstGeom prst="rect">
            <a:avLst/>
          </a:prstGeom>
          <a:noFill/>
          <a:ln/>
        </p:spPr>
        <p:txBody>
          <a:bodyPr wrap="square" lIns="0" tIns="0" rIns="0" bIns="0" rtlCol="0" anchor="t"/>
          <a:lstStyle/>
          <a:p>
            <a:pPr marL="0" indent="0" algn="r" rtl="1">
              <a:buNone/>
            </a:pPr>
            <a:r>
              <a:rPr lang="fa-IR" altLang="en-US" sz="900" dirty="0">
                <a:solidFill>
                  <a:srgbClr val="1F2933"/>
                </a:solidFill>
                <a:latin typeface="Shabnam" pitchFamily="34" charset="0"/>
                <a:ea typeface="Shabnam" pitchFamily="34" charset="-122"/>
                <a:cs typeface="Shabnam" pitchFamily="34" charset="-120"/>
              </a:rPr>
              <a:t>Deffuant و HK (2000، 2002): اعتماد محدود</a:t>
            </a:r>
            <a:endParaRPr lang="fa-IR" sz="900" dirty="0"/>
          </a:p>
        </p:txBody>
      </p:sp>
      <p:sp>
        <p:nvSpPr>
          <p:cNvPr id="10" name="Text 8"/>
          <p:cNvSpPr txBox="1"/>
          <p:nvPr/>
        </p:nvSpPr>
        <p:spPr>
          <a:xfrm>
            <a:off x="6080760" y="2980944"/>
            <a:ext cx="2286000" cy="384048"/>
          </a:xfrm>
          <a:prstGeom prst="rect">
            <a:avLst/>
          </a:prstGeom>
          <a:noFill/>
          <a:ln/>
        </p:spPr>
        <p:txBody>
          <a:bodyPr wrap="square" lIns="0" tIns="0" rIns="0" bIns="0" rtlCol="0" anchor="t"/>
          <a:lstStyle/>
          <a:p>
            <a:pPr marL="0" indent="0" algn="r" rtl="1">
              <a:buNone/>
            </a:pPr>
            <a:r>
              <a:rPr lang="fa-IR" altLang="en-US" sz="900" dirty="0">
                <a:solidFill>
                  <a:srgbClr val="1F2933"/>
                </a:solidFill>
                <a:latin typeface="Shabnam" pitchFamily="34" charset="0"/>
                <a:ea typeface="Shabnam" pitchFamily="34" charset="-122"/>
                <a:cs typeface="Shabnam" pitchFamily="34" charset="-120"/>
              </a:rPr>
              <a:t>Cellular Automata: تعامل محلی روی گرید</a:t>
            </a:r>
            <a:endParaRPr lang="fa-IR" sz="900" dirty="0"/>
          </a:p>
        </p:txBody>
      </p:sp>
      <p:sp>
        <p:nvSpPr>
          <p:cNvPr id="11" name="Text 9"/>
          <p:cNvSpPr txBox="1"/>
          <p:nvPr/>
        </p:nvSpPr>
        <p:spPr>
          <a:xfrm>
            <a:off x="6080760" y="3429000"/>
            <a:ext cx="2286000" cy="502920"/>
          </a:xfrm>
          <a:prstGeom prst="rect">
            <a:avLst/>
          </a:prstGeom>
          <a:noFill/>
          <a:ln/>
        </p:spPr>
        <p:txBody>
          <a:bodyPr wrap="square" lIns="0" tIns="0" rIns="0" bIns="0" rtlCol="0" anchor="t"/>
          <a:lstStyle/>
          <a:p>
            <a:pPr marL="0" indent="0" algn="r" rtl="1">
              <a:buNone/>
            </a:pPr>
            <a:r>
              <a:rPr lang="fa-IR" altLang="en-US" sz="950" b="1" dirty="0">
                <a:solidFill>
                  <a:srgbClr val="E4572E"/>
                </a:solidFill>
                <a:latin typeface="Shabnam" pitchFamily="34" charset="0"/>
                <a:ea typeface="Shabnam" pitchFamily="34" charset="-122"/>
                <a:cs typeface="Shabnam" pitchFamily="34" charset="-120"/>
              </a:rPr>
              <a:t>ساده و قابل تحلیل، ولی بدون درک محتوا</a:t>
            </a:r>
            <a:endParaRPr lang="fa-IR" sz="950" dirty="0"/>
          </a:p>
        </p:txBody>
      </p:sp>
      <p:sp>
        <p:nvSpPr>
          <p:cNvPr id="12" name="Shape 10"/>
          <p:cNvSpPr/>
          <p:nvPr/>
        </p:nvSpPr>
        <p:spPr>
          <a:xfrm>
            <a:off x="3200400" y="1234440"/>
            <a:ext cx="2560320" cy="2743200"/>
          </a:xfrm>
          <a:prstGeom prst="roundRect">
            <a:avLst>
              <a:gd name="adj" fmla="val 2857"/>
            </a:avLst>
          </a:prstGeom>
          <a:solidFill>
            <a:srgbClr val="EEF2F7"/>
          </a:solidFill>
          <a:ln w="12700">
            <a:solidFill>
              <a:srgbClr val="EEF2F7"/>
            </a:solidFill>
            <a:prstDash val="solid"/>
          </a:ln>
        </p:spPr>
      </p:sp>
      <p:sp>
        <p:nvSpPr>
          <p:cNvPr id="13" name="Shape 11"/>
          <p:cNvSpPr/>
          <p:nvPr/>
        </p:nvSpPr>
        <p:spPr>
          <a:xfrm>
            <a:off x="5257800" y="1344168"/>
            <a:ext cx="329184" cy="329184"/>
          </a:xfrm>
          <a:prstGeom prst="ellipse">
            <a:avLst/>
          </a:prstGeom>
          <a:solidFill>
            <a:srgbClr val="14213D"/>
          </a:solidFill>
          <a:ln w="12700">
            <a:solidFill>
              <a:srgbClr val="14213D"/>
            </a:solidFill>
            <a:prstDash val="solid"/>
          </a:ln>
        </p:spPr>
      </p:sp>
      <p:sp>
        <p:nvSpPr>
          <p:cNvPr id="14" name="Text 12"/>
          <p:cNvSpPr txBox="1"/>
          <p:nvPr/>
        </p:nvSpPr>
        <p:spPr>
          <a:xfrm>
            <a:off x="3337560" y="1325880"/>
            <a:ext cx="1828800" cy="411480"/>
          </a:xfrm>
          <a:prstGeom prst="rect">
            <a:avLst/>
          </a:prstGeom>
          <a:noFill/>
          <a:ln/>
        </p:spPr>
        <p:txBody>
          <a:bodyPr wrap="square" lIns="0" tIns="0" rIns="0" bIns="0" rtlCol="0" anchor="ctr"/>
          <a:lstStyle/>
          <a:p>
            <a:pPr marL="0" indent="0" algn="r" rtl="1">
              <a:buNone/>
            </a:pPr>
            <a:r>
              <a:rPr lang="fa-IR" altLang="en-US" sz="1150" b="1" dirty="0">
                <a:solidFill>
                  <a:srgbClr val="14213D"/>
                </a:solidFill>
                <a:latin typeface="Shabnam" pitchFamily="34" charset="0"/>
                <a:ea typeface="Shabnam" pitchFamily="34" charset="-122"/>
                <a:cs typeface="Shabnam" pitchFamily="34" charset="-120"/>
              </a:rPr>
              <a:t>ABM مبتنی بر داده واقعی</a:t>
            </a:r>
            <a:endParaRPr lang="fa-IR" sz="1150" dirty="0"/>
          </a:p>
        </p:txBody>
      </p:sp>
      <p:sp>
        <p:nvSpPr>
          <p:cNvPr id="15" name="Text 13"/>
          <p:cNvSpPr txBox="1"/>
          <p:nvPr/>
        </p:nvSpPr>
        <p:spPr>
          <a:xfrm>
            <a:off x="3337560" y="1828800"/>
            <a:ext cx="2286000" cy="384048"/>
          </a:xfrm>
          <a:prstGeom prst="rect">
            <a:avLst/>
          </a:prstGeom>
          <a:noFill/>
          <a:ln/>
        </p:spPr>
        <p:txBody>
          <a:bodyPr wrap="square" lIns="0" tIns="0" rIns="0" bIns="0" rtlCol="0" anchor="t"/>
          <a:lstStyle/>
          <a:p>
            <a:pPr marL="0" indent="0" algn="r" rtl="1">
              <a:buNone/>
            </a:pPr>
            <a:r>
              <a:rPr lang="fa-IR" altLang="en-US" sz="900" dirty="0">
                <a:solidFill>
                  <a:srgbClr val="1F2933"/>
                </a:solidFill>
                <a:latin typeface="Shabnam" pitchFamily="34" charset="0"/>
                <a:ea typeface="Shabnam" pitchFamily="34" charset="-122"/>
                <a:cs typeface="Shabnam" pitchFamily="34" charset="-120"/>
              </a:rPr>
              <a:t>Duggins: مدل با انگیزه روان‌شناختی (PM)</a:t>
            </a:r>
            <a:endParaRPr lang="fa-IR" sz="900" dirty="0"/>
          </a:p>
        </p:txBody>
      </p:sp>
      <p:sp>
        <p:nvSpPr>
          <p:cNvPr id="16" name="Text 14"/>
          <p:cNvSpPr txBox="1"/>
          <p:nvPr/>
        </p:nvSpPr>
        <p:spPr>
          <a:xfrm>
            <a:off x="3337560" y="2212848"/>
            <a:ext cx="2286000" cy="384048"/>
          </a:xfrm>
          <a:prstGeom prst="rect">
            <a:avLst/>
          </a:prstGeom>
          <a:noFill/>
          <a:ln/>
        </p:spPr>
        <p:txBody>
          <a:bodyPr wrap="square" lIns="0" tIns="0" rIns="0" bIns="0" rtlCol="0" anchor="t"/>
          <a:lstStyle/>
          <a:p>
            <a:pPr marL="0" indent="0" algn="r" rtl="1">
              <a:buNone/>
            </a:pPr>
            <a:r>
              <a:rPr lang="fa-IR" altLang="en-US" sz="900" dirty="0">
                <a:solidFill>
                  <a:srgbClr val="1F2933"/>
                </a:solidFill>
                <a:latin typeface="Shabnam" pitchFamily="34" charset="0"/>
                <a:ea typeface="Shabnam" pitchFamily="34" charset="-122"/>
                <a:cs typeface="Shabnam" pitchFamily="34" charset="-120"/>
              </a:rPr>
              <a:t>Carpentras (2022): مدل مشتق از آزمایش واقعی (RLE)</a:t>
            </a:r>
            <a:endParaRPr lang="fa-IR" sz="900" dirty="0"/>
          </a:p>
        </p:txBody>
      </p:sp>
      <p:sp>
        <p:nvSpPr>
          <p:cNvPr id="17" name="Text 15"/>
          <p:cNvSpPr txBox="1"/>
          <p:nvPr/>
        </p:nvSpPr>
        <p:spPr>
          <a:xfrm>
            <a:off x="3337560" y="3429000"/>
            <a:ext cx="2286000" cy="502920"/>
          </a:xfrm>
          <a:prstGeom prst="rect">
            <a:avLst/>
          </a:prstGeom>
          <a:noFill/>
          <a:ln/>
        </p:spPr>
        <p:txBody>
          <a:bodyPr wrap="square" lIns="0" tIns="0" rIns="0" bIns="0" rtlCol="0" anchor="t"/>
          <a:lstStyle/>
          <a:p>
            <a:pPr marL="0" indent="0" algn="r" rtl="1">
              <a:buNone/>
            </a:pPr>
            <a:r>
              <a:rPr lang="fa-IR" altLang="en-US" sz="950" b="1" dirty="0">
                <a:solidFill>
                  <a:srgbClr val="E4572E"/>
                </a:solidFill>
                <a:latin typeface="Shabnam" pitchFamily="34" charset="0"/>
                <a:ea typeface="Shabnam" pitchFamily="34" charset="-122"/>
                <a:cs typeface="Shabnam" pitchFamily="34" charset="-120"/>
              </a:rPr>
              <a:t>واقع‌گراتر، ولی نوسان زیاد و میرایی خودبه‌خود را نمی‌گیرند</a:t>
            </a:r>
            <a:endParaRPr lang="fa-IR" sz="950" dirty="0"/>
          </a:p>
        </p:txBody>
      </p:sp>
      <p:sp>
        <p:nvSpPr>
          <p:cNvPr id="18" name="Shape 16"/>
          <p:cNvSpPr/>
          <p:nvPr/>
        </p:nvSpPr>
        <p:spPr>
          <a:xfrm>
            <a:off x="457200" y="1234440"/>
            <a:ext cx="2560320" cy="2743200"/>
          </a:xfrm>
          <a:prstGeom prst="roundRect">
            <a:avLst>
              <a:gd name="adj" fmla="val 2857"/>
            </a:avLst>
          </a:prstGeom>
          <a:solidFill>
            <a:srgbClr val="EEF2F7"/>
          </a:solidFill>
          <a:ln w="12700">
            <a:solidFill>
              <a:srgbClr val="EEF2F7"/>
            </a:solidFill>
            <a:prstDash val="solid"/>
          </a:ln>
        </p:spPr>
      </p:sp>
      <p:sp>
        <p:nvSpPr>
          <p:cNvPr id="19" name="Shape 17"/>
          <p:cNvSpPr/>
          <p:nvPr/>
        </p:nvSpPr>
        <p:spPr>
          <a:xfrm>
            <a:off x="2514600" y="1344168"/>
            <a:ext cx="329184" cy="329184"/>
          </a:xfrm>
          <a:prstGeom prst="ellipse">
            <a:avLst/>
          </a:prstGeom>
          <a:solidFill>
            <a:srgbClr val="17A398"/>
          </a:solidFill>
          <a:ln w="12700">
            <a:solidFill>
              <a:srgbClr val="17A398"/>
            </a:solidFill>
            <a:prstDash val="solid"/>
          </a:ln>
        </p:spPr>
      </p:sp>
      <p:sp>
        <p:nvSpPr>
          <p:cNvPr id="20" name="Text 18"/>
          <p:cNvSpPr txBox="1"/>
          <p:nvPr/>
        </p:nvSpPr>
        <p:spPr>
          <a:xfrm>
            <a:off x="594360" y="1325880"/>
            <a:ext cx="1828800" cy="411480"/>
          </a:xfrm>
          <a:prstGeom prst="rect">
            <a:avLst/>
          </a:prstGeom>
          <a:noFill/>
          <a:ln/>
        </p:spPr>
        <p:txBody>
          <a:bodyPr wrap="square" lIns="0" tIns="0" rIns="0" bIns="0" rtlCol="0" anchor="ctr"/>
          <a:lstStyle/>
          <a:p>
            <a:pPr marL="0" indent="0" algn="r" rtl="1">
              <a:buNone/>
            </a:pPr>
            <a:r>
              <a:rPr lang="fa-IR" altLang="en-US" sz="1150" b="1" dirty="0">
                <a:solidFill>
                  <a:srgbClr val="14213D"/>
                </a:solidFill>
                <a:latin typeface="Shabnam" pitchFamily="34" charset="0"/>
                <a:ea typeface="Shabnam" pitchFamily="34" charset="-122"/>
                <a:cs typeface="Shabnam" pitchFamily="34" charset="-120"/>
              </a:rPr>
              <a:t>شبیه‌سازی با ایجنت‌های LLM</a:t>
            </a:r>
            <a:endParaRPr lang="fa-IR" sz="1150" dirty="0"/>
          </a:p>
        </p:txBody>
      </p:sp>
      <p:sp>
        <p:nvSpPr>
          <p:cNvPr id="21" name="Text 19"/>
          <p:cNvSpPr txBox="1"/>
          <p:nvPr/>
        </p:nvSpPr>
        <p:spPr>
          <a:xfrm>
            <a:off x="594360" y="1828800"/>
            <a:ext cx="2286000" cy="384048"/>
          </a:xfrm>
          <a:prstGeom prst="rect">
            <a:avLst/>
          </a:prstGeom>
          <a:noFill/>
          <a:ln/>
        </p:spPr>
        <p:txBody>
          <a:bodyPr wrap="square" lIns="0" tIns="0" rIns="0" bIns="0" rtlCol="0" anchor="t"/>
          <a:lstStyle/>
          <a:p>
            <a:pPr marL="0" indent="0" algn="r" rtl="1">
              <a:buNone/>
            </a:pPr>
            <a:r>
              <a:rPr lang="fa-IR" altLang="en-US" sz="900" dirty="0">
                <a:solidFill>
                  <a:srgbClr val="1F2933"/>
                </a:solidFill>
                <a:latin typeface="Shabnam" pitchFamily="34" charset="0"/>
                <a:ea typeface="Shabnam" pitchFamily="34" charset="-122"/>
                <a:cs typeface="Shabnam" pitchFamily="34" charset="-120"/>
              </a:rPr>
              <a:t>Generative Agents (Park 2023): حافظه و برنامه‌ریزی</a:t>
            </a:r>
            <a:endParaRPr lang="fa-IR" sz="900" dirty="0"/>
          </a:p>
        </p:txBody>
      </p:sp>
      <p:sp>
        <p:nvSpPr>
          <p:cNvPr id="22" name="Text 20"/>
          <p:cNvSpPr txBox="1"/>
          <p:nvPr/>
        </p:nvSpPr>
        <p:spPr>
          <a:xfrm>
            <a:off x="594360" y="2212848"/>
            <a:ext cx="2286000" cy="384048"/>
          </a:xfrm>
          <a:prstGeom prst="rect">
            <a:avLst/>
          </a:prstGeom>
          <a:noFill/>
          <a:ln/>
        </p:spPr>
        <p:txBody>
          <a:bodyPr wrap="square" lIns="0" tIns="0" rIns="0" bIns="0" rtlCol="0" anchor="t"/>
          <a:lstStyle/>
          <a:p>
            <a:pPr marL="0" indent="0" algn="r" rtl="1">
              <a:buNone/>
            </a:pPr>
            <a:r>
              <a:rPr lang="fa-IR" altLang="en-US" sz="900" dirty="0">
                <a:solidFill>
                  <a:srgbClr val="1F2933"/>
                </a:solidFill>
                <a:latin typeface="Shabnam" pitchFamily="34" charset="0"/>
                <a:ea typeface="Shabnam" pitchFamily="34" charset="-122"/>
                <a:cs typeface="Shabnam" pitchFamily="34" charset="-120"/>
              </a:rPr>
              <a:t>Törnberg (2023): ارزیابی الگوریتم فید</a:t>
            </a:r>
            <a:endParaRPr lang="fa-IR" sz="900" dirty="0"/>
          </a:p>
        </p:txBody>
      </p:sp>
      <p:sp>
        <p:nvSpPr>
          <p:cNvPr id="23" name="Text 21"/>
          <p:cNvSpPr txBox="1"/>
          <p:nvPr/>
        </p:nvSpPr>
        <p:spPr>
          <a:xfrm>
            <a:off x="594360" y="2596896"/>
            <a:ext cx="2286000" cy="384048"/>
          </a:xfrm>
          <a:prstGeom prst="rect">
            <a:avLst/>
          </a:prstGeom>
          <a:noFill/>
          <a:ln/>
        </p:spPr>
        <p:txBody>
          <a:bodyPr wrap="square" lIns="0" tIns="0" rIns="0" bIns="0" rtlCol="0" anchor="t"/>
          <a:lstStyle/>
          <a:p>
            <a:pPr marL="0" indent="0" algn="r" rtl="1">
              <a:buNone/>
            </a:pPr>
            <a:r>
              <a:rPr lang="fa-IR" altLang="en-US" sz="900" dirty="0">
                <a:solidFill>
                  <a:srgbClr val="1F2933"/>
                </a:solidFill>
                <a:latin typeface="Shabnam" pitchFamily="34" charset="0"/>
                <a:ea typeface="Shabnam" pitchFamily="34" charset="-122"/>
                <a:cs typeface="Shabnam" pitchFamily="34" charset="-120"/>
              </a:rPr>
              <a:t>Chuang (NAACL 2024): سوگیری LLM به اجماع</a:t>
            </a:r>
            <a:endParaRPr lang="fa-IR" sz="900" dirty="0"/>
          </a:p>
        </p:txBody>
      </p:sp>
      <p:sp>
        <p:nvSpPr>
          <p:cNvPr id="24" name="Text 22"/>
          <p:cNvSpPr txBox="1"/>
          <p:nvPr/>
        </p:nvSpPr>
        <p:spPr>
          <a:xfrm>
            <a:off x="594360" y="2980944"/>
            <a:ext cx="2286000" cy="384048"/>
          </a:xfrm>
          <a:prstGeom prst="rect">
            <a:avLst/>
          </a:prstGeom>
          <a:noFill/>
          <a:ln/>
        </p:spPr>
        <p:txBody>
          <a:bodyPr wrap="square" lIns="0" tIns="0" rIns="0" bIns="0" rtlCol="0" anchor="t"/>
          <a:lstStyle/>
          <a:p>
            <a:pPr marL="0" indent="0" algn="r" rtl="1">
              <a:buNone/>
            </a:pPr>
            <a:r>
              <a:rPr lang="fa-IR" altLang="en-US" sz="900" dirty="0">
                <a:solidFill>
                  <a:srgbClr val="1F2933"/>
                </a:solidFill>
                <a:latin typeface="Shabnam" pitchFamily="34" charset="0"/>
                <a:ea typeface="Shabnam" pitchFamily="34" charset="-122"/>
                <a:cs typeface="Shabnam" pitchFamily="34" charset="-120"/>
              </a:rPr>
              <a:t>HiSim (Mou 2024): ترکیب LLM و ABM</a:t>
            </a:r>
            <a:endParaRPr lang="fa-IR" sz="900" dirty="0"/>
          </a:p>
        </p:txBody>
      </p:sp>
      <p:sp>
        <p:nvSpPr>
          <p:cNvPr id="25" name="Text 23"/>
          <p:cNvSpPr txBox="1"/>
          <p:nvPr/>
        </p:nvSpPr>
        <p:spPr>
          <a:xfrm>
            <a:off x="594360" y="3429000"/>
            <a:ext cx="2286000" cy="502920"/>
          </a:xfrm>
          <a:prstGeom prst="rect">
            <a:avLst/>
          </a:prstGeom>
          <a:noFill/>
          <a:ln/>
        </p:spPr>
        <p:txBody>
          <a:bodyPr wrap="square" lIns="0" tIns="0" rIns="0" bIns="0" rtlCol="0" anchor="t"/>
          <a:lstStyle/>
          <a:p>
            <a:pPr marL="0" indent="0" algn="r" rtl="1">
              <a:buNone/>
            </a:pPr>
            <a:r>
              <a:rPr lang="fa-IR" altLang="en-US" sz="950" b="1" dirty="0">
                <a:solidFill>
                  <a:srgbClr val="17A398"/>
                </a:solidFill>
                <a:latin typeface="Shabnam" pitchFamily="34" charset="0"/>
                <a:ea typeface="Shabnam" pitchFamily="34" charset="-122"/>
                <a:cs typeface="Shabnam" pitchFamily="34" charset="-120"/>
              </a:rPr>
              <a:t>رفتار انسانی‌تر، ولی پرهزینه و مهارنشده</a:t>
            </a:r>
            <a:endParaRPr lang="fa-IR" sz="950" dirty="0"/>
          </a:p>
        </p:txBody>
      </p:sp>
      <p:sp>
        <p:nvSpPr>
          <p:cNvPr id="26" name="Shape 24"/>
          <p:cNvSpPr/>
          <p:nvPr/>
        </p:nvSpPr>
        <p:spPr>
          <a:xfrm>
            <a:off x="457200" y="4087368"/>
            <a:ext cx="8229600" cy="621792"/>
          </a:xfrm>
          <a:prstGeom prst="roundRect">
            <a:avLst>
              <a:gd name="adj" fmla="val 11765"/>
            </a:avLst>
          </a:prstGeom>
          <a:solidFill>
            <a:srgbClr val="14213D"/>
          </a:solidFill>
          <a:ln w="12700">
            <a:solidFill>
              <a:srgbClr val="14213D"/>
            </a:solidFill>
            <a:prstDash val="solid"/>
          </a:ln>
        </p:spPr>
      </p:sp>
      <p:sp>
        <p:nvSpPr>
          <p:cNvPr id="27" name="Text 25"/>
          <p:cNvSpPr txBox="1"/>
          <p:nvPr/>
        </p:nvSpPr>
        <p:spPr>
          <a:xfrm>
            <a:off x="7406640" y="4133088"/>
            <a:ext cx="1143000" cy="530352"/>
          </a:xfrm>
          <a:prstGeom prst="rect">
            <a:avLst/>
          </a:prstGeom>
          <a:noFill/>
          <a:ln/>
        </p:spPr>
        <p:txBody>
          <a:bodyPr wrap="square" lIns="0" tIns="0" rIns="0" bIns="0" rtlCol="0" anchor="ctr"/>
          <a:lstStyle/>
          <a:p>
            <a:pPr marL="0" indent="0" algn="r" rtl="1">
              <a:buNone/>
            </a:pPr>
            <a:r>
              <a:rPr lang="fa-IR" altLang="en-US" sz="1200" b="1" dirty="0">
                <a:solidFill>
                  <a:srgbClr val="17A398"/>
                </a:solidFill>
                <a:latin typeface="Shabnam" pitchFamily="34" charset="0"/>
                <a:ea typeface="Shabnam" pitchFamily="34" charset="-122"/>
                <a:cs typeface="Shabnam" pitchFamily="34" charset="-120"/>
              </a:rPr>
              <a:t>شکاف پژوهشی</a:t>
            </a:r>
            <a:endParaRPr lang="fa-IR" sz="1200" dirty="0"/>
          </a:p>
        </p:txBody>
      </p:sp>
      <p:sp>
        <p:nvSpPr>
          <p:cNvPr id="28" name="Text 26"/>
          <p:cNvSpPr txBox="1"/>
          <p:nvPr/>
        </p:nvSpPr>
        <p:spPr>
          <a:xfrm>
            <a:off x="640080" y="4133088"/>
            <a:ext cx="6675120" cy="530352"/>
          </a:xfrm>
          <a:prstGeom prst="rect">
            <a:avLst/>
          </a:prstGeom>
          <a:noFill/>
          <a:ln/>
        </p:spPr>
        <p:txBody>
          <a:bodyPr wrap="square" lIns="0" tIns="0" rIns="0" bIns="0" rtlCol="0" anchor="ctr"/>
          <a:lstStyle/>
          <a:p>
            <a:pPr marL="0" indent="0" algn="r" rtl="1">
              <a:buNone/>
            </a:pPr>
            <a:r>
              <a:rPr lang="fa-IR" altLang="en-US" sz="1000" dirty="0">
                <a:solidFill>
                  <a:srgbClr val="FFFFFF"/>
                </a:solidFill>
                <a:latin typeface="Shabnam" pitchFamily="34" charset="0"/>
                <a:ea typeface="Shabnam" pitchFamily="34" charset="-122"/>
                <a:cs typeface="Shabnam" pitchFamily="34" charset="-120"/>
              </a:rPr>
              <a:t>مدل‌های ریاضی پایدارند ولی خبر را نمی‌فهمند و مدل‌های زبانی خبر را می‌فهمند ولی مهار نمی‌شوند. روشی که این دو را ترکیب کند و با داده واقعی سنجیده شود وجود نداشت و روش FDE-LLM همین شکاف را پر می‌کند.</a:t>
            </a:r>
            <a:endParaRPr lang="fa-IR" sz="1000" dirty="0"/>
          </a:p>
        </p:txBody>
      </p:sp>
      <p:sp>
        <p:nvSpPr>
          <p:cNvPr id="29" name="Text 27"/>
          <p:cNvSpPr txBox="1"/>
          <p:nvPr/>
        </p:nvSpPr>
        <p:spPr>
          <a:xfrm>
            <a:off x="457200" y="4800600"/>
            <a:ext cx="5486400" cy="228600"/>
          </a:xfrm>
          <a:prstGeom prst="rect">
            <a:avLst/>
          </a:prstGeom>
          <a:noFill/>
          <a:ln/>
        </p:spPr>
        <p:txBody>
          <a:bodyPr wrap="square" lIns="0" tIns="0" rIns="0" bIns="0" rtlCol="0" anchor="t"/>
          <a:lstStyle/>
          <a:p>
            <a:pPr marL="0" indent="0" algn="l">
              <a:buNone/>
            </a:pPr>
            <a:r>
              <a:rPr lang="en-US" sz="900" dirty="0">
                <a:solidFill>
                  <a:srgbClr val="5C6B7A"/>
                </a:solidFill>
                <a:latin typeface="Calibri" pitchFamily="34" charset="0"/>
                <a:ea typeface="Calibri" pitchFamily="34" charset="-122"/>
                <a:cs typeface="Calibri" pitchFamily="34" charset="-120"/>
              </a:rPr>
              <a:t>Yao et al., Scientific Reports 15:15472 (2025)</a:t>
            </a:r>
            <a:endParaRPr lang="en-US" sz="900" dirty="0"/>
          </a:p>
        </p:txBody>
      </p:sp>
      <p:sp>
        <p:nvSpPr>
          <p:cNvPr id="30" name="Text 28"/>
          <p:cNvSpPr txBox="1"/>
          <p:nvPr/>
        </p:nvSpPr>
        <p:spPr>
          <a:xfrm>
            <a:off x="8229600" y="4773168"/>
            <a:ext cx="457200" cy="228600"/>
          </a:xfrm>
          <a:prstGeom prst="rect">
            <a:avLst/>
          </a:prstGeom>
          <a:noFill/>
          <a:ln/>
        </p:spPr>
        <p:txBody>
          <a:bodyPr wrap="square" lIns="0" tIns="0" rIns="0" bIns="0" rtlCol="0" anchor="t"/>
          <a:lstStyle/>
          <a:p>
            <a:pPr marL="0" indent="0" algn="r" rtl="1">
              <a:buNone/>
            </a:pPr>
            <a:r>
              <a:rPr lang="fa-IR" altLang="en-US" sz="1000" dirty="0">
                <a:solidFill>
                  <a:srgbClr val="5C6B7A"/>
                </a:solidFill>
                <a:latin typeface="Shabnam" pitchFamily="34" charset="0"/>
                <a:ea typeface="Shabnam" pitchFamily="34" charset="-122"/>
                <a:cs typeface="Shabnam" pitchFamily="34" charset="-120"/>
              </a:rPr>
              <a:t>۴</a:t>
            </a:r>
            <a:endParaRPr lang="fa-IR"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7863840" cy="274320"/>
          </a:xfrm>
          <a:prstGeom prst="rect">
            <a:avLst/>
          </a:prstGeom>
          <a:noFill/>
          <a:ln/>
        </p:spPr>
        <p:txBody>
          <a:bodyPr wrap="square" lIns="0" tIns="0" rIns="0" bIns="0" rtlCol="0" anchor="t"/>
          <a:lstStyle/>
          <a:p>
            <a:pPr marL="0" indent="0" algn="r" rtl="1">
              <a:buNone/>
            </a:pPr>
            <a:r>
              <a:rPr lang="fa-IR" altLang="en-US" sz="1100" dirty="0">
                <a:solidFill>
                  <a:srgbClr val="5C6B7A"/>
                </a:solidFill>
                <a:latin typeface="Shabnam" pitchFamily="34" charset="0"/>
                <a:ea typeface="Shabnam" pitchFamily="34" charset="-122"/>
                <a:cs typeface="Shabnam" pitchFamily="34" charset="-120"/>
              </a:rPr>
              <a:t>۳  ·  روش پیشنهادی (Proposed Method)</a:t>
            </a:r>
            <a:endParaRPr lang="fa-IR" sz="1100" dirty="0"/>
          </a:p>
        </p:txBody>
      </p:sp>
      <p:sp>
        <p:nvSpPr>
          <p:cNvPr id="3" name="Text 1"/>
          <p:cNvSpPr txBox="1"/>
          <p:nvPr/>
        </p:nvSpPr>
        <p:spPr>
          <a:xfrm>
            <a:off x="457200" y="566928"/>
            <a:ext cx="8229600" cy="594360"/>
          </a:xfrm>
          <a:prstGeom prst="rect">
            <a:avLst/>
          </a:prstGeom>
          <a:noFill/>
          <a:ln/>
        </p:spPr>
        <p:txBody>
          <a:bodyPr wrap="square" lIns="0" tIns="0" rIns="0" bIns="0" rtlCol="0" anchor="t"/>
          <a:lstStyle/>
          <a:p>
            <a:pPr marL="0" indent="0" algn="r" rtl="1">
              <a:buNone/>
            </a:pPr>
            <a:r>
              <a:rPr lang="fa-IR" altLang="en-US" sz="2400" b="1" dirty="0">
                <a:solidFill>
                  <a:srgbClr val="14213D"/>
                </a:solidFill>
                <a:latin typeface="Shabnam" pitchFamily="34" charset="0"/>
                <a:ea typeface="Shabnam" pitchFamily="34" charset="-122"/>
                <a:cs typeface="Shabnam" pitchFamily="34" charset="-120"/>
              </a:rPr>
              <a:t>FDE-LLM: LLM برای اقلیت، معادلات برای اکثریت</a:t>
            </a:r>
            <a:endParaRPr lang="fa-IR" sz="2400" dirty="0"/>
          </a:p>
        </p:txBody>
      </p:sp>
      <p:sp>
        <p:nvSpPr>
          <p:cNvPr id="4" name="Shape 2"/>
          <p:cNvSpPr/>
          <p:nvPr/>
        </p:nvSpPr>
        <p:spPr>
          <a:xfrm>
            <a:off x="6812280" y="1371600"/>
            <a:ext cx="1874520" cy="1828800"/>
          </a:xfrm>
          <a:prstGeom prst="roundRect">
            <a:avLst>
              <a:gd name="adj" fmla="val 4000"/>
            </a:avLst>
          </a:prstGeom>
          <a:solidFill>
            <a:srgbClr val="EEF2F7"/>
          </a:solidFill>
          <a:ln w="12700">
            <a:solidFill>
              <a:srgbClr val="EEF2F7"/>
            </a:solidFill>
            <a:prstDash val="solid"/>
          </a:ln>
        </p:spPr>
      </p:sp>
      <p:sp>
        <p:nvSpPr>
          <p:cNvPr id="5" name="Shape 3"/>
          <p:cNvSpPr/>
          <p:nvPr/>
        </p:nvSpPr>
        <p:spPr>
          <a:xfrm>
            <a:off x="8138160" y="1527048"/>
            <a:ext cx="384048" cy="384048"/>
          </a:xfrm>
          <a:prstGeom prst="ellipse">
            <a:avLst/>
          </a:prstGeom>
          <a:solidFill>
            <a:srgbClr val="5C6B7A"/>
          </a:solidFill>
          <a:ln w="12700">
            <a:solidFill>
              <a:srgbClr val="5C6B7A"/>
            </a:solidFill>
            <a:prstDash val="solid"/>
          </a:ln>
        </p:spPr>
      </p:sp>
      <p:sp>
        <p:nvSpPr>
          <p:cNvPr id="6" name="Text 4"/>
          <p:cNvSpPr txBox="1"/>
          <p:nvPr/>
        </p:nvSpPr>
        <p:spPr>
          <a:xfrm>
            <a:off x="8138160" y="1527048"/>
            <a:ext cx="384048" cy="384048"/>
          </a:xfrm>
          <a:prstGeom prst="rect">
            <a:avLst/>
          </a:prstGeom>
          <a:noFill/>
          <a:ln/>
        </p:spPr>
        <p:txBody>
          <a:bodyPr wrap="square" lIns="0" tIns="0" rIns="0" bIns="0" rtlCol="0" anchor="ctr"/>
          <a:lstStyle/>
          <a:p>
            <a:pPr marL="0" indent="0" algn="ctr" rtl="1">
              <a:buNone/>
            </a:pPr>
            <a:r>
              <a:rPr lang="fa-IR" altLang="en-US" sz="1200" b="1" dirty="0">
                <a:solidFill>
                  <a:srgbClr val="FFFFFF"/>
                </a:solidFill>
                <a:latin typeface="Shabnam" pitchFamily="34" charset="0"/>
                <a:ea typeface="Shabnam" pitchFamily="34" charset="-122"/>
                <a:cs typeface="Shabnam" pitchFamily="34" charset="-120"/>
              </a:rPr>
              <a:t>۱</a:t>
            </a:r>
            <a:endParaRPr lang="fa-IR" sz="1200" dirty="0"/>
          </a:p>
        </p:txBody>
      </p:sp>
      <p:sp>
        <p:nvSpPr>
          <p:cNvPr id="7" name="Text 5"/>
          <p:cNvSpPr txBox="1"/>
          <p:nvPr/>
        </p:nvSpPr>
        <p:spPr>
          <a:xfrm>
            <a:off x="6922008" y="1993392"/>
            <a:ext cx="1627632" cy="292608"/>
          </a:xfrm>
          <a:prstGeom prst="rect">
            <a:avLst/>
          </a:prstGeom>
          <a:noFill/>
          <a:ln/>
        </p:spPr>
        <p:txBody>
          <a:bodyPr wrap="square" lIns="0" tIns="0" rIns="0" bIns="0" rtlCol="0" anchor="t"/>
          <a:lstStyle/>
          <a:p>
            <a:pPr marL="0" indent="0" algn="r" rtl="1">
              <a:buNone/>
            </a:pPr>
            <a:r>
              <a:rPr lang="fa-IR" altLang="en-US" sz="1250" b="1" dirty="0">
                <a:solidFill>
                  <a:srgbClr val="14213D"/>
                </a:solidFill>
                <a:latin typeface="Shabnam" pitchFamily="34" charset="0"/>
                <a:ea typeface="Shabnam" pitchFamily="34" charset="-122"/>
                <a:cs typeface="Shabnam" pitchFamily="34" charset="-120"/>
              </a:rPr>
              <a:t>خبر آفلاین</a:t>
            </a:r>
            <a:endParaRPr lang="fa-IR" sz="1250" dirty="0"/>
          </a:p>
        </p:txBody>
      </p:sp>
      <p:sp>
        <p:nvSpPr>
          <p:cNvPr id="8" name="Text 6"/>
          <p:cNvSpPr txBox="1"/>
          <p:nvPr/>
        </p:nvSpPr>
        <p:spPr>
          <a:xfrm>
            <a:off x="6922008" y="2313432"/>
            <a:ext cx="1627632" cy="822960"/>
          </a:xfrm>
          <a:prstGeom prst="rect">
            <a:avLst/>
          </a:prstGeom>
          <a:noFill/>
          <a:ln/>
        </p:spPr>
        <p:txBody>
          <a:bodyPr wrap="square" lIns="0" tIns="0" rIns="0" bIns="0" rtlCol="0" anchor="t"/>
          <a:lstStyle/>
          <a:p>
            <a:pPr marL="0" indent="0" algn="r" rtl="1">
              <a:buNone/>
            </a:pPr>
            <a:r>
              <a:rPr lang="fa-IR" altLang="en-US" sz="950" dirty="0">
                <a:solidFill>
                  <a:srgbClr val="5C6B7A"/>
                </a:solidFill>
                <a:latin typeface="Shabnam" pitchFamily="34" charset="0"/>
                <a:ea typeface="Shabnam" pitchFamily="34" charset="-122"/>
                <a:cs typeface="Shabnam" pitchFamily="34" charset="-120"/>
              </a:rPr>
              <a:t>اول شایعه؛ حقیقت در روز واقعیِ افشا منتشر می‌شود</a:t>
            </a:r>
            <a:endParaRPr lang="fa-IR" sz="950" dirty="0"/>
          </a:p>
        </p:txBody>
      </p:sp>
      <p:sp>
        <p:nvSpPr>
          <p:cNvPr id="9" name="Shape 7"/>
          <p:cNvSpPr/>
          <p:nvPr/>
        </p:nvSpPr>
        <p:spPr>
          <a:xfrm rot="16200000">
            <a:off x="6620256" y="2148840"/>
            <a:ext cx="146304" cy="256032"/>
          </a:xfrm>
          <a:prstGeom prst="line">
            <a:avLst/>
          </a:prstGeom>
          <a:solidFill>
            <a:srgbClr val="C9D6E8"/>
          </a:solidFill>
          <a:ln w="12700">
            <a:solidFill>
              <a:srgbClr val="C9D6E8"/>
            </a:solidFill>
            <a:prstDash val="solid"/>
          </a:ln>
        </p:spPr>
      </p:sp>
      <p:sp>
        <p:nvSpPr>
          <p:cNvPr id="10" name="Shape 8"/>
          <p:cNvSpPr/>
          <p:nvPr/>
        </p:nvSpPr>
        <p:spPr>
          <a:xfrm>
            <a:off x="4681728" y="1371600"/>
            <a:ext cx="1874520" cy="1828800"/>
          </a:xfrm>
          <a:prstGeom prst="roundRect">
            <a:avLst>
              <a:gd name="adj" fmla="val 4000"/>
            </a:avLst>
          </a:prstGeom>
          <a:solidFill>
            <a:srgbClr val="EEF2F7"/>
          </a:solidFill>
          <a:ln w="12700">
            <a:solidFill>
              <a:srgbClr val="EEF2F7"/>
            </a:solidFill>
            <a:prstDash val="solid"/>
          </a:ln>
        </p:spPr>
      </p:sp>
      <p:sp>
        <p:nvSpPr>
          <p:cNvPr id="11" name="Shape 9"/>
          <p:cNvSpPr/>
          <p:nvPr/>
        </p:nvSpPr>
        <p:spPr>
          <a:xfrm>
            <a:off x="6007608" y="1527048"/>
            <a:ext cx="384048" cy="384048"/>
          </a:xfrm>
          <a:prstGeom prst="ellipse">
            <a:avLst/>
          </a:prstGeom>
          <a:solidFill>
            <a:srgbClr val="E4572E"/>
          </a:solidFill>
          <a:ln w="12700">
            <a:solidFill>
              <a:srgbClr val="E4572E"/>
            </a:solidFill>
            <a:prstDash val="solid"/>
          </a:ln>
        </p:spPr>
      </p:sp>
      <p:sp>
        <p:nvSpPr>
          <p:cNvPr id="12" name="Text 10"/>
          <p:cNvSpPr txBox="1"/>
          <p:nvPr/>
        </p:nvSpPr>
        <p:spPr>
          <a:xfrm>
            <a:off x="6007608" y="1527048"/>
            <a:ext cx="384048" cy="384048"/>
          </a:xfrm>
          <a:prstGeom prst="rect">
            <a:avLst/>
          </a:prstGeom>
          <a:noFill/>
          <a:ln/>
        </p:spPr>
        <p:txBody>
          <a:bodyPr wrap="square" lIns="0" tIns="0" rIns="0" bIns="0" rtlCol="0" anchor="ctr"/>
          <a:lstStyle/>
          <a:p>
            <a:pPr marL="0" indent="0" algn="ctr" rtl="1">
              <a:buNone/>
            </a:pPr>
            <a:r>
              <a:rPr lang="fa-IR" altLang="en-US" sz="1200" b="1" dirty="0">
                <a:solidFill>
                  <a:srgbClr val="FFFFFF"/>
                </a:solidFill>
                <a:latin typeface="Shabnam" pitchFamily="34" charset="0"/>
                <a:ea typeface="Shabnam" pitchFamily="34" charset="-122"/>
                <a:cs typeface="Shabnam" pitchFamily="34" charset="-120"/>
              </a:rPr>
              <a:t>۲</a:t>
            </a:r>
            <a:endParaRPr lang="fa-IR" sz="1200" dirty="0"/>
          </a:p>
        </p:txBody>
      </p:sp>
      <p:sp>
        <p:nvSpPr>
          <p:cNvPr id="13" name="Text 11"/>
          <p:cNvSpPr txBox="1"/>
          <p:nvPr/>
        </p:nvSpPr>
        <p:spPr>
          <a:xfrm>
            <a:off x="4791456" y="1993392"/>
            <a:ext cx="1627632" cy="292608"/>
          </a:xfrm>
          <a:prstGeom prst="rect">
            <a:avLst/>
          </a:prstGeom>
          <a:noFill/>
          <a:ln/>
        </p:spPr>
        <p:txBody>
          <a:bodyPr wrap="square" lIns="0" tIns="0" rIns="0" bIns="0" rtlCol="0" anchor="t"/>
          <a:lstStyle/>
          <a:p>
            <a:pPr marL="0" indent="0" algn="r" rtl="1">
              <a:buNone/>
            </a:pPr>
            <a:r>
              <a:rPr lang="fa-IR" altLang="en-US" sz="1250" b="1" dirty="0">
                <a:solidFill>
                  <a:srgbClr val="14213D"/>
                </a:solidFill>
                <a:latin typeface="Shabnam" pitchFamily="34" charset="0"/>
                <a:ea typeface="Shabnam" pitchFamily="34" charset="-122"/>
                <a:cs typeface="Shabnam" pitchFamily="34" charset="-120"/>
              </a:rPr>
              <a:t>رهبران افکار · ۱۰٪</a:t>
            </a:r>
            <a:endParaRPr lang="fa-IR" sz="1250" dirty="0"/>
          </a:p>
        </p:txBody>
      </p:sp>
      <p:sp>
        <p:nvSpPr>
          <p:cNvPr id="14" name="Text 12"/>
          <p:cNvSpPr txBox="1"/>
          <p:nvPr/>
        </p:nvSpPr>
        <p:spPr>
          <a:xfrm>
            <a:off x="4791456" y="2313432"/>
            <a:ext cx="1627632" cy="822960"/>
          </a:xfrm>
          <a:prstGeom prst="rect">
            <a:avLst/>
          </a:prstGeom>
          <a:noFill/>
          <a:ln/>
        </p:spPr>
        <p:txBody>
          <a:bodyPr wrap="square" lIns="0" tIns="0" rIns="0" bIns="0" rtlCol="0" anchor="t"/>
          <a:lstStyle/>
          <a:p>
            <a:pPr marL="0" indent="0" algn="r" rtl="1">
              <a:buNone/>
            </a:pPr>
            <a:r>
              <a:rPr lang="fa-IR" altLang="en-US" sz="950" dirty="0">
                <a:solidFill>
                  <a:srgbClr val="5C6B7A"/>
                </a:solidFill>
                <a:latin typeface="Shabnam" pitchFamily="34" charset="0"/>
                <a:ea typeface="Shabnam" pitchFamily="34" charset="-122"/>
                <a:cs typeface="Shabnam" pitchFamily="34" charset="-120"/>
              </a:rPr>
              <a:t>LLM نقش‌آفرینی می‌کند و اکشن انتخاب می‌کند؛ CA نگرش را مهار می‌کند</a:t>
            </a:r>
            <a:endParaRPr lang="fa-IR" sz="950" dirty="0"/>
          </a:p>
        </p:txBody>
      </p:sp>
      <p:sp>
        <p:nvSpPr>
          <p:cNvPr id="15" name="Shape 13"/>
          <p:cNvSpPr/>
          <p:nvPr/>
        </p:nvSpPr>
        <p:spPr>
          <a:xfrm rot="16200000">
            <a:off x="4489704" y="2148840"/>
            <a:ext cx="146304" cy="256032"/>
          </a:xfrm>
          <a:prstGeom prst="line">
            <a:avLst/>
          </a:prstGeom>
          <a:solidFill>
            <a:srgbClr val="C9D6E8"/>
          </a:solidFill>
          <a:ln w="12700">
            <a:solidFill>
              <a:srgbClr val="C9D6E8"/>
            </a:solidFill>
            <a:prstDash val="solid"/>
          </a:ln>
        </p:spPr>
      </p:sp>
      <p:sp>
        <p:nvSpPr>
          <p:cNvPr id="16" name="Shape 14"/>
          <p:cNvSpPr/>
          <p:nvPr/>
        </p:nvSpPr>
        <p:spPr>
          <a:xfrm>
            <a:off x="2551176" y="1371600"/>
            <a:ext cx="1874520" cy="1828800"/>
          </a:xfrm>
          <a:prstGeom prst="roundRect">
            <a:avLst>
              <a:gd name="adj" fmla="val 4000"/>
            </a:avLst>
          </a:prstGeom>
          <a:solidFill>
            <a:srgbClr val="EEF2F7"/>
          </a:solidFill>
          <a:ln w="12700">
            <a:solidFill>
              <a:srgbClr val="EEF2F7"/>
            </a:solidFill>
            <a:prstDash val="solid"/>
          </a:ln>
        </p:spPr>
      </p:sp>
      <p:sp>
        <p:nvSpPr>
          <p:cNvPr id="17" name="Shape 15"/>
          <p:cNvSpPr/>
          <p:nvPr/>
        </p:nvSpPr>
        <p:spPr>
          <a:xfrm>
            <a:off x="3877056" y="1527048"/>
            <a:ext cx="384048" cy="384048"/>
          </a:xfrm>
          <a:prstGeom prst="ellipse">
            <a:avLst/>
          </a:prstGeom>
          <a:solidFill>
            <a:srgbClr val="17A398"/>
          </a:solidFill>
          <a:ln w="12700">
            <a:solidFill>
              <a:srgbClr val="17A398"/>
            </a:solidFill>
            <a:prstDash val="solid"/>
          </a:ln>
        </p:spPr>
      </p:sp>
      <p:sp>
        <p:nvSpPr>
          <p:cNvPr id="18" name="Text 16"/>
          <p:cNvSpPr txBox="1"/>
          <p:nvPr/>
        </p:nvSpPr>
        <p:spPr>
          <a:xfrm>
            <a:off x="3877056" y="1527048"/>
            <a:ext cx="384048" cy="384048"/>
          </a:xfrm>
          <a:prstGeom prst="rect">
            <a:avLst/>
          </a:prstGeom>
          <a:noFill/>
          <a:ln/>
        </p:spPr>
        <p:txBody>
          <a:bodyPr wrap="square" lIns="0" tIns="0" rIns="0" bIns="0" rtlCol="0" anchor="ctr"/>
          <a:lstStyle/>
          <a:p>
            <a:pPr marL="0" indent="0" algn="ctr" rtl="1">
              <a:buNone/>
            </a:pPr>
            <a:r>
              <a:rPr lang="fa-IR" altLang="en-US" sz="1200" b="1" dirty="0">
                <a:solidFill>
                  <a:srgbClr val="FFFFFF"/>
                </a:solidFill>
                <a:latin typeface="Shabnam" pitchFamily="34" charset="0"/>
                <a:ea typeface="Shabnam" pitchFamily="34" charset="-122"/>
                <a:cs typeface="Shabnam" pitchFamily="34" charset="-120"/>
              </a:rPr>
              <a:t>۳</a:t>
            </a:r>
            <a:endParaRPr lang="fa-IR" sz="1200" dirty="0"/>
          </a:p>
        </p:txBody>
      </p:sp>
      <p:sp>
        <p:nvSpPr>
          <p:cNvPr id="19" name="Text 17"/>
          <p:cNvSpPr txBox="1"/>
          <p:nvPr/>
        </p:nvSpPr>
        <p:spPr>
          <a:xfrm>
            <a:off x="2660904" y="1993392"/>
            <a:ext cx="1627632" cy="292608"/>
          </a:xfrm>
          <a:prstGeom prst="rect">
            <a:avLst/>
          </a:prstGeom>
          <a:noFill/>
          <a:ln/>
        </p:spPr>
        <p:txBody>
          <a:bodyPr wrap="square" lIns="0" tIns="0" rIns="0" bIns="0" rtlCol="0" anchor="t"/>
          <a:lstStyle/>
          <a:p>
            <a:pPr marL="0" indent="0" algn="r" rtl="1">
              <a:buNone/>
            </a:pPr>
            <a:r>
              <a:rPr lang="fa-IR" altLang="en-US" sz="1250" b="1" dirty="0">
                <a:solidFill>
                  <a:srgbClr val="14213D"/>
                </a:solidFill>
                <a:latin typeface="Shabnam" pitchFamily="34" charset="0"/>
                <a:ea typeface="Shabnam" pitchFamily="34" charset="-122"/>
                <a:cs typeface="Shabnam" pitchFamily="34" charset="-120"/>
              </a:rPr>
              <a:t>دنبال‌کننده‌ها · ۹۰٪</a:t>
            </a:r>
            <a:endParaRPr lang="fa-IR" sz="1250" dirty="0"/>
          </a:p>
        </p:txBody>
      </p:sp>
      <p:sp>
        <p:nvSpPr>
          <p:cNvPr id="20" name="Text 18"/>
          <p:cNvSpPr txBox="1"/>
          <p:nvPr/>
        </p:nvSpPr>
        <p:spPr>
          <a:xfrm>
            <a:off x="2660904" y="2313432"/>
            <a:ext cx="1627632" cy="822960"/>
          </a:xfrm>
          <a:prstGeom prst="rect">
            <a:avLst/>
          </a:prstGeom>
          <a:noFill/>
          <a:ln/>
        </p:spPr>
        <p:txBody>
          <a:bodyPr wrap="square" lIns="0" tIns="0" rIns="0" bIns="0" rtlCol="0" anchor="t"/>
          <a:lstStyle/>
          <a:p>
            <a:pPr marL="0" indent="0" algn="r" rtl="1">
              <a:buNone/>
            </a:pPr>
            <a:r>
              <a:rPr lang="fa-IR" altLang="en-US" sz="950" dirty="0">
                <a:solidFill>
                  <a:srgbClr val="5C6B7A"/>
                </a:solidFill>
                <a:latin typeface="Shabnam" pitchFamily="34" charset="0"/>
                <a:ea typeface="Shabnam" pitchFamily="34" charset="-122"/>
                <a:cs typeface="Shabnam" pitchFamily="34" charset="-120"/>
              </a:rPr>
              <a:t>بدون LLM: تأثیر همسایه‌ها (CA) به‌علاوه میرایی شبیه SIR</a:t>
            </a:r>
            <a:endParaRPr lang="fa-IR" sz="950" dirty="0"/>
          </a:p>
        </p:txBody>
      </p:sp>
      <p:sp>
        <p:nvSpPr>
          <p:cNvPr id="21" name="Shape 19"/>
          <p:cNvSpPr/>
          <p:nvPr/>
        </p:nvSpPr>
        <p:spPr>
          <a:xfrm rot="16200000">
            <a:off x="2359152" y="2148840"/>
            <a:ext cx="146304" cy="256032"/>
          </a:xfrm>
          <a:prstGeom prst="line">
            <a:avLst/>
          </a:prstGeom>
          <a:solidFill>
            <a:srgbClr val="C9D6E8"/>
          </a:solidFill>
          <a:ln w="12700">
            <a:solidFill>
              <a:srgbClr val="C9D6E8"/>
            </a:solidFill>
            <a:prstDash val="solid"/>
          </a:ln>
        </p:spPr>
      </p:sp>
      <p:sp>
        <p:nvSpPr>
          <p:cNvPr id="22" name="Shape 20"/>
          <p:cNvSpPr/>
          <p:nvPr/>
        </p:nvSpPr>
        <p:spPr>
          <a:xfrm>
            <a:off x="420624" y="1371600"/>
            <a:ext cx="1874520" cy="1828800"/>
          </a:xfrm>
          <a:prstGeom prst="roundRect">
            <a:avLst>
              <a:gd name="adj" fmla="val 4000"/>
            </a:avLst>
          </a:prstGeom>
          <a:solidFill>
            <a:srgbClr val="EEF2F7"/>
          </a:solidFill>
          <a:ln w="12700">
            <a:solidFill>
              <a:srgbClr val="EEF2F7"/>
            </a:solidFill>
            <a:prstDash val="solid"/>
          </a:ln>
        </p:spPr>
      </p:sp>
      <p:sp>
        <p:nvSpPr>
          <p:cNvPr id="23" name="Shape 21"/>
          <p:cNvSpPr/>
          <p:nvPr/>
        </p:nvSpPr>
        <p:spPr>
          <a:xfrm>
            <a:off x="1746504" y="1527048"/>
            <a:ext cx="384048" cy="384048"/>
          </a:xfrm>
          <a:prstGeom prst="ellipse">
            <a:avLst/>
          </a:prstGeom>
          <a:solidFill>
            <a:srgbClr val="14213D"/>
          </a:solidFill>
          <a:ln w="12700">
            <a:solidFill>
              <a:srgbClr val="14213D"/>
            </a:solidFill>
            <a:prstDash val="solid"/>
          </a:ln>
        </p:spPr>
      </p:sp>
      <p:sp>
        <p:nvSpPr>
          <p:cNvPr id="24" name="Text 22"/>
          <p:cNvSpPr txBox="1"/>
          <p:nvPr/>
        </p:nvSpPr>
        <p:spPr>
          <a:xfrm>
            <a:off x="1746504" y="1527048"/>
            <a:ext cx="384048" cy="384048"/>
          </a:xfrm>
          <a:prstGeom prst="rect">
            <a:avLst/>
          </a:prstGeom>
          <a:noFill/>
          <a:ln/>
        </p:spPr>
        <p:txBody>
          <a:bodyPr wrap="square" lIns="0" tIns="0" rIns="0" bIns="0" rtlCol="0" anchor="ctr"/>
          <a:lstStyle/>
          <a:p>
            <a:pPr marL="0" indent="0" algn="ctr" rtl="1">
              <a:buNone/>
            </a:pPr>
            <a:r>
              <a:rPr lang="fa-IR" altLang="en-US" sz="1200" b="1" dirty="0">
                <a:solidFill>
                  <a:srgbClr val="FFFFFF"/>
                </a:solidFill>
                <a:latin typeface="Shabnam" pitchFamily="34" charset="0"/>
                <a:ea typeface="Shabnam" pitchFamily="34" charset="-122"/>
                <a:cs typeface="Shabnam" pitchFamily="34" charset="-120"/>
              </a:rPr>
              <a:t>۴</a:t>
            </a:r>
            <a:endParaRPr lang="fa-IR" sz="1200" dirty="0"/>
          </a:p>
        </p:txBody>
      </p:sp>
      <p:sp>
        <p:nvSpPr>
          <p:cNvPr id="25" name="Text 23"/>
          <p:cNvSpPr txBox="1"/>
          <p:nvPr/>
        </p:nvSpPr>
        <p:spPr>
          <a:xfrm>
            <a:off x="530352" y="1993392"/>
            <a:ext cx="1627632" cy="292608"/>
          </a:xfrm>
          <a:prstGeom prst="rect">
            <a:avLst/>
          </a:prstGeom>
          <a:noFill/>
          <a:ln/>
        </p:spPr>
        <p:txBody>
          <a:bodyPr wrap="square" lIns="0" tIns="0" rIns="0" bIns="0" rtlCol="0" anchor="t"/>
          <a:lstStyle/>
          <a:p>
            <a:pPr marL="0" indent="0" algn="r" rtl="1">
              <a:buNone/>
            </a:pPr>
            <a:r>
              <a:rPr lang="fa-IR" altLang="en-US" sz="1250" b="1" dirty="0">
                <a:solidFill>
                  <a:srgbClr val="14213D"/>
                </a:solidFill>
                <a:latin typeface="Shabnam" pitchFamily="34" charset="0"/>
                <a:ea typeface="Shabnam" pitchFamily="34" charset="-122"/>
                <a:cs typeface="Shabnam" pitchFamily="34" charset="-120"/>
              </a:rPr>
              <a:t>مقایسه</a:t>
            </a:r>
            <a:endParaRPr lang="fa-IR" sz="1250" dirty="0"/>
          </a:p>
        </p:txBody>
      </p:sp>
      <p:sp>
        <p:nvSpPr>
          <p:cNvPr id="26" name="Text 24"/>
          <p:cNvSpPr txBox="1"/>
          <p:nvPr/>
        </p:nvSpPr>
        <p:spPr>
          <a:xfrm>
            <a:off x="530352" y="2313432"/>
            <a:ext cx="1627632" cy="822960"/>
          </a:xfrm>
          <a:prstGeom prst="rect">
            <a:avLst/>
          </a:prstGeom>
          <a:noFill/>
          <a:ln/>
        </p:spPr>
        <p:txBody>
          <a:bodyPr wrap="square" lIns="0" tIns="0" rIns="0" bIns="0" rtlCol="0" anchor="t"/>
          <a:lstStyle/>
          <a:p>
            <a:pPr marL="0" indent="0" algn="r" rtl="1">
              <a:buNone/>
            </a:pPr>
            <a:r>
              <a:rPr lang="fa-IR" altLang="en-US" sz="950" dirty="0">
                <a:solidFill>
                  <a:srgbClr val="5C6B7A"/>
                </a:solidFill>
                <a:latin typeface="Shabnam" pitchFamily="34" charset="0"/>
                <a:ea typeface="Shabnam" pitchFamily="34" charset="-122"/>
                <a:cs typeface="Shabnam" pitchFamily="34" charset="-120"/>
              </a:rPr>
              <a:t>میانگین نگرش دنبال‌کننده‌ها در برابر منحنی واقعی</a:t>
            </a:r>
            <a:endParaRPr lang="fa-IR" sz="950" dirty="0"/>
          </a:p>
        </p:txBody>
      </p:sp>
      <p:sp>
        <p:nvSpPr>
          <p:cNvPr id="27" name="Shape 25"/>
          <p:cNvSpPr/>
          <p:nvPr/>
        </p:nvSpPr>
        <p:spPr>
          <a:xfrm>
            <a:off x="457200" y="3429000"/>
            <a:ext cx="8229600" cy="1188720"/>
          </a:xfrm>
          <a:prstGeom prst="roundRect">
            <a:avLst>
              <a:gd name="adj" fmla="val 6154"/>
            </a:avLst>
          </a:prstGeom>
          <a:solidFill>
            <a:srgbClr val="E3F4F2"/>
          </a:solidFill>
          <a:ln w="12700">
            <a:solidFill>
              <a:srgbClr val="E3F4F2"/>
            </a:solidFill>
            <a:prstDash val="solid"/>
          </a:ln>
        </p:spPr>
      </p:sp>
      <p:sp>
        <p:nvSpPr>
          <p:cNvPr id="28" name="Text 26"/>
          <p:cNvSpPr txBox="1"/>
          <p:nvPr/>
        </p:nvSpPr>
        <p:spPr>
          <a:xfrm>
            <a:off x="685800" y="3538728"/>
            <a:ext cx="7772400" cy="274320"/>
          </a:xfrm>
          <a:prstGeom prst="rect">
            <a:avLst/>
          </a:prstGeom>
          <a:noFill/>
          <a:ln/>
        </p:spPr>
        <p:txBody>
          <a:bodyPr wrap="square" lIns="0" tIns="0" rIns="0" bIns="0" rtlCol="0" anchor="t"/>
          <a:lstStyle/>
          <a:p>
            <a:pPr marL="0" indent="0" algn="r" rtl="1">
              <a:buNone/>
            </a:pPr>
            <a:r>
              <a:rPr lang="fa-IR" altLang="en-US" sz="1250" b="1" dirty="0">
                <a:solidFill>
                  <a:srgbClr val="17A398"/>
                </a:solidFill>
                <a:latin typeface="Shabnam" pitchFamily="34" charset="0"/>
                <a:ea typeface="Shabnam" pitchFamily="34" charset="-122"/>
                <a:cs typeface="Shabnam" pitchFamily="34" charset="-120"/>
              </a:rPr>
              <a:t>چرا این ترکیب کار می‌کند؟</a:t>
            </a:r>
            <a:endParaRPr lang="fa-IR" sz="1250" dirty="0"/>
          </a:p>
        </p:txBody>
      </p:sp>
      <p:sp>
        <p:nvSpPr>
          <p:cNvPr id="29" name="Text 27"/>
          <p:cNvSpPr txBox="1"/>
          <p:nvPr/>
        </p:nvSpPr>
        <p:spPr>
          <a:xfrm>
            <a:off x="685800" y="3858768"/>
            <a:ext cx="7772400" cy="685800"/>
          </a:xfrm>
          <a:prstGeom prst="rect">
            <a:avLst/>
          </a:prstGeom>
          <a:noFill/>
          <a:ln/>
        </p:spPr>
        <p:txBody>
          <a:bodyPr wrap="square" lIns="0" tIns="0" rIns="0" bIns="0" rtlCol="0" anchor="t"/>
          <a:lstStyle/>
          <a:p>
            <a:pPr marL="0" indent="0" algn="r" rtl="1">
              <a:buNone/>
            </a:pPr>
            <a:r>
              <a:rPr lang="fa-IR" altLang="en-US" sz="1100" dirty="0">
                <a:solidFill>
                  <a:srgbClr val="1F2933"/>
                </a:solidFill>
                <a:latin typeface="Shabnam" pitchFamily="34" charset="0"/>
                <a:ea typeface="Shabnam" pitchFamily="34" charset="-122"/>
                <a:cs typeface="Shabnam" pitchFamily="34" charset="-120"/>
              </a:rPr>
              <a:t>LLM جهش بزرگ نظر بعد از خبر را می‌گیرد ولی زود افراطی می‌شود. CA تغییرات را نرم و تدریجی می‌کند و SIR بازگشت به حالت خنثی را اضافه می‌کند. هزینه هم پایین است، چون فقط ۱۰٪ ایجنت‌ها LLM صدا می‌زنند.</a:t>
            </a:r>
            <a:endParaRPr lang="fa-IR" sz="1100" dirty="0"/>
          </a:p>
        </p:txBody>
      </p:sp>
      <p:sp>
        <p:nvSpPr>
          <p:cNvPr id="30" name="Text 28"/>
          <p:cNvSpPr txBox="1"/>
          <p:nvPr/>
        </p:nvSpPr>
        <p:spPr>
          <a:xfrm>
            <a:off x="457200" y="4800600"/>
            <a:ext cx="5486400" cy="228600"/>
          </a:xfrm>
          <a:prstGeom prst="rect">
            <a:avLst/>
          </a:prstGeom>
          <a:noFill/>
          <a:ln/>
        </p:spPr>
        <p:txBody>
          <a:bodyPr wrap="square" lIns="0" tIns="0" rIns="0" bIns="0" rtlCol="0" anchor="t"/>
          <a:lstStyle/>
          <a:p>
            <a:pPr marL="0" indent="0" algn="l">
              <a:buNone/>
            </a:pPr>
            <a:r>
              <a:rPr lang="en-US" sz="900" dirty="0">
                <a:solidFill>
                  <a:srgbClr val="5C6B7A"/>
                </a:solidFill>
                <a:latin typeface="Calibri" pitchFamily="34" charset="0"/>
                <a:ea typeface="Calibri" pitchFamily="34" charset="-122"/>
                <a:cs typeface="Calibri" pitchFamily="34" charset="-120"/>
              </a:rPr>
              <a:t>Yao et al., Scientific Reports 15:15472 (2025)</a:t>
            </a:r>
            <a:endParaRPr lang="en-US" sz="900" dirty="0"/>
          </a:p>
        </p:txBody>
      </p:sp>
      <p:sp>
        <p:nvSpPr>
          <p:cNvPr id="31" name="Text 29"/>
          <p:cNvSpPr txBox="1"/>
          <p:nvPr/>
        </p:nvSpPr>
        <p:spPr>
          <a:xfrm>
            <a:off x="8229600" y="4773168"/>
            <a:ext cx="457200" cy="228600"/>
          </a:xfrm>
          <a:prstGeom prst="rect">
            <a:avLst/>
          </a:prstGeom>
          <a:noFill/>
          <a:ln/>
        </p:spPr>
        <p:txBody>
          <a:bodyPr wrap="square" lIns="0" tIns="0" rIns="0" bIns="0" rtlCol="0" anchor="t"/>
          <a:lstStyle/>
          <a:p>
            <a:pPr marL="0" indent="0" algn="r" rtl="1">
              <a:buNone/>
            </a:pPr>
            <a:r>
              <a:rPr lang="fa-IR" altLang="en-US" sz="1000" dirty="0">
                <a:solidFill>
                  <a:srgbClr val="5C6B7A"/>
                </a:solidFill>
                <a:latin typeface="Shabnam" pitchFamily="34" charset="0"/>
                <a:ea typeface="Shabnam" pitchFamily="34" charset="-122"/>
                <a:cs typeface="Shabnam" pitchFamily="34" charset="-120"/>
              </a:rPr>
              <a:t>۵</a:t>
            </a:r>
            <a:endParaRPr lang="fa-IR"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7863840" cy="274320"/>
          </a:xfrm>
          <a:prstGeom prst="rect">
            <a:avLst/>
          </a:prstGeom>
          <a:noFill/>
          <a:ln/>
        </p:spPr>
        <p:txBody>
          <a:bodyPr wrap="square" lIns="0" tIns="0" rIns="0" bIns="0" rtlCol="0" anchor="t"/>
          <a:lstStyle/>
          <a:p>
            <a:pPr marL="0" indent="0" algn="r" rtl="1">
              <a:buNone/>
            </a:pPr>
            <a:r>
              <a:rPr lang="fa-IR" altLang="en-US" sz="1100" dirty="0">
                <a:solidFill>
                  <a:srgbClr val="5C6B7A"/>
                </a:solidFill>
                <a:latin typeface="Shabnam" pitchFamily="34" charset="0"/>
                <a:ea typeface="Shabnam" pitchFamily="34" charset="-122"/>
                <a:cs typeface="Shabnam" pitchFamily="34" charset="-120"/>
              </a:rPr>
              <a:t>۳  ·  روش پیشنهادی: جزئیات</a:t>
            </a:r>
            <a:endParaRPr lang="fa-IR" sz="1100" dirty="0"/>
          </a:p>
        </p:txBody>
      </p:sp>
      <p:sp>
        <p:nvSpPr>
          <p:cNvPr id="3" name="Text 1"/>
          <p:cNvSpPr txBox="1"/>
          <p:nvPr/>
        </p:nvSpPr>
        <p:spPr>
          <a:xfrm>
            <a:off x="457200" y="566928"/>
            <a:ext cx="8229600" cy="594360"/>
          </a:xfrm>
          <a:prstGeom prst="rect">
            <a:avLst/>
          </a:prstGeom>
          <a:noFill/>
          <a:ln/>
        </p:spPr>
        <p:txBody>
          <a:bodyPr wrap="square" lIns="0" tIns="0" rIns="0" bIns="0" rtlCol="0" anchor="t"/>
          <a:lstStyle/>
          <a:p>
            <a:pPr marL="0" indent="0" algn="r" rtl="1">
              <a:buNone/>
            </a:pPr>
            <a:r>
              <a:rPr lang="fa-IR" altLang="en-US" sz="2400" b="1" dirty="0">
                <a:solidFill>
                  <a:srgbClr val="14213D"/>
                </a:solidFill>
                <a:latin typeface="Shabnam" pitchFamily="34" charset="0"/>
                <a:ea typeface="Shabnam" pitchFamily="34" charset="-122"/>
                <a:cs typeface="Shabnam" pitchFamily="34" charset="-120"/>
              </a:rPr>
              <a:t>معادلات و ماژول‌های LLM</a:t>
            </a:r>
            <a:endParaRPr lang="fa-IR" sz="2400" dirty="0"/>
          </a:p>
        </p:txBody>
      </p:sp>
      <p:sp>
        <p:nvSpPr>
          <p:cNvPr id="4" name="Shape 2"/>
          <p:cNvSpPr/>
          <p:nvPr/>
        </p:nvSpPr>
        <p:spPr>
          <a:xfrm>
            <a:off x="4663440" y="1325880"/>
            <a:ext cx="4023360" cy="1600200"/>
          </a:xfrm>
          <a:prstGeom prst="roundRect">
            <a:avLst>
              <a:gd name="adj" fmla="val 4571"/>
            </a:avLst>
          </a:prstGeom>
          <a:solidFill>
            <a:srgbClr val="FDECE8"/>
          </a:solidFill>
          <a:ln w="12700">
            <a:solidFill>
              <a:srgbClr val="FDECE8"/>
            </a:solidFill>
            <a:prstDash val="solid"/>
          </a:ln>
        </p:spPr>
      </p:sp>
      <p:sp>
        <p:nvSpPr>
          <p:cNvPr id="5" name="Text 3"/>
          <p:cNvSpPr txBox="1"/>
          <p:nvPr/>
        </p:nvSpPr>
        <p:spPr>
          <a:xfrm>
            <a:off x="4846320" y="1435608"/>
            <a:ext cx="3657600" cy="274320"/>
          </a:xfrm>
          <a:prstGeom prst="rect">
            <a:avLst/>
          </a:prstGeom>
          <a:noFill/>
          <a:ln/>
        </p:spPr>
        <p:txBody>
          <a:bodyPr wrap="square" lIns="0" tIns="0" rIns="0" bIns="0" rtlCol="0" anchor="t"/>
          <a:lstStyle/>
          <a:p>
            <a:pPr marL="0" indent="0" algn="r" rtl="1">
              <a:buNone/>
            </a:pPr>
            <a:r>
              <a:rPr lang="fa-IR" altLang="en-US" sz="1200" b="1" dirty="0">
                <a:solidFill>
                  <a:srgbClr val="E4572E"/>
                </a:solidFill>
                <a:latin typeface="Shabnam" pitchFamily="34" charset="0"/>
                <a:ea typeface="Shabnam" pitchFamily="34" charset="-122"/>
                <a:cs typeface="Shabnam" pitchFamily="34" charset="-120"/>
              </a:rPr>
              <a:t>رهبران افکار: LLM + CA (معادله ۳)</a:t>
            </a:r>
            <a:endParaRPr lang="fa-IR" sz="1200" dirty="0"/>
          </a:p>
        </p:txBody>
      </p:sp>
      <p:sp>
        <p:nvSpPr>
          <p:cNvPr id="6" name="Text 4"/>
          <p:cNvSpPr txBox="1"/>
          <p:nvPr/>
        </p:nvSpPr>
        <p:spPr>
          <a:xfrm>
            <a:off x="4846320" y="1783080"/>
            <a:ext cx="3657600" cy="301752"/>
          </a:xfrm>
          <a:prstGeom prst="rect">
            <a:avLst/>
          </a:prstGeom>
          <a:noFill/>
          <a:ln/>
        </p:spPr>
        <p:txBody>
          <a:bodyPr wrap="square" lIns="0" tIns="0" rIns="0" bIns="0" rtlCol="0" anchor="t"/>
          <a:lstStyle/>
          <a:p>
            <a:pPr marL="0" indent="0" algn="l">
              <a:buNone/>
            </a:pPr>
            <a:r>
              <a:rPr lang="en-US" sz="1200" dirty="0">
                <a:solidFill>
                  <a:srgbClr val="1F2933"/>
                </a:solidFill>
                <a:latin typeface="Cambria Math" pitchFamily="34" charset="0"/>
                <a:ea typeface="Cambria Math" pitchFamily="34" charset="-122"/>
                <a:cs typeface="Cambria Math" pitchFamily="34" charset="-120"/>
              </a:rPr>
              <a:t>O(t+1) = clip(α·[r·O + w·ΣT] + (1−α)·LLM, −1, 1)</a:t>
            </a:r>
            <a:endParaRPr lang="en-US" sz="1200" dirty="0"/>
          </a:p>
        </p:txBody>
      </p:sp>
      <p:sp>
        <p:nvSpPr>
          <p:cNvPr id="7" name="Text 5"/>
          <p:cNvSpPr txBox="1"/>
          <p:nvPr/>
        </p:nvSpPr>
        <p:spPr>
          <a:xfrm>
            <a:off x="4846320" y="2176272"/>
            <a:ext cx="3657600" cy="685800"/>
          </a:xfrm>
          <a:prstGeom prst="rect">
            <a:avLst/>
          </a:prstGeom>
          <a:noFill/>
          <a:ln/>
        </p:spPr>
        <p:txBody>
          <a:bodyPr wrap="square" lIns="0" tIns="0" rIns="0" bIns="0" rtlCol="0" anchor="t"/>
          <a:lstStyle/>
          <a:p>
            <a:pPr marL="0" indent="0" algn="r" rtl="1">
              <a:buNone/>
            </a:pPr>
            <a:r>
              <a:rPr lang="fa-IR" altLang="en-US" sz="1000" dirty="0">
                <a:solidFill>
                  <a:srgbClr val="5C6B7A"/>
                </a:solidFill>
                <a:latin typeface="Shabnam" pitchFamily="34" charset="0"/>
                <a:ea typeface="Shabnam" pitchFamily="34" charset="-122"/>
                <a:cs typeface="Shabnam" pitchFamily="34" charset="-120"/>
              </a:rPr>
              <a:t>α سهم CA را در برابر LLM تعیین می‌کند. ε تأثیر همسایه‌هایی که نظرشان خیلی متفاوت است را حذف می‌کند (سوگیری تأییدی).</a:t>
            </a:r>
            <a:endParaRPr lang="fa-IR" sz="1000" dirty="0"/>
          </a:p>
        </p:txBody>
      </p:sp>
      <p:sp>
        <p:nvSpPr>
          <p:cNvPr id="8" name="Shape 6"/>
          <p:cNvSpPr/>
          <p:nvPr/>
        </p:nvSpPr>
        <p:spPr>
          <a:xfrm>
            <a:off x="457200" y="1325880"/>
            <a:ext cx="4023360" cy="1600200"/>
          </a:xfrm>
          <a:prstGeom prst="roundRect">
            <a:avLst>
              <a:gd name="adj" fmla="val 4571"/>
            </a:avLst>
          </a:prstGeom>
          <a:solidFill>
            <a:srgbClr val="E3F4F2"/>
          </a:solidFill>
          <a:ln w="12700">
            <a:solidFill>
              <a:srgbClr val="E3F4F2"/>
            </a:solidFill>
            <a:prstDash val="solid"/>
          </a:ln>
        </p:spPr>
      </p:sp>
      <p:sp>
        <p:nvSpPr>
          <p:cNvPr id="9" name="Text 7"/>
          <p:cNvSpPr txBox="1"/>
          <p:nvPr/>
        </p:nvSpPr>
        <p:spPr>
          <a:xfrm>
            <a:off x="640080" y="1435608"/>
            <a:ext cx="3657600" cy="274320"/>
          </a:xfrm>
          <a:prstGeom prst="rect">
            <a:avLst/>
          </a:prstGeom>
          <a:noFill/>
          <a:ln/>
        </p:spPr>
        <p:txBody>
          <a:bodyPr wrap="square" lIns="0" tIns="0" rIns="0" bIns="0" rtlCol="0" anchor="t"/>
          <a:lstStyle/>
          <a:p>
            <a:pPr marL="0" indent="0" algn="r" rtl="1">
              <a:buNone/>
            </a:pPr>
            <a:r>
              <a:rPr lang="fa-IR" altLang="en-US" sz="1200" b="1" dirty="0">
                <a:solidFill>
                  <a:srgbClr val="17A398"/>
                </a:solidFill>
                <a:latin typeface="Shabnam" pitchFamily="34" charset="0"/>
                <a:ea typeface="Shabnam" pitchFamily="34" charset="-122"/>
                <a:cs typeface="Shabnam" pitchFamily="34" charset="-120"/>
              </a:rPr>
              <a:t>دنبال‌کننده‌ها: CA + SIR (معادله ۴)</a:t>
            </a:r>
            <a:endParaRPr lang="fa-IR" sz="1200" dirty="0"/>
          </a:p>
        </p:txBody>
      </p:sp>
      <p:sp>
        <p:nvSpPr>
          <p:cNvPr id="10" name="Text 8"/>
          <p:cNvSpPr txBox="1"/>
          <p:nvPr/>
        </p:nvSpPr>
        <p:spPr>
          <a:xfrm>
            <a:off x="640080" y="1783080"/>
            <a:ext cx="3657600" cy="301752"/>
          </a:xfrm>
          <a:prstGeom prst="rect">
            <a:avLst/>
          </a:prstGeom>
          <a:noFill/>
          <a:ln/>
        </p:spPr>
        <p:txBody>
          <a:bodyPr wrap="square" lIns="0" tIns="0" rIns="0" bIns="0" rtlCol="0" anchor="t"/>
          <a:lstStyle/>
          <a:p>
            <a:pPr marL="0" indent="0" algn="l">
              <a:buNone/>
            </a:pPr>
            <a:r>
              <a:rPr lang="en-US" sz="1200" dirty="0">
                <a:solidFill>
                  <a:srgbClr val="1F2933"/>
                </a:solidFill>
                <a:latin typeface="Cambria Math" pitchFamily="34" charset="0"/>
                <a:ea typeface="Cambria Math" pitchFamily="34" charset="-122"/>
                <a:cs typeface="Cambria Math" pitchFamily="34" charset="-120"/>
              </a:rPr>
              <a:t>O(t+1) = CA(O) · e^(−λ|O|)    if rand &lt; γ</a:t>
            </a:r>
            <a:endParaRPr lang="en-US" sz="1200" dirty="0"/>
          </a:p>
        </p:txBody>
      </p:sp>
      <p:sp>
        <p:nvSpPr>
          <p:cNvPr id="11" name="Text 9"/>
          <p:cNvSpPr txBox="1"/>
          <p:nvPr/>
        </p:nvSpPr>
        <p:spPr>
          <a:xfrm>
            <a:off x="640080" y="2176272"/>
            <a:ext cx="3657600" cy="685800"/>
          </a:xfrm>
          <a:prstGeom prst="rect">
            <a:avLst/>
          </a:prstGeom>
          <a:noFill/>
          <a:ln/>
        </p:spPr>
        <p:txBody>
          <a:bodyPr wrap="square" lIns="0" tIns="0" rIns="0" bIns="0" rtlCol="0" anchor="t"/>
          <a:lstStyle/>
          <a:p>
            <a:pPr marL="0" indent="0" algn="r" rtl="1">
              <a:buNone/>
            </a:pPr>
            <a:r>
              <a:rPr lang="fa-IR" altLang="en-US" sz="1000" dirty="0">
                <a:solidFill>
                  <a:srgbClr val="5C6B7A"/>
                </a:solidFill>
                <a:latin typeface="Shabnam" pitchFamily="34" charset="0"/>
                <a:ea typeface="Shabnam" pitchFamily="34" charset="-122"/>
                <a:cs typeface="Shabnam" pitchFamily="34" charset="-120"/>
              </a:rPr>
              <a:t>با احتمال γ، نظر با نرخ λ به سمت صفر میرا می‌شود؛ این همان «بهبودی» در مدل SIR است و خستگی از خبر را مدل می‌کند.</a:t>
            </a:r>
            <a:endParaRPr lang="fa-IR" sz="1000" dirty="0"/>
          </a:p>
        </p:txBody>
      </p:sp>
      <p:sp>
        <p:nvSpPr>
          <p:cNvPr id="12" name="Shape 10"/>
          <p:cNvSpPr/>
          <p:nvPr/>
        </p:nvSpPr>
        <p:spPr>
          <a:xfrm>
            <a:off x="4663440" y="3108960"/>
            <a:ext cx="4023360" cy="1554480"/>
          </a:xfrm>
          <a:prstGeom prst="roundRect">
            <a:avLst>
              <a:gd name="adj" fmla="val 4706"/>
            </a:avLst>
          </a:prstGeom>
          <a:solidFill>
            <a:srgbClr val="EEF2F7"/>
          </a:solidFill>
          <a:ln w="12700">
            <a:solidFill>
              <a:srgbClr val="EEF2F7"/>
            </a:solidFill>
            <a:prstDash val="solid"/>
          </a:ln>
        </p:spPr>
      </p:sp>
      <p:sp>
        <p:nvSpPr>
          <p:cNvPr id="13" name="Text 11"/>
          <p:cNvSpPr txBox="1"/>
          <p:nvPr/>
        </p:nvSpPr>
        <p:spPr>
          <a:xfrm>
            <a:off x="4846320" y="3218688"/>
            <a:ext cx="3657600" cy="274320"/>
          </a:xfrm>
          <a:prstGeom prst="rect">
            <a:avLst/>
          </a:prstGeom>
          <a:noFill/>
          <a:ln/>
        </p:spPr>
        <p:txBody>
          <a:bodyPr wrap="square" lIns="0" tIns="0" rIns="0" bIns="0" rtlCol="0" anchor="t"/>
          <a:lstStyle/>
          <a:p>
            <a:pPr marL="0" indent="0" algn="r" rtl="1">
              <a:buNone/>
            </a:pPr>
            <a:r>
              <a:rPr lang="fa-IR" altLang="en-US" sz="1200" b="1" dirty="0">
                <a:solidFill>
                  <a:srgbClr val="14213D"/>
                </a:solidFill>
                <a:latin typeface="Shabnam" pitchFamily="34" charset="0"/>
                <a:ea typeface="Shabnam" pitchFamily="34" charset="-122"/>
                <a:cs typeface="Shabnam" pitchFamily="34" charset="-120"/>
              </a:rPr>
              <a:t>LLM-Action</a:t>
            </a:r>
            <a:endParaRPr lang="fa-IR" sz="1200" dirty="0"/>
          </a:p>
        </p:txBody>
      </p:sp>
      <p:sp>
        <p:nvSpPr>
          <p:cNvPr id="14" name="Text 12"/>
          <p:cNvSpPr txBox="1"/>
          <p:nvPr/>
        </p:nvSpPr>
        <p:spPr>
          <a:xfrm>
            <a:off x="4846320" y="3538728"/>
            <a:ext cx="3657600" cy="1051560"/>
          </a:xfrm>
          <a:prstGeom prst="rect">
            <a:avLst/>
          </a:prstGeom>
          <a:noFill/>
          <a:ln/>
        </p:spPr>
        <p:txBody>
          <a:bodyPr wrap="square" lIns="0" tIns="0" rIns="0" bIns="0" rtlCol="0" anchor="t"/>
          <a:lstStyle/>
          <a:p>
            <a:pPr marL="0" indent="0" algn="r" rtl="1">
              <a:buNone/>
            </a:pPr>
            <a:r>
              <a:rPr lang="fa-IR" altLang="en-US" sz="1000" dirty="0">
                <a:solidFill>
                  <a:srgbClr val="1F2933"/>
                </a:solidFill>
                <a:latin typeface="Shabnam" pitchFamily="34" charset="0"/>
                <a:ea typeface="Shabnam" pitchFamily="34" charset="-122"/>
                <a:cs typeface="Shabnam" pitchFamily="34" charset="-120"/>
              </a:rPr>
              <a:t>هر رهبر یک پروفایل شخصیتی دارد، خبر را می‌خواند و یکی از ۷ اکشن را انتخاب می‌کند: کامنت، لایک، رد شدن، دیس‌لایک، بازنشر، بازنشر اصل، یا پست جدید.</a:t>
            </a:r>
            <a:endParaRPr lang="fa-IR" sz="1000" dirty="0"/>
          </a:p>
        </p:txBody>
      </p:sp>
      <p:sp>
        <p:nvSpPr>
          <p:cNvPr id="15" name="Shape 13"/>
          <p:cNvSpPr/>
          <p:nvPr/>
        </p:nvSpPr>
        <p:spPr>
          <a:xfrm>
            <a:off x="457200" y="3108960"/>
            <a:ext cx="4023360" cy="1554480"/>
          </a:xfrm>
          <a:prstGeom prst="roundRect">
            <a:avLst>
              <a:gd name="adj" fmla="val 4706"/>
            </a:avLst>
          </a:prstGeom>
          <a:solidFill>
            <a:srgbClr val="EEF2F7"/>
          </a:solidFill>
          <a:ln w="12700">
            <a:solidFill>
              <a:srgbClr val="EEF2F7"/>
            </a:solidFill>
            <a:prstDash val="solid"/>
          </a:ln>
        </p:spPr>
      </p:sp>
      <p:sp>
        <p:nvSpPr>
          <p:cNvPr id="16" name="Text 14"/>
          <p:cNvSpPr txBox="1"/>
          <p:nvPr/>
        </p:nvSpPr>
        <p:spPr>
          <a:xfrm>
            <a:off x="640080" y="3218688"/>
            <a:ext cx="3657600" cy="274320"/>
          </a:xfrm>
          <a:prstGeom prst="rect">
            <a:avLst/>
          </a:prstGeom>
          <a:noFill/>
          <a:ln/>
        </p:spPr>
        <p:txBody>
          <a:bodyPr wrap="square" lIns="0" tIns="0" rIns="0" bIns="0" rtlCol="0" anchor="t"/>
          <a:lstStyle/>
          <a:p>
            <a:pPr marL="0" indent="0" algn="r" rtl="1">
              <a:buNone/>
            </a:pPr>
            <a:r>
              <a:rPr lang="fa-IR" altLang="en-US" sz="1200" b="1" dirty="0">
                <a:solidFill>
                  <a:srgbClr val="14213D"/>
                </a:solidFill>
                <a:latin typeface="Shabnam" pitchFamily="34" charset="0"/>
                <a:ea typeface="Shabnam" pitchFamily="34" charset="-122"/>
                <a:cs typeface="Shabnam" pitchFamily="34" charset="-120"/>
              </a:rPr>
              <a:t>LLM-Attitude</a:t>
            </a:r>
            <a:endParaRPr lang="fa-IR" sz="1200" dirty="0"/>
          </a:p>
        </p:txBody>
      </p:sp>
      <p:sp>
        <p:nvSpPr>
          <p:cNvPr id="17" name="Text 15"/>
          <p:cNvSpPr txBox="1"/>
          <p:nvPr/>
        </p:nvSpPr>
        <p:spPr>
          <a:xfrm>
            <a:off x="640080" y="3538728"/>
            <a:ext cx="3657600" cy="1051560"/>
          </a:xfrm>
          <a:prstGeom prst="rect">
            <a:avLst/>
          </a:prstGeom>
          <a:noFill/>
          <a:ln/>
        </p:spPr>
        <p:txBody>
          <a:bodyPr wrap="square" lIns="0" tIns="0" rIns="0" bIns="0" rtlCol="0" anchor="t"/>
          <a:lstStyle/>
          <a:p>
            <a:pPr marL="0" indent="0" algn="r" rtl="1">
              <a:buNone/>
            </a:pPr>
            <a:r>
              <a:rPr lang="fa-IR" altLang="en-US" sz="1000" dirty="0">
                <a:solidFill>
                  <a:srgbClr val="1F2933"/>
                </a:solidFill>
                <a:latin typeface="Shabnam" pitchFamily="34" charset="0"/>
                <a:ea typeface="Shabnam" pitchFamily="34" charset="-122"/>
                <a:cs typeface="Shabnam" pitchFamily="34" charset="-120"/>
              </a:rPr>
              <a:t>یک پرامپت جدا به متن هر اکشن نگرش می‌دهد: موافق (۱)، خنثی (۰) یا مخالف (۱-). سه سطح کافی است چون خبر وارونه دو قطب روشن دارد.</a:t>
            </a:r>
            <a:endParaRPr lang="fa-IR" sz="1000" dirty="0"/>
          </a:p>
        </p:txBody>
      </p:sp>
      <p:sp>
        <p:nvSpPr>
          <p:cNvPr id="18" name="Text 16"/>
          <p:cNvSpPr txBox="1"/>
          <p:nvPr/>
        </p:nvSpPr>
        <p:spPr>
          <a:xfrm>
            <a:off x="457200" y="4800600"/>
            <a:ext cx="5486400" cy="228600"/>
          </a:xfrm>
          <a:prstGeom prst="rect">
            <a:avLst/>
          </a:prstGeom>
          <a:noFill/>
          <a:ln/>
        </p:spPr>
        <p:txBody>
          <a:bodyPr wrap="square" lIns="0" tIns="0" rIns="0" bIns="0" rtlCol="0" anchor="t"/>
          <a:lstStyle/>
          <a:p>
            <a:pPr marL="0" indent="0" algn="l">
              <a:buNone/>
            </a:pPr>
            <a:r>
              <a:rPr lang="en-US" sz="900" dirty="0">
                <a:solidFill>
                  <a:srgbClr val="5C6B7A"/>
                </a:solidFill>
                <a:latin typeface="Calibri" pitchFamily="34" charset="0"/>
                <a:ea typeface="Calibri" pitchFamily="34" charset="-122"/>
                <a:cs typeface="Calibri" pitchFamily="34" charset="-120"/>
              </a:rPr>
              <a:t>Yao et al., Scientific Reports 15:15472 (2025)</a:t>
            </a:r>
            <a:endParaRPr lang="en-US" sz="900" dirty="0"/>
          </a:p>
        </p:txBody>
      </p:sp>
      <p:sp>
        <p:nvSpPr>
          <p:cNvPr id="19" name="Text 17"/>
          <p:cNvSpPr txBox="1"/>
          <p:nvPr/>
        </p:nvSpPr>
        <p:spPr>
          <a:xfrm>
            <a:off x="8229600" y="4773168"/>
            <a:ext cx="457200" cy="228600"/>
          </a:xfrm>
          <a:prstGeom prst="rect">
            <a:avLst/>
          </a:prstGeom>
          <a:noFill/>
          <a:ln/>
        </p:spPr>
        <p:txBody>
          <a:bodyPr wrap="square" lIns="0" tIns="0" rIns="0" bIns="0" rtlCol="0" anchor="t"/>
          <a:lstStyle/>
          <a:p>
            <a:pPr marL="0" indent="0" algn="r" rtl="1">
              <a:buNone/>
            </a:pPr>
            <a:r>
              <a:rPr lang="fa-IR" altLang="en-US" sz="1000" dirty="0">
                <a:solidFill>
                  <a:srgbClr val="5C6B7A"/>
                </a:solidFill>
                <a:latin typeface="Shabnam" pitchFamily="34" charset="0"/>
                <a:ea typeface="Shabnam" pitchFamily="34" charset="-122"/>
                <a:cs typeface="Shabnam" pitchFamily="34" charset="-120"/>
              </a:rPr>
              <a:t>۶</a:t>
            </a:r>
            <a:endParaRPr lang="fa-IR"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7863840" cy="274320"/>
          </a:xfrm>
          <a:prstGeom prst="rect">
            <a:avLst/>
          </a:prstGeom>
          <a:noFill/>
          <a:ln/>
        </p:spPr>
        <p:txBody>
          <a:bodyPr wrap="square" lIns="0" tIns="0" rIns="0" bIns="0" rtlCol="0" anchor="t"/>
          <a:lstStyle/>
          <a:p>
            <a:pPr marL="0" indent="0" algn="r" rtl="1">
              <a:buNone/>
            </a:pPr>
            <a:r>
              <a:rPr lang="fa-IR" altLang="en-US" sz="1100" dirty="0">
                <a:solidFill>
                  <a:srgbClr val="5C6B7A"/>
                </a:solidFill>
                <a:latin typeface="Shabnam" pitchFamily="34" charset="0"/>
                <a:ea typeface="Shabnam" pitchFamily="34" charset="-122"/>
                <a:cs typeface="Shabnam" pitchFamily="34" charset="-120"/>
              </a:rPr>
              <a:t>۴  ·  داده (Dataset)</a:t>
            </a:r>
            <a:endParaRPr lang="fa-IR" sz="1100" dirty="0"/>
          </a:p>
        </p:txBody>
      </p:sp>
      <p:sp>
        <p:nvSpPr>
          <p:cNvPr id="3" name="Text 1"/>
          <p:cNvSpPr txBox="1"/>
          <p:nvPr/>
        </p:nvSpPr>
        <p:spPr>
          <a:xfrm>
            <a:off x="457200" y="566928"/>
            <a:ext cx="8229600" cy="594360"/>
          </a:xfrm>
          <a:prstGeom prst="rect">
            <a:avLst/>
          </a:prstGeom>
          <a:noFill/>
          <a:ln/>
        </p:spPr>
        <p:txBody>
          <a:bodyPr wrap="square" lIns="0" tIns="0" rIns="0" bIns="0" rtlCol="0" anchor="t"/>
          <a:lstStyle/>
          <a:p>
            <a:pPr marL="0" indent="0" algn="r" rtl="1">
              <a:buNone/>
            </a:pPr>
            <a:r>
              <a:rPr lang="fa-IR" altLang="en-US" sz="2400" b="1" dirty="0">
                <a:solidFill>
                  <a:srgbClr val="14213D"/>
                </a:solidFill>
                <a:latin typeface="Shabnam" pitchFamily="34" charset="0"/>
                <a:ea typeface="Shabnam" pitchFamily="34" charset="-122"/>
                <a:cs typeface="Shabnam" pitchFamily="34" charset="-120"/>
              </a:rPr>
              <a:t>۴ رویداد «خبر وارونه» از ویبو</a:t>
            </a:r>
            <a:endParaRPr lang="fa-IR" sz="2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77724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3108960">
                  <a:extLst>
                    <a:ext uri="{9D8B030D-6E8A-4147-A177-3AD203B41FA5}">
                      <a16:colId xmlns:a16="http://schemas.microsoft.com/office/drawing/2014/main" val="20004"/>
                    </a:ext>
                  </a:extLst>
                </a:gridCol>
                <a:gridCol w="1188720">
                  <a:extLst>
                    <a:ext uri="{9D8B030D-6E8A-4147-A177-3AD203B41FA5}">
                      <a16:colId xmlns:a16="http://schemas.microsoft.com/office/drawing/2014/main" val="20005"/>
                    </a:ext>
                  </a:extLst>
                </a:gridCol>
              </a:tblGrid>
              <a:tr h="384048">
                <a:tc>
                  <a:txBody>
                    <a:bodyPr/>
                    <a:lstStyle/>
                    <a:p>
                      <a:pPr marL="0" indent="0" algn="ctr" rtl="1">
                        <a:buNone/>
                      </a:pPr>
                      <a:r>
                        <a:rPr lang="en-US" sz="1050" b="1" dirty="0">
                          <a:solidFill>
                            <a:srgbClr val="FFFFFF"/>
                          </a:solidFill>
                          <a:latin typeface="Shabnam" pitchFamily="34" charset="0"/>
                          <a:ea typeface="Shabnam" pitchFamily="34" charset="-122"/>
                          <a:cs typeface="Shabnam" pitchFamily="34" charset="-120"/>
                        </a:rPr>
                        <a:t>روز افشا</a:t>
                      </a:r>
                      <a:endParaRPr lang="en-US" sz="1050" dirty="0">
                        <a:latin typeface="Shabnam" charset="0"/>
                        <a:ea typeface="Shabnam" charset="0"/>
                        <a:cs typeface="Shabnam" charset="0"/>
                      </a:endParaRPr>
                    </a:p>
                  </a:txBody>
                  <a:tcPr marL="54864" marR="54864" marT="54864" marB="54864"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solidFill>
                      <a:srgbClr val="14213D"/>
                    </a:solidFill>
                  </a:tcPr>
                </a:tc>
                <a:tc>
                  <a:txBody>
                    <a:bodyPr/>
                    <a:lstStyle/>
                    <a:p>
                      <a:pPr marL="0" indent="0" algn="ctr" rtl="1">
                        <a:buNone/>
                      </a:pPr>
                      <a:r>
                        <a:rPr lang="en-US" sz="1050" b="1" dirty="0">
                          <a:solidFill>
                            <a:srgbClr val="FFFFFF"/>
                          </a:solidFill>
                          <a:latin typeface="Shabnam" pitchFamily="34" charset="0"/>
                          <a:ea typeface="Shabnam" pitchFamily="34" charset="-122"/>
                          <a:cs typeface="Shabnam" pitchFamily="34" charset="-120"/>
                        </a:rPr>
                        <a:t>روزها</a:t>
                      </a:r>
                      <a:endParaRPr lang="en-US" sz="1050" dirty="0">
                        <a:latin typeface="Shabnam" charset="0"/>
                        <a:ea typeface="Shabnam" charset="0"/>
                        <a:cs typeface="Shabnam" charset="0"/>
                      </a:endParaRPr>
                    </a:p>
                  </a:txBody>
                  <a:tcPr marL="54864" marR="54864" marT="54864" marB="54864"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solidFill>
                      <a:srgbClr val="14213D"/>
                    </a:solidFill>
                  </a:tcPr>
                </a:tc>
                <a:tc>
                  <a:txBody>
                    <a:bodyPr/>
                    <a:lstStyle/>
                    <a:p>
                      <a:pPr marL="0" indent="0" algn="ctr" rtl="1">
                        <a:buNone/>
                      </a:pPr>
                      <a:r>
                        <a:rPr lang="en-US" sz="1050" b="1" dirty="0">
                          <a:solidFill>
                            <a:srgbClr val="FFFFFF"/>
                          </a:solidFill>
                          <a:latin typeface="Shabnam" pitchFamily="34" charset="0"/>
                          <a:ea typeface="Shabnam" pitchFamily="34" charset="-122"/>
                          <a:cs typeface="Shabnam" pitchFamily="34" charset="-120"/>
                        </a:rPr>
                        <a:t>رهبر / دنبال‌کننده</a:t>
                      </a:r>
                      <a:endParaRPr lang="en-US" sz="1050" dirty="0">
                        <a:latin typeface="Shabnam" charset="0"/>
                        <a:ea typeface="Shabnam" charset="0"/>
                        <a:cs typeface="Shabnam" charset="0"/>
                      </a:endParaRPr>
                    </a:p>
                  </a:txBody>
                  <a:tcPr marL="54864" marR="54864" marT="54864" marB="54864"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solidFill>
                      <a:srgbClr val="14213D"/>
                    </a:solidFill>
                  </a:tcPr>
                </a:tc>
                <a:tc>
                  <a:txBody>
                    <a:bodyPr/>
                    <a:lstStyle/>
                    <a:p>
                      <a:pPr marL="0" indent="0" algn="ctr" rtl="1">
                        <a:buNone/>
                      </a:pPr>
                      <a:r>
                        <a:rPr lang="en-US" sz="1050" b="1" dirty="0">
                          <a:solidFill>
                            <a:srgbClr val="FFFFFF"/>
                          </a:solidFill>
                          <a:latin typeface="Shabnam" pitchFamily="34" charset="0"/>
                          <a:ea typeface="Shabnam" pitchFamily="34" charset="-122"/>
                          <a:cs typeface="Shabnam" pitchFamily="34" charset="-120"/>
                        </a:rPr>
                        <a:t>تعداد پست</a:t>
                      </a:r>
                      <a:endParaRPr lang="en-US" sz="1050" dirty="0">
                        <a:latin typeface="Shabnam" charset="0"/>
                        <a:ea typeface="Shabnam" charset="0"/>
                        <a:cs typeface="Shabnam" charset="0"/>
                      </a:endParaRPr>
                    </a:p>
                  </a:txBody>
                  <a:tcPr marL="54864" marR="54864" marT="54864" marB="54864"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solidFill>
                      <a:srgbClr val="14213D"/>
                    </a:solidFill>
                  </a:tcPr>
                </a:tc>
                <a:tc>
                  <a:txBody>
                    <a:bodyPr/>
                    <a:lstStyle/>
                    <a:p>
                      <a:pPr marL="0" indent="0" algn="ctr" rtl="1">
                        <a:buNone/>
                      </a:pPr>
                      <a:r>
                        <a:rPr lang="en-US" sz="1050" b="1" dirty="0">
                          <a:solidFill>
                            <a:srgbClr val="FFFFFF"/>
                          </a:solidFill>
                          <a:latin typeface="Shabnam" pitchFamily="34" charset="0"/>
                          <a:ea typeface="Shabnam" pitchFamily="34" charset="-122"/>
                          <a:cs typeface="Shabnam" pitchFamily="34" charset="-120"/>
                        </a:rPr>
                        <a:t>موضوع</a:t>
                      </a:r>
                      <a:endParaRPr lang="en-US" sz="1050" dirty="0">
                        <a:latin typeface="Shabnam" charset="0"/>
                        <a:ea typeface="Shabnam" charset="0"/>
                        <a:cs typeface="Shabnam" charset="0"/>
                      </a:endParaRPr>
                    </a:p>
                  </a:txBody>
                  <a:tcPr marL="54864" marR="54864" marT="54864" marB="54864"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solidFill>
                      <a:srgbClr val="14213D"/>
                    </a:solidFill>
                  </a:tcPr>
                </a:tc>
                <a:tc>
                  <a:txBody>
                    <a:bodyPr/>
                    <a:lstStyle/>
                    <a:p>
                      <a:pPr marL="0" indent="0" algn="ctr" rtl="1">
                        <a:buNone/>
                      </a:pPr>
                      <a:r>
                        <a:rPr lang="en-US" sz="1050" b="1" dirty="0">
                          <a:solidFill>
                            <a:srgbClr val="FFFFFF"/>
                          </a:solidFill>
                          <a:latin typeface="Shabnam" pitchFamily="34" charset="0"/>
                          <a:ea typeface="Shabnam" pitchFamily="34" charset="-122"/>
                          <a:cs typeface="Shabnam" pitchFamily="34" charset="-120"/>
                        </a:rPr>
                        <a:t>رویداد</a:t>
                      </a:r>
                      <a:endParaRPr lang="en-US" sz="1050" dirty="0">
                        <a:latin typeface="Shabnam" charset="0"/>
                        <a:ea typeface="Shabnam" charset="0"/>
                        <a:cs typeface="Shabnam" charset="0"/>
                      </a:endParaRPr>
                    </a:p>
                  </a:txBody>
                  <a:tcPr marL="54864" marR="54864" marT="54864" marB="54864"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384048">
                <a:tc>
                  <a:txBody>
                    <a:bodyPr/>
                    <a:lstStyle/>
                    <a:p>
                      <a:pPr marL="0" indent="0" algn="ctr" rtl="1">
                        <a:buNone/>
                      </a:pPr>
                      <a:r>
                        <a:rPr lang="en-US" sz="1050" dirty="0">
                          <a:solidFill>
                            <a:srgbClr val="1F2933"/>
                          </a:solidFill>
                          <a:latin typeface="Shabnam" pitchFamily="34" charset="0"/>
                          <a:ea typeface="Shabnam" pitchFamily="34" charset="-122"/>
                          <a:cs typeface="Shabnam" pitchFamily="34" charset="-120"/>
                        </a:rPr>
                        <a:t>۶</a:t>
                      </a:r>
                      <a:endParaRPr lang="en-US" sz="1050" dirty="0">
                        <a:latin typeface="Shabnam" charset="0"/>
                        <a:ea typeface="Shabnam" charset="0"/>
                        <a:cs typeface="Shabnam" charset="0"/>
                      </a:endParaRPr>
                    </a:p>
                  </a:txBody>
                  <a:tcPr marL="54864" marR="54864" marT="54864" marB="54864"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solidFill>
                      <a:srgbClr val="EEF2F7"/>
                    </a:solidFill>
                  </a:tcPr>
                </a:tc>
                <a:tc>
                  <a:txBody>
                    <a:bodyPr/>
                    <a:lstStyle/>
                    <a:p>
                      <a:pPr marL="0" indent="0" algn="ctr" rtl="1">
                        <a:buNone/>
                      </a:pPr>
                      <a:r>
                        <a:rPr lang="en-US" sz="1050" dirty="0">
                          <a:solidFill>
                            <a:srgbClr val="1F2933"/>
                          </a:solidFill>
                          <a:latin typeface="Shabnam" pitchFamily="34" charset="0"/>
                          <a:ea typeface="Shabnam" pitchFamily="34" charset="-122"/>
                          <a:cs typeface="Shabnam" pitchFamily="34" charset="-120"/>
                        </a:rPr>
                        <a:t>۱۲</a:t>
                      </a:r>
                      <a:endParaRPr lang="en-US" sz="1050" dirty="0">
                        <a:latin typeface="Shabnam" charset="0"/>
                        <a:ea typeface="Shabnam" charset="0"/>
                        <a:cs typeface="Shabnam" charset="0"/>
                      </a:endParaRPr>
                    </a:p>
                  </a:txBody>
                  <a:tcPr marL="54864" marR="54864" marT="54864" marB="54864"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solidFill>
                      <a:srgbClr val="EEF2F7"/>
                    </a:solidFill>
                  </a:tcPr>
                </a:tc>
                <a:tc>
                  <a:txBody>
                    <a:bodyPr/>
                    <a:lstStyle/>
                    <a:p>
                      <a:pPr marL="0" indent="0" algn="ctr" rtl="1">
                        <a:buNone/>
                      </a:pPr>
                      <a:r>
                        <a:rPr lang="en-US" sz="1050" dirty="0">
                          <a:solidFill>
                            <a:srgbClr val="1F2933"/>
                          </a:solidFill>
                          <a:latin typeface="Calibri" pitchFamily="34" charset="0"/>
                          <a:ea typeface="Calibri" pitchFamily="34" charset="-122"/>
                          <a:cs typeface="Calibri" pitchFamily="34" charset="-120"/>
                        </a:rPr>
                        <a:t>1000 / 8890</a:t>
                      </a:r>
                      <a:endParaRPr lang="en-US" sz="1050" dirty="0">
                        <a:latin typeface="Calibri" charset="0"/>
                        <a:ea typeface="Calibri" charset="0"/>
                        <a:cs typeface="Calibri" charset="0"/>
                      </a:endParaRPr>
                    </a:p>
                  </a:txBody>
                  <a:tcPr marL="54864" marR="54864" marT="54864" marB="54864"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solidFill>
                      <a:srgbClr val="EEF2F7"/>
                    </a:solidFill>
                  </a:tcPr>
                </a:tc>
                <a:tc>
                  <a:txBody>
                    <a:bodyPr/>
                    <a:lstStyle/>
                    <a:p>
                      <a:pPr marL="0" indent="0" algn="ctr" rtl="1">
                        <a:buNone/>
                      </a:pPr>
                      <a:r>
                        <a:rPr lang="en-US" sz="1050" dirty="0">
                          <a:solidFill>
                            <a:srgbClr val="1F2933"/>
                          </a:solidFill>
                          <a:latin typeface="Calibri" pitchFamily="34" charset="0"/>
                          <a:ea typeface="Calibri" pitchFamily="34" charset="-122"/>
                          <a:cs typeface="Calibri" pitchFamily="34" charset="-120"/>
                        </a:rPr>
                        <a:t>133,834</a:t>
                      </a:r>
                      <a:endParaRPr lang="en-US" sz="1050" dirty="0">
                        <a:latin typeface="Calibri" charset="0"/>
                        <a:ea typeface="Calibri" charset="0"/>
                        <a:cs typeface="Calibri" charset="0"/>
                      </a:endParaRPr>
                    </a:p>
                  </a:txBody>
                  <a:tcPr marL="54864" marR="54864" marT="54864" marB="54864"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solidFill>
                      <a:srgbClr val="EEF2F7"/>
                    </a:solidFill>
                  </a:tcPr>
                </a:tc>
                <a:tc>
                  <a:txBody>
                    <a:bodyPr/>
                    <a:lstStyle/>
                    <a:p>
                      <a:pPr marL="0" indent="0" algn="r" rtl="1">
                        <a:buNone/>
                      </a:pPr>
                      <a:r>
                        <a:rPr lang="en-US" sz="1050" dirty="0">
                          <a:solidFill>
                            <a:srgbClr val="1F2933"/>
                          </a:solidFill>
                          <a:latin typeface="Shabnam" pitchFamily="34" charset="0"/>
                          <a:ea typeface="Shabnam" pitchFamily="34" charset="-122"/>
                          <a:cs typeface="Shabnam" pitchFamily="34" charset="-120"/>
                        </a:rPr>
                        <a:t>مرگ یک مربی بازی؛ اتهام به دوست‌دختر</a:t>
                      </a:r>
                      <a:endParaRPr lang="en-US" sz="1050" dirty="0">
                        <a:latin typeface="Shabnam" charset="0"/>
                        <a:ea typeface="Shabnam" charset="0"/>
                        <a:cs typeface="Shabnam" charset="0"/>
                      </a:endParaRPr>
                    </a:p>
                  </a:txBody>
                  <a:tcPr marL="54864" marR="54864" marT="54864" marB="54864"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solidFill>
                      <a:srgbClr val="EEF2F7"/>
                    </a:solidFill>
                  </a:tcPr>
                </a:tc>
                <a:tc>
                  <a:txBody>
                    <a:bodyPr/>
                    <a:lstStyle/>
                    <a:p>
                      <a:pPr marL="0" indent="0" algn="ctr" rtl="1">
                        <a:buNone/>
                      </a:pPr>
                      <a:r>
                        <a:rPr lang="en-US" sz="1050" b="1" dirty="0">
                          <a:solidFill>
                            <a:srgbClr val="1F2933"/>
                          </a:solidFill>
                          <a:latin typeface="Calibri" pitchFamily="34" charset="0"/>
                          <a:ea typeface="Calibri" pitchFamily="34" charset="-122"/>
                          <a:cs typeface="Calibri" pitchFamily="34" charset="-120"/>
                        </a:rPr>
                        <a:t>Pangmao</a:t>
                      </a:r>
                      <a:endParaRPr lang="en-US" sz="1050" dirty="0">
                        <a:latin typeface="Calibri" charset="0"/>
                        <a:ea typeface="Calibri" charset="0"/>
                        <a:cs typeface="Calibri" charset="0"/>
                      </a:endParaRPr>
                    </a:p>
                  </a:txBody>
                  <a:tcPr marL="54864" marR="54864" marT="54864" marB="54864"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solidFill>
                      <a:srgbClr val="EEF2F7"/>
                    </a:solidFill>
                  </a:tcPr>
                </a:tc>
                <a:extLst>
                  <a:ext uri="{0D108BD9-81ED-4DB2-BD59-A6C34878D82A}">
                    <a16:rowId xmlns:a16="http://schemas.microsoft.com/office/drawing/2014/main" val="10001"/>
                  </a:ext>
                </a:extLst>
              </a:tr>
              <a:tr h="384048">
                <a:tc>
                  <a:txBody>
                    <a:bodyPr/>
                    <a:lstStyle/>
                    <a:p>
                      <a:pPr marL="0" indent="0" algn="ctr" rtl="1">
                        <a:buNone/>
                      </a:pPr>
                      <a:r>
                        <a:rPr lang="en-US" sz="1050" dirty="0">
                          <a:solidFill>
                            <a:srgbClr val="1F2933"/>
                          </a:solidFill>
                          <a:latin typeface="Shabnam" pitchFamily="34" charset="0"/>
                          <a:ea typeface="Shabnam" pitchFamily="34" charset="-122"/>
                          <a:cs typeface="Shabnam" pitchFamily="34" charset="-120"/>
                        </a:rPr>
                        <a:t>۱۶</a:t>
                      </a:r>
                      <a:endParaRPr lang="en-US" sz="1050" dirty="0">
                        <a:latin typeface="Shabnam" charset="0"/>
                        <a:ea typeface="Shabnam" charset="0"/>
                        <a:cs typeface="Shabnam" charset="0"/>
                      </a:endParaRPr>
                    </a:p>
                  </a:txBody>
                  <a:tcPr marL="54864" marR="54864" marT="54864" marB="54864"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solidFill>
                      <a:srgbClr val="FFFFFF"/>
                    </a:solidFill>
                  </a:tcPr>
                </a:tc>
                <a:tc>
                  <a:txBody>
                    <a:bodyPr/>
                    <a:lstStyle/>
                    <a:p>
                      <a:pPr marL="0" indent="0" algn="ctr" rtl="1">
                        <a:buNone/>
                      </a:pPr>
                      <a:r>
                        <a:rPr lang="en-US" sz="1050" dirty="0">
                          <a:solidFill>
                            <a:srgbClr val="1F2933"/>
                          </a:solidFill>
                          <a:latin typeface="Shabnam" pitchFamily="34" charset="0"/>
                          <a:ea typeface="Shabnam" pitchFamily="34" charset="-122"/>
                          <a:cs typeface="Shabnam" pitchFamily="34" charset="-120"/>
                        </a:rPr>
                        <a:t>۲۱</a:t>
                      </a:r>
                      <a:endParaRPr lang="en-US" sz="1050" dirty="0">
                        <a:latin typeface="Shabnam" charset="0"/>
                        <a:ea typeface="Shabnam" charset="0"/>
                        <a:cs typeface="Shabnam" charset="0"/>
                      </a:endParaRPr>
                    </a:p>
                  </a:txBody>
                  <a:tcPr marL="54864" marR="54864" marT="54864" marB="54864"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solidFill>
                      <a:srgbClr val="FFFFFF"/>
                    </a:solidFill>
                  </a:tcPr>
                </a:tc>
                <a:tc>
                  <a:txBody>
                    <a:bodyPr/>
                    <a:lstStyle/>
                    <a:p>
                      <a:pPr marL="0" indent="0" algn="ctr" rtl="1">
                        <a:buNone/>
                      </a:pPr>
                      <a:r>
                        <a:rPr lang="en-US" sz="1050" dirty="0">
                          <a:solidFill>
                            <a:srgbClr val="1F2933"/>
                          </a:solidFill>
                          <a:latin typeface="Calibri" pitchFamily="34" charset="0"/>
                          <a:ea typeface="Calibri" pitchFamily="34" charset="-122"/>
                          <a:cs typeface="Calibri" pitchFamily="34" charset="-120"/>
                        </a:rPr>
                        <a:t>200 / 1872</a:t>
                      </a:r>
                      <a:endParaRPr lang="en-US" sz="1050" dirty="0">
                        <a:latin typeface="Calibri" charset="0"/>
                        <a:ea typeface="Calibri" charset="0"/>
                        <a:cs typeface="Calibri" charset="0"/>
                      </a:endParaRPr>
                    </a:p>
                  </a:txBody>
                  <a:tcPr marL="54864" marR="54864" marT="54864" marB="54864"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solidFill>
                      <a:srgbClr val="FFFFFF"/>
                    </a:solidFill>
                  </a:tcPr>
                </a:tc>
                <a:tc>
                  <a:txBody>
                    <a:bodyPr/>
                    <a:lstStyle/>
                    <a:p>
                      <a:pPr marL="0" indent="0" algn="ctr" rtl="1">
                        <a:buNone/>
                      </a:pPr>
                      <a:r>
                        <a:rPr lang="en-US" sz="1050" dirty="0">
                          <a:solidFill>
                            <a:srgbClr val="1F2933"/>
                          </a:solidFill>
                          <a:latin typeface="Calibri" pitchFamily="34" charset="0"/>
                          <a:ea typeface="Calibri" pitchFamily="34" charset="-122"/>
                          <a:cs typeface="Calibri" pitchFamily="34" charset="-120"/>
                        </a:rPr>
                        <a:t>98,471</a:t>
                      </a:r>
                      <a:endParaRPr lang="en-US" sz="1050" dirty="0">
                        <a:latin typeface="Calibri" charset="0"/>
                        <a:ea typeface="Calibri" charset="0"/>
                        <a:cs typeface="Calibri" charset="0"/>
                      </a:endParaRPr>
                    </a:p>
                  </a:txBody>
                  <a:tcPr marL="54864" marR="54864" marT="54864" marB="54864"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solidFill>
                      <a:srgbClr val="FFFFFF"/>
                    </a:solidFill>
                  </a:tcPr>
                </a:tc>
                <a:tc>
                  <a:txBody>
                    <a:bodyPr/>
                    <a:lstStyle/>
                    <a:p>
                      <a:pPr marL="0" indent="0" algn="r" rtl="1">
                        <a:buNone/>
                      </a:pPr>
                      <a:r>
                        <a:rPr lang="en-US" sz="1050" dirty="0">
                          <a:solidFill>
                            <a:srgbClr val="1F2933"/>
                          </a:solidFill>
                          <a:latin typeface="Shabnam" pitchFamily="34" charset="0"/>
                          <a:ea typeface="Shabnam" pitchFamily="34" charset="-122"/>
                          <a:cs typeface="Shabnam" pitchFamily="34" charset="-120"/>
                        </a:rPr>
                        <a:t>رتبه ۱۲ مسابقه ریاضی؛ اتهام تقلب</a:t>
                      </a:r>
                      <a:endParaRPr lang="en-US" sz="1050" dirty="0">
                        <a:latin typeface="Shabnam" charset="0"/>
                        <a:ea typeface="Shabnam" charset="0"/>
                        <a:cs typeface="Shabnam" charset="0"/>
                      </a:endParaRPr>
                    </a:p>
                  </a:txBody>
                  <a:tcPr marL="54864" marR="54864" marT="54864" marB="54864"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solidFill>
                      <a:srgbClr val="FFFFFF"/>
                    </a:solidFill>
                  </a:tcPr>
                </a:tc>
                <a:tc>
                  <a:txBody>
                    <a:bodyPr/>
                    <a:lstStyle/>
                    <a:p>
                      <a:pPr marL="0" indent="0" algn="ctr" rtl="1">
                        <a:buNone/>
                      </a:pPr>
                      <a:r>
                        <a:rPr lang="en-US" sz="1050" b="1" dirty="0">
                          <a:solidFill>
                            <a:srgbClr val="1F2933"/>
                          </a:solidFill>
                          <a:latin typeface="Calibri" pitchFamily="34" charset="0"/>
                          <a:ea typeface="Calibri" pitchFamily="34" charset="-122"/>
                          <a:cs typeface="Calibri" pitchFamily="34" charset="-120"/>
                        </a:rPr>
                        <a:t>Jiangping</a:t>
                      </a:r>
                      <a:endParaRPr lang="en-US" sz="1050" dirty="0">
                        <a:latin typeface="Calibri" charset="0"/>
                        <a:ea typeface="Calibri" charset="0"/>
                        <a:cs typeface="Calibri" charset="0"/>
                      </a:endParaRPr>
                    </a:p>
                  </a:txBody>
                  <a:tcPr marL="54864" marR="54864" marT="54864" marB="54864"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lgn="ctr" rtl="1">
                        <a:buNone/>
                      </a:pPr>
                      <a:r>
                        <a:rPr lang="en-US" sz="1050" dirty="0">
                          <a:solidFill>
                            <a:srgbClr val="1F2933"/>
                          </a:solidFill>
                          <a:latin typeface="Shabnam" pitchFamily="34" charset="0"/>
                          <a:ea typeface="Shabnam" pitchFamily="34" charset="-122"/>
                          <a:cs typeface="Shabnam" pitchFamily="34" charset="-120"/>
                        </a:rPr>
                        <a:t>۲</a:t>
                      </a:r>
                      <a:endParaRPr lang="en-US" sz="1050" dirty="0">
                        <a:latin typeface="Shabnam" charset="0"/>
                        <a:ea typeface="Shabnam" charset="0"/>
                        <a:cs typeface="Shabnam" charset="0"/>
                      </a:endParaRPr>
                    </a:p>
                  </a:txBody>
                  <a:tcPr marL="54864" marR="54864" marT="54864" marB="54864"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solidFill>
                      <a:srgbClr val="EEF2F7"/>
                    </a:solidFill>
                  </a:tcPr>
                </a:tc>
                <a:tc>
                  <a:txBody>
                    <a:bodyPr/>
                    <a:lstStyle/>
                    <a:p>
                      <a:pPr marL="0" indent="0" algn="ctr" rtl="1">
                        <a:buNone/>
                      </a:pPr>
                      <a:r>
                        <a:rPr lang="en-US" sz="1050" dirty="0">
                          <a:solidFill>
                            <a:srgbClr val="1F2933"/>
                          </a:solidFill>
                          <a:latin typeface="Shabnam" pitchFamily="34" charset="0"/>
                          <a:ea typeface="Shabnam" pitchFamily="34" charset="-122"/>
                          <a:cs typeface="Shabnam" pitchFamily="34" charset="-120"/>
                        </a:rPr>
                        <a:t>۱۲</a:t>
                      </a:r>
                      <a:endParaRPr lang="en-US" sz="1050" dirty="0">
                        <a:latin typeface="Shabnam" charset="0"/>
                        <a:ea typeface="Shabnam" charset="0"/>
                        <a:cs typeface="Shabnam" charset="0"/>
                      </a:endParaRPr>
                    </a:p>
                  </a:txBody>
                  <a:tcPr marL="54864" marR="54864" marT="54864" marB="54864"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solidFill>
                      <a:srgbClr val="EEF2F7"/>
                    </a:solidFill>
                  </a:tcPr>
                </a:tc>
                <a:tc>
                  <a:txBody>
                    <a:bodyPr/>
                    <a:lstStyle/>
                    <a:p>
                      <a:pPr marL="0" indent="0" algn="ctr" rtl="1">
                        <a:buNone/>
                      </a:pPr>
                      <a:r>
                        <a:rPr lang="en-US" sz="1050" dirty="0">
                          <a:solidFill>
                            <a:srgbClr val="1F2933"/>
                          </a:solidFill>
                          <a:latin typeface="Calibri" pitchFamily="34" charset="0"/>
                          <a:ea typeface="Calibri" pitchFamily="34" charset="-122"/>
                          <a:cs typeface="Calibri" pitchFamily="34" charset="-120"/>
                        </a:rPr>
                        <a:t>20 / 186</a:t>
                      </a:r>
                      <a:endParaRPr lang="en-US" sz="1050" dirty="0">
                        <a:latin typeface="Calibri" charset="0"/>
                        <a:ea typeface="Calibri" charset="0"/>
                        <a:cs typeface="Calibri" charset="0"/>
                      </a:endParaRPr>
                    </a:p>
                  </a:txBody>
                  <a:tcPr marL="54864" marR="54864" marT="54864" marB="54864"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solidFill>
                      <a:srgbClr val="EEF2F7"/>
                    </a:solidFill>
                  </a:tcPr>
                </a:tc>
                <a:tc>
                  <a:txBody>
                    <a:bodyPr/>
                    <a:lstStyle/>
                    <a:p>
                      <a:pPr marL="0" indent="0" algn="ctr" rtl="1">
                        <a:buNone/>
                      </a:pPr>
                      <a:r>
                        <a:rPr lang="en-US" sz="1050" dirty="0">
                          <a:solidFill>
                            <a:srgbClr val="1F2933"/>
                          </a:solidFill>
                          <a:latin typeface="Calibri" pitchFamily="34" charset="0"/>
                          <a:ea typeface="Calibri" pitchFamily="34" charset="-122"/>
                          <a:cs typeface="Calibri" pitchFamily="34" charset="-120"/>
                        </a:rPr>
                        <a:t>6,331</a:t>
                      </a:r>
                      <a:endParaRPr lang="en-US" sz="1050" dirty="0">
                        <a:latin typeface="Calibri" charset="0"/>
                        <a:ea typeface="Calibri" charset="0"/>
                        <a:cs typeface="Calibri" charset="0"/>
                      </a:endParaRPr>
                    </a:p>
                  </a:txBody>
                  <a:tcPr marL="54864" marR="54864" marT="54864" marB="54864"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solidFill>
                      <a:srgbClr val="EEF2F7"/>
                    </a:solidFill>
                  </a:tcPr>
                </a:tc>
                <a:tc>
                  <a:txBody>
                    <a:bodyPr/>
                    <a:lstStyle/>
                    <a:p>
                      <a:pPr marL="0" indent="0" algn="r" rtl="1">
                        <a:buNone/>
                      </a:pPr>
                      <a:r>
                        <a:rPr lang="en-US" sz="1050" dirty="0">
                          <a:solidFill>
                            <a:srgbClr val="1F2933"/>
                          </a:solidFill>
                          <a:latin typeface="Shabnam" pitchFamily="34" charset="0"/>
                          <a:ea typeface="Shabnam" pitchFamily="34" charset="-122"/>
                          <a:cs typeface="Shabnam" pitchFamily="34" charset="-120"/>
                        </a:rPr>
                        <a:t>درگیری در مترو سر صندلی</a:t>
                      </a:r>
                      <a:endParaRPr lang="en-US" sz="1050" dirty="0">
                        <a:latin typeface="Shabnam" charset="0"/>
                        <a:ea typeface="Shabnam" charset="0"/>
                        <a:cs typeface="Shabnam" charset="0"/>
                      </a:endParaRPr>
                    </a:p>
                  </a:txBody>
                  <a:tcPr marL="54864" marR="54864" marT="54864" marB="54864"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solidFill>
                      <a:srgbClr val="EEF2F7"/>
                    </a:solidFill>
                  </a:tcPr>
                </a:tc>
                <a:tc>
                  <a:txBody>
                    <a:bodyPr/>
                    <a:lstStyle/>
                    <a:p>
                      <a:pPr marL="0" indent="0" algn="ctr" rtl="1">
                        <a:buNone/>
                      </a:pPr>
                      <a:r>
                        <a:rPr lang="en-US" sz="1050" b="1" dirty="0">
                          <a:solidFill>
                            <a:srgbClr val="1F2933"/>
                          </a:solidFill>
                          <a:latin typeface="Calibri" pitchFamily="34" charset="0"/>
                          <a:ea typeface="Calibri" pitchFamily="34" charset="-122"/>
                          <a:cs typeface="Calibri" pitchFamily="34" charset="-120"/>
                        </a:rPr>
                        <a:t>Qingdao</a:t>
                      </a:r>
                      <a:endParaRPr lang="en-US" sz="1050" dirty="0">
                        <a:latin typeface="Calibri" charset="0"/>
                        <a:ea typeface="Calibri" charset="0"/>
                        <a:cs typeface="Calibri" charset="0"/>
                      </a:endParaRPr>
                    </a:p>
                  </a:txBody>
                  <a:tcPr marL="54864" marR="54864" marT="54864" marB="54864"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solidFill>
                      <a:srgbClr val="EEF2F7"/>
                    </a:solidFill>
                  </a:tcPr>
                </a:tc>
                <a:extLst>
                  <a:ext uri="{0D108BD9-81ED-4DB2-BD59-A6C34878D82A}">
                    <a16:rowId xmlns:a16="http://schemas.microsoft.com/office/drawing/2014/main" val="10003"/>
                  </a:ext>
                </a:extLst>
              </a:tr>
              <a:tr h="384048">
                <a:tc>
                  <a:txBody>
                    <a:bodyPr/>
                    <a:lstStyle/>
                    <a:p>
                      <a:pPr marL="0" indent="0" algn="ctr" rtl="1">
                        <a:buNone/>
                      </a:pPr>
                      <a:r>
                        <a:rPr lang="en-US" sz="1050" dirty="0">
                          <a:solidFill>
                            <a:srgbClr val="1F2933"/>
                          </a:solidFill>
                          <a:latin typeface="Shabnam" pitchFamily="34" charset="0"/>
                          <a:ea typeface="Shabnam" pitchFamily="34" charset="-122"/>
                          <a:cs typeface="Shabnam" pitchFamily="34" charset="-120"/>
                        </a:rPr>
                        <a:t>۲</a:t>
                      </a:r>
                      <a:endParaRPr lang="en-US" sz="1050" dirty="0">
                        <a:latin typeface="Shabnam" charset="0"/>
                        <a:ea typeface="Shabnam" charset="0"/>
                        <a:cs typeface="Shabnam" charset="0"/>
                      </a:endParaRPr>
                    </a:p>
                  </a:txBody>
                  <a:tcPr marL="54864" marR="54864" marT="54864" marB="54864"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solidFill>
                      <a:srgbClr val="FFFFFF"/>
                    </a:solidFill>
                  </a:tcPr>
                </a:tc>
                <a:tc>
                  <a:txBody>
                    <a:bodyPr/>
                    <a:lstStyle/>
                    <a:p>
                      <a:pPr marL="0" indent="0" algn="ctr" rtl="1">
                        <a:buNone/>
                      </a:pPr>
                      <a:r>
                        <a:rPr lang="en-US" sz="1050" dirty="0">
                          <a:solidFill>
                            <a:srgbClr val="1F2933"/>
                          </a:solidFill>
                          <a:latin typeface="Shabnam" pitchFamily="34" charset="0"/>
                          <a:ea typeface="Shabnam" pitchFamily="34" charset="-122"/>
                          <a:cs typeface="Shabnam" pitchFamily="34" charset="-120"/>
                        </a:rPr>
                        <a:t>۱۰</a:t>
                      </a:r>
                      <a:endParaRPr lang="en-US" sz="1050" dirty="0">
                        <a:latin typeface="Shabnam" charset="0"/>
                        <a:ea typeface="Shabnam" charset="0"/>
                        <a:cs typeface="Shabnam" charset="0"/>
                      </a:endParaRPr>
                    </a:p>
                  </a:txBody>
                  <a:tcPr marL="54864" marR="54864" marT="54864" marB="54864"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solidFill>
                      <a:srgbClr val="FFFFFF"/>
                    </a:solidFill>
                  </a:tcPr>
                </a:tc>
                <a:tc>
                  <a:txBody>
                    <a:bodyPr/>
                    <a:lstStyle/>
                    <a:p>
                      <a:pPr marL="0" indent="0" algn="ctr" rtl="1">
                        <a:buNone/>
                      </a:pPr>
                      <a:r>
                        <a:rPr lang="en-US" sz="1050" dirty="0">
                          <a:solidFill>
                            <a:srgbClr val="1F2933"/>
                          </a:solidFill>
                          <a:latin typeface="Calibri" pitchFamily="34" charset="0"/>
                          <a:ea typeface="Calibri" pitchFamily="34" charset="-122"/>
                          <a:cs typeface="Calibri" pitchFamily="34" charset="-120"/>
                        </a:rPr>
                        <a:t>40 / 386</a:t>
                      </a:r>
                      <a:endParaRPr lang="en-US" sz="1050" dirty="0">
                        <a:latin typeface="Calibri" charset="0"/>
                        <a:ea typeface="Calibri" charset="0"/>
                        <a:cs typeface="Calibri" charset="0"/>
                      </a:endParaRPr>
                    </a:p>
                  </a:txBody>
                  <a:tcPr marL="54864" marR="54864" marT="54864" marB="54864"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solidFill>
                      <a:srgbClr val="FFFFFF"/>
                    </a:solidFill>
                  </a:tcPr>
                </a:tc>
                <a:tc>
                  <a:txBody>
                    <a:bodyPr/>
                    <a:lstStyle/>
                    <a:p>
                      <a:pPr marL="0" indent="0" algn="ctr" rtl="1">
                        <a:buNone/>
                      </a:pPr>
                      <a:r>
                        <a:rPr lang="en-US" sz="1050" dirty="0">
                          <a:solidFill>
                            <a:srgbClr val="1F2933"/>
                          </a:solidFill>
                          <a:latin typeface="Calibri" pitchFamily="34" charset="0"/>
                          <a:ea typeface="Calibri" pitchFamily="34" charset="-122"/>
                          <a:cs typeface="Calibri" pitchFamily="34" charset="-120"/>
                        </a:rPr>
                        <a:t>16,540</a:t>
                      </a:r>
                      <a:endParaRPr lang="en-US" sz="1050" dirty="0">
                        <a:latin typeface="Calibri" charset="0"/>
                        <a:ea typeface="Calibri" charset="0"/>
                        <a:cs typeface="Calibri" charset="0"/>
                      </a:endParaRPr>
                    </a:p>
                  </a:txBody>
                  <a:tcPr marL="54864" marR="54864" marT="54864" marB="54864"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solidFill>
                      <a:srgbClr val="FFFFFF"/>
                    </a:solidFill>
                  </a:tcPr>
                </a:tc>
                <a:tc>
                  <a:txBody>
                    <a:bodyPr/>
                    <a:lstStyle/>
                    <a:p>
                      <a:pPr marL="0" indent="0" algn="r" rtl="1">
                        <a:buNone/>
                      </a:pPr>
                      <a:r>
                        <a:rPr lang="en-US" sz="1050" dirty="0">
                          <a:solidFill>
                            <a:srgbClr val="1F2933"/>
                          </a:solidFill>
                          <a:latin typeface="Shabnam" pitchFamily="34" charset="0"/>
                          <a:ea typeface="Shabnam" pitchFamily="34" charset="-122"/>
                          <a:cs typeface="Shabnam" pitchFamily="34" charset="-120"/>
                        </a:rPr>
                        <a:t>ویدیوی سرطان یک اینفلوئنسر</a:t>
                      </a:r>
                      <a:endParaRPr lang="en-US" sz="1050" dirty="0">
                        <a:latin typeface="Shabnam" charset="0"/>
                        <a:ea typeface="Shabnam" charset="0"/>
                        <a:cs typeface="Shabnam" charset="0"/>
                      </a:endParaRPr>
                    </a:p>
                  </a:txBody>
                  <a:tcPr marL="54864" marR="54864" marT="54864" marB="54864"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solidFill>
                      <a:srgbClr val="FFFFFF"/>
                    </a:solidFill>
                  </a:tcPr>
                </a:tc>
                <a:tc>
                  <a:txBody>
                    <a:bodyPr/>
                    <a:lstStyle/>
                    <a:p>
                      <a:pPr marL="0" indent="0" algn="ctr" rtl="1">
                        <a:buNone/>
                      </a:pPr>
                      <a:r>
                        <a:rPr lang="en-US" sz="1050" b="1" dirty="0">
                          <a:solidFill>
                            <a:srgbClr val="1F2933"/>
                          </a:solidFill>
                          <a:latin typeface="Calibri" pitchFamily="34" charset="0"/>
                          <a:ea typeface="Calibri" pitchFamily="34" charset="-122"/>
                          <a:cs typeface="Calibri" pitchFamily="34" charset="-120"/>
                        </a:rPr>
                        <a:t>Dianduji</a:t>
                      </a:r>
                      <a:endParaRPr lang="en-US" sz="1050" dirty="0">
                        <a:latin typeface="Calibri" charset="0"/>
                        <a:ea typeface="Calibri" charset="0"/>
                        <a:cs typeface="Calibri" charset="0"/>
                      </a:endParaRPr>
                    </a:p>
                  </a:txBody>
                  <a:tcPr marL="54864" marR="54864" marT="54864" marB="54864"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Shape 2"/>
          <p:cNvSpPr/>
          <p:nvPr/>
        </p:nvSpPr>
        <p:spPr>
          <a:xfrm>
            <a:off x="4663440" y="3383280"/>
            <a:ext cx="4023360" cy="1280160"/>
          </a:xfrm>
          <a:prstGeom prst="roundRect">
            <a:avLst>
              <a:gd name="adj" fmla="val 5714"/>
            </a:avLst>
          </a:prstGeom>
          <a:solidFill>
            <a:srgbClr val="EEF2F7"/>
          </a:solidFill>
          <a:ln w="12700">
            <a:solidFill>
              <a:srgbClr val="EEF2F7"/>
            </a:solidFill>
            <a:prstDash val="solid"/>
          </a:ln>
        </p:spPr>
      </p:sp>
      <p:sp>
        <p:nvSpPr>
          <p:cNvPr id="6" name="Text 3"/>
          <p:cNvSpPr txBox="1"/>
          <p:nvPr/>
        </p:nvSpPr>
        <p:spPr>
          <a:xfrm>
            <a:off x="4846320" y="3474720"/>
            <a:ext cx="3657600" cy="274320"/>
          </a:xfrm>
          <a:prstGeom prst="rect">
            <a:avLst/>
          </a:prstGeom>
          <a:noFill/>
          <a:ln/>
        </p:spPr>
        <p:txBody>
          <a:bodyPr wrap="square" lIns="0" tIns="0" rIns="0" bIns="0" rtlCol="0" anchor="t"/>
          <a:lstStyle/>
          <a:p>
            <a:pPr marL="0" indent="0" algn="r" rtl="1">
              <a:buNone/>
            </a:pPr>
            <a:r>
              <a:rPr lang="fa-IR" altLang="en-US" sz="1150" b="1" dirty="0">
                <a:solidFill>
                  <a:srgbClr val="14213D"/>
                </a:solidFill>
                <a:latin typeface="Shabnam" pitchFamily="34" charset="0"/>
                <a:ea typeface="Shabnam" pitchFamily="34" charset="-122"/>
                <a:cs typeface="Shabnam" pitchFamily="34" charset="-120"/>
              </a:rPr>
              <a:t>داده مقاله</a:t>
            </a:r>
            <a:endParaRPr lang="fa-IR" sz="1150" dirty="0"/>
          </a:p>
        </p:txBody>
      </p:sp>
      <p:sp>
        <p:nvSpPr>
          <p:cNvPr id="7" name="Text 4"/>
          <p:cNvSpPr txBox="1"/>
          <p:nvPr/>
        </p:nvSpPr>
        <p:spPr>
          <a:xfrm>
            <a:off x="4846320" y="3767328"/>
            <a:ext cx="3657600" cy="822960"/>
          </a:xfrm>
          <a:prstGeom prst="rect">
            <a:avLst/>
          </a:prstGeom>
          <a:noFill/>
          <a:ln/>
        </p:spPr>
        <p:txBody>
          <a:bodyPr wrap="square" lIns="0" tIns="0" rIns="0" bIns="0" rtlCol="0" anchor="t"/>
          <a:lstStyle/>
          <a:p>
            <a:pPr marL="0" indent="0" algn="r" rtl="1">
              <a:buNone/>
            </a:pPr>
            <a:r>
              <a:rPr lang="fa-IR" altLang="en-US" sz="1000" dirty="0">
                <a:solidFill>
                  <a:srgbClr val="1F2933"/>
                </a:solidFill>
                <a:latin typeface="Shabnam" pitchFamily="34" charset="0"/>
                <a:ea typeface="Shabnam" pitchFamily="34" charset="-122"/>
                <a:cs typeface="Shabnam" pitchFamily="34" charset="-120"/>
              </a:rPr>
              <a:t>۲۵۵,۱۷۶ پست و کامنت ویبو. GLM-4 نگرش هر پست را بین ۱- و ۱ برچسب زده و میانگین روزانه، منحنی واقعی هر رویداد است.</a:t>
            </a:r>
            <a:endParaRPr lang="fa-IR" sz="1000" dirty="0"/>
          </a:p>
        </p:txBody>
      </p:sp>
      <p:sp>
        <p:nvSpPr>
          <p:cNvPr id="4" name="Shape 5"/>
          <p:cNvSpPr/>
          <p:nvPr/>
        </p:nvSpPr>
        <p:spPr>
          <a:xfrm>
            <a:off x="457200" y="3383280"/>
            <a:ext cx="4023360" cy="1280160"/>
          </a:xfrm>
          <a:prstGeom prst="roundRect">
            <a:avLst>
              <a:gd name="adj" fmla="val 5714"/>
            </a:avLst>
          </a:prstGeom>
          <a:solidFill>
            <a:srgbClr val="E3F4F2"/>
          </a:solidFill>
          <a:ln w="12700">
            <a:solidFill>
              <a:srgbClr val="E3F4F2"/>
            </a:solidFill>
            <a:prstDash val="solid"/>
          </a:ln>
        </p:spPr>
      </p:sp>
      <p:sp>
        <p:nvSpPr>
          <p:cNvPr id="9" name="Text 6"/>
          <p:cNvSpPr txBox="1"/>
          <p:nvPr/>
        </p:nvSpPr>
        <p:spPr>
          <a:xfrm>
            <a:off x="640080" y="3474720"/>
            <a:ext cx="3657600" cy="274320"/>
          </a:xfrm>
          <a:prstGeom prst="rect">
            <a:avLst/>
          </a:prstGeom>
          <a:noFill/>
          <a:ln/>
        </p:spPr>
        <p:txBody>
          <a:bodyPr wrap="square" lIns="0" tIns="0" rIns="0" bIns="0" rtlCol="0" anchor="t"/>
          <a:lstStyle/>
          <a:p>
            <a:pPr marL="0" indent="0" algn="r" rtl="1">
              <a:buNone/>
            </a:pPr>
            <a:r>
              <a:rPr lang="fa-IR" altLang="en-US" sz="1150" b="1" dirty="0">
                <a:solidFill>
                  <a:srgbClr val="17A398"/>
                </a:solidFill>
                <a:latin typeface="Shabnam" pitchFamily="34" charset="0"/>
                <a:ea typeface="Shabnam" pitchFamily="34" charset="-122"/>
                <a:cs typeface="Shabnam" pitchFamily="34" charset="-120"/>
              </a:rPr>
              <a:t>داده در پیاده‌سازی من</a:t>
            </a:r>
            <a:endParaRPr lang="fa-IR" sz="1150" dirty="0"/>
          </a:p>
        </p:txBody>
      </p:sp>
      <p:sp>
        <p:nvSpPr>
          <p:cNvPr id="10" name="Text 7"/>
          <p:cNvSpPr txBox="1"/>
          <p:nvPr/>
        </p:nvSpPr>
        <p:spPr>
          <a:xfrm>
            <a:off x="640080" y="3767328"/>
            <a:ext cx="3657600" cy="822960"/>
          </a:xfrm>
          <a:prstGeom prst="rect">
            <a:avLst/>
          </a:prstGeom>
          <a:noFill/>
          <a:ln/>
        </p:spPr>
        <p:txBody>
          <a:bodyPr wrap="square" lIns="0" tIns="0" rIns="0" bIns="0" rtlCol="0" anchor="t"/>
          <a:lstStyle/>
          <a:p>
            <a:pPr marL="0" indent="0" algn="r" rtl="1">
              <a:buNone/>
            </a:pPr>
            <a:r>
              <a:rPr lang="fa-IR" altLang="en-US" sz="1000" dirty="0">
                <a:solidFill>
                  <a:srgbClr val="1F2933"/>
                </a:solidFill>
                <a:latin typeface="Shabnam" pitchFamily="34" charset="0"/>
                <a:ea typeface="Shabnam" pitchFamily="34" charset="-122"/>
                <a:cs typeface="Shabnam" pitchFamily="34" charset="-120"/>
              </a:rPr>
              <a:t>پست‌های خام منتشر نشده‌اند؛ منحنی روزانه هر رویداد را از شکل ۲ مقاله استخراج کردم و متن خبرها را از شرح رویدادها در مقاله نوشتم.</a:t>
            </a:r>
            <a:endParaRPr lang="fa-IR" sz="1000" dirty="0"/>
          </a:p>
        </p:txBody>
      </p:sp>
      <p:sp>
        <p:nvSpPr>
          <p:cNvPr id="11" name="Text 8"/>
          <p:cNvSpPr txBox="1"/>
          <p:nvPr/>
        </p:nvSpPr>
        <p:spPr>
          <a:xfrm>
            <a:off x="457200" y="4800600"/>
            <a:ext cx="5486400" cy="228600"/>
          </a:xfrm>
          <a:prstGeom prst="rect">
            <a:avLst/>
          </a:prstGeom>
          <a:noFill/>
          <a:ln/>
        </p:spPr>
        <p:txBody>
          <a:bodyPr wrap="square" lIns="0" tIns="0" rIns="0" bIns="0" rtlCol="0" anchor="t"/>
          <a:lstStyle/>
          <a:p>
            <a:pPr marL="0" indent="0" algn="l">
              <a:buNone/>
            </a:pPr>
            <a:r>
              <a:rPr lang="en-US" sz="900" dirty="0">
                <a:solidFill>
                  <a:srgbClr val="5C6B7A"/>
                </a:solidFill>
                <a:latin typeface="Calibri" pitchFamily="34" charset="0"/>
                <a:ea typeface="Calibri" pitchFamily="34" charset="-122"/>
                <a:cs typeface="Calibri" pitchFamily="34" charset="-120"/>
              </a:rPr>
              <a:t>Yao et al., Scientific Reports 15:15472 (2025)</a:t>
            </a:r>
            <a:endParaRPr lang="en-US" sz="900" dirty="0"/>
          </a:p>
        </p:txBody>
      </p:sp>
      <p:sp>
        <p:nvSpPr>
          <p:cNvPr id="12" name="Text 9"/>
          <p:cNvSpPr txBox="1"/>
          <p:nvPr/>
        </p:nvSpPr>
        <p:spPr>
          <a:xfrm>
            <a:off x="8229600" y="4773168"/>
            <a:ext cx="457200" cy="228600"/>
          </a:xfrm>
          <a:prstGeom prst="rect">
            <a:avLst/>
          </a:prstGeom>
          <a:noFill/>
          <a:ln/>
        </p:spPr>
        <p:txBody>
          <a:bodyPr wrap="square" lIns="0" tIns="0" rIns="0" bIns="0" rtlCol="0" anchor="t"/>
          <a:lstStyle/>
          <a:p>
            <a:pPr marL="0" indent="0" algn="r" rtl="1">
              <a:buNone/>
            </a:pPr>
            <a:r>
              <a:rPr lang="fa-IR" altLang="en-US" sz="1000" dirty="0">
                <a:solidFill>
                  <a:srgbClr val="5C6B7A"/>
                </a:solidFill>
                <a:latin typeface="Shabnam" pitchFamily="34" charset="0"/>
                <a:ea typeface="Shabnam" pitchFamily="34" charset="-122"/>
                <a:cs typeface="Shabnam" pitchFamily="34" charset="-120"/>
              </a:rPr>
              <a:t>۷</a:t>
            </a:r>
            <a:endParaRPr lang="fa-IR"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7863840" cy="274320"/>
          </a:xfrm>
          <a:prstGeom prst="rect">
            <a:avLst/>
          </a:prstGeom>
          <a:noFill/>
          <a:ln/>
        </p:spPr>
        <p:txBody>
          <a:bodyPr wrap="square" lIns="0" tIns="0" rIns="0" bIns="0" rtlCol="0" anchor="t"/>
          <a:lstStyle/>
          <a:p>
            <a:pPr marL="0" indent="0" algn="r" rtl="1">
              <a:buNone/>
            </a:pPr>
            <a:r>
              <a:rPr lang="fa-IR" altLang="en-US" sz="1100" dirty="0">
                <a:solidFill>
                  <a:srgbClr val="5C6B7A"/>
                </a:solidFill>
                <a:latin typeface="Shabnam" pitchFamily="34" charset="0"/>
                <a:ea typeface="Shabnam" pitchFamily="34" charset="-122"/>
                <a:cs typeface="Shabnam" pitchFamily="34" charset="-120"/>
              </a:rPr>
              <a:t>۵  ·  معیارهای ارزیابی (Evaluation Measures)</a:t>
            </a:r>
            <a:endParaRPr lang="fa-IR" sz="1100" dirty="0"/>
          </a:p>
        </p:txBody>
      </p:sp>
      <p:sp>
        <p:nvSpPr>
          <p:cNvPr id="3" name="Text 1"/>
          <p:cNvSpPr txBox="1"/>
          <p:nvPr/>
        </p:nvSpPr>
        <p:spPr>
          <a:xfrm>
            <a:off x="457200" y="566928"/>
            <a:ext cx="8229600" cy="594360"/>
          </a:xfrm>
          <a:prstGeom prst="rect">
            <a:avLst/>
          </a:prstGeom>
          <a:noFill/>
          <a:ln/>
        </p:spPr>
        <p:txBody>
          <a:bodyPr wrap="square" lIns="0" tIns="0" rIns="0" bIns="0" rtlCol="0" anchor="t"/>
          <a:lstStyle/>
          <a:p>
            <a:pPr marL="0" indent="0" algn="r" rtl="1">
              <a:buNone/>
            </a:pPr>
            <a:r>
              <a:rPr lang="fa-IR" altLang="en-US" sz="2400" b="1" dirty="0">
                <a:solidFill>
                  <a:srgbClr val="14213D"/>
                </a:solidFill>
                <a:latin typeface="Shabnam" pitchFamily="34" charset="0"/>
                <a:ea typeface="Shabnam" pitchFamily="34" charset="-122"/>
                <a:cs typeface="Shabnam" pitchFamily="34" charset="-120"/>
              </a:rPr>
              <a:t>شکل منحنی را می‌سنجیم، نه دقت طبقه‌بندی</a:t>
            </a:r>
            <a:endParaRPr lang="fa-IR" sz="2400" dirty="0"/>
          </a:p>
        </p:txBody>
      </p:sp>
      <p:sp>
        <p:nvSpPr>
          <p:cNvPr id="4" name="Shape 2"/>
          <p:cNvSpPr/>
          <p:nvPr/>
        </p:nvSpPr>
        <p:spPr>
          <a:xfrm>
            <a:off x="4663440" y="1325880"/>
            <a:ext cx="4023360" cy="1691640"/>
          </a:xfrm>
          <a:prstGeom prst="roundRect">
            <a:avLst>
              <a:gd name="adj" fmla="val 4324"/>
            </a:avLst>
          </a:prstGeom>
          <a:solidFill>
            <a:srgbClr val="EEF2F7"/>
          </a:solidFill>
          <a:ln w="12700">
            <a:solidFill>
              <a:srgbClr val="EEF2F7"/>
            </a:solidFill>
            <a:prstDash val="solid"/>
          </a:ln>
        </p:spPr>
      </p:sp>
      <p:sp>
        <p:nvSpPr>
          <p:cNvPr id="5" name="Text 3"/>
          <p:cNvSpPr txBox="1"/>
          <p:nvPr/>
        </p:nvSpPr>
        <p:spPr>
          <a:xfrm>
            <a:off x="4846320" y="1435608"/>
            <a:ext cx="3657600" cy="274320"/>
          </a:xfrm>
          <a:prstGeom prst="rect">
            <a:avLst/>
          </a:prstGeom>
          <a:noFill/>
          <a:ln/>
        </p:spPr>
        <p:txBody>
          <a:bodyPr wrap="square" lIns="0" tIns="0" rIns="0" bIns="0" rtlCol="0" anchor="t"/>
          <a:lstStyle/>
          <a:p>
            <a:pPr marL="0" indent="0" algn="r" rtl="1">
              <a:buNone/>
            </a:pPr>
            <a:r>
              <a:rPr lang="fa-IR" altLang="en-US" sz="1200" b="1" dirty="0">
                <a:solidFill>
                  <a:srgbClr val="14213D"/>
                </a:solidFill>
                <a:latin typeface="Shabnam" pitchFamily="34" charset="0"/>
                <a:ea typeface="Shabnam" pitchFamily="34" charset="-122"/>
                <a:cs typeface="Shabnam" pitchFamily="34" charset="-120"/>
              </a:rPr>
              <a:t>Dynamic Time Warping · DTW (کمتر بهتر)</a:t>
            </a:r>
            <a:endParaRPr lang="fa-IR" sz="1200" dirty="0"/>
          </a:p>
        </p:txBody>
      </p:sp>
      <p:sp>
        <p:nvSpPr>
          <p:cNvPr id="6" name="Text 4"/>
          <p:cNvSpPr txBox="1"/>
          <p:nvPr/>
        </p:nvSpPr>
        <p:spPr>
          <a:xfrm>
            <a:off x="4846320" y="1783080"/>
            <a:ext cx="3657600" cy="301752"/>
          </a:xfrm>
          <a:prstGeom prst="rect">
            <a:avLst/>
          </a:prstGeom>
          <a:noFill/>
          <a:ln/>
        </p:spPr>
        <p:txBody>
          <a:bodyPr wrap="square" lIns="0" tIns="0" rIns="0" bIns="0" rtlCol="0" anchor="t"/>
          <a:lstStyle/>
          <a:p>
            <a:pPr marL="0" indent="0" algn="r">
              <a:buNone/>
            </a:pPr>
            <a:r>
              <a:rPr lang="en-US" sz="1250" dirty="0">
                <a:solidFill>
                  <a:srgbClr val="1F2933"/>
                </a:solidFill>
                <a:latin typeface="Cambria Math" pitchFamily="34" charset="0"/>
                <a:ea typeface="Cambria Math" pitchFamily="34" charset="-122"/>
                <a:cs typeface="Cambria Math" pitchFamily="34" charset="-120"/>
              </a:rPr>
              <a:t>DTW(S,T) = min √ Σ (s_i − t_j)²</a:t>
            </a:r>
            <a:endParaRPr lang="en-US" sz="1250" dirty="0"/>
          </a:p>
        </p:txBody>
      </p:sp>
      <p:sp>
        <p:nvSpPr>
          <p:cNvPr id="7" name="Text 5"/>
          <p:cNvSpPr txBox="1"/>
          <p:nvPr/>
        </p:nvSpPr>
        <p:spPr>
          <a:xfrm>
            <a:off x="4846320" y="2194560"/>
            <a:ext cx="3657600" cy="731520"/>
          </a:xfrm>
          <a:prstGeom prst="rect">
            <a:avLst/>
          </a:prstGeom>
          <a:noFill/>
          <a:ln/>
        </p:spPr>
        <p:txBody>
          <a:bodyPr wrap="square" lIns="0" tIns="0" rIns="0" bIns="0" rtlCol="0" anchor="t"/>
          <a:lstStyle/>
          <a:p>
            <a:pPr marL="0" indent="0" algn="r" rtl="1">
              <a:buNone/>
            </a:pPr>
            <a:r>
              <a:rPr lang="fa-IR" altLang="en-US" sz="1000" dirty="0">
                <a:solidFill>
                  <a:srgbClr val="5C6B7A"/>
                </a:solidFill>
                <a:latin typeface="Shabnam" pitchFamily="34" charset="0"/>
                <a:ea typeface="Shabnam" pitchFamily="34" charset="-122"/>
                <a:cs typeface="Shabnam" pitchFamily="34" charset="-120"/>
              </a:rPr>
              <a:t>فاصله دو منحنی بعد از بهترین هم‌ترازی زمانی؛ اگر شبیه‌سازی یکی دو روز جلو یا عقب باشد، بیش از حد جریمه نمی‌شود.</a:t>
            </a:r>
            <a:endParaRPr lang="fa-IR" sz="1000" dirty="0"/>
          </a:p>
        </p:txBody>
      </p:sp>
      <p:sp>
        <p:nvSpPr>
          <p:cNvPr id="8" name="Shape 6"/>
          <p:cNvSpPr/>
          <p:nvPr/>
        </p:nvSpPr>
        <p:spPr>
          <a:xfrm>
            <a:off x="457200" y="1325880"/>
            <a:ext cx="4023360" cy="1691640"/>
          </a:xfrm>
          <a:prstGeom prst="roundRect">
            <a:avLst>
              <a:gd name="adj" fmla="val 4324"/>
            </a:avLst>
          </a:prstGeom>
          <a:solidFill>
            <a:srgbClr val="EEF2F7"/>
          </a:solidFill>
          <a:ln w="12700">
            <a:solidFill>
              <a:srgbClr val="EEF2F7"/>
            </a:solidFill>
            <a:prstDash val="solid"/>
          </a:ln>
        </p:spPr>
      </p:sp>
      <p:sp>
        <p:nvSpPr>
          <p:cNvPr id="9" name="Text 7"/>
          <p:cNvSpPr txBox="1"/>
          <p:nvPr/>
        </p:nvSpPr>
        <p:spPr>
          <a:xfrm>
            <a:off x="640080" y="1435608"/>
            <a:ext cx="3657600" cy="274320"/>
          </a:xfrm>
          <a:prstGeom prst="rect">
            <a:avLst/>
          </a:prstGeom>
          <a:noFill/>
          <a:ln/>
        </p:spPr>
        <p:txBody>
          <a:bodyPr wrap="square" lIns="0" tIns="0" rIns="0" bIns="0" rtlCol="0" anchor="t"/>
          <a:lstStyle/>
          <a:p>
            <a:pPr marL="0" indent="0" algn="r" rtl="1">
              <a:buNone/>
            </a:pPr>
            <a:r>
              <a:rPr lang="fa-IR" altLang="en-US" sz="1200" b="1" dirty="0">
                <a:solidFill>
                  <a:srgbClr val="14213D"/>
                </a:solidFill>
                <a:latin typeface="Shabnam" pitchFamily="34" charset="0"/>
                <a:ea typeface="Shabnam" pitchFamily="34" charset="-122"/>
                <a:cs typeface="Shabnam" pitchFamily="34" charset="-120"/>
              </a:rPr>
              <a:t>ضریب همبستگی پیرسون · r (بیشتر بهتر)</a:t>
            </a:r>
            <a:endParaRPr lang="fa-IR" sz="1200" dirty="0"/>
          </a:p>
        </p:txBody>
      </p:sp>
      <p:sp>
        <p:nvSpPr>
          <p:cNvPr id="10" name="Text 8"/>
          <p:cNvSpPr txBox="1"/>
          <p:nvPr/>
        </p:nvSpPr>
        <p:spPr>
          <a:xfrm>
            <a:off x="640080" y="1783080"/>
            <a:ext cx="3657600" cy="301752"/>
          </a:xfrm>
          <a:prstGeom prst="rect">
            <a:avLst/>
          </a:prstGeom>
          <a:noFill/>
          <a:ln/>
        </p:spPr>
        <p:txBody>
          <a:bodyPr wrap="square" lIns="0" tIns="0" rIns="0" bIns="0" rtlCol="0" anchor="t"/>
          <a:lstStyle/>
          <a:p>
            <a:pPr marL="0" indent="0" algn="r">
              <a:buNone/>
            </a:pPr>
            <a:r>
              <a:rPr lang="en-US" sz="1200" dirty="0">
                <a:solidFill>
                  <a:srgbClr val="1F2933"/>
                </a:solidFill>
                <a:latin typeface="Cambria Math" pitchFamily="34" charset="0"/>
                <a:ea typeface="Cambria Math" pitchFamily="34" charset="-122"/>
                <a:cs typeface="Cambria Math" pitchFamily="34" charset="-120"/>
              </a:rPr>
              <a:t>r = Σ(s−s̄)(t−t̄) / √Σ(s−s̄)² √Σ(t−t̄)²</a:t>
            </a:r>
            <a:endParaRPr lang="en-US" sz="1200" dirty="0"/>
          </a:p>
        </p:txBody>
      </p:sp>
      <p:sp>
        <p:nvSpPr>
          <p:cNvPr id="11" name="Text 9"/>
          <p:cNvSpPr txBox="1"/>
          <p:nvPr/>
        </p:nvSpPr>
        <p:spPr>
          <a:xfrm>
            <a:off x="640080" y="2194560"/>
            <a:ext cx="3657600" cy="731520"/>
          </a:xfrm>
          <a:prstGeom prst="rect">
            <a:avLst/>
          </a:prstGeom>
          <a:noFill/>
          <a:ln/>
        </p:spPr>
        <p:txBody>
          <a:bodyPr wrap="square" lIns="0" tIns="0" rIns="0" bIns="0" rtlCol="0" anchor="t"/>
          <a:lstStyle/>
          <a:p>
            <a:pPr marL="0" indent="0" algn="r" rtl="1">
              <a:buNone/>
            </a:pPr>
            <a:r>
              <a:rPr lang="fa-IR" altLang="en-US" sz="1000" dirty="0">
                <a:solidFill>
                  <a:srgbClr val="5C6B7A"/>
                </a:solidFill>
                <a:latin typeface="Shabnam" pitchFamily="34" charset="0"/>
                <a:ea typeface="Shabnam" pitchFamily="34" charset="-122"/>
                <a:cs typeface="Shabnam" pitchFamily="34" charset="-120"/>
              </a:rPr>
              <a:t>اینکه روند دو منحنی با هم بالا و پایین می‌رود یا نه؛ بین ۱- و ۱، هرچه به ۱ نزدیک‌تر بهتر.</a:t>
            </a:r>
            <a:endParaRPr lang="fa-IR" sz="1000" dirty="0"/>
          </a:p>
        </p:txBody>
      </p:sp>
      <p:sp>
        <p:nvSpPr>
          <p:cNvPr id="12" name="Text 10"/>
          <p:cNvSpPr txBox="1"/>
          <p:nvPr/>
        </p:nvSpPr>
        <p:spPr>
          <a:xfrm>
            <a:off x="457200" y="3200400"/>
            <a:ext cx="8229600" cy="274320"/>
          </a:xfrm>
          <a:prstGeom prst="rect">
            <a:avLst/>
          </a:prstGeom>
          <a:noFill/>
          <a:ln/>
        </p:spPr>
        <p:txBody>
          <a:bodyPr wrap="square" lIns="0" tIns="0" rIns="0" bIns="0" rtlCol="0" anchor="t"/>
          <a:lstStyle/>
          <a:p>
            <a:pPr marL="0" indent="0" algn="r" rtl="1">
              <a:buNone/>
            </a:pPr>
            <a:r>
              <a:rPr lang="fa-IR" altLang="en-US" sz="1300" b="1" dirty="0">
                <a:solidFill>
                  <a:srgbClr val="E4572E"/>
                </a:solidFill>
                <a:latin typeface="Shabnam" pitchFamily="34" charset="0"/>
                <a:ea typeface="Shabnam" pitchFamily="34" charset="-122"/>
                <a:cs typeface="Shabnam" pitchFamily="34" charset="-120"/>
              </a:rPr>
              <a:t>روش‌های مقایسه (Baselines)</a:t>
            </a:r>
            <a:endParaRPr lang="fa-IR" sz="1300" dirty="0"/>
          </a:p>
        </p:txBody>
      </p:sp>
      <p:sp>
        <p:nvSpPr>
          <p:cNvPr id="13" name="Shape 11"/>
          <p:cNvSpPr/>
          <p:nvPr/>
        </p:nvSpPr>
        <p:spPr>
          <a:xfrm>
            <a:off x="7059168" y="3566160"/>
            <a:ext cx="1536192" cy="1051560"/>
          </a:xfrm>
          <a:prstGeom prst="roundRect">
            <a:avLst>
              <a:gd name="adj" fmla="val 6957"/>
            </a:avLst>
          </a:prstGeom>
          <a:solidFill>
            <a:srgbClr val="FFFFFF"/>
          </a:solidFill>
          <a:ln w="12700">
            <a:solidFill>
              <a:srgbClr val="FFFFFF"/>
            </a:solidFill>
            <a:prstDash val="solid"/>
          </a:ln>
        </p:spPr>
      </p:sp>
      <p:sp>
        <p:nvSpPr>
          <p:cNvPr id="14" name="Shape 12"/>
          <p:cNvSpPr/>
          <p:nvPr/>
        </p:nvSpPr>
        <p:spPr>
          <a:xfrm>
            <a:off x="7059168" y="3566160"/>
            <a:ext cx="1536192" cy="1051560"/>
          </a:xfrm>
          <a:prstGeom prst="roundRect">
            <a:avLst>
              <a:gd name="adj" fmla="val 6957"/>
            </a:avLst>
          </a:prstGeom>
          <a:solidFill>
            <a:srgbClr val="FFFFFF"/>
          </a:solidFill>
          <a:ln w="9525">
            <a:solidFill>
              <a:srgbClr val="D5DCE5"/>
            </a:solidFill>
            <a:prstDash val="solid"/>
          </a:ln>
        </p:spPr>
      </p:sp>
      <p:sp>
        <p:nvSpPr>
          <p:cNvPr id="15" name="Text 13"/>
          <p:cNvSpPr txBox="1"/>
          <p:nvPr/>
        </p:nvSpPr>
        <p:spPr>
          <a:xfrm>
            <a:off x="7150608" y="3675888"/>
            <a:ext cx="1353312" cy="320040"/>
          </a:xfrm>
          <a:prstGeom prst="rect">
            <a:avLst/>
          </a:prstGeom>
          <a:noFill/>
          <a:ln/>
        </p:spPr>
        <p:txBody>
          <a:bodyPr wrap="square" lIns="0" tIns="0" rIns="0" bIns="0" rtlCol="0" anchor="t"/>
          <a:lstStyle/>
          <a:p>
            <a:pPr marL="0" indent="0" algn="ctr">
              <a:buNone/>
            </a:pPr>
            <a:r>
              <a:rPr lang="en-US" sz="1200" b="1" dirty="0">
                <a:solidFill>
                  <a:srgbClr val="14213D"/>
                </a:solidFill>
                <a:latin typeface="Calibri" pitchFamily="34" charset="0"/>
                <a:ea typeface="Calibri" pitchFamily="34" charset="-122"/>
                <a:cs typeface="Calibri" pitchFamily="34" charset="-120"/>
              </a:rPr>
              <a:t>LLM</a:t>
            </a:r>
            <a:endParaRPr lang="en-US" sz="1200" dirty="0"/>
          </a:p>
        </p:txBody>
      </p:sp>
      <p:sp>
        <p:nvSpPr>
          <p:cNvPr id="16" name="Text 14"/>
          <p:cNvSpPr txBox="1"/>
          <p:nvPr/>
        </p:nvSpPr>
        <p:spPr>
          <a:xfrm>
            <a:off x="7150608" y="4041648"/>
            <a:ext cx="1353312" cy="502920"/>
          </a:xfrm>
          <a:prstGeom prst="rect">
            <a:avLst/>
          </a:prstGeom>
          <a:noFill/>
          <a:ln/>
        </p:spPr>
        <p:txBody>
          <a:bodyPr wrap="square" lIns="0" tIns="0" rIns="0" bIns="0" rtlCol="0" anchor="t"/>
          <a:lstStyle/>
          <a:p>
            <a:pPr marL="0" indent="0" algn="ctr" rtl="1">
              <a:buNone/>
            </a:pPr>
            <a:r>
              <a:rPr lang="fa-IR" altLang="en-US" sz="950" dirty="0">
                <a:solidFill>
                  <a:srgbClr val="5C6B7A"/>
                </a:solidFill>
                <a:latin typeface="Shabnam" pitchFamily="34" charset="0"/>
                <a:ea typeface="Shabnam" pitchFamily="34" charset="-122"/>
                <a:cs typeface="Shabnam" pitchFamily="34" charset="-120"/>
              </a:rPr>
              <a:t>همه ایجنت‌ها فقط LLM</a:t>
            </a:r>
            <a:endParaRPr lang="fa-IR" sz="950" dirty="0"/>
          </a:p>
        </p:txBody>
      </p:sp>
      <p:sp>
        <p:nvSpPr>
          <p:cNvPr id="17" name="Shape 15"/>
          <p:cNvSpPr/>
          <p:nvPr/>
        </p:nvSpPr>
        <p:spPr>
          <a:xfrm>
            <a:off x="5413248" y="3566160"/>
            <a:ext cx="1536192" cy="1051560"/>
          </a:xfrm>
          <a:prstGeom prst="roundRect">
            <a:avLst>
              <a:gd name="adj" fmla="val 6957"/>
            </a:avLst>
          </a:prstGeom>
          <a:solidFill>
            <a:srgbClr val="FFFFFF"/>
          </a:solidFill>
          <a:ln w="12700">
            <a:solidFill>
              <a:srgbClr val="FFFFFF"/>
            </a:solidFill>
            <a:prstDash val="solid"/>
          </a:ln>
        </p:spPr>
      </p:sp>
      <p:sp>
        <p:nvSpPr>
          <p:cNvPr id="18" name="Shape 16"/>
          <p:cNvSpPr/>
          <p:nvPr/>
        </p:nvSpPr>
        <p:spPr>
          <a:xfrm>
            <a:off x="5413248" y="3566160"/>
            <a:ext cx="1536192" cy="1051560"/>
          </a:xfrm>
          <a:prstGeom prst="roundRect">
            <a:avLst>
              <a:gd name="adj" fmla="val 6957"/>
            </a:avLst>
          </a:prstGeom>
          <a:solidFill>
            <a:srgbClr val="FFFFFF"/>
          </a:solidFill>
          <a:ln w="9525">
            <a:solidFill>
              <a:srgbClr val="D5DCE5"/>
            </a:solidFill>
            <a:prstDash val="solid"/>
          </a:ln>
        </p:spPr>
      </p:sp>
      <p:sp>
        <p:nvSpPr>
          <p:cNvPr id="19" name="Text 17"/>
          <p:cNvSpPr txBox="1"/>
          <p:nvPr/>
        </p:nvSpPr>
        <p:spPr>
          <a:xfrm>
            <a:off x="5504688" y="3675888"/>
            <a:ext cx="1353312" cy="320040"/>
          </a:xfrm>
          <a:prstGeom prst="rect">
            <a:avLst/>
          </a:prstGeom>
          <a:noFill/>
          <a:ln/>
        </p:spPr>
        <p:txBody>
          <a:bodyPr wrap="square" lIns="0" tIns="0" rIns="0" bIns="0" rtlCol="0" anchor="t"/>
          <a:lstStyle/>
          <a:p>
            <a:pPr marL="0" indent="0" algn="ctr">
              <a:buNone/>
            </a:pPr>
            <a:r>
              <a:rPr lang="en-US" sz="1200" b="1" dirty="0">
                <a:solidFill>
                  <a:srgbClr val="14213D"/>
                </a:solidFill>
                <a:latin typeface="Calibri" pitchFamily="34" charset="0"/>
                <a:ea typeface="Calibri" pitchFamily="34" charset="-122"/>
                <a:cs typeface="Calibri" pitchFamily="34" charset="-120"/>
              </a:rPr>
              <a:t>ABM(CA)</a:t>
            </a:r>
            <a:endParaRPr lang="en-US" sz="1200" dirty="0"/>
          </a:p>
        </p:txBody>
      </p:sp>
      <p:sp>
        <p:nvSpPr>
          <p:cNvPr id="20" name="Text 18"/>
          <p:cNvSpPr txBox="1"/>
          <p:nvPr/>
        </p:nvSpPr>
        <p:spPr>
          <a:xfrm>
            <a:off x="5504688" y="4041648"/>
            <a:ext cx="1353312" cy="502920"/>
          </a:xfrm>
          <a:prstGeom prst="rect">
            <a:avLst/>
          </a:prstGeom>
          <a:noFill/>
          <a:ln/>
        </p:spPr>
        <p:txBody>
          <a:bodyPr wrap="square" lIns="0" tIns="0" rIns="0" bIns="0" rtlCol="0" anchor="t"/>
          <a:lstStyle/>
          <a:p>
            <a:pPr marL="0" indent="0" algn="ctr" rtl="1">
              <a:buNone/>
            </a:pPr>
            <a:r>
              <a:rPr lang="fa-IR" altLang="en-US" sz="950" dirty="0">
                <a:solidFill>
                  <a:srgbClr val="5C6B7A"/>
                </a:solidFill>
                <a:latin typeface="Shabnam" pitchFamily="34" charset="0"/>
                <a:ea typeface="Shabnam" pitchFamily="34" charset="-122"/>
                <a:cs typeface="Shabnam" pitchFamily="34" charset="-120"/>
              </a:rPr>
              <a:t>فقط Cellular Automata</a:t>
            </a:r>
            <a:endParaRPr lang="fa-IR" sz="950" dirty="0"/>
          </a:p>
        </p:txBody>
      </p:sp>
      <p:sp>
        <p:nvSpPr>
          <p:cNvPr id="21" name="Shape 19"/>
          <p:cNvSpPr/>
          <p:nvPr/>
        </p:nvSpPr>
        <p:spPr>
          <a:xfrm>
            <a:off x="3767328" y="3566160"/>
            <a:ext cx="1536192" cy="1051560"/>
          </a:xfrm>
          <a:prstGeom prst="roundRect">
            <a:avLst>
              <a:gd name="adj" fmla="val 6957"/>
            </a:avLst>
          </a:prstGeom>
          <a:solidFill>
            <a:srgbClr val="FFFFFF"/>
          </a:solidFill>
          <a:ln w="12700">
            <a:solidFill>
              <a:srgbClr val="FFFFFF"/>
            </a:solidFill>
            <a:prstDash val="solid"/>
          </a:ln>
        </p:spPr>
      </p:sp>
      <p:sp>
        <p:nvSpPr>
          <p:cNvPr id="22" name="Shape 20"/>
          <p:cNvSpPr/>
          <p:nvPr/>
        </p:nvSpPr>
        <p:spPr>
          <a:xfrm>
            <a:off x="3767328" y="3566160"/>
            <a:ext cx="1536192" cy="1051560"/>
          </a:xfrm>
          <a:prstGeom prst="roundRect">
            <a:avLst>
              <a:gd name="adj" fmla="val 6957"/>
            </a:avLst>
          </a:prstGeom>
          <a:solidFill>
            <a:srgbClr val="FFFFFF"/>
          </a:solidFill>
          <a:ln w="9525">
            <a:solidFill>
              <a:srgbClr val="D5DCE5"/>
            </a:solidFill>
            <a:prstDash val="solid"/>
          </a:ln>
        </p:spPr>
      </p:sp>
      <p:sp>
        <p:nvSpPr>
          <p:cNvPr id="23" name="Text 21"/>
          <p:cNvSpPr txBox="1"/>
          <p:nvPr/>
        </p:nvSpPr>
        <p:spPr>
          <a:xfrm>
            <a:off x="3858768" y="3675888"/>
            <a:ext cx="1353312" cy="320040"/>
          </a:xfrm>
          <a:prstGeom prst="rect">
            <a:avLst/>
          </a:prstGeom>
          <a:noFill/>
          <a:ln/>
        </p:spPr>
        <p:txBody>
          <a:bodyPr wrap="square" lIns="0" tIns="0" rIns="0" bIns="0" rtlCol="0" anchor="t"/>
          <a:lstStyle/>
          <a:p>
            <a:pPr marL="0" indent="0" algn="ctr">
              <a:buNone/>
            </a:pPr>
            <a:r>
              <a:rPr lang="en-US" sz="1200" b="1" dirty="0">
                <a:solidFill>
                  <a:srgbClr val="14213D"/>
                </a:solidFill>
                <a:latin typeface="Calibri" pitchFamily="34" charset="0"/>
                <a:ea typeface="Calibri" pitchFamily="34" charset="-122"/>
                <a:cs typeface="Calibri" pitchFamily="34" charset="-120"/>
              </a:rPr>
              <a:t>ABM(HK)</a:t>
            </a:r>
            <a:endParaRPr lang="en-US" sz="1200" dirty="0"/>
          </a:p>
        </p:txBody>
      </p:sp>
      <p:sp>
        <p:nvSpPr>
          <p:cNvPr id="24" name="Text 22"/>
          <p:cNvSpPr txBox="1"/>
          <p:nvPr/>
        </p:nvSpPr>
        <p:spPr>
          <a:xfrm>
            <a:off x="3858768" y="4041648"/>
            <a:ext cx="1353312" cy="502920"/>
          </a:xfrm>
          <a:prstGeom prst="rect">
            <a:avLst/>
          </a:prstGeom>
          <a:noFill/>
          <a:ln/>
        </p:spPr>
        <p:txBody>
          <a:bodyPr wrap="square" lIns="0" tIns="0" rIns="0" bIns="0" rtlCol="0" anchor="t"/>
          <a:lstStyle/>
          <a:p>
            <a:pPr marL="0" indent="0" algn="ctr" rtl="1">
              <a:buNone/>
            </a:pPr>
            <a:r>
              <a:rPr lang="fa-IR" altLang="en-US" sz="950" dirty="0">
                <a:solidFill>
                  <a:srgbClr val="5C6B7A"/>
                </a:solidFill>
                <a:latin typeface="Shabnam" pitchFamily="34" charset="0"/>
                <a:ea typeface="Shabnam" pitchFamily="34" charset="-122"/>
                <a:cs typeface="Shabnam" pitchFamily="34" charset="-120"/>
              </a:rPr>
              <a:t>مدل Hegselmann–Krause</a:t>
            </a:r>
            <a:endParaRPr lang="fa-IR" sz="950" dirty="0"/>
          </a:p>
        </p:txBody>
      </p:sp>
      <p:sp>
        <p:nvSpPr>
          <p:cNvPr id="25" name="Shape 23"/>
          <p:cNvSpPr/>
          <p:nvPr/>
        </p:nvSpPr>
        <p:spPr>
          <a:xfrm>
            <a:off x="2121408" y="3566160"/>
            <a:ext cx="1536192" cy="1051560"/>
          </a:xfrm>
          <a:prstGeom prst="roundRect">
            <a:avLst>
              <a:gd name="adj" fmla="val 6957"/>
            </a:avLst>
          </a:prstGeom>
          <a:solidFill>
            <a:srgbClr val="FFFFFF"/>
          </a:solidFill>
          <a:ln w="12700">
            <a:solidFill>
              <a:srgbClr val="FFFFFF"/>
            </a:solidFill>
            <a:prstDash val="solid"/>
          </a:ln>
        </p:spPr>
      </p:sp>
      <p:sp>
        <p:nvSpPr>
          <p:cNvPr id="26" name="Shape 24"/>
          <p:cNvSpPr/>
          <p:nvPr/>
        </p:nvSpPr>
        <p:spPr>
          <a:xfrm>
            <a:off x="2121408" y="3566160"/>
            <a:ext cx="1536192" cy="1051560"/>
          </a:xfrm>
          <a:prstGeom prst="roundRect">
            <a:avLst>
              <a:gd name="adj" fmla="val 6957"/>
            </a:avLst>
          </a:prstGeom>
          <a:solidFill>
            <a:srgbClr val="FFFFFF"/>
          </a:solidFill>
          <a:ln w="9525">
            <a:solidFill>
              <a:srgbClr val="D5DCE5"/>
            </a:solidFill>
            <a:prstDash val="solid"/>
          </a:ln>
        </p:spPr>
      </p:sp>
      <p:sp>
        <p:nvSpPr>
          <p:cNvPr id="27" name="Text 25"/>
          <p:cNvSpPr txBox="1"/>
          <p:nvPr/>
        </p:nvSpPr>
        <p:spPr>
          <a:xfrm>
            <a:off x="2212848" y="3675888"/>
            <a:ext cx="1353312" cy="320040"/>
          </a:xfrm>
          <a:prstGeom prst="rect">
            <a:avLst/>
          </a:prstGeom>
          <a:noFill/>
          <a:ln/>
        </p:spPr>
        <p:txBody>
          <a:bodyPr wrap="square" lIns="0" tIns="0" rIns="0" bIns="0" rtlCol="0" anchor="t"/>
          <a:lstStyle/>
          <a:p>
            <a:pPr marL="0" indent="0" algn="ctr">
              <a:buNone/>
            </a:pPr>
            <a:r>
              <a:rPr lang="en-US" sz="1200" b="1" dirty="0">
                <a:solidFill>
                  <a:srgbClr val="14213D"/>
                </a:solidFill>
                <a:latin typeface="Calibri" pitchFamily="34" charset="0"/>
                <a:ea typeface="Calibri" pitchFamily="34" charset="-122"/>
                <a:cs typeface="Calibri" pitchFamily="34" charset="-120"/>
              </a:rPr>
              <a:t>LLM+ABM(CA)</a:t>
            </a:r>
            <a:endParaRPr lang="en-US" sz="1200" dirty="0"/>
          </a:p>
        </p:txBody>
      </p:sp>
      <p:sp>
        <p:nvSpPr>
          <p:cNvPr id="28" name="Text 26"/>
          <p:cNvSpPr txBox="1"/>
          <p:nvPr/>
        </p:nvSpPr>
        <p:spPr>
          <a:xfrm>
            <a:off x="2212848" y="4041648"/>
            <a:ext cx="1353312" cy="502920"/>
          </a:xfrm>
          <a:prstGeom prst="rect">
            <a:avLst/>
          </a:prstGeom>
          <a:noFill/>
          <a:ln/>
        </p:spPr>
        <p:txBody>
          <a:bodyPr wrap="square" lIns="0" tIns="0" rIns="0" bIns="0" rtlCol="0" anchor="t"/>
          <a:lstStyle/>
          <a:p>
            <a:pPr marL="0" indent="0" algn="ctr" rtl="1">
              <a:buNone/>
            </a:pPr>
            <a:r>
              <a:rPr lang="fa-IR" altLang="en-US" sz="950" dirty="0">
                <a:solidFill>
                  <a:srgbClr val="5C6B7A"/>
                </a:solidFill>
                <a:latin typeface="Shabnam" pitchFamily="34" charset="0"/>
                <a:ea typeface="Shabnam" pitchFamily="34" charset="-122"/>
                <a:cs typeface="Shabnam" pitchFamily="34" charset="-120"/>
              </a:rPr>
              <a:t>رهبران LLM، بدون SIR</a:t>
            </a:r>
            <a:endParaRPr lang="fa-IR" sz="950" dirty="0"/>
          </a:p>
        </p:txBody>
      </p:sp>
      <p:sp>
        <p:nvSpPr>
          <p:cNvPr id="29" name="Shape 27"/>
          <p:cNvSpPr/>
          <p:nvPr/>
        </p:nvSpPr>
        <p:spPr>
          <a:xfrm>
            <a:off x="475488" y="3566160"/>
            <a:ext cx="1536192" cy="1051560"/>
          </a:xfrm>
          <a:prstGeom prst="roundRect">
            <a:avLst>
              <a:gd name="adj" fmla="val 6957"/>
            </a:avLst>
          </a:prstGeom>
          <a:solidFill>
            <a:srgbClr val="FFFFFF"/>
          </a:solidFill>
          <a:ln w="12700">
            <a:solidFill>
              <a:srgbClr val="FFFFFF"/>
            </a:solidFill>
            <a:prstDash val="solid"/>
          </a:ln>
        </p:spPr>
      </p:sp>
      <p:sp>
        <p:nvSpPr>
          <p:cNvPr id="30" name="Shape 28"/>
          <p:cNvSpPr/>
          <p:nvPr/>
        </p:nvSpPr>
        <p:spPr>
          <a:xfrm>
            <a:off x="475488" y="3566160"/>
            <a:ext cx="1536192" cy="1051560"/>
          </a:xfrm>
          <a:prstGeom prst="roundRect">
            <a:avLst>
              <a:gd name="adj" fmla="val 6957"/>
            </a:avLst>
          </a:prstGeom>
          <a:solidFill>
            <a:srgbClr val="FFFFFF"/>
          </a:solidFill>
          <a:ln w="9525">
            <a:solidFill>
              <a:srgbClr val="D5DCE5"/>
            </a:solidFill>
            <a:prstDash val="solid"/>
          </a:ln>
        </p:spPr>
      </p:sp>
      <p:sp>
        <p:nvSpPr>
          <p:cNvPr id="31" name="Text 29"/>
          <p:cNvSpPr txBox="1"/>
          <p:nvPr/>
        </p:nvSpPr>
        <p:spPr>
          <a:xfrm>
            <a:off x="566928" y="3675888"/>
            <a:ext cx="1353312" cy="320040"/>
          </a:xfrm>
          <a:prstGeom prst="rect">
            <a:avLst/>
          </a:prstGeom>
          <a:noFill/>
          <a:ln/>
        </p:spPr>
        <p:txBody>
          <a:bodyPr wrap="square" lIns="0" tIns="0" rIns="0" bIns="0" rtlCol="0" anchor="t"/>
          <a:lstStyle/>
          <a:p>
            <a:pPr marL="0" indent="0" algn="ctr">
              <a:buNone/>
            </a:pPr>
            <a:r>
              <a:rPr lang="en-US" sz="1200" b="1" dirty="0">
                <a:solidFill>
                  <a:srgbClr val="14213D"/>
                </a:solidFill>
                <a:latin typeface="Calibri" pitchFamily="34" charset="0"/>
                <a:ea typeface="Calibri" pitchFamily="34" charset="-122"/>
                <a:cs typeface="Calibri" pitchFamily="34" charset="-120"/>
              </a:rPr>
              <a:t>بدون CA</a:t>
            </a:r>
            <a:endParaRPr lang="en-US" sz="1200" dirty="0"/>
          </a:p>
        </p:txBody>
      </p:sp>
      <p:sp>
        <p:nvSpPr>
          <p:cNvPr id="32" name="Text 30"/>
          <p:cNvSpPr txBox="1"/>
          <p:nvPr/>
        </p:nvSpPr>
        <p:spPr>
          <a:xfrm>
            <a:off x="566928" y="4041648"/>
            <a:ext cx="1353312" cy="502920"/>
          </a:xfrm>
          <a:prstGeom prst="rect">
            <a:avLst/>
          </a:prstGeom>
          <a:noFill/>
          <a:ln/>
        </p:spPr>
        <p:txBody>
          <a:bodyPr wrap="square" lIns="0" tIns="0" rIns="0" bIns="0" rtlCol="0" anchor="t"/>
          <a:lstStyle/>
          <a:p>
            <a:pPr marL="0" indent="0" algn="ctr" rtl="1">
              <a:buNone/>
            </a:pPr>
            <a:r>
              <a:rPr lang="fa-IR" altLang="en-US" sz="950" dirty="0">
                <a:solidFill>
                  <a:srgbClr val="5C6B7A"/>
                </a:solidFill>
                <a:latin typeface="Shabnam" pitchFamily="34" charset="0"/>
                <a:ea typeface="Shabnam" pitchFamily="34" charset="-122"/>
                <a:cs typeface="Shabnam" pitchFamily="34" charset="-120"/>
              </a:rPr>
              <a:t>آزمایش حذف (Ablation)</a:t>
            </a:r>
            <a:endParaRPr lang="fa-IR" sz="950" dirty="0"/>
          </a:p>
        </p:txBody>
      </p:sp>
      <p:sp>
        <p:nvSpPr>
          <p:cNvPr id="33" name="Text 31"/>
          <p:cNvSpPr txBox="1"/>
          <p:nvPr/>
        </p:nvSpPr>
        <p:spPr>
          <a:xfrm>
            <a:off x="457200" y="4800600"/>
            <a:ext cx="5486400" cy="228600"/>
          </a:xfrm>
          <a:prstGeom prst="rect">
            <a:avLst/>
          </a:prstGeom>
          <a:noFill/>
          <a:ln/>
        </p:spPr>
        <p:txBody>
          <a:bodyPr wrap="square" lIns="0" tIns="0" rIns="0" bIns="0" rtlCol="0" anchor="t"/>
          <a:lstStyle/>
          <a:p>
            <a:pPr marL="0" indent="0" algn="l">
              <a:buNone/>
            </a:pPr>
            <a:r>
              <a:rPr lang="en-US" sz="900" dirty="0">
                <a:solidFill>
                  <a:srgbClr val="5C6B7A"/>
                </a:solidFill>
                <a:latin typeface="Calibri" pitchFamily="34" charset="0"/>
                <a:ea typeface="Calibri" pitchFamily="34" charset="-122"/>
                <a:cs typeface="Calibri" pitchFamily="34" charset="-120"/>
              </a:rPr>
              <a:t>Yao et al., Scientific Reports 15:15472 (2025)</a:t>
            </a:r>
            <a:endParaRPr lang="en-US" sz="900" dirty="0"/>
          </a:p>
        </p:txBody>
      </p:sp>
      <p:sp>
        <p:nvSpPr>
          <p:cNvPr id="34" name="Text 32"/>
          <p:cNvSpPr txBox="1"/>
          <p:nvPr/>
        </p:nvSpPr>
        <p:spPr>
          <a:xfrm>
            <a:off x="8229600" y="4773168"/>
            <a:ext cx="457200" cy="228600"/>
          </a:xfrm>
          <a:prstGeom prst="rect">
            <a:avLst/>
          </a:prstGeom>
          <a:noFill/>
          <a:ln/>
        </p:spPr>
        <p:txBody>
          <a:bodyPr wrap="square" lIns="0" tIns="0" rIns="0" bIns="0" rtlCol="0" anchor="t"/>
          <a:lstStyle/>
          <a:p>
            <a:pPr marL="0" indent="0" algn="r" rtl="1">
              <a:buNone/>
            </a:pPr>
            <a:r>
              <a:rPr lang="fa-IR" altLang="en-US" sz="1000" dirty="0">
                <a:solidFill>
                  <a:srgbClr val="5C6B7A"/>
                </a:solidFill>
                <a:latin typeface="Shabnam" pitchFamily="34" charset="0"/>
                <a:ea typeface="Shabnam" pitchFamily="34" charset="-122"/>
                <a:cs typeface="Shabnam" pitchFamily="34" charset="-120"/>
              </a:rPr>
              <a:t>۸</a:t>
            </a:r>
            <a:endParaRPr lang="fa-IR"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7863840" cy="274320"/>
          </a:xfrm>
          <a:prstGeom prst="rect">
            <a:avLst/>
          </a:prstGeom>
          <a:noFill/>
          <a:ln/>
        </p:spPr>
        <p:txBody>
          <a:bodyPr wrap="square" lIns="0" tIns="0" rIns="0" bIns="0" rtlCol="0" anchor="t"/>
          <a:lstStyle/>
          <a:p>
            <a:pPr marL="0" indent="0" algn="r" rtl="1">
              <a:buNone/>
            </a:pPr>
            <a:r>
              <a:rPr lang="fa-IR" altLang="en-US" sz="1100" dirty="0">
                <a:solidFill>
                  <a:srgbClr val="5C6B7A"/>
                </a:solidFill>
                <a:latin typeface="Shabnam" pitchFamily="34" charset="0"/>
                <a:ea typeface="Shabnam" pitchFamily="34" charset="-122"/>
                <a:cs typeface="Shabnam" pitchFamily="34" charset="-120"/>
              </a:rPr>
              <a:t>۶  ·  پیاده‌سازی</a:t>
            </a:r>
            <a:endParaRPr lang="fa-IR" sz="1100" dirty="0"/>
          </a:p>
        </p:txBody>
      </p:sp>
      <p:sp>
        <p:nvSpPr>
          <p:cNvPr id="3" name="Text 1"/>
          <p:cNvSpPr txBox="1"/>
          <p:nvPr/>
        </p:nvSpPr>
        <p:spPr>
          <a:xfrm>
            <a:off x="457200" y="566928"/>
            <a:ext cx="8229600" cy="594360"/>
          </a:xfrm>
          <a:prstGeom prst="rect">
            <a:avLst/>
          </a:prstGeom>
          <a:noFill/>
          <a:ln/>
        </p:spPr>
        <p:txBody>
          <a:bodyPr wrap="square" lIns="0" tIns="0" rIns="0" bIns="0" rtlCol="0" anchor="t"/>
          <a:lstStyle/>
          <a:p>
            <a:pPr marL="0" indent="0" algn="r" rtl="1">
              <a:buNone/>
            </a:pPr>
            <a:r>
              <a:rPr lang="fa-IR" altLang="en-US" sz="2400" b="1" dirty="0">
                <a:solidFill>
                  <a:srgbClr val="14213D"/>
                </a:solidFill>
                <a:latin typeface="Shabnam" pitchFamily="34" charset="0"/>
                <a:ea typeface="Shabnam" pitchFamily="34" charset="-122"/>
                <a:cs typeface="Shabnam" pitchFamily="34" charset="-120"/>
              </a:rPr>
              <a:t>بازتولید ساده‌شده در Google Colab</a:t>
            </a:r>
            <a:endParaRPr lang="fa-IR" sz="2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3291840" y="1280160"/>
          <a:ext cx="5394960" cy="914400"/>
        </p:xfrm>
        <a:graphic>
          <a:graphicData uri="http://schemas.openxmlformats.org/drawingml/2006/table">
            <a:tbl>
              <a:tblPr/>
              <a:tblGrid>
                <a:gridCol w="265176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tblGrid>
              <a:tr h="402336">
                <a:tc>
                  <a:txBody>
                    <a:bodyPr/>
                    <a:lstStyle/>
                    <a:p>
                      <a:pPr marL="0" indent="0" algn="ctr" rtl="1">
                        <a:buNone/>
                      </a:pPr>
                      <a:r>
                        <a:rPr lang="en-US" sz="1050" b="1" dirty="0">
                          <a:solidFill>
                            <a:srgbClr val="FFFFFF"/>
                          </a:solidFill>
                          <a:latin typeface="Shabnam" pitchFamily="34" charset="0"/>
                          <a:ea typeface="Shabnam" pitchFamily="34" charset="-122"/>
                          <a:cs typeface="Shabnam" pitchFamily="34" charset="-120"/>
                        </a:rPr>
                        <a:t>پیاده‌سازی من</a:t>
                      </a:r>
                      <a:endParaRPr lang="en-US" sz="1050" dirty="0">
                        <a:latin typeface="Shabnam" charset="0"/>
                        <a:ea typeface="Shabnam" charset="0"/>
                        <a:cs typeface="Shabnam" charset="0"/>
                      </a:endParaRPr>
                    </a:p>
                  </a:txBody>
                  <a:tcPr marL="64008" marR="64008" marT="64008" marB="64008"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solidFill>
                      <a:srgbClr val="17A398"/>
                    </a:solidFill>
                  </a:tcPr>
                </a:tc>
                <a:tc>
                  <a:txBody>
                    <a:bodyPr/>
                    <a:lstStyle/>
                    <a:p>
                      <a:pPr marL="0" indent="0" algn="ctr" rtl="1">
                        <a:buNone/>
                      </a:pPr>
                      <a:r>
                        <a:rPr lang="en-US" sz="1050" b="1" dirty="0">
                          <a:solidFill>
                            <a:srgbClr val="FFFFFF"/>
                          </a:solidFill>
                          <a:latin typeface="Shabnam" pitchFamily="34" charset="0"/>
                          <a:ea typeface="Shabnam" pitchFamily="34" charset="-122"/>
                          <a:cs typeface="Shabnam" pitchFamily="34" charset="-120"/>
                        </a:rPr>
                        <a:t>مقاله</a:t>
                      </a:r>
                      <a:endParaRPr lang="en-US" sz="1050" dirty="0">
                        <a:latin typeface="Shabnam" charset="0"/>
                        <a:ea typeface="Shabnam" charset="0"/>
                        <a:cs typeface="Shabnam" charset="0"/>
                      </a:endParaRPr>
                    </a:p>
                  </a:txBody>
                  <a:tcPr marL="64008" marR="64008" marT="64008" marB="64008"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solidFill>
                      <a:srgbClr val="14213D"/>
                    </a:solidFill>
                  </a:tcPr>
                </a:tc>
                <a:tc>
                  <a:txBody>
                    <a:bodyPr/>
                    <a:lstStyle/>
                    <a:p>
                      <a:pPr marL="0" indent="0" algn="ctr" rtl="1">
                        <a:buNone/>
                      </a:pPr>
                      <a:endParaRPr lang="en-US" sz="1050" dirty="0">
                        <a:latin typeface="Shabnam" charset="0"/>
                        <a:ea typeface="Shabnam" charset="0"/>
                        <a:cs typeface="Shabnam" charset="0"/>
                      </a:endParaRPr>
                    </a:p>
                  </a:txBody>
                  <a:tcPr marL="64008" marR="64008" marT="64008" marB="64008"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402336">
                <a:tc>
                  <a:txBody>
                    <a:bodyPr/>
                    <a:lstStyle/>
                    <a:p>
                      <a:pPr marL="0" indent="0" algn="r" rtl="1">
                        <a:buNone/>
                      </a:pPr>
                      <a:r>
                        <a:rPr lang="en-US" sz="1050" dirty="0">
                          <a:solidFill>
                            <a:srgbClr val="1F2933"/>
                          </a:solidFill>
                          <a:latin typeface="Shabnam" pitchFamily="34" charset="0"/>
                          <a:ea typeface="Shabnam" pitchFamily="34" charset="-122"/>
                          <a:cs typeface="Shabnam" pitchFamily="34" charset="-120"/>
                        </a:rPr>
                        <a:t>Qwen2.5-1.5B-Instruct (متن‌باز)</a:t>
                      </a:r>
                      <a:endParaRPr lang="en-US" sz="1050" dirty="0">
                        <a:latin typeface="Shabnam" charset="0"/>
                        <a:ea typeface="Shabnam" charset="0"/>
                        <a:cs typeface="Shabnam" charset="0"/>
                      </a:endParaRPr>
                    </a:p>
                  </a:txBody>
                  <a:tcPr marL="64008" marR="64008" marT="64008" marB="64008"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solidFill>
                      <a:srgbClr val="EEF2F7"/>
                    </a:solidFill>
                  </a:tcPr>
                </a:tc>
                <a:tc>
                  <a:txBody>
                    <a:bodyPr/>
                    <a:lstStyle/>
                    <a:p>
                      <a:pPr marL="0" indent="0" algn="r" rtl="1">
                        <a:buNone/>
                      </a:pPr>
                      <a:r>
                        <a:rPr lang="en-US" sz="1050" dirty="0">
                          <a:solidFill>
                            <a:srgbClr val="1F2933"/>
                          </a:solidFill>
                          <a:latin typeface="Shabnam" pitchFamily="34" charset="0"/>
                          <a:ea typeface="Shabnam" pitchFamily="34" charset="-122"/>
                          <a:cs typeface="Shabnam" pitchFamily="34" charset="-120"/>
                        </a:rPr>
                        <a:t>GLM-4</a:t>
                      </a:r>
                      <a:endParaRPr lang="en-US" sz="1050" dirty="0">
                        <a:latin typeface="Shabnam" charset="0"/>
                        <a:ea typeface="Shabnam" charset="0"/>
                        <a:cs typeface="Shabnam" charset="0"/>
                      </a:endParaRPr>
                    </a:p>
                  </a:txBody>
                  <a:tcPr marL="64008" marR="64008" marT="64008" marB="64008"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solidFill>
                      <a:srgbClr val="EEF2F7"/>
                    </a:solidFill>
                  </a:tcPr>
                </a:tc>
                <a:tc>
                  <a:txBody>
                    <a:bodyPr/>
                    <a:lstStyle/>
                    <a:p>
                      <a:pPr marL="0" indent="0" algn="r" rtl="1">
                        <a:buNone/>
                      </a:pPr>
                      <a:r>
                        <a:rPr lang="en-US" sz="1050" b="1" dirty="0">
                          <a:solidFill>
                            <a:srgbClr val="1F2933"/>
                          </a:solidFill>
                          <a:latin typeface="Shabnam" pitchFamily="34" charset="0"/>
                          <a:ea typeface="Shabnam" pitchFamily="34" charset="-122"/>
                          <a:cs typeface="Shabnam" pitchFamily="34" charset="-120"/>
                        </a:rPr>
                        <a:t>مدل زبانی</a:t>
                      </a:r>
                      <a:endParaRPr lang="en-US" sz="1050" dirty="0">
                        <a:latin typeface="Shabnam" charset="0"/>
                        <a:ea typeface="Shabnam" charset="0"/>
                        <a:cs typeface="Shabnam" charset="0"/>
                      </a:endParaRPr>
                    </a:p>
                  </a:txBody>
                  <a:tcPr marL="64008" marR="64008" marT="64008" marB="64008"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solidFill>
                      <a:srgbClr val="EEF2F7"/>
                    </a:solidFill>
                  </a:tcPr>
                </a:tc>
                <a:extLst>
                  <a:ext uri="{0D108BD9-81ED-4DB2-BD59-A6C34878D82A}">
                    <a16:rowId xmlns:a16="http://schemas.microsoft.com/office/drawing/2014/main" val="10001"/>
                  </a:ext>
                </a:extLst>
              </a:tr>
              <a:tr h="402336">
                <a:tc>
                  <a:txBody>
                    <a:bodyPr/>
                    <a:lstStyle/>
                    <a:p>
                      <a:pPr marL="0" indent="0" algn="r" rtl="1">
                        <a:buNone/>
                      </a:pPr>
                      <a:r>
                        <a:rPr lang="en-US" sz="1050" dirty="0">
                          <a:solidFill>
                            <a:srgbClr val="1F2933"/>
                          </a:solidFill>
                          <a:latin typeface="Shabnam" pitchFamily="34" charset="0"/>
                          <a:ea typeface="Shabnam" pitchFamily="34" charset="-122"/>
                          <a:cs typeface="Shabnam" pitchFamily="34" charset="-120"/>
                        </a:rPr>
                        <a:t>GPU مدل T4 در Colab</a:t>
                      </a:r>
                      <a:endParaRPr lang="en-US" sz="1050" dirty="0">
                        <a:latin typeface="Shabnam" charset="0"/>
                        <a:ea typeface="Shabnam" charset="0"/>
                        <a:cs typeface="Shabnam" charset="0"/>
                      </a:endParaRPr>
                    </a:p>
                  </a:txBody>
                  <a:tcPr marL="64008" marR="64008" marT="64008" marB="64008"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solidFill>
                      <a:srgbClr val="FFFFFF"/>
                    </a:solidFill>
                  </a:tcPr>
                </a:tc>
                <a:tc>
                  <a:txBody>
                    <a:bodyPr/>
                    <a:lstStyle/>
                    <a:p>
                      <a:pPr marL="0" indent="0" algn="r" rtl="1">
                        <a:buNone/>
                      </a:pPr>
                      <a:r>
                        <a:rPr lang="en-US" sz="1050" dirty="0">
                          <a:solidFill>
                            <a:srgbClr val="1F2933"/>
                          </a:solidFill>
                          <a:latin typeface="Shabnam" pitchFamily="34" charset="0"/>
                          <a:ea typeface="Shabnam" pitchFamily="34" charset="-122"/>
                          <a:cs typeface="Shabnam" pitchFamily="34" charset="-120"/>
                        </a:rPr>
                        <a:t>GPU مدل T4</a:t>
                      </a:r>
                      <a:endParaRPr lang="en-US" sz="1050" dirty="0">
                        <a:latin typeface="Shabnam" charset="0"/>
                        <a:ea typeface="Shabnam" charset="0"/>
                        <a:cs typeface="Shabnam" charset="0"/>
                      </a:endParaRPr>
                    </a:p>
                  </a:txBody>
                  <a:tcPr marL="64008" marR="64008" marT="64008" marB="64008"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solidFill>
                      <a:srgbClr val="FFFFFF"/>
                    </a:solidFill>
                  </a:tcPr>
                </a:tc>
                <a:tc>
                  <a:txBody>
                    <a:bodyPr/>
                    <a:lstStyle/>
                    <a:p>
                      <a:pPr marL="0" indent="0" algn="r" rtl="1">
                        <a:buNone/>
                      </a:pPr>
                      <a:r>
                        <a:rPr lang="en-US" sz="1050" b="1" dirty="0">
                          <a:solidFill>
                            <a:srgbClr val="1F2933"/>
                          </a:solidFill>
                          <a:latin typeface="Shabnam" pitchFamily="34" charset="0"/>
                          <a:ea typeface="Shabnam" pitchFamily="34" charset="-122"/>
                          <a:cs typeface="Shabnam" pitchFamily="34" charset="-120"/>
                        </a:rPr>
                        <a:t>سخت‌افزار</a:t>
                      </a:r>
                      <a:endParaRPr lang="en-US" sz="1050" dirty="0">
                        <a:latin typeface="Shabnam" charset="0"/>
                        <a:ea typeface="Shabnam" charset="0"/>
                        <a:cs typeface="Shabnam" charset="0"/>
                      </a:endParaRPr>
                    </a:p>
                  </a:txBody>
                  <a:tcPr marL="64008" marR="64008" marT="64008" marB="64008"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02336">
                <a:tc>
                  <a:txBody>
                    <a:bodyPr/>
                    <a:lstStyle/>
                    <a:p>
                      <a:pPr marL="0" indent="0" algn="r" rtl="1">
                        <a:buNone/>
                      </a:pPr>
                      <a:r>
                        <a:rPr lang="en-US" sz="1050" dirty="0">
                          <a:solidFill>
                            <a:srgbClr val="1F2933"/>
                          </a:solidFill>
                          <a:latin typeface="Shabnam" pitchFamily="34" charset="0"/>
                          <a:ea typeface="Shabnam" pitchFamily="34" charset="-122"/>
                          <a:cs typeface="Shabnam" pitchFamily="34" charset="-120"/>
                        </a:rPr>
                        <a:t>۱۰۰ (گرید ۱۰×۱۰): ۱۰ رهبر، ۹۰ دنبال‌کننده</a:t>
                      </a:r>
                      <a:endParaRPr lang="en-US" sz="1050" dirty="0">
                        <a:latin typeface="Shabnam" charset="0"/>
                        <a:ea typeface="Shabnam" charset="0"/>
                        <a:cs typeface="Shabnam" charset="0"/>
                      </a:endParaRPr>
                    </a:p>
                  </a:txBody>
                  <a:tcPr marL="64008" marR="64008" marT="64008" marB="64008"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solidFill>
                      <a:srgbClr val="EEF2F7"/>
                    </a:solidFill>
                  </a:tcPr>
                </a:tc>
                <a:tc>
                  <a:txBody>
                    <a:bodyPr/>
                    <a:lstStyle/>
                    <a:p>
                      <a:pPr marL="0" indent="0" algn="r" rtl="1">
                        <a:buNone/>
                      </a:pPr>
                      <a:r>
                        <a:rPr lang="en-US" sz="1050" dirty="0">
                          <a:solidFill>
                            <a:srgbClr val="1F2933"/>
                          </a:solidFill>
                          <a:latin typeface="Shabnam" pitchFamily="34" charset="0"/>
                          <a:ea typeface="Shabnam" pitchFamily="34" charset="-122"/>
                          <a:cs typeface="Shabnam" pitchFamily="34" charset="-120"/>
                        </a:rPr>
                        <a:t>صدها تا هزاران</a:t>
                      </a:r>
                      <a:endParaRPr lang="en-US" sz="1050" dirty="0">
                        <a:latin typeface="Shabnam" charset="0"/>
                        <a:ea typeface="Shabnam" charset="0"/>
                        <a:cs typeface="Shabnam" charset="0"/>
                      </a:endParaRPr>
                    </a:p>
                  </a:txBody>
                  <a:tcPr marL="64008" marR="64008" marT="64008" marB="64008"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solidFill>
                      <a:srgbClr val="EEF2F7"/>
                    </a:solidFill>
                  </a:tcPr>
                </a:tc>
                <a:tc>
                  <a:txBody>
                    <a:bodyPr/>
                    <a:lstStyle/>
                    <a:p>
                      <a:pPr marL="0" indent="0" algn="r" rtl="1">
                        <a:buNone/>
                      </a:pPr>
                      <a:r>
                        <a:rPr lang="en-US" sz="1050" b="1" dirty="0">
                          <a:solidFill>
                            <a:srgbClr val="1F2933"/>
                          </a:solidFill>
                          <a:latin typeface="Shabnam" pitchFamily="34" charset="0"/>
                          <a:ea typeface="Shabnam" pitchFamily="34" charset="-122"/>
                          <a:cs typeface="Shabnam" pitchFamily="34" charset="-120"/>
                        </a:rPr>
                        <a:t>تعداد ایجنت</a:t>
                      </a:r>
                      <a:endParaRPr lang="en-US" sz="1050" dirty="0">
                        <a:latin typeface="Shabnam" charset="0"/>
                        <a:ea typeface="Shabnam" charset="0"/>
                        <a:cs typeface="Shabnam" charset="0"/>
                      </a:endParaRPr>
                    </a:p>
                  </a:txBody>
                  <a:tcPr marL="64008" marR="64008" marT="64008" marB="64008"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solidFill>
                      <a:srgbClr val="EEF2F7"/>
                    </a:solidFill>
                  </a:tcPr>
                </a:tc>
                <a:extLst>
                  <a:ext uri="{0D108BD9-81ED-4DB2-BD59-A6C34878D82A}">
                    <a16:rowId xmlns:a16="http://schemas.microsoft.com/office/drawing/2014/main" val="10003"/>
                  </a:ext>
                </a:extLst>
              </a:tr>
              <a:tr h="402336">
                <a:tc>
                  <a:txBody>
                    <a:bodyPr/>
                    <a:lstStyle/>
                    <a:p>
                      <a:pPr marL="0" indent="0" algn="r" rtl="1">
                        <a:buNone/>
                      </a:pPr>
                      <a:r>
                        <a:rPr lang="en-US" sz="1050" dirty="0">
                          <a:solidFill>
                            <a:srgbClr val="1F2933"/>
                          </a:solidFill>
                          <a:latin typeface="Shabnam" pitchFamily="34" charset="0"/>
                          <a:ea typeface="Shabnam" pitchFamily="34" charset="-122"/>
                          <a:cs typeface="Shabnam" pitchFamily="34" charset="-120"/>
                        </a:rPr>
                        <a:t>یک روز</a:t>
                      </a:r>
                      <a:endParaRPr lang="en-US" sz="1050" dirty="0">
                        <a:latin typeface="Shabnam" charset="0"/>
                        <a:ea typeface="Shabnam" charset="0"/>
                        <a:cs typeface="Shabnam" charset="0"/>
                      </a:endParaRPr>
                    </a:p>
                  </a:txBody>
                  <a:tcPr marL="64008" marR="64008" marT="64008" marB="64008"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solidFill>
                      <a:srgbClr val="FFFFFF"/>
                    </a:solidFill>
                  </a:tcPr>
                </a:tc>
                <a:tc>
                  <a:txBody>
                    <a:bodyPr/>
                    <a:lstStyle/>
                    <a:p>
                      <a:pPr marL="0" indent="0" algn="r" rtl="1">
                        <a:buNone/>
                      </a:pPr>
                      <a:r>
                        <a:rPr lang="en-US" sz="1050" dirty="0">
                          <a:solidFill>
                            <a:srgbClr val="1F2933"/>
                          </a:solidFill>
                          <a:latin typeface="Shabnam" pitchFamily="34" charset="0"/>
                          <a:ea typeface="Shabnam" pitchFamily="34" charset="-122"/>
                          <a:cs typeface="Shabnam" pitchFamily="34" charset="-120"/>
                        </a:rPr>
                        <a:t>یک ساعت</a:t>
                      </a:r>
                      <a:endParaRPr lang="en-US" sz="1050" dirty="0">
                        <a:latin typeface="Shabnam" charset="0"/>
                        <a:ea typeface="Shabnam" charset="0"/>
                        <a:cs typeface="Shabnam" charset="0"/>
                      </a:endParaRPr>
                    </a:p>
                  </a:txBody>
                  <a:tcPr marL="64008" marR="64008" marT="64008" marB="64008"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solidFill>
                      <a:srgbClr val="FFFFFF"/>
                    </a:solidFill>
                  </a:tcPr>
                </a:tc>
                <a:tc>
                  <a:txBody>
                    <a:bodyPr/>
                    <a:lstStyle/>
                    <a:p>
                      <a:pPr marL="0" indent="0" algn="r" rtl="1">
                        <a:buNone/>
                      </a:pPr>
                      <a:r>
                        <a:rPr lang="en-US" sz="1050" b="1" dirty="0">
                          <a:solidFill>
                            <a:srgbClr val="1F2933"/>
                          </a:solidFill>
                          <a:latin typeface="Shabnam" pitchFamily="34" charset="0"/>
                          <a:ea typeface="Shabnam" pitchFamily="34" charset="-122"/>
                          <a:cs typeface="Shabnam" pitchFamily="34" charset="-120"/>
                        </a:rPr>
                        <a:t>گام زمانی</a:t>
                      </a:r>
                      <a:endParaRPr lang="en-US" sz="1050" dirty="0">
                        <a:latin typeface="Shabnam" charset="0"/>
                        <a:ea typeface="Shabnam" charset="0"/>
                        <a:cs typeface="Shabnam" charset="0"/>
                      </a:endParaRPr>
                    </a:p>
                  </a:txBody>
                  <a:tcPr marL="64008" marR="64008" marT="64008" marB="64008"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02336">
                <a:tc>
                  <a:txBody>
                    <a:bodyPr/>
                    <a:lstStyle/>
                    <a:p>
                      <a:pPr marL="0" indent="0" algn="r" rtl="1">
                        <a:buNone/>
                      </a:pPr>
                      <a:r>
                        <a:rPr lang="en-US" sz="1050" dirty="0">
                          <a:solidFill>
                            <a:srgbClr val="1F2933"/>
                          </a:solidFill>
                          <a:latin typeface="Shabnam" pitchFamily="34" charset="0"/>
                          <a:ea typeface="Shabnam" pitchFamily="34" charset="-122"/>
                          <a:cs typeface="Shabnam" pitchFamily="34" charset="-120"/>
                        </a:rPr>
                        <a:t>منحنی استخراج‌شده از شکل ۲</a:t>
                      </a:r>
                      <a:endParaRPr lang="en-US" sz="1050" dirty="0">
                        <a:latin typeface="Shabnam" charset="0"/>
                        <a:ea typeface="Shabnam" charset="0"/>
                        <a:cs typeface="Shabnam" charset="0"/>
                      </a:endParaRPr>
                    </a:p>
                  </a:txBody>
                  <a:tcPr marL="64008" marR="64008" marT="64008" marB="64008"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solidFill>
                      <a:srgbClr val="EEF2F7"/>
                    </a:solidFill>
                  </a:tcPr>
                </a:tc>
                <a:tc>
                  <a:txBody>
                    <a:bodyPr/>
                    <a:lstStyle/>
                    <a:p>
                      <a:pPr marL="0" indent="0" algn="r" rtl="1">
                        <a:buNone/>
                      </a:pPr>
                      <a:r>
                        <a:rPr lang="en-US" sz="1050" dirty="0">
                          <a:solidFill>
                            <a:srgbClr val="1F2933"/>
                          </a:solidFill>
                          <a:latin typeface="Shabnam" pitchFamily="34" charset="0"/>
                          <a:ea typeface="Shabnam" pitchFamily="34" charset="-122"/>
                          <a:cs typeface="Shabnam" pitchFamily="34" charset="-120"/>
                        </a:rPr>
                        <a:t>پست‌های ویبو</a:t>
                      </a:r>
                      <a:endParaRPr lang="en-US" sz="1050" dirty="0">
                        <a:latin typeface="Shabnam" charset="0"/>
                        <a:ea typeface="Shabnam" charset="0"/>
                        <a:cs typeface="Shabnam" charset="0"/>
                      </a:endParaRPr>
                    </a:p>
                  </a:txBody>
                  <a:tcPr marL="64008" marR="64008" marT="64008" marB="64008"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solidFill>
                      <a:srgbClr val="EEF2F7"/>
                    </a:solidFill>
                  </a:tcPr>
                </a:tc>
                <a:tc>
                  <a:txBody>
                    <a:bodyPr/>
                    <a:lstStyle/>
                    <a:p>
                      <a:pPr marL="0" indent="0" algn="r" rtl="1">
                        <a:buNone/>
                      </a:pPr>
                      <a:r>
                        <a:rPr lang="en-US" sz="1050" b="1" dirty="0">
                          <a:solidFill>
                            <a:srgbClr val="1F2933"/>
                          </a:solidFill>
                          <a:latin typeface="Shabnam" pitchFamily="34" charset="0"/>
                          <a:ea typeface="Shabnam" pitchFamily="34" charset="-122"/>
                          <a:cs typeface="Shabnam" pitchFamily="34" charset="-120"/>
                        </a:rPr>
                        <a:t>داده واقعی</a:t>
                      </a:r>
                      <a:endParaRPr lang="en-US" sz="1050" dirty="0">
                        <a:latin typeface="Shabnam" charset="0"/>
                        <a:ea typeface="Shabnam" charset="0"/>
                        <a:cs typeface="Shabnam" charset="0"/>
                      </a:endParaRPr>
                    </a:p>
                  </a:txBody>
                  <a:tcPr marL="64008" marR="64008" marT="64008" marB="64008"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solidFill>
                      <a:srgbClr val="EEF2F7"/>
                    </a:solidFill>
                  </a:tcPr>
                </a:tc>
                <a:extLst>
                  <a:ext uri="{0D108BD9-81ED-4DB2-BD59-A6C34878D82A}">
                    <a16:rowId xmlns:a16="http://schemas.microsoft.com/office/drawing/2014/main" val="10005"/>
                  </a:ext>
                </a:extLst>
              </a:tr>
              <a:tr h="402336">
                <a:tc>
                  <a:txBody>
                    <a:bodyPr/>
                    <a:lstStyle/>
                    <a:p>
                      <a:pPr marL="0" indent="0" algn="r" rtl="1">
                        <a:buNone/>
                      </a:pPr>
                      <a:r>
                        <a:rPr lang="en-US" sz="1050" dirty="0">
                          <a:solidFill>
                            <a:srgbClr val="1F2933"/>
                          </a:solidFill>
                          <a:latin typeface="Shabnam" pitchFamily="34" charset="0"/>
                          <a:ea typeface="Shabnam" pitchFamily="34" charset="-122"/>
                          <a:cs typeface="Shabnam" pitchFamily="34" charset="-120"/>
                        </a:rPr>
                        <a:t>جست‌وجوی شبکه‌ای برای هر روش</a:t>
                      </a:r>
                      <a:endParaRPr lang="en-US" sz="1050" dirty="0">
                        <a:latin typeface="Shabnam" charset="0"/>
                        <a:ea typeface="Shabnam" charset="0"/>
                        <a:cs typeface="Shabnam" charset="0"/>
                      </a:endParaRPr>
                    </a:p>
                  </a:txBody>
                  <a:tcPr marL="64008" marR="64008" marT="64008" marB="64008"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solidFill>
                      <a:srgbClr val="FFFFFF"/>
                    </a:solidFill>
                  </a:tcPr>
                </a:tc>
                <a:tc>
                  <a:txBody>
                    <a:bodyPr/>
                    <a:lstStyle/>
                    <a:p>
                      <a:pPr marL="0" indent="0" algn="r" rtl="1">
                        <a:buNone/>
                      </a:pPr>
                      <a:r>
                        <a:rPr lang="en-US" sz="1050" dirty="0">
                          <a:solidFill>
                            <a:srgbClr val="1F2933"/>
                          </a:solidFill>
                          <a:latin typeface="Shabnam" pitchFamily="34" charset="0"/>
                          <a:ea typeface="Shabnam" pitchFamily="34" charset="-122"/>
                          <a:cs typeface="Shabnam" pitchFamily="34" charset="-120"/>
                        </a:rPr>
                        <a:t>جست‌وجوی شبکه‌ای</a:t>
                      </a:r>
                      <a:endParaRPr lang="en-US" sz="1050" dirty="0">
                        <a:latin typeface="Shabnam" charset="0"/>
                        <a:ea typeface="Shabnam" charset="0"/>
                        <a:cs typeface="Shabnam" charset="0"/>
                      </a:endParaRPr>
                    </a:p>
                  </a:txBody>
                  <a:tcPr marL="64008" marR="64008" marT="64008" marB="64008"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solidFill>
                      <a:srgbClr val="FFFFFF"/>
                    </a:solidFill>
                  </a:tcPr>
                </a:tc>
                <a:tc>
                  <a:txBody>
                    <a:bodyPr/>
                    <a:lstStyle/>
                    <a:p>
                      <a:pPr marL="0" indent="0" algn="r" rtl="1">
                        <a:buNone/>
                      </a:pPr>
                      <a:r>
                        <a:rPr lang="en-US" sz="1050" b="1" dirty="0">
                          <a:solidFill>
                            <a:srgbClr val="1F2933"/>
                          </a:solidFill>
                          <a:latin typeface="Shabnam" pitchFamily="34" charset="0"/>
                          <a:ea typeface="Shabnam" pitchFamily="34" charset="-122"/>
                          <a:cs typeface="Shabnam" pitchFamily="34" charset="-120"/>
                        </a:rPr>
                        <a:t>پارامترها</a:t>
                      </a:r>
                      <a:endParaRPr lang="en-US" sz="1050" dirty="0">
                        <a:latin typeface="Shabnam" charset="0"/>
                        <a:ea typeface="Shabnam" charset="0"/>
                        <a:cs typeface="Shabnam" charset="0"/>
                      </a:endParaRPr>
                    </a:p>
                  </a:txBody>
                  <a:tcPr marL="64008" marR="64008" marT="64008" marB="64008"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02336">
                <a:tc>
                  <a:txBody>
                    <a:bodyPr/>
                    <a:lstStyle/>
                    <a:p>
                      <a:pPr marL="0" indent="0" algn="r" rtl="1">
                        <a:buNone/>
                      </a:pPr>
                      <a:r>
                        <a:rPr lang="en-US" sz="1050" dirty="0">
                          <a:solidFill>
                            <a:srgbClr val="1F2933"/>
                          </a:solidFill>
                          <a:latin typeface="Shabnam" pitchFamily="34" charset="0"/>
                          <a:ea typeface="Shabnam" pitchFamily="34" charset="-122"/>
                          <a:cs typeface="Shabnam" pitchFamily="34" charset="-120"/>
                        </a:rPr>
                        <a:t>میانگین ۵ اجرا</a:t>
                      </a:r>
                      <a:endParaRPr lang="en-US" sz="1050" dirty="0">
                        <a:latin typeface="Shabnam" charset="0"/>
                        <a:ea typeface="Shabnam" charset="0"/>
                        <a:cs typeface="Shabnam" charset="0"/>
                      </a:endParaRPr>
                    </a:p>
                  </a:txBody>
                  <a:tcPr marL="64008" marR="64008" marT="64008" marB="64008"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solidFill>
                      <a:srgbClr val="EEF2F7"/>
                    </a:solidFill>
                  </a:tcPr>
                </a:tc>
                <a:tc>
                  <a:txBody>
                    <a:bodyPr/>
                    <a:lstStyle/>
                    <a:p>
                      <a:pPr marL="0" indent="0" algn="r" rtl="1">
                        <a:buNone/>
                      </a:pPr>
                      <a:r>
                        <a:rPr lang="en-US" sz="1050" dirty="0">
                          <a:solidFill>
                            <a:srgbClr val="1F2933"/>
                          </a:solidFill>
                          <a:latin typeface="Shabnam" pitchFamily="34" charset="0"/>
                          <a:ea typeface="Shabnam" pitchFamily="34" charset="-122"/>
                          <a:cs typeface="Shabnam" pitchFamily="34" charset="-120"/>
                        </a:rPr>
                        <a:t>نامشخص</a:t>
                      </a:r>
                      <a:endParaRPr lang="en-US" sz="1050" dirty="0">
                        <a:latin typeface="Shabnam" charset="0"/>
                        <a:ea typeface="Shabnam" charset="0"/>
                        <a:cs typeface="Shabnam" charset="0"/>
                      </a:endParaRPr>
                    </a:p>
                  </a:txBody>
                  <a:tcPr marL="64008" marR="64008" marT="64008" marB="64008"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solidFill>
                      <a:srgbClr val="EEF2F7"/>
                    </a:solidFill>
                  </a:tcPr>
                </a:tc>
                <a:tc>
                  <a:txBody>
                    <a:bodyPr/>
                    <a:lstStyle/>
                    <a:p>
                      <a:pPr marL="0" indent="0" algn="r" rtl="1">
                        <a:buNone/>
                      </a:pPr>
                      <a:r>
                        <a:rPr lang="en-US" sz="1050" b="1" dirty="0">
                          <a:solidFill>
                            <a:srgbClr val="1F2933"/>
                          </a:solidFill>
                          <a:latin typeface="Shabnam" pitchFamily="34" charset="0"/>
                          <a:ea typeface="Shabnam" pitchFamily="34" charset="-122"/>
                          <a:cs typeface="Shabnam" pitchFamily="34" charset="-120"/>
                        </a:rPr>
                        <a:t>تکرار</a:t>
                      </a:r>
                      <a:endParaRPr lang="en-US" sz="1050" dirty="0">
                        <a:latin typeface="Shabnam" charset="0"/>
                        <a:ea typeface="Shabnam" charset="0"/>
                        <a:cs typeface="Shabnam" charset="0"/>
                      </a:endParaRPr>
                    </a:p>
                  </a:txBody>
                  <a:tcPr marL="64008" marR="64008" marT="64008" marB="64008"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solidFill>
                      <a:srgbClr val="EEF2F7"/>
                    </a:solidFill>
                  </a:tcPr>
                </a:tc>
                <a:extLst>
                  <a:ext uri="{0D108BD9-81ED-4DB2-BD59-A6C34878D82A}">
                    <a16:rowId xmlns:a16="http://schemas.microsoft.com/office/drawing/2014/main" val="10007"/>
                  </a:ext>
                </a:extLst>
              </a:tr>
            </a:tbl>
          </a:graphicData>
        </a:graphic>
      </p:graphicFrame>
      <p:sp>
        <p:nvSpPr>
          <p:cNvPr id="5" name="Shape 2"/>
          <p:cNvSpPr/>
          <p:nvPr/>
        </p:nvSpPr>
        <p:spPr>
          <a:xfrm>
            <a:off x="457200" y="1280160"/>
            <a:ext cx="2651760" cy="3337560"/>
          </a:xfrm>
          <a:prstGeom prst="roundRect">
            <a:avLst>
              <a:gd name="adj" fmla="val 2759"/>
            </a:avLst>
          </a:prstGeom>
          <a:solidFill>
            <a:srgbClr val="14213D"/>
          </a:solidFill>
          <a:ln w="12700">
            <a:solidFill>
              <a:srgbClr val="14213D"/>
            </a:solidFill>
            <a:prstDash val="solid"/>
          </a:ln>
        </p:spPr>
      </p:sp>
      <p:sp>
        <p:nvSpPr>
          <p:cNvPr id="6" name="Text 3"/>
          <p:cNvSpPr txBox="1"/>
          <p:nvPr/>
        </p:nvSpPr>
        <p:spPr>
          <a:xfrm>
            <a:off x="640080" y="1417320"/>
            <a:ext cx="2286000" cy="274320"/>
          </a:xfrm>
          <a:prstGeom prst="rect">
            <a:avLst/>
          </a:prstGeom>
          <a:noFill/>
          <a:ln/>
        </p:spPr>
        <p:txBody>
          <a:bodyPr wrap="square" lIns="0" tIns="0" rIns="0" bIns="0" rtlCol="0" anchor="t"/>
          <a:lstStyle/>
          <a:p>
            <a:pPr marL="0" indent="0" algn="r" rtl="1">
              <a:buNone/>
            </a:pPr>
            <a:r>
              <a:rPr lang="fa-IR" altLang="en-US" sz="1200" b="1" dirty="0">
                <a:solidFill>
                  <a:srgbClr val="17A398"/>
                </a:solidFill>
                <a:latin typeface="Shabnam" pitchFamily="34" charset="0"/>
                <a:ea typeface="Shabnam" pitchFamily="34" charset="-122"/>
                <a:cs typeface="Shabnam" pitchFamily="34" charset="-120"/>
              </a:rPr>
              <a:t>روند اجرا</a:t>
            </a:r>
            <a:endParaRPr lang="fa-IR" sz="1200" dirty="0"/>
          </a:p>
        </p:txBody>
      </p:sp>
      <p:sp>
        <p:nvSpPr>
          <p:cNvPr id="7" name="Shape 4"/>
          <p:cNvSpPr/>
          <p:nvPr/>
        </p:nvSpPr>
        <p:spPr>
          <a:xfrm>
            <a:off x="2697480" y="1810512"/>
            <a:ext cx="256032" cy="256032"/>
          </a:xfrm>
          <a:prstGeom prst="ellipse">
            <a:avLst/>
          </a:prstGeom>
          <a:solidFill>
            <a:srgbClr val="17A398"/>
          </a:solidFill>
          <a:ln w="12700">
            <a:solidFill>
              <a:srgbClr val="17A398"/>
            </a:solidFill>
            <a:prstDash val="solid"/>
          </a:ln>
        </p:spPr>
      </p:sp>
      <p:sp>
        <p:nvSpPr>
          <p:cNvPr id="8" name="Text 5"/>
          <p:cNvSpPr txBox="1"/>
          <p:nvPr/>
        </p:nvSpPr>
        <p:spPr>
          <a:xfrm>
            <a:off x="2697480" y="1810512"/>
            <a:ext cx="256032" cy="256032"/>
          </a:xfrm>
          <a:prstGeom prst="rect">
            <a:avLst/>
          </a:prstGeom>
          <a:noFill/>
          <a:ln/>
        </p:spPr>
        <p:txBody>
          <a:bodyPr wrap="square" lIns="0" tIns="0" rIns="0" bIns="0" rtlCol="0" anchor="ctr"/>
          <a:lstStyle/>
          <a:p>
            <a:pPr marL="0" indent="0" algn="ctr" rtl="1">
              <a:buNone/>
            </a:pPr>
            <a:r>
              <a:rPr lang="fa-IR" altLang="en-US" sz="1000" b="1" dirty="0">
                <a:solidFill>
                  <a:srgbClr val="FFFFFF"/>
                </a:solidFill>
                <a:latin typeface="Shabnam" pitchFamily="34" charset="0"/>
                <a:ea typeface="Shabnam" pitchFamily="34" charset="-122"/>
                <a:cs typeface="Shabnam" pitchFamily="34" charset="-120"/>
              </a:rPr>
              <a:t>۱</a:t>
            </a:r>
            <a:endParaRPr lang="fa-IR" sz="1000" dirty="0"/>
          </a:p>
        </p:txBody>
      </p:sp>
      <p:sp>
        <p:nvSpPr>
          <p:cNvPr id="9" name="Text 6"/>
          <p:cNvSpPr txBox="1"/>
          <p:nvPr/>
        </p:nvSpPr>
        <p:spPr>
          <a:xfrm>
            <a:off x="594360" y="1792224"/>
            <a:ext cx="2011680" cy="530352"/>
          </a:xfrm>
          <a:prstGeom prst="rect">
            <a:avLst/>
          </a:prstGeom>
          <a:noFill/>
          <a:ln/>
        </p:spPr>
        <p:txBody>
          <a:bodyPr wrap="square" lIns="0" tIns="0" rIns="0" bIns="0" rtlCol="0" anchor="t"/>
          <a:lstStyle/>
          <a:p>
            <a:pPr marL="0" indent="0" algn="r" rtl="1">
              <a:buNone/>
            </a:pPr>
            <a:r>
              <a:rPr lang="fa-IR" altLang="en-US" sz="900" dirty="0">
                <a:solidFill>
                  <a:srgbClr val="FFFFFF"/>
                </a:solidFill>
                <a:latin typeface="Shabnam" pitchFamily="34" charset="0"/>
                <a:ea typeface="Shabnam" pitchFamily="34" charset="-122"/>
                <a:cs typeface="Shabnam" pitchFamily="34" charset="-120"/>
              </a:rPr>
              <a:t>ساخت ۷۲۰ جواب LLM (۴ رویداد × ۱۰ پروفایل × ۲ مرحله خبر × ۹ حالت)</a:t>
            </a:r>
            <a:endParaRPr lang="fa-IR" sz="900" dirty="0"/>
          </a:p>
        </p:txBody>
      </p:sp>
      <p:sp>
        <p:nvSpPr>
          <p:cNvPr id="4" name="Shape 7"/>
          <p:cNvSpPr/>
          <p:nvPr/>
        </p:nvSpPr>
        <p:spPr>
          <a:xfrm>
            <a:off x="2697480" y="2359152"/>
            <a:ext cx="256032" cy="256032"/>
          </a:xfrm>
          <a:prstGeom prst="ellipse">
            <a:avLst/>
          </a:prstGeom>
          <a:solidFill>
            <a:srgbClr val="17A398"/>
          </a:solidFill>
          <a:ln w="12700">
            <a:solidFill>
              <a:srgbClr val="17A398"/>
            </a:solidFill>
            <a:prstDash val="solid"/>
          </a:ln>
        </p:spPr>
      </p:sp>
      <p:sp>
        <p:nvSpPr>
          <p:cNvPr id="11" name="Text 8"/>
          <p:cNvSpPr txBox="1"/>
          <p:nvPr/>
        </p:nvSpPr>
        <p:spPr>
          <a:xfrm>
            <a:off x="2697480" y="2359152"/>
            <a:ext cx="256032" cy="256032"/>
          </a:xfrm>
          <a:prstGeom prst="rect">
            <a:avLst/>
          </a:prstGeom>
          <a:noFill/>
          <a:ln/>
        </p:spPr>
        <p:txBody>
          <a:bodyPr wrap="square" lIns="0" tIns="0" rIns="0" bIns="0" rtlCol="0" anchor="ctr"/>
          <a:lstStyle/>
          <a:p>
            <a:pPr marL="0" indent="0" algn="ctr" rtl="1">
              <a:buNone/>
            </a:pPr>
            <a:r>
              <a:rPr lang="fa-IR" altLang="en-US" sz="1000" b="1" dirty="0">
                <a:solidFill>
                  <a:srgbClr val="FFFFFF"/>
                </a:solidFill>
                <a:latin typeface="Shabnam" pitchFamily="34" charset="0"/>
                <a:ea typeface="Shabnam" pitchFamily="34" charset="-122"/>
                <a:cs typeface="Shabnam" pitchFamily="34" charset="-120"/>
              </a:rPr>
              <a:t>۲</a:t>
            </a:r>
            <a:endParaRPr lang="fa-IR" sz="1000" dirty="0"/>
          </a:p>
        </p:txBody>
      </p:sp>
      <p:sp>
        <p:nvSpPr>
          <p:cNvPr id="12" name="Text 9"/>
          <p:cNvSpPr txBox="1"/>
          <p:nvPr/>
        </p:nvSpPr>
        <p:spPr>
          <a:xfrm>
            <a:off x="594360" y="2340864"/>
            <a:ext cx="2011680" cy="530352"/>
          </a:xfrm>
          <a:prstGeom prst="rect">
            <a:avLst/>
          </a:prstGeom>
          <a:noFill/>
          <a:ln/>
        </p:spPr>
        <p:txBody>
          <a:bodyPr wrap="square" lIns="0" tIns="0" rIns="0" bIns="0" rtlCol="0" anchor="t"/>
          <a:lstStyle/>
          <a:p>
            <a:pPr marL="0" indent="0" algn="r" rtl="1">
              <a:buNone/>
            </a:pPr>
            <a:r>
              <a:rPr lang="fa-IR" altLang="en-US" sz="900" dirty="0">
                <a:solidFill>
                  <a:srgbClr val="FFFFFF"/>
                </a:solidFill>
                <a:latin typeface="Shabnam" pitchFamily="34" charset="0"/>
                <a:ea typeface="Shabnam" pitchFamily="34" charset="-122"/>
                <a:cs typeface="Shabnam" pitchFamily="34" charset="-120"/>
              </a:rPr>
              <a:t>برچسب‌زنی نگرش هر جواب با LLM-Attitude</a:t>
            </a:r>
            <a:endParaRPr lang="fa-IR" sz="900" dirty="0"/>
          </a:p>
        </p:txBody>
      </p:sp>
      <p:sp>
        <p:nvSpPr>
          <p:cNvPr id="13" name="Shape 10"/>
          <p:cNvSpPr/>
          <p:nvPr/>
        </p:nvSpPr>
        <p:spPr>
          <a:xfrm>
            <a:off x="2697480" y="2907792"/>
            <a:ext cx="256032" cy="256032"/>
          </a:xfrm>
          <a:prstGeom prst="ellipse">
            <a:avLst/>
          </a:prstGeom>
          <a:solidFill>
            <a:srgbClr val="17A398"/>
          </a:solidFill>
          <a:ln w="12700">
            <a:solidFill>
              <a:srgbClr val="17A398"/>
            </a:solidFill>
            <a:prstDash val="solid"/>
          </a:ln>
        </p:spPr>
      </p:sp>
      <p:sp>
        <p:nvSpPr>
          <p:cNvPr id="14" name="Text 11"/>
          <p:cNvSpPr txBox="1"/>
          <p:nvPr/>
        </p:nvSpPr>
        <p:spPr>
          <a:xfrm>
            <a:off x="2697480" y="2907792"/>
            <a:ext cx="256032" cy="256032"/>
          </a:xfrm>
          <a:prstGeom prst="rect">
            <a:avLst/>
          </a:prstGeom>
          <a:noFill/>
          <a:ln/>
        </p:spPr>
        <p:txBody>
          <a:bodyPr wrap="square" lIns="0" tIns="0" rIns="0" bIns="0" rtlCol="0" anchor="ctr"/>
          <a:lstStyle/>
          <a:p>
            <a:pPr marL="0" indent="0" algn="ctr" rtl="1">
              <a:buNone/>
            </a:pPr>
            <a:r>
              <a:rPr lang="fa-IR" altLang="en-US" sz="1000" b="1" dirty="0">
                <a:solidFill>
                  <a:srgbClr val="FFFFFF"/>
                </a:solidFill>
                <a:latin typeface="Shabnam" pitchFamily="34" charset="0"/>
                <a:ea typeface="Shabnam" pitchFamily="34" charset="-122"/>
                <a:cs typeface="Shabnam" pitchFamily="34" charset="-120"/>
              </a:rPr>
              <a:t>۳</a:t>
            </a:r>
            <a:endParaRPr lang="fa-IR" sz="1000" dirty="0"/>
          </a:p>
        </p:txBody>
      </p:sp>
      <p:sp>
        <p:nvSpPr>
          <p:cNvPr id="15" name="Text 12"/>
          <p:cNvSpPr txBox="1"/>
          <p:nvPr/>
        </p:nvSpPr>
        <p:spPr>
          <a:xfrm>
            <a:off x="594360" y="2889504"/>
            <a:ext cx="2011680" cy="530352"/>
          </a:xfrm>
          <a:prstGeom prst="rect">
            <a:avLst/>
          </a:prstGeom>
          <a:noFill/>
          <a:ln/>
        </p:spPr>
        <p:txBody>
          <a:bodyPr wrap="square" lIns="0" tIns="0" rIns="0" bIns="0" rtlCol="0" anchor="t"/>
          <a:lstStyle/>
          <a:p>
            <a:pPr marL="0" indent="0" algn="r" rtl="1">
              <a:buNone/>
            </a:pPr>
            <a:r>
              <a:rPr lang="fa-IR" altLang="en-US" sz="900" dirty="0">
                <a:solidFill>
                  <a:srgbClr val="FFFFFF"/>
                </a:solidFill>
                <a:latin typeface="Shabnam" pitchFamily="34" charset="0"/>
                <a:ea typeface="Shabnam" pitchFamily="34" charset="-122"/>
                <a:cs typeface="Shabnam" pitchFamily="34" charset="-120"/>
              </a:rPr>
              <a:t>تنظیم پارامترها با جست‌وجوی شبکه‌ای</a:t>
            </a:r>
            <a:endParaRPr lang="fa-IR" sz="900" dirty="0"/>
          </a:p>
        </p:txBody>
      </p:sp>
      <p:sp>
        <p:nvSpPr>
          <p:cNvPr id="16" name="Shape 13"/>
          <p:cNvSpPr/>
          <p:nvPr/>
        </p:nvSpPr>
        <p:spPr>
          <a:xfrm>
            <a:off x="2697480" y="3456432"/>
            <a:ext cx="256032" cy="256032"/>
          </a:xfrm>
          <a:prstGeom prst="ellipse">
            <a:avLst/>
          </a:prstGeom>
          <a:solidFill>
            <a:srgbClr val="17A398"/>
          </a:solidFill>
          <a:ln w="12700">
            <a:solidFill>
              <a:srgbClr val="17A398"/>
            </a:solidFill>
            <a:prstDash val="solid"/>
          </a:ln>
        </p:spPr>
      </p:sp>
      <p:sp>
        <p:nvSpPr>
          <p:cNvPr id="17" name="Text 14"/>
          <p:cNvSpPr txBox="1"/>
          <p:nvPr/>
        </p:nvSpPr>
        <p:spPr>
          <a:xfrm>
            <a:off x="2697480" y="3456432"/>
            <a:ext cx="256032" cy="256032"/>
          </a:xfrm>
          <a:prstGeom prst="rect">
            <a:avLst/>
          </a:prstGeom>
          <a:noFill/>
          <a:ln/>
        </p:spPr>
        <p:txBody>
          <a:bodyPr wrap="square" lIns="0" tIns="0" rIns="0" bIns="0" rtlCol="0" anchor="ctr"/>
          <a:lstStyle/>
          <a:p>
            <a:pPr marL="0" indent="0" algn="ctr" rtl="1">
              <a:buNone/>
            </a:pPr>
            <a:r>
              <a:rPr lang="fa-IR" altLang="en-US" sz="1000" b="1" dirty="0">
                <a:solidFill>
                  <a:srgbClr val="FFFFFF"/>
                </a:solidFill>
                <a:latin typeface="Shabnam" pitchFamily="34" charset="0"/>
                <a:ea typeface="Shabnam" pitchFamily="34" charset="-122"/>
                <a:cs typeface="Shabnam" pitchFamily="34" charset="-120"/>
              </a:rPr>
              <a:t>۴</a:t>
            </a:r>
            <a:endParaRPr lang="fa-IR" sz="1000" dirty="0"/>
          </a:p>
        </p:txBody>
      </p:sp>
      <p:sp>
        <p:nvSpPr>
          <p:cNvPr id="18" name="Text 15"/>
          <p:cNvSpPr txBox="1"/>
          <p:nvPr/>
        </p:nvSpPr>
        <p:spPr>
          <a:xfrm>
            <a:off x="594360" y="3438144"/>
            <a:ext cx="2011680" cy="530352"/>
          </a:xfrm>
          <a:prstGeom prst="rect">
            <a:avLst/>
          </a:prstGeom>
          <a:noFill/>
          <a:ln/>
        </p:spPr>
        <p:txBody>
          <a:bodyPr wrap="square" lIns="0" tIns="0" rIns="0" bIns="0" rtlCol="0" anchor="t"/>
          <a:lstStyle/>
          <a:p>
            <a:pPr marL="0" indent="0" algn="r" rtl="1">
              <a:buNone/>
            </a:pPr>
            <a:r>
              <a:rPr lang="fa-IR" altLang="en-US" sz="900" dirty="0">
                <a:solidFill>
                  <a:srgbClr val="FFFFFF"/>
                </a:solidFill>
                <a:latin typeface="Shabnam" pitchFamily="34" charset="0"/>
                <a:ea typeface="Shabnam" pitchFamily="34" charset="-122"/>
                <a:cs typeface="Shabnam" pitchFamily="34" charset="-120"/>
              </a:rPr>
              <a:t>اجرای همه روش‌ها، ۵ بار با seed مختلف</a:t>
            </a:r>
            <a:endParaRPr lang="fa-IR" sz="900" dirty="0"/>
          </a:p>
        </p:txBody>
      </p:sp>
      <p:sp>
        <p:nvSpPr>
          <p:cNvPr id="19" name="Shape 16"/>
          <p:cNvSpPr/>
          <p:nvPr/>
        </p:nvSpPr>
        <p:spPr>
          <a:xfrm>
            <a:off x="2697480" y="4005072"/>
            <a:ext cx="256032" cy="256032"/>
          </a:xfrm>
          <a:prstGeom prst="ellipse">
            <a:avLst/>
          </a:prstGeom>
          <a:solidFill>
            <a:srgbClr val="17A398"/>
          </a:solidFill>
          <a:ln w="12700">
            <a:solidFill>
              <a:srgbClr val="17A398"/>
            </a:solidFill>
            <a:prstDash val="solid"/>
          </a:ln>
        </p:spPr>
      </p:sp>
      <p:sp>
        <p:nvSpPr>
          <p:cNvPr id="20" name="Text 17"/>
          <p:cNvSpPr txBox="1"/>
          <p:nvPr/>
        </p:nvSpPr>
        <p:spPr>
          <a:xfrm>
            <a:off x="2697480" y="4005072"/>
            <a:ext cx="256032" cy="256032"/>
          </a:xfrm>
          <a:prstGeom prst="rect">
            <a:avLst/>
          </a:prstGeom>
          <a:noFill/>
          <a:ln/>
        </p:spPr>
        <p:txBody>
          <a:bodyPr wrap="square" lIns="0" tIns="0" rIns="0" bIns="0" rtlCol="0" anchor="ctr"/>
          <a:lstStyle/>
          <a:p>
            <a:pPr marL="0" indent="0" algn="ctr" rtl="1">
              <a:buNone/>
            </a:pPr>
            <a:r>
              <a:rPr lang="fa-IR" altLang="en-US" sz="1000" b="1" dirty="0">
                <a:solidFill>
                  <a:srgbClr val="FFFFFF"/>
                </a:solidFill>
                <a:latin typeface="Shabnam" pitchFamily="34" charset="0"/>
                <a:ea typeface="Shabnam" pitchFamily="34" charset="-122"/>
                <a:cs typeface="Shabnam" pitchFamily="34" charset="-120"/>
              </a:rPr>
              <a:t>۵</a:t>
            </a:r>
            <a:endParaRPr lang="fa-IR" sz="1000" dirty="0"/>
          </a:p>
        </p:txBody>
      </p:sp>
      <p:sp>
        <p:nvSpPr>
          <p:cNvPr id="21" name="Text 18"/>
          <p:cNvSpPr txBox="1"/>
          <p:nvPr/>
        </p:nvSpPr>
        <p:spPr>
          <a:xfrm>
            <a:off x="594360" y="3986784"/>
            <a:ext cx="2011680" cy="530352"/>
          </a:xfrm>
          <a:prstGeom prst="rect">
            <a:avLst/>
          </a:prstGeom>
          <a:noFill/>
          <a:ln/>
        </p:spPr>
        <p:txBody>
          <a:bodyPr wrap="square" lIns="0" tIns="0" rIns="0" bIns="0" rtlCol="0" anchor="t"/>
          <a:lstStyle/>
          <a:p>
            <a:pPr marL="0" indent="0" algn="r" rtl="1">
              <a:buNone/>
            </a:pPr>
            <a:r>
              <a:rPr lang="fa-IR" altLang="en-US" sz="900" dirty="0">
                <a:solidFill>
                  <a:srgbClr val="FFFFFF"/>
                </a:solidFill>
                <a:latin typeface="Shabnam" pitchFamily="34" charset="0"/>
                <a:ea typeface="Shabnam" pitchFamily="34" charset="-122"/>
                <a:cs typeface="Shabnam" pitchFamily="34" charset="-120"/>
              </a:rPr>
              <a:t>محاسبه DTW و پیرسون و رسم نمودار</a:t>
            </a:r>
            <a:endParaRPr lang="fa-IR" sz="900" dirty="0"/>
          </a:p>
        </p:txBody>
      </p:sp>
      <p:sp>
        <p:nvSpPr>
          <p:cNvPr id="22" name="Text 19"/>
          <p:cNvSpPr txBox="1"/>
          <p:nvPr/>
        </p:nvSpPr>
        <p:spPr>
          <a:xfrm>
            <a:off x="457200" y="4800600"/>
            <a:ext cx="5486400" cy="228600"/>
          </a:xfrm>
          <a:prstGeom prst="rect">
            <a:avLst/>
          </a:prstGeom>
          <a:noFill/>
          <a:ln/>
        </p:spPr>
        <p:txBody>
          <a:bodyPr wrap="square" lIns="0" tIns="0" rIns="0" bIns="0" rtlCol="0" anchor="t"/>
          <a:lstStyle/>
          <a:p>
            <a:pPr marL="0" indent="0" algn="l">
              <a:buNone/>
            </a:pPr>
            <a:r>
              <a:rPr lang="en-US" sz="900" dirty="0">
                <a:solidFill>
                  <a:srgbClr val="5C6B7A"/>
                </a:solidFill>
                <a:latin typeface="Calibri" pitchFamily="34" charset="0"/>
                <a:ea typeface="Calibri" pitchFamily="34" charset="-122"/>
                <a:cs typeface="Calibri" pitchFamily="34" charset="-120"/>
              </a:rPr>
              <a:t>Yao et al., Scientific Reports 15:15472 (2025)</a:t>
            </a:r>
            <a:endParaRPr lang="en-US" sz="900" dirty="0"/>
          </a:p>
        </p:txBody>
      </p:sp>
      <p:sp>
        <p:nvSpPr>
          <p:cNvPr id="23" name="Text 20"/>
          <p:cNvSpPr txBox="1"/>
          <p:nvPr/>
        </p:nvSpPr>
        <p:spPr>
          <a:xfrm>
            <a:off x="8229600" y="4773168"/>
            <a:ext cx="457200" cy="228600"/>
          </a:xfrm>
          <a:prstGeom prst="rect">
            <a:avLst/>
          </a:prstGeom>
          <a:noFill/>
          <a:ln/>
        </p:spPr>
        <p:txBody>
          <a:bodyPr wrap="square" lIns="0" tIns="0" rIns="0" bIns="0" rtlCol="0" anchor="t"/>
          <a:lstStyle/>
          <a:p>
            <a:pPr marL="0" indent="0" algn="r" rtl="1">
              <a:buNone/>
            </a:pPr>
            <a:r>
              <a:rPr lang="fa-IR" altLang="en-US" sz="1000" dirty="0">
                <a:solidFill>
                  <a:srgbClr val="5C6B7A"/>
                </a:solidFill>
                <a:latin typeface="Shabnam" pitchFamily="34" charset="0"/>
                <a:ea typeface="Shabnam" pitchFamily="34" charset="-122"/>
                <a:cs typeface="Shabnam" pitchFamily="34" charset="-120"/>
              </a:rPr>
              <a:t>۹</a:t>
            </a:r>
            <a:endParaRPr lang="fa-IR"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7863840" cy="274320"/>
          </a:xfrm>
          <a:prstGeom prst="rect">
            <a:avLst/>
          </a:prstGeom>
          <a:noFill/>
          <a:ln/>
        </p:spPr>
        <p:txBody>
          <a:bodyPr wrap="square" lIns="0" tIns="0" rIns="0" bIns="0" rtlCol="0" anchor="t"/>
          <a:lstStyle/>
          <a:p>
            <a:pPr marL="0" indent="0" algn="r" rtl="1">
              <a:buNone/>
            </a:pPr>
            <a:r>
              <a:rPr lang="fa-IR" altLang="en-US" sz="1100" dirty="0">
                <a:solidFill>
                  <a:srgbClr val="5C6B7A"/>
                </a:solidFill>
                <a:latin typeface="Shabnam" pitchFamily="34" charset="0"/>
                <a:ea typeface="Shabnam" pitchFamily="34" charset="-122"/>
                <a:cs typeface="Shabnam" pitchFamily="34" charset="-120"/>
              </a:rPr>
              <a:t>۶  ·  کد و محیط اجرا</a:t>
            </a:r>
            <a:endParaRPr lang="fa-IR" sz="1100" dirty="0"/>
          </a:p>
        </p:txBody>
      </p:sp>
      <p:sp>
        <p:nvSpPr>
          <p:cNvPr id="3" name="Text 1"/>
          <p:cNvSpPr txBox="1"/>
          <p:nvPr/>
        </p:nvSpPr>
        <p:spPr>
          <a:xfrm>
            <a:off x="457200" y="566928"/>
            <a:ext cx="8229600" cy="594360"/>
          </a:xfrm>
          <a:prstGeom prst="rect">
            <a:avLst/>
          </a:prstGeom>
          <a:noFill/>
          <a:ln/>
        </p:spPr>
        <p:txBody>
          <a:bodyPr wrap="square" lIns="0" tIns="0" rIns="0" bIns="0" rtlCol="0" anchor="t"/>
          <a:lstStyle/>
          <a:p>
            <a:pPr marL="0" indent="0" algn="r" rtl="1">
              <a:buNone/>
            </a:pPr>
            <a:r>
              <a:rPr lang="fa-IR" altLang="en-US" sz="2400" b="1" dirty="0">
                <a:solidFill>
                  <a:srgbClr val="14213D"/>
                </a:solidFill>
                <a:latin typeface="Shabnam" pitchFamily="34" charset="0"/>
                <a:ea typeface="Shabnam" pitchFamily="34" charset="-122"/>
                <a:cs typeface="Shabnam" pitchFamily="34" charset="-120"/>
              </a:rPr>
              <a:t>نتایج از کجا آمده‌اند؟</a:t>
            </a:r>
            <a:endParaRPr lang="fa-IR" sz="2400" dirty="0"/>
          </a:p>
        </p:txBody>
      </p:sp>
      <p:sp>
        <p:nvSpPr>
          <p:cNvPr id="4" name="Shape 2"/>
          <p:cNvSpPr/>
          <p:nvPr/>
        </p:nvSpPr>
        <p:spPr>
          <a:xfrm>
            <a:off x="457200" y="1280160"/>
            <a:ext cx="3291840" cy="3383280"/>
          </a:xfrm>
          <a:prstGeom prst="roundRect">
            <a:avLst>
              <a:gd name="adj" fmla="val 2222"/>
            </a:avLst>
          </a:prstGeom>
          <a:solidFill>
            <a:srgbClr val="14213D"/>
          </a:solidFill>
          <a:ln w="12700">
            <a:solidFill>
              <a:srgbClr val="14213D"/>
            </a:solidFill>
            <a:prstDash val="solid"/>
          </a:ln>
        </p:spPr>
      </p:sp>
      <p:sp>
        <p:nvSpPr>
          <p:cNvPr id="5" name="Text 3"/>
          <p:cNvSpPr txBox="1"/>
          <p:nvPr/>
        </p:nvSpPr>
        <p:spPr>
          <a:xfrm>
            <a:off x="640080" y="1417320"/>
            <a:ext cx="2926080" cy="274320"/>
          </a:xfrm>
          <a:prstGeom prst="rect">
            <a:avLst/>
          </a:prstGeom>
          <a:noFill/>
          <a:ln/>
        </p:spPr>
        <p:txBody>
          <a:bodyPr wrap="square" lIns="0" tIns="0" rIns="0" bIns="0" rtlCol="0" anchor="t"/>
          <a:lstStyle/>
          <a:p>
            <a:pPr marL="0" indent="0" algn="r" rtl="1">
              <a:buNone/>
            </a:pPr>
            <a:r>
              <a:rPr lang="fa-IR" altLang="en-US" sz="1200" b="1" dirty="0">
                <a:solidFill>
                  <a:srgbClr val="17A398"/>
                </a:solidFill>
                <a:latin typeface="Shabnam" pitchFamily="34" charset="0"/>
                <a:ea typeface="Shabnam" pitchFamily="34" charset="-122"/>
                <a:cs typeface="Shabnam" pitchFamily="34" charset="-120"/>
              </a:rPr>
              <a:t>محیط اجرا</a:t>
            </a:r>
            <a:endParaRPr lang="fa-IR" sz="1200" dirty="0"/>
          </a:p>
        </p:txBody>
      </p:sp>
      <p:sp>
        <p:nvSpPr>
          <p:cNvPr id="6" name="Text 4"/>
          <p:cNvSpPr txBox="1"/>
          <p:nvPr/>
        </p:nvSpPr>
        <p:spPr>
          <a:xfrm>
            <a:off x="640080" y="1783080"/>
            <a:ext cx="2926080" cy="201168"/>
          </a:xfrm>
          <a:prstGeom prst="rect">
            <a:avLst/>
          </a:prstGeom>
          <a:noFill/>
          <a:ln/>
        </p:spPr>
        <p:txBody>
          <a:bodyPr wrap="square" lIns="0" tIns="0" rIns="0" bIns="0" rtlCol="0" anchor="t"/>
          <a:lstStyle/>
          <a:p>
            <a:pPr marL="0" indent="0" algn="r" rtl="1">
              <a:buNone/>
            </a:pPr>
            <a:r>
              <a:rPr lang="fa-IR" altLang="en-US" sz="950" dirty="0">
                <a:solidFill>
                  <a:srgbClr val="C9D6E8"/>
                </a:solidFill>
                <a:latin typeface="Shabnam" pitchFamily="34" charset="0"/>
                <a:ea typeface="Shabnam" pitchFamily="34" charset="-122"/>
                <a:cs typeface="Shabnam" pitchFamily="34" charset="-120"/>
              </a:rPr>
              <a:t>پلتفرم</a:t>
            </a:r>
            <a:endParaRPr lang="fa-IR" sz="950" dirty="0"/>
          </a:p>
        </p:txBody>
      </p:sp>
      <p:sp>
        <p:nvSpPr>
          <p:cNvPr id="7" name="Text 5"/>
          <p:cNvSpPr txBox="1"/>
          <p:nvPr/>
        </p:nvSpPr>
        <p:spPr>
          <a:xfrm>
            <a:off x="640080" y="1975104"/>
            <a:ext cx="2926080" cy="228600"/>
          </a:xfrm>
          <a:prstGeom prst="rect">
            <a:avLst/>
          </a:prstGeom>
          <a:noFill/>
          <a:ln/>
        </p:spPr>
        <p:txBody>
          <a:bodyPr wrap="square" lIns="0" tIns="0" rIns="0" bIns="0" rtlCol="0" anchor="t"/>
          <a:lstStyle/>
          <a:p>
            <a:pPr marL="0" indent="0" algn="r">
              <a:buNone/>
            </a:pPr>
            <a:r>
              <a:rPr lang="en-US" sz="1100" b="1" dirty="0">
                <a:solidFill>
                  <a:srgbClr val="FFFFFF"/>
                </a:solidFill>
                <a:latin typeface="Calibri" pitchFamily="34" charset="0"/>
                <a:ea typeface="Calibri" pitchFamily="34" charset="-122"/>
                <a:cs typeface="Calibri" pitchFamily="34" charset="-120"/>
              </a:rPr>
              <a:t>Google Colab</a:t>
            </a:r>
            <a:endParaRPr lang="en-US" sz="1100" dirty="0"/>
          </a:p>
        </p:txBody>
      </p:sp>
      <p:sp>
        <p:nvSpPr>
          <p:cNvPr id="8" name="Text 6"/>
          <p:cNvSpPr txBox="1"/>
          <p:nvPr/>
        </p:nvSpPr>
        <p:spPr>
          <a:xfrm>
            <a:off x="640080" y="2240280"/>
            <a:ext cx="2926080" cy="201168"/>
          </a:xfrm>
          <a:prstGeom prst="rect">
            <a:avLst/>
          </a:prstGeom>
          <a:noFill/>
          <a:ln/>
        </p:spPr>
        <p:txBody>
          <a:bodyPr wrap="square" lIns="0" tIns="0" rIns="0" bIns="0" rtlCol="0" anchor="t"/>
          <a:lstStyle/>
          <a:p>
            <a:pPr marL="0" indent="0" algn="r" rtl="1">
              <a:buNone/>
            </a:pPr>
            <a:r>
              <a:rPr lang="fa-IR" altLang="en-US" sz="950" dirty="0">
                <a:solidFill>
                  <a:srgbClr val="C9D6E8"/>
                </a:solidFill>
                <a:latin typeface="Shabnam" pitchFamily="34" charset="0"/>
                <a:ea typeface="Shabnam" pitchFamily="34" charset="-122"/>
                <a:cs typeface="Shabnam" pitchFamily="34" charset="-120"/>
              </a:rPr>
              <a:t>سخت‌افزار</a:t>
            </a:r>
            <a:endParaRPr lang="fa-IR" sz="950" dirty="0"/>
          </a:p>
        </p:txBody>
      </p:sp>
      <p:sp>
        <p:nvSpPr>
          <p:cNvPr id="9" name="Text 7"/>
          <p:cNvSpPr txBox="1"/>
          <p:nvPr/>
        </p:nvSpPr>
        <p:spPr>
          <a:xfrm>
            <a:off x="640080" y="2432304"/>
            <a:ext cx="2926080" cy="228600"/>
          </a:xfrm>
          <a:prstGeom prst="rect">
            <a:avLst/>
          </a:prstGeom>
          <a:noFill/>
          <a:ln/>
        </p:spPr>
        <p:txBody>
          <a:bodyPr wrap="square" lIns="0" tIns="0" rIns="0" bIns="0" rtlCol="0" anchor="t"/>
          <a:lstStyle/>
          <a:p>
            <a:pPr marL="0" indent="0" algn="r">
              <a:buNone/>
            </a:pPr>
            <a:r>
              <a:rPr lang="en-US" sz="1100" b="1" dirty="0">
                <a:solidFill>
                  <a:srgbClr val="FFFFFF"/>
                </a:solidFill>
                <a:latin typeface="Calibri" pitchFamily="34" charset="0"/>
                <a:ea typeface="Calibri" pitchFamily="34" charset="-122"/>
                <a:cs typeface="Calibri" pitchFamily="34" charset="-120"/>
              </a:rPr>
              <a:t>NVIDIA T4 GPU</a:t>
            </a:r>
            <a:endParaRPr lang="en-US" sz="1100" dirty="0"/>
          </a:p>
        </p:txBody>
      </p:sp>
      <p:sp>
        <p:nvSpPr>
          <p:cNvPr id="10" name="Text 8"/>
          <p:cNvSpPr txBox="1"/>
          <p:nvPr/>
        </p:nvSpPr>
        <p:spPr>
          <a:xfrm>
            <a:off x="640080" y="2697480"/>
            <a:ext cx="2926080" cy="201168"/>
          </a:xfrm>
          <a:prstGeom prst="rect">
            <a:avLst/>
          </a:prstGeom>
          <a:noFill/>
          <a:ln/>
        </p:spPr>
        <p:txBody>
          <a:bodyPr wrap="square" lIns="0" tIns="0" rIns="0" bIns="0" rtlCol="0" anchor="t"/>
          <a:lstStyle/>
          <a:p>
            <a:pPr marL="0" indent="0" algn="r" rtl="1">
              <a:buNone/>
            </a:pPr>
            <a:r>
              <a:rPr lang="fa-IR" altLang="en-US" sz="950" dirty="0">
                <a:solidFill>
                  <a:srgbClr val="C9D6E8"/>
                </a:solidFill>
                <a:latin typeface="Shabnam" pitchFamily="34" charset="0"/>
                <a:ea typeface="Shabnam" pitchFamily="34" charset="-122"/>
                <a:cs typeface="Shabnam" pitchFamily="34" charset="-120"/>
              </a:rPr>
              <a:t>زبان و کتابخانه‌ها</a:t>
            </a:r>
            <a:endParaRPr lang="fa-IR" sz="950" dirty="0"/>
          </a:p>
        </p:txBody>
      </p:sp>
      <p:sp>
        <p:nvSpPr>
          <p:cNvPr id="11" name="Text 9"/>
          <p:cNvSpPr txBox="1"/>
          <p:nvPr/>
        </p:nvSpPr>
        <p:spPr>
          <a:xfrm>
            <a:off x="640080" y="2889504"/>
            <a:ext cx="2926080" cy="228600"/>
          </a:xfrm>
          <a:prstGeom prst="rect">
            <a:avLst/>
          </a:prstGeom>
          <a:noFill/>
          <a:ln/>
        </p:spPr>
        <p:txBody>
          <a:bodyPr wrap="square" lIns="0" tIns="0" rIns="0" bIns="0" rtlCol="0" anchor="t"/>
          <a:lstStyle/>
          <a:p>
            <a:pPr marL="0" indent="0" algn="r">
              <a:buNone/>
            </a:pPr>
            <a:r>
              <a:rPr lang="en-US" sz="1100" b="1" dirty="0">
                <a:solidFill>
                  <a:srgbClr val="FFFFFF"/>
                </a:solidFill>
                <a:latin typeface="Calibri" pitchFamily="34" charset="0"/>
                <a:ea typeface="Calibri" pitchFamily="34" charset="-122"/>
                <a:cs typeface="Calibri" pitchFamily="34" charset="-120"/>
              </a:rPr>
              <a:t>Python · transformers · NumPy · pandas</a:t>
            </a:r>
            <a:endParaRPr lang="en-US" sz="1100" dirty="0"/>
          </a:p>
        </p:txBody>
      </p:sp>
      <p:sp>
        <p:nvSpPr>
          <p:cNvPr id="12" name="Text 10"/>
          <p:cNvSpPr txBox="1"/>
          <p:nvPr/>
        </p:nvSpPr>
        <p:spPr>
          <a:xfrm>
            <a:off x="640080" y="3154680"/>
            <a:ext cx="2926080" cy="201168"/>
          </a:xfrm>
          <a:prstGeom prst="rect">
            <a:avLst/>
          </a:prstGeom>
          <a:noFill/>
          <a:ln/>
        </p:spPr>
        <p:txBody>
          <a:bodyPr wrap="square" lIns="0" tIns="0" rIns="0" bIns="0" rtlCol="0" anchor="t"/>
          <a:lstStyle/>
          <a:p>
            <a:pPr marL="0" indent="0" algn="r" rtl="1">
              <a:buNone/>
            </a:pPr>
            <a:r>
              <a:rPr lang="fa-IR" altLang="en-US" sz="950" dirty="0">
                <a:solidFill>
                  <a:srgbClr val="C9D6E8"/>
                </a:solidFill>
                <a:latin typeface="Shabnam" pitchFamily="34" charset="0"/>
                <a:ea typeface="Shabnam" pitchFamily="34" charset="-122"/>
                <a:cs typeface="Shabnam" pitchFamily="34" charset="-120"/>
              </a:rPr>
              <a:t>مدل زبانی</a:t>
            </a:r>
            <a:endParaRPr lang="fa-IR" sz="950" dirty="0"/>
          </a:p>
        </p:txBody>
      </p:sp>
      <p:sp>
        <p:nvSpPr>
          <p:cNvPr id="13" name="Text 11"/>
          <p:cNvSpPr txBox="1"/>
          <p:nvPr/>
        </p:nvSpPr>
        <p:spPr>
          <a:xfrm>
            <a:off x="640080" y="3346704"/>
            <a:ext cx="2926080" cy="228600"/>
          </a:xfrm>
          <a:prstGeom prst="rect">
            <a:avLst/>
          </a:prstGeom>
          <a:noFill/>
          <a:ln/>
        </p:spPr>
        <p:txBody>
          <a:bodyPr wrap="square" lIns="0" tIns="0" rIns="0" bIns="0" rtlCol="0" anchor="t"/>
          <a:lstStyle/>
          <a:p>
            <a:pPr marL="0" indent="0" algn="r">
              <a:buNone/>
            </a:pPr>
            <a:r>
              <a:rPr lang="en-US" sz="1100" b="1" dirty="0">
                <a:solidFill>
                  <a:srgbClr val="FFFFFF"/>
                </a:solidFill>
                <a:latin typeface="Calibri" pitchFamily="34" charset="0"/>
                <a:ea typeface="Calibri" pitchFamily="34" charset="-122"/>
                <a:cs typeface="Calibri" pitchFamily="34" charset="-120"/>
              </a:rPr>
              <a:t>Qwen/Qwen2.5-1.5B-Instruct</a:t>
            </a:r>
            <a:endParaRPr lang="en-US" sz="1100" dirty="0"/>
          </a:p>
        </p:txBody>
      </p:sp>
      <p:sp>
        <p:nvSpPr>
          <p:cNvPr id="14" name="Text 12"/>
          <p:cNvSpPr txBox="1"/>
          <p:nvPr/>
        </p:nvSpPr>
        <p:spPr>
          <a:xfrm>
            <a:off x="640080" y="3611880"/>
            <a:ext cx="2926080" cy="201168"/>
          </a:xfrm>
          <a:prstGeom prst="rect">
            <a:avLst/>
          </a:prstGeom>
          <a:noFill/>
          <a:ln/>
        </p:spPr>
        <p:txBody>
          <a:bodyPr wrap="square" lIns="0" tIns="0" rIns="0" bIns="0" rtlCol="0" anchor="t"/>
          <a:lstStyle/>
          <a:p>
            <a:pPr marL="0" indent="0" algn="r" rtl="1">
              <a:buNone/>
            </a:pPr>
            <a:r>
              <a:rPr lang="fa-IR" altLang="en-US" sz="950" dirty="0">
                <a:solidFill>
                  <a:srgbClr val="C9D6E8"/>
                </a:solidFill>
                <a:latin typeface="Shabnam" pitchFamily="34" charset="0"/>
                <a:ea typeface="Shabnam" pitchFamily="34" charset="-122"/>
                <a:cs typeface="Shabnam" pitchFamily="34" charset="-120"/>
              </a:rPr>
              <a:t>فایل کد</a:t>
            </a:r>
            <a:endParaRPr lang="fa-IR" sz="950" dirty="0"/>
          </a:p>
        </p:txBody>
      </p:sp>
      <p:sp>
        <p:nvSpPr>
          <p:cNvPr id="15" name="Text 13"/>
          <p:cNvSpPr txBox="1"/>
          <p:nvPr/>
        </p:nvSpPr>
        <p:spPr>
          <a:xfrm>
            <a:off x="640080" y="3803904"/>
            <a:ext cx="2926080" cy="228600"/>
          </a:xfrm>
          <a:prstGeom prst="rect">
            <a:avLst/>
          </a:prstGeom>
          <a:noFill/>
          <a:ln/>
        </p:spPr>
        <p:txBody>
          <a:bodyPr wrap="square" lIns="0" tIns="0" rIns="0" bIns="0" rtlCol="0" anchor="t"/>
          <a:lstStyle/>
          <a:p>
            <a:pPr marL="0" indent="0" algn="r">
              <a:buNone/>
            </a:pPr>
            <a:r>
              <a:rPr lang="en-US" sz="1100" b="1" dirty="0">
                <a:solidFill>
                  <a:srgbClr val="FFFFFF"/>
                </a:solidFill>
                <a:latin typeface="Calibri" pitchFamily="34" charset="0"/>
                <a:ea typeface="Calibri" pitchFamily="34" charset="-122"/>
                <a:cs typeface="Calibri" pitchFamily="34" charset="-120"/>
              </a:rPr>
              <a:t>FDE_LLM_reproduction.ipynb</a:t>
            </a:r>
            <a:endParaRPr lang="en-US" sz="1100" dirty="0"/>
          </a:p>
        </p:txBody>
      </p:sp>
      <p:sp>
        <p:nvSpPr>
          <p:cNvPr id="16" name="Text 14">
            <a:hlinkClick r:id="rId3"/>
          </p:cNvPr>
          <p:cNvSpPr txBox="1"/>
          <p:nvPr/>
        </p:nvSpPr>
        <p:spPr>
          <a:xfrm>
            <a:off x="640080" y="4160520"/>
            <a:ext cx="2926080" cy="411480"/>
          </a:xfrm>
          <a:prstGeom prst="rect">
            <a:avLst/>
          </a:prstGeom>
          <a:noFill/>
          <a:ln/>
        </p:spPr>
        <p:txBody>
          <a:bodyPr wrap="square" lIns="0" tIns="0" rIns="0" bIns="0" rtlCol="0" anchor="t"/>
          <a:lstStyle/>
          <a:p>
            <a:pPr marL="0" indent="0" algn="r">
              <a:buNone/>
            </a:pPr>
            <a:r>
              <a:rPr lang="en-US" sz="800" u="sng" dirty="0">
                <a:solidFill>
                  <a:srgbClr val="17A398"/>
                </a:solid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https://colab.research.google.com/drive/1NgjRjfoLSilUTUtkEgy8bh7Kd-TbYTsp</a:t>
            </a:r>
            <a:endParaRPr lang="en-US" sz="800" dirty="0"/>
          </a:p>
        </p:txBody>
      </p:sp>
      <p:sp>
        <p:nvSpPr>
          <p:cNvPr id="17" name="Text 15"/>
          <p:cNvSpPr txBox="1"/>
          <p:nvPr/>
        </p:nvSpPr>
        <p:spPr>
          <a:xfrm>
            <a:off x="4023360" y="1280160"/>
            <a:ext cx="4663440" cy="274320"/>
          </a:xfrm>
          <a:prstGeom prst="rect">
            <a:avLst/>
          </a:prstGeom>
          <a:noFill/>
          <a:ln/>
        </p:spPr>
        <p:txBody>
          <a:bodyPr wrap="square" lIns="0" tIns="0" rIns="0" bIns="0" rtlCol="0" anchor="t"/>
          <a:lstStyle/>
          <a:p>
            <a:pPr marL="0" indent="0" algn="r" rtl="1">
              <a:buNone/>
            </a:pPr>
            <a:r>
              <a:rPr lang="fa-IR" altLang="en-US" sz="1300" b="1" dirty="0">
                <a:solidFill>
                  <a:srgbClr val="E4572E"/>
                </a:solidFill>
                <a:latin typeface="Shabnam" pitchFamily="34" charset="0"/>
                <a:ea typeface="Shabnam" pitchFamily="34" charset="-122"/>
                <a:cs typeface="Shabnam" pitchFamily="34" charset="-120"/>
              </a:rPr>
              <a:t>بخش‌های نوت‌بوک</a:t>
            </a:r>
            <a:endParaRPr lang="fa-IR" sz="1300" dirty="0"/>
          </a:p>
        </p:txBody>
      </p:sp>
      <p:sp>
        <p:nvSpPr>
          <p:cNvPr id="18" name="Shape 16"/>
          <p:cNvSpPr/>
          <p:nvPr/>
        </p:nvSpPr>
        <p:spPr>
          <a:xfrm>
            <a:off x="8366760" y="1682496"/>
            <a:ext cx="292608" cy="292608"/>
          </a:xfrm>
          <a:prstGeom prst="ellipse">
            <a:avLst/>
          </a:prstGeom>
          <a:solidFill>
            <a:srgbClr val="17A398"/>
          </a:solidFill>
          <a:ln w="12700">
            <a:solidFill>
              <a:srgbClr val="17A398"/>
            </a:solidFill>
            <a:prstDash val="solid"/>
          </a:ln>
        </p:spPr>
      </p:sp>
      <p:sp>
        <p:nvSpPr>
          <p:cNvPr id="19" name="Text 17"/>
          <p:cNvSpPr txBox="1"/>
          <p:nvPr/>
        </p:nvSpPr>
        <p:spPr>
          <a:xfrm>
            <a:off x="8366760" y="1682496"/>
            <a:ext cx="292608" cy="292608"/>
          </a:xfrm>
          <a:prstGeom prst="rect">
            <a:avLst/>
          </a:prstGeom>
          <a:noFill/>
          <a:ln/>
        </p:spPr>
        <p:txBody>
          <a:bodyPr wrap="square" lIns="0" tIns="0" rIns="0" bIns="0" rtlCol="0" anchor="ctr"/>
          <a:lstStyle/>
          <a:p>
            <a:pPr marL="0" indent="0" algn="ctr" rtl="1">
              <a:buNone/>
            </a:pPr>
            <a:r>
              <a:rPr lang="fa-IR" altLang="en-US" sz="1100" b="1" dirty="0">
                <a:solidFill>
                  <a:srgbClr val="FFFFFF"/>
                </a:solidFill>
                <a:latin typeface="Shabnam" pitchFamily="34" charset="0"/>
                <a:ea typeface="Shabnam" pitchFamily="34" charset="-122"/>
                <a:cs typeface="Shabnam" pitchFamily="34" charset="-120"/>
              </a:rPr>
              <a:t>۱</a:t>
            </a:r>
            <a:endParaRPr lang="fa-IR" sz="1100" dirty="0"/>
          </a:p>
        </p:txBody>
      </p:sp>
      <p:sp>
        <p:nvSpPr>
          <p:cNvPr id="20" name="Text 18"/>
          <p:cNvSpPr txBox="1"/>
          <p:nvPr/>
        </p:nvSpPr>
        <p:spPr>
          <a:xfrm>
            <a:off x="4023360" y="1645920"/>
            <a:ext cx="4206240" cy="228600"/>
          </a:xfrm>
          <a:prstGeom prst="rect">
            <a:avLst/>
          </a:prstGeom>
          <a:noFill/>
          <a:ln/>
        </p:spPr>
        <p:txBody>
          <a:bodyPr wrap="square" lIns="0" tIns="0" rIns="0" bIns="0" rtlCol="0" anchor="t"/>
          <a:lstStyle/>
          <a:p>
            <a:pPr marL="0" indent="0" algn="r" rtl="1">
              <a:buNone/>
            </a:pPr>
            <a:r>
              <a:rPr lang="fa-IR" altLang="en-US" sz="1100" b="1" dirty="0">
                <a:solidFill>
                  <a:srgbClr val="14213D"/>
                </a:solidFill>
                <a:latin typeface="Shabnam" pitchFamily="34" charset="0"/>
                <a:ea typeface="Shabnam" pitchFamily="34" charset="-122"/>
                <a:cs typeface="Shabnam" pitchFamily="34" charset="-120"/>
              </a:rPr>
              <a:t>تنظیمات و بارگذاری مدل</a:t>
            </a:r>
            <a:endParaRPr lang="fa-IR" sz="1100" dirty="0"/>
          </a:p>
        </p:txBody>
      </p:sp>
      <p:sp>
        <p:nvSpPr>
          <p:cNvPr id="21" name="Text 19"/>
          <p:cNvSpPr txBox="1"/>
          <p:nvPr/>
        </p:nvSpPr>
        <p:spPr>
          <a:xfrm>
            <a:off x="4023360" y="1874520"/>
            <a:ext cx="4206240" cy="228600"/>
          </a:xfrm>
          <a:prstGeom prst="rect">
            <a:avLst/>
          </a:prstGeom>
          <a:noFill/>
          <a:ln/>
        </p:spPr>
        <p:txBody>
          <a:bodyPr wrap="square" lIns="0" tIns="0" rIns="0" bIns="0" rtlCol="0" anchor="t"/>
          <a:lstStyle/>
          <a:p>
            <a:pPr marL="0" indent="0" algn="r" rtl="1">
              <a:buNone/>
            </a:pPr>
            <a:r>
              <a:rPr lang="fa-IR" altLang="en-US" sz="900" dirty="0">
                <a:solidFill>
                  <a:srgbClr val="5C6B7A"/>
                </a:solidFill>
                <a:latin typeface="Shabnam" pitchFamily="34" charset="0"/>
                <a:ea typeface="Shabnam" pitchFamily="34" charset="-122"/>
                <a:cs typeface="Shabnam" pitchFamily="34" charset="-120"/>
              </a:rPr>
              <a:t>مدل Qwen از Hugging Face دانلود می‌شود</a:t>
            </a:r>
            <a:endParaRPr lang="fa-IR" sz="900" dirty="0"/>
          </a:p>
        </p:txBody>
      </p:sp>
      <p:sp>
        <p:nvSpPr>
          <p:cNvPr id="22" name="Shape 20"/>
          <p:cNvSpPr/>
          <p:nvPr/>
        </p:nvSpPr>
        <p:spPr>
          <a:xfrm>
            <a:off x="8366760" y="2185416"/>
            <a:ext cx="292608" cy="292608"/>
          </a:xfrm>
          <a:prstGeom prst="ellipse">
            <a:avLst/>
          </a:prstGeom>
          <a:solidFill>
            <a:srgbClr val="14213D"/>
          </a:solidFill>
          <a:ln w="12700">
            <a:solidFill>
              <a:srgbClr val="14213D"/>
            </a:solidFill>
            <a:prstDash val="solid"/>
          </a:ln>
        </p:spPr>
      </p:sp>
      <p:sp>
        <p:nvSpPr>
          <p:cNvPr id="23" name="Text 21"/>
          <p:cNvSpPr txBox="1"/>
          <p:nvPr/>
        </p:nvSpPr>
        <p:spPr>
          <a:xfrm>
            <a:off x="8366760" y="2185416"/>
            <a:ext cx="292608" cy="292608"/>
          </a:xfrm>
          <a:prstGeom prst="rect">
            <a:avLst/>
          </a:prstGeom>
          <a:noFill/>
          <a:ln/>
        </p:spPr>
        <p:txBody>
          <a:bodyPr wrap="square" lIns="0" tIns="0" rIns="0" bIns="0" rtlCol="0" anchor="ctr"/>
          <a:lstStyle/>
          <a:p>
            <a:pPr marL="0" indent="0" algn="ctr" rtl="1">
              <a:buNone/>
            </a:pPr>
            <a:r>
              <a:rPr lang="fa-IR" altLang="en-US" sz="1100" b="1" dirty="0">
                <a:solidFill>
                  <a:srgbClr val="FFFFFF"/>
                </a:solidFill>
                <a:latin typeface="Shabnam" pitchFamily="34" charset="0"/>
                <a:ea typeface="Shabnam" pitchFamily="34" charset="-122"/>
                <a:cs typeface="Shabnam" pitchFamily="34" charset="-120"/>
              </a:rPr>
              <a:t>۲</a:t>
            </a:r>
            <a:endParaRPr lang="fa-IR" sz="1100" dirty="0"/>
          </a:p>
        </p:txBody>
      </p:sp>
      <p:sp>
        <p:nvSpPr>
          <p:cNvPr id="24" name="Text 22"/>
          <p:cNvSpPr txBox="1"/>
          <p:nvPr/>
        </p:nvSpPr>
        <p:spPr>
          <a:xfrm>
            <a:off x="4023360" y="2148840"/>
            <a:ext cx="4206240" cy="228600"/>
          </a:xfrm>
          <a:prstGeom prst="rect">
            <a:avLst/>
          </a:prstGeom>
          <a:noFill/>
          <a:ln/>
        </p:spPr>
        <p:txBody>
          <a:bodyPr wrap="square" lIns="0" tIns="0" rIns="0" bIns="0" rtlCol="0" anchor="t"/>
          <a:lstStyle/>
          <a:p>
            <a:pPr marL="0" indent="0" algn="r" rtl="1">
              <a:buNone/>
            </a:pPr>
            <a:r>
              <a:rPr lang="fa-IR" altLang="en-US" sz="1100" b="1" dirty="0">
                <a:solidFill>
                  <a:srgbClr val="14213D"/>
                </a:solidFill>
                <a:latin typeface="Shabnam" pitchFamily="34" charset="0"/>
                <a:ea typeface="Shabnam" pitchFamily="34" charset="-122"/>
                <a:cs typeface="Shabnam" pitchFamily="34" charset="-120"/>
              </a:rPr>
              <a:t>داده واقعی و متن خبرها</a:t>
            </a:r>
            <a:endParaRPr lang="fa-IR" sz="1100" dirty="0"/>
          </a:p>
        </p:txBody>
      </p:sp>
      <p:sp>
        <p:nvSpPr>
          <p:cNvPr id="25" name="Text 23"/>
          <p:cNvSpPr txBox="1"/>
          <p:nvPr/>
        </p:nvSpPr>
        <p:spPr>
          <a:xfrm>
            <a:off x="4023360" y="2377440"/>
            <a:ext cx="4206240" cy="228600"/>
          </a:xfrm>
          <a:prstGeom prst="rect">
            <a:avLst/>
          </a:prstGeom>
          <a:noFill/>
          <a:ln/>
        </p:spPr>
        <p:txBody>
          <a:bodyPr wrap="square" lIns="0" tIns="0" rIns="0" bIns="0" rtlCol="0" anchor="t"/>
          <a:lstStyle/>
          <a:p>
            <a:pPr marL="0" indent="0" algn="r" rtl="1">
              <a:buNone/>
            </a:pPr>
            <a:r>
              <a:rPr lang="fa-IR" altLang="en-US" sz="900" dirty="0">
                <a:solidFill>
                  <a:srgbClr val="5C6B7A"/>
                </a:solidFill>
                <a:latin typeface="Shabnam" pitchFamily="34" charset="0"/>
                <a:ea typeface="Shabnam" pitchFamily="34" charset="-122"/>
                <a:cs typeface="Shabnam" pitchFamily="34" charset="-120"/>
              </a:rPr>
              <a:t>منحنی‌های شکل ۲ مقاله و جدول ۲ مقاله</a:t>
            </a:r>
            <a:endParaRPr lang="fa-IR" sz="900" dirty="0"/>
          </a:p>
        </p:txBody>
      </p:sp>
      <p:sp>
        <p:nvSpPr>
          <p:cNvPr id="26" name="Shape 24"/>
          <p:cNvSpPr/>
          <p:nvPr/>
        </p:nvSpPr>
        <p:spPr>
          <a:xfrm>
            <a:off x="8366760" y="2688336"/>
            <a:ext cx="292608" cy="292608"/>
          </a:xfrm>
          <a:prstGeom prst="ellipse">
            <a:avLst/>
          </a:prstGeom>
          <a:solidFill>
            <a:srgbClr val="17A398"/>
          </a:solidFill>
          <a:ln w="12700">
            <a:solidFill>
              <a:srgbClr val="17A398"/>
            </a:solidFill>
            <a:prstDash val="solid"/>
          </a:ln>
        </p:spPr>
      </p:sp>
      <p:sp>
        <p:nvSpPr>
          <p:cNvPr id="27" name="Text 25"/>
          <p:cNvSpPr txBox="1"/>
          <p:nvPr/>
        </p:nvSpPr>
        <p:spPr>
          <a:xfrm>
            <a:off x="8366760" y="2688336"/>
            <a:ext cx="292608" cy="292608"/>
          </a:xfrm>
          <a:prstGeom prst="rect">
            <a:avLst/>
          </a:prstGeom>
          <a:noFill/>
          <a:ln/>
        </p:spPr>
        <p:txBody>
          <a:bodyPr wrap="square" lIns="0" tIns="0" rIns="0" bIns="0" rtlCol="0" anchor="ctr"/>
          <a:lstStyle/>
          <a:p>
            <a:pPr marL="0" indent="0" algn="ctr" rtl="1">
              <a:buNone/>
            </a:pPr>
            <a:r>
              <a:rPr lang="fa-IR" altLang="en-US" sz="1100" b="1" dirty="0">
                <a:solidFill>
                  <a:srgbClr val="FFFFFF"/>
                </a:solidFill>
                <a:latin typeface="Shabnam" pitchFamily="34" charset="0"/>
                <a:ea typeface="Shabnam" pitchFamily="34" charset="-122"/>
                <a:cs typeface="Shabnam" pitchFamily="34" charset="-120"/>
              </a:rPr>
              <a:t>۳</a:t>
            </a:r>
            <a:endParaRPr lang="fa-IR" sz="1100" dirty="0"/>
          </a:p>
        </p:txBody>
      </p:sp>
      <p:sp>
        <p:nvSpPr>
          <p:cNvPr id="28" name="Text 26"/>
          <p:cNvSpPr txBox="1"/>
          <p:nvPr/>
        </p:nvSpPr>
        <p:spPr>
          <a:xfrm>
            <a:off x="4023360" y="2651760"/>
            <a:ext cx="4206240" cy="228600"/>
          </a:xfrm>
          <a:prstGeom prst="rect">
            <a:avLst/>
          </a:prstGeom>
          <a:noFill/>
          <a:ln/>
        </p:spPr>
        <p:txBody>
          <a:bodyPr wrap="square" lIns="0" tIns="0" rIns="0" bIns="0" rtlCol="0" anchor="t"/>
          <a:lstStyle/>
          <a:p>
            <a:pPr marL="0" indent="0" algn="r" rtl="1">
              <a:buNone/>
            </a:pPr>
            <a:r>
              <a:rPr lang="fa-IR" altLang="en-US" sz="1100" b="1" dirty="0">
                <a:solidFill>
                  <a:srgbClr val="14213D"/>
                </a:solidFill>
                <a:latin typeface="Shabnam" pitchFamily="34" charset="0"/>
                <a:ea typeface="Shabnam" pitchFamily="34" charset="-122"/>
                <a:cs typeface="Shabnam" pitchFamily="34" charset="-120"/>
              </a:rPr>
              <a:t>ساخت ۷۲۰ جواب LLM</a:t>
            </a:r>
            <a:endParaRPr lang="fa-IR" sz="1100" dirty="0"/>
          </a:p>
        </p:txBody>
      </p:sp>
      <p:sp>
        <p:nvSpPr>
          <p:cNvPr id="29" name="Text 27"/>
          <p:cNvSpPr txBox="1"/>
          <p:nvPr/>
        </p:nvSpPr>
        <p:spPr>
          <a:xfrm>
            <a:off x="4023360" y="2880360"/>
            <a:ext cx="4206240" cy="228600"/>
          </a:xfrm>
          <a:prstGeom prst="rect">
            <a:avLst/>
          </a:prstGeom>
          <a:noFill/>
          <a:ln/>
        </p:spPr>
        <p:txBody>
          <a:bodyPr wrap="square" lIns="0" tIns="0" rIns="0" bIns="0" rtlCol="0" anchor="t"/>
          <a:lstStyle/>
          <a:p>
            <a:pPr marL="0" indent="0" algn="r" rtl="1">
              <a:buNone/>
            </a:pPr>
            <a:r>
              <a:rPr lang="fa-IR" altLang="en-US" sz="900" dirty="0">
                <a:solidFill>
                  <a:srgbClr val="5C6B7A"/>
                </a:solidFill>
                <a:latin typeface="Shabnam" pitchFamily="34" charset="0"/>
                <a:ea typeface="Shabnam" pitchFamily="34" charset="-122"/>
                <a:cs typeface="Shabnam" pitchFamily="34" charset="-120"/>
              </a:rPr>
              <a:t>LLM-Action و LLM-Attitude → llm_cache.json</a:t>
            </a:r>
            <a:endParaRPr lang="fa-IR" sz="900" dirty="0"/>
          </a:p>
        </p:txBody>
      </p:sp>
      <p:sp>
        <p:nvSpPr>
          <p:cNvPr id="30" name="Shape 28"/>
          <p:cNvSpPr/>
          <p:nvPr/>
        </p:nvSpPr>
        <p:spPr>
          <a:xfrm>
            <a:off x="8366760" y="3191256"/>
            <a:ext cx="292608" cy="292608"/>
          </a:xfrm>
          <a:prstGeom prst="ellipse">
            <a:avLst/>
          </a:prstGeom>
          <a:solidFill>
            <a:srgbClr val="14213D"/>
          </a:solidFill>
          <a:ln w="12700">
            <a:solidFill>
              <a:srgbClr val="14213D"/>
            </a:solidFill>
            <a:prstDash val="solid"/>
          </a:ln>
        </p:spPr>
      </p:sp>
      <p:sp>
        <p:nvSpPr>
          <p:cNvPr id="31" name="Text 29"/>
          <p:cNvSpPr txBox="1"/>
          <p:nvPr/>
        </p:nvSpPr>
        <p:spPr>
          <a:xfrm>
            <a:off x="8366760" y="3191256"/>
            <a:ext cx="292608" cy="292608"/>
          </a:xfrm>
          <a:prstGeom prst="rect">
            <a:avLst/>
          </a:prstGeom>
          <a:noFill/>
          <a:ln/>
        </p:spPr>
        <p:txBody>
          <a:bodyPr wrap="square" lIns="0" tIns="0" rIns="0" bIns="0" rtlCol="0" anchor="ctr"/>
          <a:lstStyle/>
          <a:p>
            <a:pPr marL="0" indent="0" algn="ctr" rtl="1">
              <a:buNone/>
            </a:pPr>
            <a:r>
              <a:rPr lang="fa-IR" altLang="en-US" sz="1100" b="1" dirty="0">
                <a:solidFill>
                  <a:srgbClr val="FFFFFF"/>
                </a:solidFill>
                <a:latin typeface="Shabnam" pitchFamily="34" charset="0"/>
                <a:ea typeface="Shabnam" pitchFamily="34" charset="-122"/>
                <a:cs typeface="Shabnam" pitchFamily="34" charset="-120"/>
              </a:rPr>
              <a:t>۴</a:t>
            </a:r>
            <a:endParaRPr lang="fa-IR" sz="1100" dirty="0"/>
          </a:p>
        </p:txBody>
      </p:sp>
      <p:sp>
        <p:nvSpPr>
          <p:cNvPr id="32" name="Text 30"/>
          <p:cNvSpPr txBox="1"/>
          <p:nvPr/>
        </p:nvSpPr>
        <p:spPr>
          <a:xfrm>
            <a:off x="4023360" y="3154680"/>
            <a:ext cx="4206240" cy="228600"/>
          </a:xfrm>
          <a:prstGeom prst="rect">
            <a:avLst/>
          </a:prstGeom>
          <a:noFill/>
          <a:ln/>
        </p:spPr>
        <p:txBody>
          <a:bodyPr wrap="square" lIns="0" tIns="0" rIns="0" bIns="0" rtlCol="0" anchor="t"/>
          <a:lstStyle/>
          <a:p>
            <a:pPr marL="0" indent="0" algn="r" rtl="1">
              <a:buNone/>
            </a:pPr>
            <a:r>
              <a:rPr lang="fa-IR" altLang="en-US" sz="1100" b="1" dirty="0">
                <a:solidFill>
                  <a:srgbClr val="14213D"/>
                </a:solidFill>
                <a:latin typeface="Shabnam" pitchFamily="34" charset="0"/>
                <a:ea typeface="Shabnam" pitchFamily="34" charset="-122"/>
                <a:cs typeface="Shabnam" pitchFamily="34" charset="-120"/>
              </a:rPr>
              <a:t>شبیه‌سازی و معیارها</a:t>
            </a:r>
            <a:endParaRPr lang="fa-IR" sz="1100" dirty="0"/>
          </a:p>
        </p:txBody>
      </p:sp>
      <p:sp>
        <p:nvSpPr>
          <p:cNvPr id="33" name="Text 31"/>
          <p:cNvSpPr txBox="1"/>
          <p:nvPr/>
        </p:nvSpPr>
        <p:spPr>
          <a:xfrm>
            <a:off x="4023360" y="3383280"/>
            <a:ext cx="4206240" cy="228600"/>
          </a:xfrm>
          <a:prstGeom prst="rect">
            <a:avLst/>
          </a:prstGeom>
          <a:noFill/>
          <a:ln/>
        </p:spPr>
        <p:txBody>
          <a:bodyPr wrap="square" lIns="0" tIns="0" rIns="0" bIns="0" rtlCol="0" anchor="t"/>
          <a:lstStyle/>
          <a:p>
            <a:pPr marL="0" indent="0" algn="r" rtl="1">
              <a:buNone/>
            </a:pPr>
            <a:r>
              <a:rPr lang="fa-IR" altLang="en-US" sz="900" dirty="0">
                <a:solidFill>
                  <a:srgbClr val="5C6B7A"/>
                </a:solidFill>
                <a:latin typeface="Shabnam" pitchFamily="34" charset="0"/>
                <a:ea typeface="Shabnam" pitchFamily="34" charset="-122"/>
                <a:cs typeface="Shabnam" pitchFamily="34" charset="-120"/>
              </a:rPr>
              <a:t>معادلات ۱ تا ۴ مقاله، DTW و پیرسون</a:t>
            </a:r>
            <a:endParaRPr lang="fa-IR" sz="900" dirty="0"/>
          </a:p>
        </p:txBody>
      </p:sp>
      <p:sp>
        <p:nvSpPr>
          <p:cNvPr id="34" name="Shape 32"/>
          <p:cNvSpPr/>
          <p:nvPr/>
        </p:nvSpPr>
        <p:spPr>
          <a:xfrm>
            <a:off x="8366760" y="3694176"/>
            <a:ext cx="292608" cy="292608"/>
          </a:xfrm>
          <a:prstGeom prst="ellipse">
            <a:avLst/>
          </a:prstGeom>
          <a:solidFill>
            <a:srgbClr val="17A398"/>
          </a:solidFill>
          <a:ln w="12700">
            <a:solidFill>
              <a:srgbClr val="17A398"/>
            </a:solidFill>
            <a:prstDash val="solid"/>
          </a:ln>
        </p:spPr>
      </p:sp>
      <p:sp>
        <p:nvSpPr>
          <p:cNvPr id="35" name="Text 33"/>
          <p:cNvSpPr txBox="1"/>
          <p:nvPr/>
        </p:nvSpPr>
        <p:spPr>
          <a:xfrm>
            <a:off x="8366760" y="3694176"/>
            <a:ext cx="292608" cy="292608"/>
          </a:xfrm>
          <a:prstGeom prst="rect">
            <a:avLst/>
          </a:prstGeom>
          <a:noFill/>
          <a:ln/>
        </p:spPr>
        <p:txBody>
          <a:bodyPr wrap="square" lIns="0" tIns="0" rIns="0" bIns="0" rtlCol="0" anchor="ctr"/>
          <a:lstStyle/>
          <a:p>
            <a:pPr marL="0" indent="0" algn="ctr" rtl="1">
              <a:buNone/>
            </a:pPr>
            <a:r>
              <a:rPr lang="fa-IR" altLang="en-US" sz="1100" b="1" dirty="0">
                <a:solidFill>
                  <a:srgbClr val="FFFFFF"/>
                </a:solidFill>
                <a:latin typeface="Shabnam" pitchFamily="34" charset="0"/>
                <a:ea typeface="Shabnam" pitchFamily="34" charset="-122"/>
                <a:cs typeface="Shabnam" pitchFamily="34" charset="-120"/>
              </a:rPr>
              <a:t>۵</a:t>
            </a:r>
            <a:endParaRPr lang="fa-IR" sz="1100" dirty="0"/>
          </a:p>
        </p:txBody>
      </p:sp>
      <p:sp>
        <p:nvSpPr>
          <p:cNvPr id="36" name="Text 34"/>
          <p:cNvSpPr txBox="1"/>
          <p:nvPr/>
        </p:nvSpPr>
        <p:spPr>
          <a:xfrm>
            <a:off x="4023360" y="3657600"/>
            <a:ext cx="4206240" cy="228600"/>
          </a:xfrm>
          <a:prstGeom prst="rect">
            <a:avLst/>
          </a:prstGeom>
          <a:noFill/>
          <a:ln/>
        </p:spPr>
        <p:txBody>
          <a:bodyPr wrap="square" lIns="0" tIns="0" rIns="0" bIns="0" rtlCol="0" anchor="t"/>
          <a:lstStyle/>
          <a:p>
            <a:pPr marL="0" indent="0" algn="r" rtl="1">
              <a:buNone/>
            </a:pPr>
            <a:r>
              <a:rPr lang="fa-IR" altLang="en-US" sz="1100" b="1" dirty="0">
                <a:solidFill>
                  <a:srgbClr val="14213D"/>
                </a:solidFill>
                <a:latin typeface="Shabnam" pitchFamily="34" charset="0"/>
                <a:ea typeface="Shabnam" pitchFamily="34" charset="-122"/>
                <a:cs typeface="Shabnam" pitchFamily="34" charset="-120"/>
              </a:rPr>
              <a:t>جست‌وجوی پارامتر</a:t>
            </a:r>
            <a:endParaRPr lang="fa-IR" sz="1100" dirty="0"/>
          </a:p>
        </p:txBody>
      </p:sp>
      <p:sp>
        <p:nvSpPr>
          <p:cNvPr id="37" name="Text 35"/>
          <p:cNvSpPr txBox="1"/>
          <p:nvPr/>
        </p:nvSpPr>
        <p:spPr>
          <a:xfrm>
            <a:off x="4023360" y="3886200"/>
            <a:ext cx="4206240" cy="228600"/>
          </a:xfrm>
          <a:prstGeom prst="rect">
            <a:avLst/>
          </a:prstGeom>
          <a:noFill/>
          <a:ln/>
        </p:spPr>
        <p:txBody>
          <a:bodyPr wrap="square" lIns="0" tIns="0" rIns="0" bIns="0" rtlCol="0" anchor="t"/>
          <a:lstStyle/>
          <a:p>
            <a:pPr marL="0" indent="0" algn="r" rtl="1">
              <a:buNone/>
            </a:pPr>
            <a:r>
              <a:rPr lang="fa-IR" altLang="en-US" sz="900" dirty="0">
                <a:solidFill>
                  <a:srgbClr val="5C6B7A"/>
                </a:solidFill>
                <a:latin typeface="Shabnam" pitchFamily="34" charset="0"/>
                <a:ea typeface="Shabnam" pitchFamily="34" charset="-122"/>
                <a:cs typeface="Shabnam" pitchFamily="34" charset="-120"/>
              </a:rPr>
              <a:t>برای هر روش → best_params.json</a:t>
            </a:r>
            <a:endParaRPr lang="fa-IR" sz="900" dirty="0"/>
          </a:p>
        </p:txBody>
      </p:sp>
      <p:sp>
        <p:nvSpPr>
          <p:cNvPr id="38" name="Shape 36"/>
          <p:cNvSpPr/>
          <p:nvPr/>
        </p:nvSpPr>
        <p:spPr>
          <a:xfrm>
            <a:off x="8366760" y="4197096"/>
            <a:ext cx="292608" cy="292608"/>
          </a:xfrm>
          <a:prstGeom prst="ellipse">
            <a:avLst/>
          </a:prstGeom>
          <a:solidFill>
            <a:srgbClr val="14213D"/>
          </a:solidFill>
          <a:ln w="12700">
            <a:solidFill>
              <a:srgbClr val="14213D"/>
            </a:solidFill>
            <a:prstDash val="solid"/>
          </a:ln>
        </p:spPr>
      </p:sp>
      <p:sp>
        <p:nvSpPr>
          <p:cNvPr id="39" name="Text 37"/>
          <p:cNvSpPr txBox="1"/>
          <p:nvPr/>
        </p:nvSpPr>
        <p:spPr>
          <a:xfrm>
            <a:off x="8366760" y="4197096"/>
            <a:ext cx="292608" cy="292608"/>
          </a:xfrm>
          <a:prstGeom prst="rect">
            <a:avLst/>
          </a:prstGeom>
          <a:noFill/>
          <a:ln/>
        </p:spPr>
        <p:txBody>
          <a:bodyPr wrap="square" lIns="0" tIns="0" rIns="0" bIns="0" rtlCol="0" anchor="ctr"/>
          <a:lstStyle/>
          <a:p>
            <a:pPr marL="0" indent="0" algn="ctr" rtl="1">
              <a:buNone/>
            </a:pPr>
            <a:r>
              <a:rPr lang="fa-IR" altLang="en-US" sz="1100" b="1" dirty="0">
                <a:solidFill>
                  <a:srgbClr val="FFFFFF"/>
                </a:solidFill>
                <a:latin typeface="Shabnam" pitchFamily="34" charset="0"/>
                <a:ea typeface="Shabnam" pitchFamily="34" charset="-122"/>
                <a:cs typeface="Shabnam" pitchFamily="34" charset="-120"/>
              </a:rPr>
              <a:t>۶</a:t>
            </a:r>
            <a:endParaRPr lang="fa-IR" sz="1100" dirty="0"/>
          </a:p>
        </p:txBody>
      </p:sp>
      <p:sp>
        <p:nvSpPr>
          <p:cNvPr id="40" name="Text 38"/>
          <p:cNvSpPr txBox="1"/>
          <p:nvPr/>
        </p:nvSpPr>
        <p:spPr>
          <a:xfrm>
            <a:off x="4023360" y="4160520"/>
            <a:ext cx="4206240" cy="228600"/>
          </a:xfrm>
          <a:prstGeom prst="rect">
            <a:avLst/>
          </a:prstGeom>
          <a:noFill/>
          <a:ln/>
        </p:spPr>
        <p:txBody>
          <a:bodyPr wrap="square" lIns="0" tIns="0" rIns="0" bIns="0" rtlCol="0" anchor="t"/>
          <a:lstStyle/>
          <a:p>
            <a:pPr marL="0" indent="0" algn="r" rtl="1">
              <a:buNone/>
            </a:pPr>
            <a:r>
              <a:rPr lang="fa-IR" altLang="en-US" sz="1100" b="1" dirty="0">
                <a:solidFill>
                  <a:srgbClr val="14213D"/>
                </a:solidFill>
                <a:latin typeface="Shabnam" pitchFamily="34" charset="0"/>
                <a:ea typeface="Shabnam" pitchFamily="34" charset="-122"/>
                <a:cs typeface="Shabnam" pitchFamily="34" charset="-120"/>
              </a:rPr>
              <a:t>نتایج، نمودار و آزمایش حذف</a:t>
            </a:r>
            <a:endParaRPr lang="fa-IR" sz="1100" dirty="0"/>
          </a:p>
        </p:txBody>
      </p:sp>
      <p:sp>
        <p:nvSpPr>
          <p:cNvPr id="41" name="Text 39"/>
          <p:cNvSpPr txBox="1"/>
          <p:nvPr/>
        </p:nvSpPr>
        <p:spPr>
          <a:xfrm>
            <a:off x="4023360" y="4389120"/>
            <a:ext cx="4206240" cy="228600"/>
          </a:xfrm>
          <a:prstGeom prst="rect">
            <a:avLst/>
          </a:prstGeom>
          <a:noFill/>
          <a:ln/>
        </p:spPr>
        <p:txBody>
          <a:bodyPr wrap="square" lIns="0" tIns="0" rIns="0" bIns="0" rtlCol="0" anchor="t"/>
          <a:lstStyle/>
          <a:p>
            <a:pPr marL="0" indent="0" algn="r" rtl="1">
              <a:buNone/>
            </a:pPr>
            <a:r>
              <a:rPr lang="fa-IR" altLang="en-US" sz="900" dirty="0">
                <a:solidFill>
                  <a:srgbClr val="5C6B7A"/>
                </a:solidFill>
                <a:latin typeface="Shabnam" pitchFamily="34" charset="0"/>
                <a:ea typeface="Shabnam" pitchFamily="34" charset="-122"/>
                <a:cs typeface="Shabnam" pitchFamily="34" charset="-120"/>
              </a:rPr>
              <a:t>results_table.csv، ablation_table.csv و دو نمودار</a:t>
            </a:r>
            <a:endParaRPr lang="fa-IR" sz="900" dirty="0"/>
          </a:p>
        </p:txBody>
      </p:sp>
      <p:sp>
        <p:nvSpPr>
          <p:cNvPr id="42" name="Text 40"/>
          <p:cNvSpPr txBox="1"/>
          <p:nvPr/>
        </p:nvSpPr>
        <p:spPr>
          <a:xfrm>
            <a:off x="457200" y="4800600"/>
            <a:ext cx="5486400" cy="228600"/>
          </a:xfrm>
          <a:prstGeom prst="rect">
            <a:avLst/>
          </a:prstGeom>
          <a:noFill/>
          <a:ln/>
        </p:spPr>
        <p:txBody>
          <a:bodyPr wrap="square" lIns="0" tIns="0" rIns="0" bIns="0" rtlCol="0" anchor="t"/>
          <a:lstStyle/>
          <a:p>
            <a:pPr marL="0" indent="0" algn="l">
              <a:buNone/>
            </a:pPr>
            <a:r>
              <a:rPr lang="en-US" sz="900" dirty="0">
                <a:solidFill>
                  <a:srgbClr val="5C6B7A"/>
                </a:solidFill>
                <a:latin typeface="Calibri" pitchFamily="34" charset="0"/>
                <a:ea typeface="Calibri" pitchFamily="34" charset="-122"/>
                <a:cs typeface="Calibri" pitchFamily="34" charset="-120"/>
              </a:rPr>
              <a:t>Yao et al., Scientific Reports 15:15472 (2025)</a:t>
            </a:r>
            <a:endParaRPr lang="en-US" sz="900" dirty="0"/>
          </a:p>
        </p:txBody>
      </p:sp>
      <p:sp>
        <p:nvSpPr>
          <p:cNvPr id="43" name="Text 41"/>
          <p:cNvSpPr txBox="1"/>
          <p:nvPr/>
        </p:nvSpPr>
        <p:spPr>
          <a:xfrm>
            <a:off x="8229600" y="4773168"/>
            <a:ext cx="457200" cy="228600"/>
          </a:xfrm>
          <a:prstGeom prst="rect">
            <a:avLst/>
          </a:prstGeom>
          <a:noFill/>
          <a:ln/>
        </p:spPr>
        <p:txBody>
          <a:bodyPr wrap="square" lIns="0" tIns="0" rIns="0" bIns="0" rtlCol="0" anchor="t"/>
          <a:lstStyle/>
          <a:p>
            <a:pPr marL="0" indent="0" algn="r" rtl="1">
              <a:buNone/>
            </a:pPr>
            <a:r>
              <a:rPr lang="fa-IR" altLang="en-US" sz="1000" dirty="0">
                <a:solidFill>
                  <a:srgbClr val="5C6B7A"/>
                </a:solidFill>
                <a:latin typeface="Shabnam" pitchFamily="34" charset="0"/>
                <a:ea typeface="Shabnam" pitchFamily="34" charset="-122"/>
                <a:cs typeface="Shabnam" pitchFamily="34" charset="-120"/>
              </a:rPr>
              <a:t>۱۰</a:t>
            </a:r>
            <a:endParaRPr lang="fa-IR"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7863840" cy="274320"/>
          </a:xfrm>
          <a:prstGeom prst="rect">
            <a:avLst/>
          </a:prstGeom>
          <a:noFill/>
          <a:ln/>
        </p:spPr>
        <p:txBody>
          <a:bodyPr wrap="square" lIns="0" tIns="0" rIns="0" bIns="0" rtlCol="0" anchor="t"/>
          <a:lstStyle/>
          <a:p>
            <a:pPr marL="0" indent="0" algn="r" rtl="1">
              <a:buNone/>
            </a:pPr>
            <a:r>
              <a:rPr lang="fa-IR" altLang="en-US" sz="1100" dirty="0">
                <a:solidFill>
                  <a:srgbClr val="5C6B7A"/>
                </a:solidFill>
                <a:latin typeface="Shabnam" pitchFamily="34" charset="0"/>
                <a:ea typeface="Shabnam" pitchFamily="34" charset="-122"/>
                <a:cs typeface="Shabnam" pitchFamily="34" charset="-120"/>
              </a:rPr>
              <a:t>۷  ·  نتایج</a:t>
            </a:r>
            <a:endParaRPr lang="fa-IR" sz="1100" dirty="0"/>
          </a:p>
        </p:txBody>
      </p:sp>
      <p:sp>
        <p:nvSpPr>
          <p:cNvPr id="3" name="Text 1"/>
          <p:cNvSpPr txBox="1"/>
          <p:nvPr/>
        </p:nvSpPr>
        <p:spPr>
          <a:xfrm>
            <a:off x="457200" y="566928"/>
            <a:ext cx="8229600" cy="594360"/>
          </a:xfrm>
          <a:prstGeom prst="rect">
            <a:avLst/>
          </a:prstGeom>
          <a:noFill/>
          <a:ln/>
        </p:spPr>
        <p:txBody>
          <a:bodyPr wrap="square" lIns="0" tIns="0" rIns="0" bIns="0" rtlCol="0" anchor="t"/>
          <a:lstStyle/>
          <a:p>
            <a:pPr marL="0" indent="0" algn="r" rtl="1">
              <a:buNone/>
            </a:pPr>
            <a:r>
              <a:rPr lang="fa-IR" altLang="en-US" sz="2400" b="1" dirty="0">
                <a:solidFill>
                  <a:srgbClr val="14213D"/>
                </a:solidFill>
                <a:latin typeface="Shabnam" pitchFamily="34" charset="0"/>
                <a:ea typeface="Shabnam" pitchFamily="34" charset="-122"/>
                <a:cs typeface="Shabnam" pitchFamily="34" charset="-120"/>
              </a:rPr>
              <a:t>FDE-LLM در هر دو معیار بهترین روش است</a:t>
            </a:r>
            <a:endParaRPr lang="fa-IR" sz="2400" dirty="0"/>
          </a:p>
        </p:txBody>
      </p:sp>
      <p:graphicFrame>
        <p:nvGraphicFramePr>
          <p:cNvPr id="4" name="Chart 0"/>
          <p:cNvGraphicFramePr/>
          <p:nvPr/>
        </p:nvGraphicFramePr>
        <p:xfrm>
          <a:off x="365760" y="1234440"/>
          <a:ext cx="4023360" cy="25146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1"/>
          <p:cNvGraphicFramePr/>
          <p:nvPr/>
        </p:nvGraphicFramePr>
        <p:xfrm>
          <a:off x="4663440" y="1234440"/>
          <a:ext cx="4023360" cy="2514600"/>
        </p:xfrm>
        <a:graphic>
          <a:graphicData uri="http://schemas.openxmlformats.org/drawingml/2006/chart">
            <c:chart xmlns:c="http://schemas.openxmlformats.org/drawingml/2006/chart" xmlns:r="http://schemas.openxmlformats.org/officeDocument/2006/relationships" r:id="rId4"/>
          </a:graphicData>
        </a:graphic>
      </p:graphicFrame>
      <p:sp>
        <p:nvSpPr>
          <p:cNvPr id="6" name="Shape 2"/>
          <p:cNvSpPr/>
          <p:nvPr/>
        </p:nvSpPr>
        <p:spPr>
          <a:xfrm>
            <a:off x="457200" y="3886200"/>
            <a:ext cx="8229600" cy="777240"/>
          </a:xfrm>
          <a:prstGeom prst="roundRect">
            <a:avLst>
              <a:gd name="adj" fmla="val 9412"/>
            </a:avLst>
          </a:prstGeom>
          <a:solidFill>
            <a:srgbClr val="E3F4F2"/>
          </a:solidFill>
          <a:ln w="12700">
            <a:solidFill>
              <a:srgbClr val="E3F4F2"/>
            </a:solidFill>
            <a:prstDash val="solid"/>
          </a:ln>
        </p:spPr>
      </p:sp>
      <p:sp>
        <p:nvSpPr>
          <p:cNvPr id="7" name="Text 3"/>
          <p:cNvSpPr txBox="1"/>
          <p:nvPr/>
        </p:nvSpPr>
        <p:spPr>
          <a:xfrm>
            <a:off x="640080" y="3959352"/>
            <a:ext cx="7863840" cy="640080"/>
          </a:xfrm>
          <a:prstGeom prst="rect">
            <a:avLst/>
          </a:prstGeom>
          <a:noFill/>
          <a:ln/>
        </p:spPr>
        <p:txBody>
          <a:bodyPr wrap="square" lIns="0" tIns="0" rIns="0" bIns="0" rtlCol="0" anchor="ctr"/>
          <a:lstStyle/>
          <a:p>
            <a:pPr marL="0" indent="0" algn="r" rtl="1">
              <a:buNone/>
            </a:pPr>
            <a:r>
              <a:rPr lang="fa-IR" altLang="en-US" sz="1050" dirty="0">
                <a:solidFill>
                  <a:srgbClr val="1F2933"/>
                </a:solidFill>
                <a:latin typeface="Shabnam" pitchFamily="34" charset="0"/>
                <a:ea typeface="Shabnam" pitchFamily="34" charset="-122"/>
                <a:cs typeface="Shabnam" pitchFamily="34" charset="-120"/>
              </a:rPr>
              <a:t>FDE-LLM کمترین میانگین DTW (۰.۷۲) و بیشترین همبستگی (۰.۷۲) را دارد؛ ترتیب روش‌ها شبیه مقاله است، ولی عددها ضعیف‌ترند (در مقاله DTW حدود ۰٫۳۵).</a:t>
            </a:r>
            <a:endParaRPr lang="fa-IR" sz="1050" dirty="0"/>
          </a:p>
        </p:txBody>
      </p:sp>
      <p:sp>
        <p:nvSpPr>
          <p:cNvPr id="8" name="Text 4"/>
          <p:cNvSpPr txBox="1"/>
          <p:nvPr/>
        </p:nvSpPr>
        <p:spPr>
          <a:xfrm>
            <a:off x="457200" y="4800600"/>
            <a:ext cx="5486400" cy="228600"/>
          </a:xfrm>
          <a:prstGeom prst="rect">
            <a:avLst/>
          </a:prstGeom>
          <a:noFill/>
          <a:ln/>
        </p:spPr>
        <p:txBody>
          <a:bodyPr wrap="square" lIns="0" tIns="0" rIns="0" bIns="0" rtlCol="0" anchor="t"/>
          <a:lstStyle/>
          <a:p>
            <a:pPr marL="0" indent="0" algn="l">
              <a:buNone/>
            </a:pPr>
            <a:r>
              <a:rPr lang="en-US" sz="900" dirty="0">
                <a:solidFill>
                  <a:srgbClr val="5C6B7A"/>
                </a:solidFill>
                <a:latin typeface="Calibri" pitchFamily="34" charset="0"/>
                <a:ea typeface="Calibri" pitchFamily="34" charset="-122"/>
                <a:cs typeface="Calibri" pitchFamily="34" charset="-120"/>
              </a:rPr>
              <a:t>Yao et al., Scientific Reports 15:15472 (2025)</a:t>
            </a:r>
            <a:endParaRPr lang="en-US" sz="900" dirty="0"/>
          </a:p>
        </p:txBody>
      </p:sp>
      <p:sp>
        <p:nvSpPr>
          <p:cNvPr id="9" name="Text 5"/>
          <p:cNvSpPr txBox="1"/>
          <p:nvPr/>
        </p:nvSpPr>
        <p:spPr>
          <a:xfrm>
            <a:off x="8229600" y="4773168"/>
            <a:ext cx="457200" cy="228600"/>
          </a:xfrm>
          <a:prstGeom prst="rect">
            <a:avLst/>
          </a:prstGeom>
          <a:noFill/>
          <a:ln/>
        </p:spPr>
        <p:txBody>
          <a:bodyPr wrap="square" lIns="0" tIns="0" rIns="0" bIns="0" rtlCol="0" anchor="t"/>
          <a:lstStyle/>
          <a:p>
            <a:pPr marL="0" indent="0" algn="r" rtl="1">
              <a:buNone/>
            </a:pPr>
            <a:r>
              <a:rPr lang="fa-IR" altLang="en-US" sz="1000" dirty="0">
                <a:solidFill>
                  <a:srgbClr val="5C6B7A"/>
                </a:solidFill>
                <a:latin typeface="Shabnam" pitchFamily="34" charset="0"/>
                <a:ea typeface="Shabnam" pitchFamily="34" charset="-122"/>
                <a:cs typeface="Shabnam" pitchFamily="34" charset="-120"/>
              </a:rPr>
              <a:t>۱۱</a:t>
            </a:r>
            <a:endParaRPr lang="fa-IR"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7863840" cy="274320"/>
          </a:xfrm>
          <a:prstGeom prst="rect">
            <a:avLst/>
          </a:prstGeom>
          <a:noFill/>
          <a:ln/>
        </p:spPr>
        <p:txBody>
          <a:bodyPr wrap="square" lIns="0" tIns="0" rIns="0" bIns="0" rtlCol="0" anchor="t"/>
          <a:lstStyle/>
          <a:p>
            <a:pPr marL="0" indent="0" algn="r" rtl="1">
              <a:buNone/>
            </a:pPr>
            <a:r>
              <a:rPr lang="fa-IR" altLang="en-US" sz="1100" dirty="0">
                <a:solidFill>
                  <a:srgbClr val="5C6B7A"/>
                </a:solidFill>
                <a:latin typeface="Shabnam" pitchFamily="34" charset="0"/>
                <a:ea typeface="Shabnam" pitchFamily="34" charset="-122"/>
                <a:cs typeface="Shabnam" pitchFamily="34" charset="-120"/>
              </a:rPr>
              <a:t>۷  ·  نتایج به تفکیک رویداد</a:t>
            </a:r>
            <a:endParaRPr lang="fa-IR" sz="1100" dirty="0"/>
          </a:p>
        </p:txBody>
      </p:sp>
      <p:sp>
        <p:nvSpPr>
          <p:cNvPr id="3" name="Text 1"/>
          <p:cNvSpPr txBox="1"/>
          <p:nvPr/>
        </p:nvSpPr>
        <p:spPr>
          <a:xfrm>
            <a:off x="457200" y="566928"/>
            <a:ext cx="8229600" cy="594360"/>
          </a:xfrm>
          <a:prstGeom prst="rect">
            <a:avLst/>
          </a:prstGeom>
          <a:noFill/>
          <a:ln/>
        </p:spPr>
        <p:txBody>
          <a:bodyPr wrap="square" lIns="0" tIns="0" rIns="0" bIns="0" rtlCol="0" anchor="t"/>
          <a:lstStyle/>
          <a:p>
            <a:pPr marL="0" indent="0" algn="r" rtl="1">
              <a:buNone/>
            </a:pPr>
            <a:r>
              <a:rPr lang="fa-IR" altLang="en-US" sz="2400" b="1" dirty="0">
                <a:solidFill>
                  <a:srgbClr val="14213D"/>
                </a:solidFill>
                <a:latin typeface="Shabnam" pitchFamily="34" charset="0"/>
                <a:ea typeface="Shabnam" pitchFamily="34" charset="-122"/>
                <a:cs typeface="Shabnam" pitchFamily="34" charset="-120"/>
              </a:rPr>
              <a:t>مقایسه با جدول ۲ مقاله</a:t>
            </a:r>
            <a:endParaRPr lang="fa-IR" sz="2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109728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2011680">
                  <a:extLst>
                    <a:ext uri="{9D8B030D-6E8A-4147-A177-3AD203B41FA5}">
                      <a16:colId xmlns:a16="http://schemas.microsoft.com/office/drawing/2014/main" val="20004"/>
                    </a:ext>
                  </a:extLst>
                </a:gridCol>
                <a:gridCol w="1828800">
                  <a:extLst>
                    <a:ext uri="{9D8B030D-6E8A-4147-A177-3AD203B41FA5}">
                      <a16:colId xmlns:a16="http://schemas.microsoft.com/office/drawing/2014/main" val="20005"/>
                    </a:ext>
                  </a:extLst>
                </a:gridCol>
              </a:tblGrid>
              <a:tr h="384048">
                <a:tc>
                  <a:txBody>
                    <a:bodyPr/>
                    <a:lstStyle/>
                    <a:p>
                      <a:pPr marL="0" indent="0" algn="ctr" rtl="1">
                        <a:buNone/>
                      </a:pPr>
                      <a:r>
                        <a:rPr lang="en-US" sz="1050" b="1" dirty="0">
                          <a:solidFill>
                            <a:srgbClr val="FFFFFF"/>
                          </a:solidFill>
                          <a:latin typeface="Shabnam" pitchFamily="34" charset="0"/>
                          <a:ea typeface="Shabnam" pitchFamily="34" charset="-122"/>
                          <a:cs typeface="Shabnam" pitchFamily="34" charset="-120"/>
                        </a:rPr>
                        <a:t>r مقاله</a:t>
                      </a:r>
                      <a:endParaRPr lang="en-US" sz="1050" dirty="0">
                        <a:latin typeface="Shabnam" charset="0"/>
                        <a:ea typeface="Shabnam" charset="0"/>
                        <a:cs typeface="Shabnam" charset="0"/>
                      </a:endParaRPr>
                    </a:p>
                  </a:txBody>
                  <a:tcPr marL="54864" marR="54864" marT="54864" marB="54864"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solidFill>
                      <a:srgbClr val="14213D"/>
                    </a:solidFill>
                  </a:tcPr>
                </a:tc>
                <a:tc>
                  <a:txBody>
                    <a:bodyPr/>
                    <a:lstStyle/>
                    <a:p>
                      <a:pPr marL="0" indent="0" algn="ctr" rtl="1">
                        <a:buNone/>
                      </a:pPr>
                      <a:r>
                        <a:rPr lang="en-US" sz="1050" b="1" dirty="0">
                          <a:solidFill>
                            <a:srgbClr val="FFFFFF"/>
                          </a:solidFill>
                          <a:latin typeface="Shabnam" pitchFamily="34" charset="0"/>
                          <a:ea typeface="Shabnam" pitchFamily="34" charset="-122"/>
                          <a:cs typeface="Shabnam" pitchFamily="34" charset="-120"/>
                        </a:rPr>
                        <a:t>DTW مقاله</a:t>
                      </a:r>
                      <a:endParaRPr lang="en-US" sz="1050" dirty="0">
                        <a:latin typeface="Shabnam" charset="0"/>
                        <a:ea typeface="Shabnam" charset="0"/>
                        <a:cs typeface="Shabnam" charset="0"/>
                      </a:endParaRPr>
                    </a:p>
                  </a:txBody>
                  <a:tcPr marL="54864" marR="54864" marT="54864" marB="54864"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solidFill>
                      <a:srgbClr val="14213D"/>
                    </a:solidFill>
                  </a:tcPr>
                </a:tc>
                <a:tc>
                  <a:txBody>
                    <a:bodyPr/>
                    <a:lstStyle/>
                    <a:p>
                      <a:pPr marL="0" indent="0" algn="ctr" rtl="1">
                        <a:buNone/>
                      </a:pPr>
                      <a:r>
                        <a:rPr lang="en-US" sz="1050" b="1" dirty="0">
                          <a:solidFill>
                            <a:srgbClr val="FFFFFF"/>
                          </a:solidFill>
                          <a:latin typeface="Shabnam" pitchFamily="34" charset="0"/>
                          <a:ea typeface="Shabnam" pitchFamily="34" charset="-122"/>
                          <a:cs typeface="Shabnam" pitchFamily="34" charset="-120"/>
                        </a:rPr>
                        <a:t>r من</a:t>
                      </a:r>
                      <a:endParaRPr lang="en-US" sz="1050" dirty="0">
                        <a:latin typeface="Shabnam" charset="0"/>
                        <a:ea typeface="Shabnam" charset="0"/>
                        <a:cs typeface="Shabnam" charset="0"/>
                      </a:endParaRPr>
                    </a:p>
                  </a:txBody>
                  <a:tcPr marL="54864" marR="54864" marT="54864" marB="54864"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solidFill>
                      <a:srgbClr val="17A398"/>
                    </a:solidFill>
                  </a:tcPr>
                </a:tc>
                <a:tc>
                  <a:txBody>
                    <a:bodyPr/>
                    <a:lstStyle/>
                    <a:p>
                      <a:pPr marL="0" indent="0" algn="ctr" rtl="1">
                        <a:buNone/>
                      </a:pPr>
                      <a:r>
                        <a:rPr lang="en-US" sz="1050" b="1" dirty="0">
                          <a:solidFill>
                            <a:srgbClr val="FFFFFF"/>
                          </a:solidFill>
                          <a:latin typeface="Shabnam" pitchFamily="34" charset="0"/>
                          <a:ea typeface="Shabnam" pitchFamily="34" charset="-122"/>
                          <a:cs typeface="Shabnam" pitchFamily="34" charset="-120"/>
                        </a:rPr>
                        <a:t>DTW من</a:t>
                      </a:r>
                      <a:endParaRPr lang="en-US" sz="1050" dirty="0">
                        <a:latin typeface="Shabnam" charset="0"/>
                        <a:ea typeface="Shabnam" charset="0"/>
                        <a:cs typeface="Shabnam" charset="0"/>
                      </a:endParaRPr>
                    </a:p>
                  </a:txBody>
                  <a:tcPr marL="54864" marR="54864" marT="54864" marB="54864"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solidFill>
                      <a:srgbClr val="17A398"/>
                    </a:solidFill>
                  </a:tcPr>
                </a:tc>
                <a:tc>
                  <a:txBody>
                    <a:bodyPr/>
                    <a:lstStyle/>
                    <a:p>
                      <a:pPr marL="0" indent="0" algn="ctr" rtl="1">
                        <a:buNone/>
                      </a:pPr>
                      <a:r>
                        <a:rPr lang="en-US" sz="1050" b="1" dirty="0">
                          <a:solidFill>
                            <a:srgbClr val="FFFFFF"/>
                          </a:solidFill>
                          <a:latin typeface="Shabnam" pitchFamily="34" charset="0"/>
                          <a:ea typeface="Shabnam" pitchFamily="34" charset="-122"/>
                          <a:cs typeface="Shabnam" pitchFamily="34" charset="-120"/>
                        </a:rPr>
                        <a:t>بهترین روش من (DTW)</a:t>
                      </a:r>
                      <a:endParaRPr lang="en-US" sz="1050" dirty="0">
                        <a:latin typeface="Shabnam" charset="0"/>
                        <a:ea typeface="Shabnam" charset="0"/>
                        <a:cs typeface="Shabnam" charset="0"/>
                      </a:endParaRPr>
                    </a:p>
                  </a:txBody>
                  <a:tcPr marL="54864" marR="54864" marT="54864" marB="54864"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solidFill>
                      <a:srgbClr val="14213D"/>
                    </a:solidFill>
                  </a:tcPr>
                </a:tc>
                <a:tc>
                  <a:txBody>
                    <a:bodyPr/>
                    <a:lstStyle/>
                    <a:p>
                      <a:pPr marL="0" indent="0" algn="ctr" rtl="1">
                        <a:buNone/>
                      </a:pPr>
                      <a:r>
                        <a:rPr lang="en-US" sz="1050" b="1" dirty="0">
                          <a:solidFill>
                            <a:srgbClr val="FFFFFF"/>
                          </a:solidFill>
                          <a:latin typeface="Shabnam" pitchFamily="34" charset="0"/>
                          <a:ea typeface="Shabnam" pitchFamily="34" charset="-122"/>
                          <a:cs typeface="Shabnam" pitchFamily="34" charset="-120"/>
                        </a:rPr>
                        <a:t>رویداد</a:t>
                      </a:r>
                      <a:endParaRPr lang="en-US" sz="1050" dirty="0">
                        <a:latin typeface="Shabnam" charset="0"/>
                        <a:ea typeface="Shabnam" charset="0"/>
                        <a:cs typeface="Shabnam" charset="0"/>
                      </a:endParaRPr>
                    </a:p>
                  </a:txBody>
                  <a:tcPr marL="54864" marR="54864" marT="54864" marB="54864"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384048">
                <a:tc>
                  <a:txBody>
                    <a:bodyPr/>
                    <a:lstStyle/>
                    <a:p>
                      <a:pPr marL="0" indent="0" algn="ctr" rtl="1">
                        <a:buNone/>
                      </a:pPr>
                      <a:r>
                        <a:rPr lang="en-US" sz="1050" dirty="0">
                          <a:solidFill>
                            <a:srgbClr val="1F2933"/>
                          </a:solidFill>
                          <a:latin typeface="Calibri" pitchFamily="34" charset="0"/>
                          <a:ea typeface="Calibri" pitchFamily="34" charset="-122"/>
                          <a:cs typeface="Calibri" pitchFamily="34" charset="-120"/>
                        </a:rPr>
                        <a:t>0.965</a:t>
                      </a:r>
                      <a:endParaRPr lang="en-US" sz="1050" dirty="0">
                        <a:latin typeface="Calibri" charset="0"/>
                        <a:ea typeface="Calibri" charset="0"/>
                        <a:cs typeface="Calibri" charset="0"/>
                      </a:endParaRPr>
                    </a:p>
                  </a:txBody>
                  <a:tcPr marL="54864" marR="54864" marT="54864" marB="54864"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solidFill>
                      <a:srgbClr val="EEF2F7"/>
                    </a:solidFill>
                  </a:tcPr>
                </a:tc>
                <a:tc>
                  <a:txBody>
                    <a:bodyPr/>
                    <a:lstStyle/>
                    <a:p>
                      <a:pPr marL="0" indent="0" algn="ctr" rtl="1">
                        <a:buNone/>
                      </a:pPr>
                      <a:r>
                        <a:rPr lang="en-US" sz="1050" dirty="0">
                          <a:solidFill>
                            <a:srgbClr val="1F2933"/>
                          </a:solidFill>
                          <a:latin typeface="Calibri" pitchFamily="34" charset="0"/>
                          <a:ea typeface="Calibri" pitchFamily="34" charset="-122"/>
                          <a:cs typeface="Calibri" pitchFamily="34" charset="-120"/>
                        </a:rPr>
                        <a:t>0.362</a:t>
                      </a:r>
                      <a:endParaRPr lang="en-US" sz="1050" dirty="0">
                        <a:latin typeface="Calibri" charset="0"/>
                        <a:ea typeface="Calibri" charset="0"/>
                        <a:cs typeface="Calibri" charset="0"/>
                      </a:endParaRPr>
                    </a:p>
                  </a:txBody>
                  <a:tcPr marL="54864" marR="54864" marT="54864" marB="54864"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solidFill>
                      <a:srgbClr val="EEF2F7"/>
                    </a:solidFill>
                  </a:tcPr>
                </a:tc>
                <a:tc>
                  <a:txBody>
                    <a:bodyPr/>
                    <a:lstStyle/>
                    <a:p>
                      <a:pPr marL="0" indent="0" algn="ctr" rtl="1">
                        <a:buNone/>
                      </a:pPr>
                      <a:r>
                        <a:rPr lang="en-US" sz="1050" b="1" dirty="0">
                          <a:solidFill>
                            <a:srgbClr val="17A398"/>
                          </a:solidFill>
                          <a:latin typeface="Calibri" pitchFamily="34" charset="0"/>
                          <a:ea typeface="Calibri" pitchFamily="34" charset="-122"/>
                          <a:cs typeface="Calibri" pitchFamily="34" charset="-120"/>
                        </a:rPr>
                        <a:t>0.827</a:t>
                      </a:r>
                      <a:endParaRPr lang="en-US" sz="1050" dirty="0">
                        <a:latin typeface="Calibri" charset="0"/>
                        <a:ea typeface="Calibri" charset="0"/>
                        <a:cs typeface="Calibri" charset="0"/>
                      </a:endParaRPr>
                    </a:p>
                  </a:txBody>
                  <a:tcPr marL="54864" marR="54864" marT="54864" marB="54864"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solidFill>
                      <a:srgbClr val="EEF2F7"/>
                    </a:solidFill>
                  </a:tcPr>
                </a:tc>
                <a:tc>
                  <a:txBody>
                    <a:bodyPr/>
                    <a:lstStyle/>
                    <a:p>
                      <a:pPr marL="0" indent="0" algn="ctr" rtl="1">
                        <a:buNone/>
                      </a:pPr>
                      <a:r>
                        <a:rPr lang="en-US" sz="1050" b="1" dirty="0">
                          <a:solidFill>
                            <a:srgbClr val="17A398"/>
                          </a:solidFill>
                          <a:latin typeface="Calibri" pitchFamily="34" charset="0"/>
                          <a:ea typeface="Calibri" pitchFamily="34" charset="-122"/>
                          <a:cs typeface="Calibri" pitchFamily="34" charset="-120"/>
                        </a:rPr>
                        <a:t>0.668</a:t>
                      </a:r>
                      <a:endParaRPr lang="en-US" sz="1050" dirty="0">
                        <a:latin typeface="Calibri" charset="0"/>
                        <a:ea typeface="Calibri" charset="0"/>
                        <a:cs typeface="Calibri" charset="0"/>
                      </a:endParaRPr>
                    </a:p>
                  </a:txBody>
                  <a:tcPr marL="54864" marR="54864" marT="54864" marB="54864"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solidFill>
                      <a:srgbClr val="EEF2F7"/>
                    </a:solidFill>
                  </a:tcPr>
                </a:tc>
                <a:tc>
                  <a:txBody>
                    <a:bodyPr/>
                    <a:lstStyle/>
                    <a:p>
                      <a:pPr marL="0" indent="0" algn="ctr" rtl="1">
                        <a:buNone/>
                      </a:pPr>
                      <a:r>
                        <a:rPr lang="en-US" sz="1050" dirty="0">
                          <a:solidFill>
                            <a:srgbClr val="1F2933"/>
                          </a:solidFill>
                          <a:latin typeface="Calibri" pitchFamily="34" charset="0"/>
                          <a:ea typeface="Calibri" pitchFamily="34" charset="-122"/>
                          <a:cs typeface="Calibri" pitchFamily="34" charset="-120"/>
                        </a:rPr>
                        <a:t>ABM(CA)</a:t>
                      </a:r>
                      <a:endParaRPr lang="en-US" sz="1050" dirty="0">
                        <a:latin typeface="Calibri" charset="0"/>
                        <a:ea typeface="Calibri" charset="0"/>
                        <a:cs typeface="Calibri" charset="0"/>
                      </a:endParaRPr>
                    </a:p>
                  </a:txBody>
                  <a:tcPr marL="54864" marR="54864" marT="54864" marB="54864"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solidFill>
                      <a:srgbClr val="EEF2F7"/>
                    </a:solidFill>
                  </a:tcPr>
                </a:tc>
                <a:tc>
                  <a:txBody>
                    <a:bodyPr/>
                    <a:lstStyle/>
                    <a:p>
                      <a:pPr marL="0" indent="0" algn="ctr" rtl="1">
                        <a:buNone/>
                      </a:pPr>
                      <a:r>
                        <a:rPr lang="en-US" sz="1050" b="1" dirty="0">
                          <a:solidFill>
                            <a:srgbClr val="1F2933"/>
                          </a:solidFill>
                          <a:latin typeface="Calibri" pitchFamily="34" charset="0"/>
                          <a:ea typeface="Calibri" pitchFamily="34" charset="-122"/>
                          <a:cs typeface="Calibri" pitchFamily="34" charset="-120"/>
                        </a:rPr>
                        <a:t>Pangmao</a:t>
                      </a:r>
                      <a:endParaRPr lang="en-US" sz="1050" dirty="0">
                        <a:latin typeface="Calibri" charset="0"/>
                        <a:ea typeface="Calibri" charset="0"/>
                        <a:cs typeface="Calibri" charset="0"/>
                      </a:endParaRPr>
                    </a:p>
                  </a:txBody>
                  <a:tcPr marL="54864" marR="54864" marT="54864" marB="54864"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solidFill>
                      <a:srgbClr val="EEF2F7"/>
                    </a:solidFill>
                  </a:tcPr>
                </a:tc>
                <a:extLst>
                  <a:ext uri="{0D108BD9-81ED-4DB2-BD59-A6C34878D82A}">
                    <a16:rowId xmlns:a16="http://schemas.microsoft.com/office/drawing/2014/main" val="10001"/>
                  </a:ext>
                </a:extLst>
              </a:tr>
              <a:tr h="384048">
                <a:tc>
                  <a:txBody>
                    <a:bodyPr/>
                    <a:lstStyle/>
                    <a:p>
                      <a:pPr marL="0" indent="0" algn="ctr" rtl="1">
                        <a:buNone/>
                      </a:pPr>
                      <a:r>
                        <a:rPr lang="en-US" sz="1050" dirty="0">
                          <a:solidFill>
                            <a:srgbClr val="1F2933"/>
                          </a:solidFill>
                          <a:latin typeface="Calibri" pitchFamily="34" charset="0"/>
                          <a:ea typeface="Calibri" pitchFamily="34" charset="-122"/>
                          <a:cs typeface="Calibri" pitchFamily="34" charset="-120"/>
                        </a:rPr>
                        <a:t>0.895</a:t>
                      </a:r>
                      <a:endParaRPr lang="en-US" sz="1050" dirty="0">
                        <a:latin typeface="Calibri" charset="0"/>
                        <a:ea typeface="Calibri" charset="0"/>
                        <a:cs typeface="Calibri" charset="0"/>
                      </a:endParaRPr>
                    </a:p>
                  </a:txBody>
                  <a:tcPr marL="54864" marR="54864" marT="54864" marB="54864"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solidFill>
                      <a:srgbClr val="FFFFFF"/>
                    </a:solidFill>
                  </a:tcPr>
                </a:tc>
                <a:tc>
                  <a:txBody>
                    <a:bodyPr/>
                    <a:lstStyle/>
                    <a:p>
                      <a:pPr marL="0" indent="0" algn="ctr" rtl="1">
                        <a:buNone/>
                      </a:pPr>
                      <a:r>
                        <a:rPr lang="en-US" sz="1050" dirty="0">
                          <a:solidFill>
                            <a:srgbClr val="1F2933"/>
                          </a:solidFill>
                          <a:latin typeface="Calibri" pitchFamily="34" charset="0"/>
                          <a:ea typeface="Calibri" pitchFamily="34" charset="-122"/>
                          <a:cs typeface="Calibri" pitchFamily="34" charset="-120"/>
                        </a:rPr>
                        <a:t>0.366</a:t>
                      </a:r>
                      <a:endParaRPr lang="en-US" sz="1050" dirty="0">
                        <a:latin typeface="Calibri" charset="0"/>
                        <a:ea typeface="Calibri" charset="0"/>
                        <a:cs typeface="Calibri" charset="0"/>
                      </a:endParaRPr>
                    </a:p>
                  </a:txBody>
                  <a:tcPr marL="54864" marR="54864" marT="54864" marB="54864"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solidFill>
                      <a:srgbClr val="FFFFFF"/>
                    </a:solidFill>
                  </a:tcPr>
                </a:tc>
                <a:tc>
                  <a:txBody>
                    <a:bodyPr/>
                    <a:lstStyle/>
                    <a:p>
                      <a:pPr marL="0" indent="0" algn="ctr" rtl="1">
                        <a:buNone/>
                      </a:pPr>
                      <a:r>
                        <a:rPr lang="en-US" sz="1050" b="1" dirty="0">
                          <a:solidFill>
                            <a:srgbClr val="17A398"/>
                          </a:solidFill>
                          <a:latin typeface="Calibri" pitchFamily="34" charset="0"/>
                          <a:ea typeface="Calibri" pitchFamily="34" charset="-122"/>
                          <a:cs typeface="Calibri" pitchFamily="34" charset="-120"/>
                        </a:rPr>
                        <a:t>0.810</a:t>
                      </a:r>
                      <a:endParaRPr lang="en-US" sz="1050" dirty="0">
                        <a:latin typeface="Calibri" charset="0"/>
                        <a:ea typeface="Calibri" charset="0"/>
                        <a:cs typeface="Calibri" charset="0"/>
                      </a:endParaRPr>
                    </a:p>
                  </a:txBody>
                  <a:tcPr marL="54864" marR="54864" marT="54864" marB="54864"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solidFill>
                      <a:srgbClr val="FFFFFF"/>
                    </a:solidFill>
                  </a:tcPr>
                </a:tc>
                <a:tc>
                  <a:txBody>
                    <a:bodyPr/>
                    <a:lstStyle/>
                    <a:p>
                      <a:pPr marL="0" indent="0" algn="ctr" rtl="1">
                        <a:buNone/>
                      </a:pPr>
                      <a:r>
                        <a:rPr lang="en-US" sz="1050" b="1" dirty="0">
                          <a:solidFill>
                            <a:srgbClr val="17A398"/>
                          </a:solidFill>
                          <a:latin typeface="Calibri" pitchFamily="34" charset="0"/>
                          <a:ea typeface="Calibri" pitchFamily="34" charset="-122"/>
                          <a:cs typeface="Calibri" pitchFamily="34" charset="-120"/>
                        </a:rPr>
                        <a:t>0.655</a:t>
                      </a:r>
                      <a:endParaRPr lang="en-US" sz="1050" dirty="0">
                        <a:latin typeface="Calibri" charset="0"/>
                        <a:ea typeface="Calibri" charset="0"/>
                        <a:cs typeface="Calibri" charset="0"/>
                      </a:endParaRPr>
                    </a:p>
                  </a:txBody>
                  <a:tcPr marL="54864" marR="54864" marT="54864" marB="54864"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solidFill>
                      <a:srgbClr val="FFFFFF"/>
                    </a:solidFill>
                  </a:tcPr>
                </a:tc>
                <a:tc>
                  <a:txBody>
                    <a:bodyPr/>
                    <a:lstStyle/>
                    <a:p>
                      <a:pPr marL="0" indent="0" algn="ctr" rtl="1">
                        <a:buNone/>
                      </a:pPr>
                      <a:r>
                        <a:rPr lang="en-US" sz="1050" dirty="0">
                          <a:solidFill>
                            <a:srgbClr val="1F2933"/>
                          </a:solidFill>
                          <a:latin typeface="Calibri" pitchFamily="34" charset="0"/>
                          <a:ea typeface="Calibri" pitchFamily="34" charset="-122"/>
                          <a:cs typeface="Calibri" pitchFamily="34" charset="-120"/>
                        </a:rPr>
                        <a:t>FDE-LLM</a:t>
                      </a:r>
                      <a:endParaRPr lang="en-US" sz="1050" dirty="0">
                        <a:latin typeface="Calibri" charset="0"/>
                        <a:ea typeface="Calibri" charset="0"/>
                        <a:cs typeface="Calibri" charset="0"/>
                      </a:endParaRPr>
                    </a:p>
                  </a:txBody>
                  <a:tcPr marL="54864" marR="54864" marT="54864" marB="54864"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solidFill>
                      <a:srgbClr val="FFFFFF"/>
                    </a:solidFill>
                  </a:tcPr>
                </a:tc>
                <a:tc>
                  <a:txBody>
                    <a:bodyPr/>
                    <a:lstStyle/>
                    <a:p>
                      <a:pPr marL="0" indent="0" algn="ctr" rtl="1">
                        <a:buNone/>
                      </a:pPr>
                      <a:r>
                        <a:rPr lang="en-US" sz="1050" b="1" dirty="0">
                          <a:solidFill>
                            <a:srgbClr val="1F2933"/>
                          </a:solidFill>
                          <a:latin typeface="Calibri" pitchFamily="34" charset="0"/>
                          <a:ea typeface="Calibri" pitchFamily="34" charset="-122"/>
                          <a:cs typeface="Calibri" pitchFamily="34" charset="-120"/>
                        </a:rPr>
                        <a:t>Jiangping</a:t>
                      </a:r>
                      <a:endParaRPr lang="en-US" sz="1050" dirty="0">
                        <a:latin typeface="Calibri" charset="0"/>
                        <a:ea typeface="Calibri" charset="0"/>
                        <a:cs typeface="Calibri" charset="0"/>
                      </a:endParaRPr>
                    </a:p>
                  </a:txBody>
                  <a:tcPr marL="54864" marR="54864" marT="54864" marB="54864"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lgn="ctr" rtl="1">
                        <a:buNone/>
                      </a:pPr>
                      <a:r>
                        <a:rPr lang="en-US" sz="1050" dirty="0">
                          <a:solidFill>
                            <a:srgbClr val="1F2933"/>
                          </a:solidFill>
                          <a:latin typeface="Calibri" pitchFamily="34" charset="0"/>
                          <a:ea typeface="Calibri" pitchFamily="34" charset="-122"/>
                          <a:cs typeface="Calibri" pitchFamily="34" charset="-120"/>
                        </a:rPr>
                        <a:t>0.961</a:t>
                      </a:r>
                      <a:endParaRPr lang="en-US" sz="1050" dirty="0">
                        <a:latin typeface="Calibri" charset="0"/>
                        <a:ea typeface="Calibri" charset="0"/>
                        <a:cs typeface="Calibri" charset="0"/>
                      </a:endParaRPr>
                    </a:p>
                  </a:txBody>
                  <a:tcPr marL="54864" marR="54864" marT="54864" marB="54864"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solidFill>
                      <a:srgbClr val="EEF2F7"/>
                    </a:solidFill>
                  </a:tcPr>
                </a:tc>
                <a:tc>
                  <a:txBody>
                    <a:bodyPr/>
                    <a:lstStyle/>
                    <a:p>
                      <a:pPr marL="0" indent="0" algn="ctr" rtl="1">
                        <a:buNone/>
                      </a:pPr>
                      <a:r>
                        <a:rPr lang="en-US" sz="1050" dirty="0">
                          <a:solidFill>
                            <a:srgbClr val="1F2933"/>
                          </a:solidFill>
                          <a:latin typeface="Calibri" pitchFamily="34" charset="0"/>
                          <a:ea typeface="Calibri" pitchFamily="34" charset="-122"/>
                          <a:cs typeface="Calibri" pitchFamily="34" charset="-120"/>
                        </a:rPr>
                        <a:t>0.335</a:t>
                      </a:r>
                      <a:endParaRPr lang="en-US" sz="1050" dirty="0">
                        <a:latin typeface="Calibri" charset="0"/>
                        <a:ea typeface="Calibri" charset="0"/>
                        <a:cs typeface="Calibri" charset="0"/>
                      </a:endParaRPr>
                    </a:p>
                  </a:txBody>
                  <a:tcPr marL="54864" marR="54864" marT="54864" marB="54864"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solidFill>
                      <a:srgbClr val="EEF2F7"/>
                    </a:solidFill>
                  </a:tcPr>
                </a:tc>
                <a:tc>
                  <a:txBody>
                    <a:bodyPr/>
                    <a:lstStyle/>
                    <a:p>
                      <a:pPr marL="0" indent="0" algn="ctr" rtl="1">
                        <a:buNone/>
                      </a:pPr>
                      <a:r>
                        <a:rPr lang="en-US" sz="1050" b="1" dirty="0">
                          <a:solidFill>
                            <a:srgbClr val="17A398"/>
                          </a:solidFill>
                          <a:latin typeface="Calibri" pitchFamily="34" charset="0"/>
                          <a:ea typeface="Calibri" pitchFamily="34" charset="-122"/>
                          <a:cs typeface="Calibri" pitchFamily="34" charset="-120"/>
                        </a:rPr>
                        <a:t>0.655</a:t>
                      </a:r>
                      <a:endParaRPr lang="en-US" sz="1050" dirty="0">
                        <a:latin typeface="Calibri" charset="0"/>
                        <a:ea typeface="Calibri" charset="0"/>
                        <a:cs typeface="Calibri" charset="0"/>
                      </a:endParaRPr>
                    </a:p>
                  </a:txBody>
                  <a:tcPr marL="54864" marR="54864" marT="54864" marB="54864"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solidFill>
                      <a:srgbClr val="EEF2F7"/>
                    </a:solidFill>
                  </a:tcPr>
                </a:tc>
                <a:tc>
                  <a:txBody>
                    <a:bodyPr/>
                    <a:lstStyle/>
                    <a:p>
                      <a:pPr marL="0" indent="0" algn="ctr" rtl="1">
                        <a:buNone/>
                      </a:pPr>
                      <a:r>
                        <a:rPr lang="en-US" sz="1050" b="1" dirty="0">
                          <a:solidFill>
                            <a:srgbClr val="17A398"/>
                          </a:solidFill>
                          <a:latin typeface="Calibri" pitchFamily="34" charset="0"/>
                          <a:ea typeface="Calibri" pitchFamily="34" charset="-122"/>
                          <a:cs typeface="Calibri" pitchFamily="34" charset="-120"/>
                        </a:rPr>
                        <a:t>0.749</a:t>
                      </a:r>
                      <a:endParaRPr lang="en-US" sz="1050" dirty="0">
                        <a:latin typeface="Calibri" charset="0"/>
                        <a:ea typeface="Calibri" charset="0"/>
                        <a:cs typeface="Calibri" charset="0"/>
                      </a:endParaRPr>
                    </a:p>
                  </a:txBody>
                  <a:tcPr marL="54864" marR="54864" marT="54864" marB="54864"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solidFill>
                      <a:srgbClr val="EEF2F7"/>
                    </a:solidFill>
                  </a:tcPr>
                </a:tc>
                <a:tc>
                  <a:txBody>
                    <a:bodyPr/>
                    <a:lstStyle/>
                    <a:p>
                      <a:pPr marL="0" indent="0" algn="ctr" rtl="1">
                        <a:buNone/>
                      </a:pPr>
                      <a:r>
                        <a:rPr lang="en-US" sz="1050" dirty="0">
                          <a:solidFill>
                            <a:srgbClr val="1F2933"/>
                          </a:solidFill>
                          <a:latin typeface="Calibri" pitchFamily="34" charset="0"/>
                          <a:ea typeface="Calibri" pitchFamily="34" charset="-122"/>
                          <a:cs typeface="Calibri" pitchFamily="34" charset="-120"/>
                        </a:rPr>
                        <a:t>LLM</a:t>
                      </a:r>
                      <a:endParaRPr lang="en-US" sz="1050" dirty="0">
                        <a:latin typeface="Calibri" charset="0"/>
                        <a:ea typeface="Calibri" charset="0"/>
                        <a:cs typeface="Calibri" charset="0"/>
                      </a:endParaRPr>
                    </a:p>
                  </a:txBody>
                  <a:tcPr marL="54864" marR="54864" marT="54864" marB="54864"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solidFill>
                      <a:srgbClr val="EEF2F7"/>
                    </a:solidFill>
                  </a:tcPr>
                </a:tc>
                <a:tc>
                  <a:txBody>
                    <a:bodyPr/>
                    <a:lstStyle/>
                    <a:p>
                      <a:pPr marL="0" indent="0" algn="ctr" rtl="1">
                        <a:buNone/>
                      </a:pPr>
                      <a:r>
                        <a:rPr lang="en-US" sz="1050" b="1" dirty="0">
                          <a:solidFill>
                            <a:srgbClr val="1F2933"/>
                          </a:solidFill>
                          <a:latin typeface="Calibri" pitchFamily="34" charset="0"/>
                          <a:ea typeface="Calibri" pitchFamily="34" charset="-122"/>
                          <a:cs typeface="Calibri" pitchFamily="34" charset="-120"/>
                        </a:rPr>
                        <a:t>Qingdao</a:t>
                      </a:r>
                      <a:endParaRPr lang="en-US" sz="1050" dirty="0">
                        <a:latin typeface="Calibri" charset="0"/>
                        <a:ea typeface="Calibri" charset="0"/>
                        <a:cs typeface="Calibri" charset="0"/>
                      </a:endParaRPr>
                    </a:p>
                  </a:txBody>
                  <a:tcPr marL="54864" marR="54864" marT="54864" marB="54864"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solidFill>
                      <a:srgbClr val="EEF2F7"/>
                    </a:solidFill>
                  </a:tcPr>
                </a:tc>
                <a:extLst>
                  <a:ext uri="{0D108BD9-81ED-4DB2-BD59-A6C34878D82A}">
                    <a16:rowId xmlns:a16="http://schemas.microsoft.com/office/drawing/2014/main" val="10003"/>
                  </a:ext>
                </a:extLst>
              </a:tr>
              <a:tr h="384048">
                <a:tc>
                  <a:txBody>
                    <a:bodyPr/>
                    <a:lstStyle/>
                    <a:p>
                      <a:pPr marL="0" indent="0" algn="ctr" rtl="1">
                        <a:buNone/>
                      </a:pPr>
                      <a:r>
                        <a:rPr lang="en-US" sz="1050" dirty="0">
                          <a:solidFill>
                            <a:srgbClr val="1F2933"/>
                          </a:solidFill>
                          <a:latin typeface="Calibri" pitchFamily="34" charset="0"/>
                          <a:ea typeface="Calibri" pitchFamily="34" charset="-122"/>
                          <a:cs typeface="Calibri" pitchFamily="34" charset="-120"/>
                        </a:rPr>
                        <a:t>0.884</a:t>
                      </a:r>
                      <a:endParaRPr lang="en-US" sz="1050" dirty="0">
                        <a:latin typeface="Calibri" charset="0"/>
                        <a:ea typeface="Calibri" charset="0"/>
                        <a:cs typeface="Calibri" charset="0"/>
                      </a:endParaRPr>
                    </a:p>
                  </a:txBody>
                  <a:tcPr marL="54864" marR="54864" marT="54864" marB="54864"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solidFill>
                      <a:srgbClr val="FFFFFF"/>
                    </a:solidFill>
                  </a:tcPr>
                </a:tc>
                <a:tc>
                  <a:txBody>
                    <a:bodyPr/>
                    <a:lstStyle/>
                    <a:p>
                      <a:pPr marL="0" indent="0" algn="ctr" rtl="1">
                        <a:buNone/>
                      </a:pPr>
                      <a:r>
                        <a:rPr lang="en-US" sz="1050" dirty="0">
                          <a:solidFill>
                            <a:srgbClr val="1F2933"/>
                          </a:solidFill>
                          <a:latin typeface="Calibri" pitchFamily="34" charset="0"/>
                          <a:ea typeface="Calibri" pitchFamily="34" charset="-122"/>
                          <a:cs typeface="Calibri" pitchFamily="34" charset="-120"/>
                        </a:rPr>
                        <a:t>0.340</a:t>
                      </a:r>
                      <a:endParaRPr lang="en-US" sz="1050" dirty="0">
                        <a:latin typeface="Calibri" charset="0"/>
                        <a:ea typeface="Calibri" charset="0"/>
                        <a:cs typeface="Calibri" charset="0"/>
                      </a:endParaRPr>
                    </a:p>
                  </a:txBody>
                  <a:tcPr marL="54864" marR="54864" marT="54864" marB="54864"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solidFill>
                      <a:srgbClr val="FFFFFF"/>
                    </a:solidFill>
                  </a:tcPr>
                </a:tc>
                <a:tc>
                  <a:txBody>
                    <a:bodyPr/>
                    <a:lstStyle/>
                    <a:p>
                      <a:pPr marL="0" indent="0" algn="ctr" rtl="1">
                        <a:buNone/>
                      </a:pPr>
                      <a:r>
                        <a:rPr lang="en-US" sz="1050" b="1" dirty="0">
                          <a:solidFill>
                            <a:srgbClr val="17A398"/>
                          </a:solidFill>
                          <a:latin typeface="Calibri" pitchFamily="34" charset="0"/>
                          <a:ea typeface="Calibri" pitchFamily="34" charset="-122"/>
                          <a:cs typeface="Calibri" pitchFamily="34" charset="-120"/>
                        </a:rPr>
                        <a:t>0.590</a:t>
                      </a:r>
                      <a:endParaRPr lang="en-US" sz="1050" dirty="0">
                        <a:latin typeface="Calibri" charset="0"/>
                        <a:ea typeface="Calibri" charset="0"/>
                        <a:cs typeface="Calibri" charset="0"/>
                      </a:endParaRPr>
                    </a:p>
                  </a:txBody>
                  <a:tcPr marL="54864" marR="54864" marT="54864" marB="54864"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solidFill>
                      <a:srgbClr val="FFFFFF"/>
                    </a:solidFill>
                  </a:tcPr>
                </a:tc>
                <a:tc>
                  <a:txBody>
                    <a:bodyPr/>
                    <a:lstStyle/>
                    <a:p>
                      <a:pPr marL="0" indent="0" algn="ctr" rtl="1">
                        <a:buNone/>
                      </a:pPr>
                      <a:r>
                        <a:rPr lang="en-US" sz="1050" b="1" dirty="0">
                          <a:solidFill>
                            <a:srgbClr val="17A398"/>
                          </a:solidFill>
                          <a:latin typeface="Calibri" pitchFamily="34" charset="0"/>
                          <a:ea typeface="Calibri" pitchFamily="34" charset="-122"/>
                          <a:cs typeface="Calibri" pitchFamily="34" charset="-120"/>
                        </a:rPr>
                        <a:t>0.790</a:t>
                      </a:r>
                      <a:endParaRPr lang="en-US" sz="1050" dirty="0">
                        <a:latin typeface="Calibri" charset="0"/>
                        <a:ea typeface="Calibri" charset="0"/>
                        <a:cs typeface="Calibri" charset="0"/>
                      </a:endParaRPr>
                    </a:p>
                  </a:txBody>
                  <a:tcPr marL="54864" marR="54864" marT="54864" marB="54864"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solidFill>
                      <a:srgbClr val="FFFFFF"/>
                    </a:solidFill>
                  </a:tcPr>
                </a:tc>
                <a:tc>
                  <a:txBody>
                    <a:bodyPr/>
                    <a:lstStyle/>
                    <a:p>
                      <a:pPr marL="0" indent="0" algn="ctr" rtl="1">
                        <a:buNone/>
                      </a:pPr>
                      <a:r>
                        <a:rPr lang="en-US" sz="1050" dirty="0">
                          <a:solidFill>
                            <a:srgbClr val="1F2933"/>
                          </a:solidFill>
                          <a:latin typeface="Calibri" pitchFamily="34" charset="0"/>
                          <a:ea typeface="Calibri" pitchFamily="34" charset="-122"/>
                          <a:cs typeface="Calibri" pitchFamily="34" charset="-120"/>
                        </a:rPr>
                        <a:t>LLM</a:t>
                      </a:r>
                      <a:endParaRPr lang="en-US" sz="1050" dirty="0">
                        <a:latin typeface="Calibri" charset="0"/>
                        <a:ea typeface="Calibri" charset="0"/>
                        <a:cs typeface="Calibri" charset="0"/>
                      </a:endParaRPr>
                    </a:p>
                  </a:txBody>
                  <a:tcPr marL="54864" marR="54864" marT="54864" marB="54864"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solidFill>
                      <a:srgbClr val="FFFFFF"/>
                    </a:solidFill>
                  </a:tcPr>
                </a:tc>
                <a:tc>
                  <a:txBody>
                    <a:bodyPr/>
                    <a:lstStyle/>
                    <a:p>
                      <a:pPr marL="0" indent="0" algn="ctr" rtl="1">
                        <a:buNone/>
                      </a:pPr>
                      <a:r>
                        <a:rPr lang="en-US" sz="1050" b="1" dirty="0">
                          <a:solidFill>
                            <a:srgbClr val="1F2933"/>
                          </a:solidFill>
                          <a:latin typeface="Calibri" pitchFamily="34" charset="0"/>
                          <a:ea typeface="Calibri" pitchFamily="34" charset="-122"/>
                          <a:cs typeface="Calibri" pitchFamily="34" charset="-120"/>
                        </a:rPr>
                        <a:t>Dianduji</a:t>
                      </a:r>
                      <a:endParaRPr lang="en-US" sz="1050" dirty="0">
                        <a:latin typeface="Calibri" charset="0"/>
                        <a:ea typeface="Calibri" charset="0"/>
                        <a:cs typeface="Calibri" charset="0"/>
                      </a:endParaRPr>
                    </a:p>
                  </a:txBody>
                  <a:tcPr marL="54864" marR="54864" marT="54864" marB="54864"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Shape 2"/>
          <p:cNvSpPr/>
          <p:nvPr/>
        </p:nvSpPr>
        <p:spPr>
          <a:xfrm>
            <a:off x="5943600" y="3383280"/>
            <a:ext cx="2560320" cy="1280160"/>
          </a:xfrm>
          <a:prstGeom prst="roundRect">
            <a:avLst>
              <a:gd name="adj" fmla="val 5714"/>
            </a:avLst>
          </a:prstGeom>
          <a:solidFill>
            <a:srgbClr val="EEF2F7"/>
          </a:solidFill>
          <a:ln w="12700">
            <a:solidFill>
              <a:srgbClr val="EEF2F7"/>
            </a:solidFill>
            <a:prstDash val="solid"/>
          </a:ln>
        </p:spPr>
      </p:sp>
      <p:sp>
        <p:nvSpPr>
          <p:cNvPr id="6" name="Shape 3"/>
          <p:cNvSpPr/>
          <p:nvPr/>
        </p:nvSpPr>
        <p:spPr>
          <a:xfrm>
            <a:off x="8092440" y="3502152"/>
            <a:ext cx="274320" cy="274320"/>
          </a:xfrm>
          <a:prstGeom prst="ellipse">
            <a:avLst/>
          </a:prstGeom>
          <a:solidFill>
            <a:srgbClr val="17A398"/>
          </a:solidFill>
          <a:ln w="12700">
            <a:solidFill>
              <a:srgbClr val="17A398"/>
            </a:solidFill>
            <a:prstDash val="solid"/>
          </a:ln>
        </p:spPr>
      </p:sp>
      <p:sp>
        <p:nvSpPr>
          <p:cNvPr id="7" name="Text 4"/>
          <p:cNvSpPr txBox="1"/>
          <p:nvPr/>
        </p:nvSpPr>
        <p:spPr>
          <a:xfrm>
            <a:off x="6080760" y="3474720"/>
            <a:ext cx="1920240" cy="320040"/>
          </a:xfrm>
          <a:prstGeom prst="rect">
            <a:avLst/>
          </a:prstGeom>
          <a:noFill/>
          <a:ln/>
        </p:spPr>
        <p:txBody>
          <a:bodyPr wrap="square" lIns="0" tIns="0" rIns="0" bIns="0" rtlCol="0" anchor="t"/>
          <a:lstStyle/>
          <a:p>
            <a:pPr marL="0" indent="0" algn="r" rtl="1">
              <a:buNone/>
            </a:pPr>
            <a:r>
              <a:rPr lang="fa-IR" altLang="en-US" sz="1150" b="1" dirty="0">
                <a:solidFill>
                  <a:srgbClr val="14213D"/>
                </a:solidFill>
                <a:latin typeface="Shabnam" pitchFamily="34" charset="0"/>
                <a:ea typeface="Shabnam" pitchFamily="34" charset="-122"/>
                <a:cs typeface="Shabnam" pitchFamily="34" charset="-120"/>
              </a:rPr>
              <a:t>FDE-LLM پایدار است</a:t>
            </a:r>
            <a:endParaRPr lang="fa-IR" sz="1150" dirty="0"/>
          </a:p>
        </p:txBody>
      </p:sp>
      <p:sp>
        <p:nvSpPr>
          <p:cNvPr id="8" name="Text 5"/>
          <p:cNvSpPr txBox="1"/>
          <p:nvPr/>
        </p:nvSpPr>
        <p:spPr>
          <a:xfrm>
            <a:off x="6080760" y="3840480"/>
            <a:ext cx="2286000" cy="777240"/>
          </a:xfrm>
          <a:prstGeom prst="rect">
            <a:avLst/>
          </a:prstGeom>
          <a:noFill/>
          <a:ln/>
        </p:spPr>
        <p:txBody>
          <a:bodyPr wrap="square" lIns="0" tIns="0" rIns="0" bIns="0" rtlCol="0" anchor="t"/>
          <a:lstStyle/>
          <a:p>
            <a:pPr marL="0" indent="0" algn="r" rtl="1">
              <a:buNone/>
            </a:pPr>
            <a:r>
              <a:rPr lang="fa-IR" altLang="en-US" sz="950" dirty="0">
                <a:solidFill>
                  <a:srgbClr val="5C6B7A"/>
                </a:solidFill>
                <a:latin typeface="Shabnam" pitchFamily="34" charset="0"/>
                <a:ea typeface="Shabnam" pitchFamily="34" charset="-122"/>
                <a:cs typeface="Shabnam" pitchFamily="34" charset="-120"/>
              </a:rPr>
              <a:t>همبستگی در هر ۴ رویداد مثبت و بین ۰٫۵۹ و ۰٫۸۳ است.</a:t>
            </a:r>
            <a:endParaRPr lang="fa-IR" sz="950" dirty="0"/>
          </a:p>
        </p:txBody>
      </p:sp>
      <p:sp>
        <p:nvSpPr>
          <p:cNvPr id="9" name="Shape 6"/>
          <p:cNvSpPr/>
          <p:nvPr/>
        </p:nvSpPr>
        <p:spPr>
          <a:xfrm>
            <a:off x="3200400" y="3383280"/>
            <a:ext cx="2560320" cy="1280160"/>
          </a:xfrm>
          <a:prstGeom prst="roundRect">
            <a:avLst>
              <a:gd name="adj" fmla="val 5714"/>
            </a:avLst>
          </a:prstGeom>
          <a:solidFill>
            <a:srgbClr val="EEF2F7"/>
          </a:solidFill>
          <a:ln w="12700">
            <a:solidFill>
              <a:srgbClr val="EEF2F7"/>
            </a:solidFill>
            <a:prstDash val="solid"/>
          </a:ln>
        </p:spPr>
      </p:sp>
      <p:sp>
        <p:nvSpPr>
          <p:cNvPr id="10" name="Shape 7"/>
          <p:cNvSpPr/>
          <p:nvPr/>
        </p:nvSpPr>
        <p:spPr>
          <a:xfrm>
            <a:off x="5349240" y="3502152"/>
            <a:ext cx="274320" cy="274320"/>
          </a:xfrm>
          <a:prstGeom prst="ellipse">
            <a:avLst/>
          </a:prstGeom>
          <a:solidFill>
            <a:srgbClr val="E4572E"/>
          </a:solidFill>
          <a:ln w="12700">
            <a:solidFill>
              <a:srgbClr val="E4572E"/>
            </a:solidFill>
            <a:prstDash val="solid"/>
          </a:ln>
        </p:spPr>
      </p:sp>
      <p:sp>
        <p:nvSpPr>
          <p:cNvPr id="11" name="Text 8"/>
          <p:cNvSpPr txBox="1"/>
          <p:nvPr/>
        </p:nvSpPr>
        <p:spPr>
          <a:xfrm>
            <a:off x="3337560" y="3474720"/>
            <a:ext cx="1920240" cy="320040"/>
          </a:xfrm>
          <a:prstGeom prst="rect">
            <a:avLst/>
          </a:prstGeom>
          <a:noFill/>
          <a:ln/>
        </p:spPr>
        <p:txBody>
          <a:bodyPr wrap="square" lIns="0" tIns="0" rIns="0" bIns="0" rtlCol="0" anchor="t"/>
          <a:lstStyle/>
          <a:p>
            <a:pPr marL="0" indent="0" algn="r" rtl="1">
              <a:buNone/>
            </a:pPr>
            <a:r>
              <a:rPr lang="fa-IR" altLang="en-US" sz="1150" b="1" dirty="0">
                <a:solidFill>
                  <a:srgbClr val="14213D"/>
                </a:solidFill>
                <a:latin typeface="Shabnam" pitchFamily="34" charset="0"/>
                <a:ea typeface="Shabnam" pitchFamily="34" charset="-122"/>
                <a:cs typeface="Shabnam" pitchFamily="34" charset="-120"/>
              </a:rPr>
              <a:t>LLM تنها ناپایدار است</a:t>
            </a:r>
            <a:endParaRPr lang="fa-IR" sz="1150" dirty="0"/>
          </a:p>
        </p:txBody>
      </p:sp>
      <p:sp>
        <p:nvSpPr>
          <p:cNvPr id="12" name="Text 9"/>
          <p:cNvSpPr txBox="1"/>
          <p:nvPr/>
        </p:nvSpPr>
        <p:spPr>
          <a:xfrm>
            <a:off x="3337560" y="3840480"/>
            <a:ext cx="2286000" cy="777240"/>
          </a:xfrm>
          <a:prstGeom prst="rect">
            <a:avLst/>
          </a:prstGeom>
          <a:noFill/>
          <a:ln/>
        </p:spPr>
        <p:txBody>
          <a:bodyPr wrap="square" lIns="0" tIns="0" rIns="0" bIns="0" rtlCol="0" anchor="t"/>
          <a:lstStyle/>
          <a:p>
            <a:pPr marL="0" indent="0" algn="r" rtl="1">
              <a:buNone/>
            </a:pPr>
            <a:r>
              <a:rPr lang="fa-IR" altLang="en-US" sz="950" dirty="0">
                <a:solidFill>
                  <a:srgbClr val="5C6B7A"/>
                </a:solidFill>
                <a:latin typeface="Shabnam" pitchFamily="34" charset="0"/>
                <a:ea typeface="Shabnam" pitchFamily="34" charset="-122"/>
                <a:cs typeface="Shabnam" pitchFamily="34" charset="-120"/>
              </a:rPr>
              <a:t>همبستگی از ۰٫۰۸- (Pangmao) تا ۰٫۹۲ (Dianduji) تغییر می‌کند.</a:t>
            </a:r>
            <a:endParaRPr lang="fa-IR" sz="950" dirty="0"/>
          </a:p>
        </p:txBody>
      </p:sp>
      <p:sp>
        <p:nvSpPr>
          <p:cNvPr id="4" name="Shape 10"/>
          <p:cNvSpPr/>
          <p:nvPr/>
        </p:nvSpPr>
        <p:spPr>
          <a:xfrm>
            <a:off x="457200" y="3383280"/>
            <a:ext cx="2560320" cy="1280160"/>
          </a:xfrm>
          <a:prstGeom prst="roundRect">
            <a:avLst>
              <a:gd name="adj" fmla="val 5714"/>
            </a:avLst>
          </a:prstGeom>
          <a:solidFill>
            <a:srgbClr val="EEF2F7"/>
          </a:solidFill>
          <a:ln w="12700">
            <a:solidFill>
              <a:srgbClr val="EEF2F7"/>
            </a:solidFill>
            <a:prstDash val="solid"/>
          </a:ln>
        </p:spPr>
      </p:sp>
      <p:sp>
        <p:nvSpPr>
          <p:cNvPr id="14" name="Shape 11"/>
          <p:cNvSpPr/>
          <p:nvPr/>
        </p:nvSpPr>
        <p:spPr>
          <a:xfrm>
            <a:off x="2606040" y="3502152"/>
            <a:ext cx="274320" cy="274320"/>
          </a:xfrm>
          <a:prstGeom prst="ellipse">
            <a:avLst/>
          </a:prstGeom>
          <a:solidFill>
            <a:srgbClr val="14213D"/>
          </a:solidFill>
          <a:ln w="12700">
            <a:solidFill>
              <a:srgbClr val="14213D"/>
            </a:solidFill>
            <a:prstDash val="solid"/>
          </a:ln>
        </p:spPr>
      </p:sp>
      <p:sp>
        <p:nvSpPr>
          <p:cNvPr id="15" name="Text 12"/>
          <p:cNvSpPr txBox="1"/>
          <p:nvPr/>
        </p:nvSpPr>
        <p:spPr>
          <a:xfrm>
            <a:off x="594360" y="3474720"/>
            <a:ext cx="1920240" cy="320040"/>
          </a:xfrm>
          <a:prstGeom prst="rect">
            <a:avLst/>
          </a:prstGeom>
          <a:noFill/>
          <a:ln/>
        </p:spPr>
        <p:txBody>
          <a:bodyPr wrap="square" lIns="0" tIns="0" rIns="0" bIns="0" rtlCol="0" anchor="t"/>
          <a:lstStyle/>
          <a:p>
            <a:pPr marL="0" indent="0" algn="r" rtl="1">
              <a:buNone/>
            </a:pPr>
            <a:r>
              <a:rPr lang="fa-IR" altLang="en-US" sz="1150" b="1" dirty="0">
                <a:solidFill>
                  <a:srgbClr val="14213D"/>
                </a:solidFill>
                <a:latin typeface="Shabnam" pitchFamily="34" charset="0"/>
                <a:ea typeface="Shabnam" pitchFamily="34" charset="-122"/>
                <a:cs typeface="Shabnam" pitchFamily="34" charset="-120"/>
              </a:rPr>
              <a:t>افت بعد از حقیقت بازتولید نشد</a:t>
            </a:r>
            <a:endParaRPr lang="fa-IR" sz="1150" dirty="0"/>
          </a:p>
        </p:txBody>
      </p:sp>
      <p:sp>
        <p:nvSpPr>
          <p:cNvPr id="16" name="Text 13"/>
          <p:cNvSpPr txBox="1"/>
          <p:nvPr/>
        </p:nvSpPr>
        <p:spPr>
          <a:xfrm>
            <a:off x="594360" y="3840480"/>
            <a:ext cx="2286000" cy="777240"/>
          </a:xfrm>
          <a:prstGeom prst="rect">
            <a:avLst/>
          </a:prstGeom>
          <a:noFill/>
          <a:ln/>
        </p:spPr>
        <p:txBody>
          <a:bodyPr wrap="square" lIns="0" tIns="0" rIns="0" bIns="0" rtlCol="0" anchor="t"/>
          <a:lstStyle/>
          <a:p>
            <a:pPr marL="0" indent="0" algn="r" rtl="1">
              <a:buNone/>
            </a:pPr>
            <a:r>
              <a:rPr lang="fa-IR" altLang="en-US" sz="950" dirty="0">
                <a:solidFill>
                  <a:srgbClr val="5C6B7A"/>
                </a:solidFill>
                <a:latin typeface="Shabnam" pitchFamily="34" charset="0"/>
                <a:ea typeface="Shabnam" pitchFamily="34" charset="-122"/>
                <a:cs typeface="Shabnam" pitchFamily="34" charset="-120"/>
              </a:rPr>
              <a:t>هیچ روشی منحنی را بعد از افشای حقیقت منفی نکرد؛ اسلاید بعد دلیلش را نشان می‌دهد.</a:t>
            </a:r>
            <a:endParaRPr lang="fa-IR" sz="950" dirty="0"/>
          </a:p>
        </p:txBody>
      </p:sp>
      <p:sp>
        <p:nvSpPr>
          <p:cNvPr id="17" name="Text 14"/>
          <p:cNvSpPr txBox="1"/>
          <p:nvPr/>
        </p:nvSpPr>
        <p:spPr>
          <a:xfrm>
            <a:off x="457200" y="4800600"/>
            <a:ext cx="5486400" cy="228600"/>
          </a:xfrm>
          <a:prstGeom prst="rect">
            <a:avLst/>
          </a:prstGeom>
          <a:noFill/>
          <a:ln/>
        </p:spPr>
        <p:txBody>
          <a:bodyPr wrap="square" lIns="0" tIns="0" rIns="0" bIns="0" rtlCol="0" anchor="t"/>
          <a:lstStyle/>
          <a:p>
            <a:pPr marL="0" indent="0" algn="l">
              <a:buNone/>
            </a:pPr>
            <a:r>
              <a:rPr lang="en-US" sz="900" dirty="0">
                <a:solidFill>
                  <a:srgbClr val="5C6B7A"/>
                </a:solidFill>
                <a:latin typeface="Calibri" pitchFamily="34" charset="0"/>
                <a:ea typeface="Calibri" pitchFamily="34" charset="-122"/>
                <a:cs typeface="Calibri" pitchFamily="34" charset="-120"/>
              </a:rPr>
              <a:t>Yao et al., Scientific Reports 15:15472 (2025)</a:t>
            </a:r>
            <a:endParaRPr lang="en-US" sz="900" dirty="0"/>
          </a:p>
        </p:txBody>
      </p:sp>
      <p:sp>
        <p:nvSpPr>
          <p:cNvPr id="18" name="Text 15"/>
          <p:cNvSpPr txBox="1"/>
          <p:nvPr/>
        </p:nvSpPr>
        <p:spPr>
          <a:xfrm>
            <a:off x="8229600" y="4773168"/>
            <a:ext cx="457200" cy="228600"/>
          </a:xfrm>
          <a:prstGeom prst="rect">
            <a:avLst/>
          </a:prstGeom>
          <a:noFill/>
          <a:ln/>
        </p:spPr>
        <p:txBody>
          <a:bodyPr wrap="square" lIns="0" tIns="0" rIns="0" bIns="0" rtlCol="0" anchor="t"/>
          <a:lstStyle/>
          <a:p>
            <a:pPr marL="0" indent="0" algn="r" rtl="1">
              <a:buNone/>
            </a:pPr>
            <a:r>
              <a:rPr lang="fa-IR" altLang="en-US" sz="1000" dirty="0">
                <a:solidFill>
                  <a:srgbClr val="5C6B7A"/>
                </a:solidFill>
                <a:latin typeface="Shabnam" pitchFamily="34" charset="0"/>
                <a:ea typeface="Shabnam" pitchFamily="34" charset="-122"/>
                <a:cs typeface="Shabnam" pitchFamily="34" charset="-120"/>
              </a:rPr>
              <a:t>۱۲</a:t>
            </a:r>
            <a:endParaRPr lang="fa-IR"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7863840" cy="274320"/>
          </a:xfrm>
          <a:prstGeom prst="rect">
            <a:avLst/>
          </a:prstGeom>
          <a:noFill/>
          <a:ln/>
        </p:spPr>
        <p:txBody>
          <a:bodyPr wrap="square" lIns="0" tIns="0" rIns="0" bIns="0" rtlCol="0" anchor="t"/>
          <a:lstStyle/>
          <a:p>
            <a:pPr marL="0" indent="0" algn="r" rtl="1">
              <a:buNone/>
            </a:pPr>
            <a:r>
              <a:rPr lang="fa-IR" altLang="en-US" sz="1100" dirty="0">
                <a:solidFill>
                  <a:srgbClr val="5C6B7A"/>
                </a:solidFill>
                <a:latin typeface="Shabnam" pitchFamily="34" charset="0"/>
                <a:ea typeface="Shabnam" pitchFamily="34" charset="-122"/>
                <a:cs typeface="Shabnam" pitchFamily="34" charset="-120"/>
              </a:rPr>
              <a:t>۷  ·  منحنی‌ها و آزمایش حذف</a:t>
            </a:r>
            <a:endParaRPr lang="fa-IR" sz="1100" dirty="0"/>
          </a:p>
        </p:txBody>
      </p:sp>
      <p:sp>
        <p:nvSpPr>
          <p:cNvPr id="3" name="Text 1"/>
          <p:cNvSpPr txBox="1"/>
          <p:nvPr/>
        </p:nvSpPr>
        <p:spPr>
          <a:xfrm>
            <a:off x="457200" y="566928"/>
            <a:ext cx="8229600" cy="594360"/>
          </a:xfrm>
          <a:prstGeom prst="rect">
            <a:avLst/>
          </a:prstGeom>
          <a:noFill/>
          <a:ln/>
        </p:spPr>
        <p:txBody>
          <a:bodyPr wrap="square" lIns="0" tIns="0" rIns="0" bIns="0" rtlCol="0" anchor="t"/>
          <a:lstStyle/>
          <a:p>
            <a:pPr marL="0" indent="0" algn="r" rtl="1">
              <a:buNone/>
            </a:pPr>
            <a:r>
              <a:rPr lang="fa-IR" altLang="en-US" sz="2400" b="1" dirty="0">
                <a:solidFill>
                  <a:srgbClr val="14213D"/>
                </a:solidFill>
                <a:latin typeface="Shabnam" pitchFamily="34" charset="0"/>
                <a:ea typeface="Shabnam" pitchFamily="34" charset="-122"/>
                <a:cs typeface="Shabnam" pitchFamily="34" charset="-120"/>
              </a:rPr>
              <a:t>شبیه‌سازی در برابر داده واقعی</a:t>
            </a:r>
            <a:endParaRPr lang="fa-IR" sz="2400" dirty="0"/>
          </a:p>
        </p:txBody>
      </p:sp>
      <p:pic>
        <p:nvPicPr>
          <p:cNvPr id="4" name="Image 0" descr="assets/fig_real_vs_simulated.png"/>
          <p:cNvPicPr>
            <a:picLocks noChangeAspect="1"/>
          </p:cNvPicPr>
          <p:nvPr/>
        </p:nvPicPr>
        <p:blipFill>
          <a:blip r:embed="rId3"/>
          <a:stretch>
            <a:fillRect/>
          </a:stretch>
        </p:blipFill>
        <p:spPr>
          <a:xfrm>
            <a:off x="457200" y="1234440"/>
            <a:ext cx="4937760" cy="3291840"/>
          </a:xfrm>
          <a:prstGeom prst="rect">
            <a:avLst/>
          </a:prstGeom>
        </p:spPr>
      </p:pic>
      <p:sp>
        <p:nvSpPr>
          <p:cNvPr id="5" name="Shape 2"/>
          <p:cNvSpPr/>
          <p:nvPr/>
        </p:nvSpPr>
        <p:spPr>
          <a:xfrm>
            <a:off x="5623560" y="1234440"/>
            <a:ext cx="3063240" cy="3291840"/>
          </a:xfrm>
          <a:prstGeom prst="roundRect">
            <a:avLst>
              <a:gd name="adj" fmla="val 2388"/>
            </a:avLst>
          </a:prstGeom>
          <a:solidFill>
            <a:srgbClr val="FDECE8"/>
          </a:solidFill>
          <a:ln w="12700">
            <a:solidFill>
              <a:srgbClr val="FDECE8"/>
            </a:solidFill>
            <a:prstDash val="solid"/>
          </a:ln>
        </p:spPr>
      </p:sp>
      <p:sp>
        <p:nvSpPr>
          <p:cNvPr id="6" name="Text 3"/>
          <p:cNvSpPr txBox="1"/>
          <p:nvPr/>
        </p:nvSpPr>
        <p:spPr>
          <a:xfrm>
            <a:off x="5806440" y="1353312"/>
            <a:ext cx="2697480" cy="274320"/>
          </a:xfrm>
          <a:prstGeom prst="rect">
            <a:avLst/>
          </a:prstGeom>
          <a:noFill/>
          <a:ln/>
        </p:spPr>
        <p:txBody>
          <a:bodyPr wrap="square" lIns="0" tIns="0" rIns="0" bIns="0" rtlCol="0" anchor="t"/>
          <a:lstStyle/>
          <a:p>
            <a:pPr marL="0" indent="0" algn="r" rtl="1">
              <a:buNone/>
            </a:pPr>
            <a:r>
              <a:rPr lang="fa-IR" altLang="en-US" sz="1200" b="1" dirty="0">
                <a:solidFill>
                  <a:srgbClr val="E4572E"/>
                </a:solidFill>
                <a:latin typeface="Shabnam" pitchFamily="34" charset="0"/>
                <a:ea typeface="Shabnam" pitchFamily="34" charset="-122"/>
                <a:cs typeface="Shabnam" pitchFamily="34" charset="-120"/>
              </a:rPr>
              <a:t>آزمایش حذف CA (Ablation)</a:t>
            </a:r>
            <a:endParaRPr lang="fa-IR" sz="1200" dirty="0"/>
          </a:p>
        </p:txBody>
      </p:sp>
      <p:sp>
        <p:nvSpPr>
          <p:cNvPr id="7" name="Text 4"/>
          <p:cNvSpPr txBox="1"/>
          <p:nvPr/>
        </p:nvSpPr>
        <p:spPr>
          <a:xfrm>
            <a:off x="5806440" y="1691640"/>
            <a:ext cx="2697480" cy="274320"/>
          </a:xfrm>
          <a:prstGeom prst="rect">
            <a:avLst/>
          </a:prstGeom>
          <a:noFill/>
          <a:ln/>
        </p:spPr>
        <p:txBody>
          <a:bodyPr wrap="square" lIns="0" tIns="0" rIns="0" bIns="0" rtlCol="0" anchor="t"/>
          <a:lstStyle/>
          <a:p>
            <a:pPr marL="0" indent="0" algn="r" rtl="1">
              <a:buNone/>
            </a:pPr>
            <a:r>
              <a:rPr lang="fa-IR" altLang="en-US" sz="1000" dirty="0">
                <a:solidFill>
                  <a:srgbClr val="5C6B7A"/>
                </a:solidFill>
                <a:latin typeface="Shabnam" pitchFamily="34" charset="0"/>
                <a:ea typeface="Shabnam" pitchFamily="34" charset="-122"/>
                <a:cs typeface="Shabnam" pitchFamily="34" charset="-120"/>
              </a:rPr>
              <a:t>میانگین DTW با CA ← بدون CA</a:t>
            </a:r>
            <a:endParaRPr lang="fa-IR" sz="1000" dirty="0"/>
          </a:p>
        </p:txBody>
      </p:sp>
      <p:sp>
        <p:nvSpPr>
          <p:cNvPr id="8" name="Text 5"/>
          <p:cNvSpPr txBox="1"/>
          <p:nvPr/>
        </p:nvSpPr>
        <p:spPr>
          <a:xfrm>
            <a:off x="5806440" y="2011680"/>
            <a:ext cx="2697480" cy="256032"/>
          </a:xfrm>
          <a:prstGeom prst="rect">
            <a:avLst/>
          </a:prstGeom>
          <a:noFill/>
          <a:ln/>
        </p:spPr>
        <p:txBody>
          <a:bodyPr wrap="square" lIns="0" tIns="0" rIns="0" bIns="0" rtlCol="0" anchor="t"/>
          <a:lstStyle/>
          <a:p>
            <a:pPr marL="0" indent="0" algn="r" rtl="1">
              <a:buNone/>
            </a:pPr>
            <a:r>
              <a:rPr lang="fa-IR" altLang="en-US" sz="1050" b="1" dirty="0">
                <a:solidFill>
                  <a:srgbClr val="14213D"/>
                </a:solidFill>
                <a:latin typeface="Shabnam" pitchFamily="34" charset="0"/>
                <a:ea typeface="Shabnam" pitchFamily="34" charset="-122"/>
                <a:cs typeface="Shabnam" pitchFamily="34" charset="-120"/>
              </a:rPr>
              <a:t>مقاله</a:t>
            </a:r>
            <a:endParaRPr lang="fa-IR" sz="1050" dirty="0"/>
          </a:p>
        </p:txBody>
      </p:sp>
      <p:sp>
        <p:nvSpPr>
          <p:cNvPr id="9" name="Text 6"/>
          <p:cNvSpPr txBox="1"/>
          <p:nvPr/>
        </p:nvSpPr>
        <p:spPr>
          <a:xfrm>
            <a:off x="5806440" y="2258568"/>
            <a:ext cx="2697480" cy="411480"/>
          </a:xfrm>
          <a:prstGeom prst="rect">
            <a:avLst/>
          </a:prstGeom>
          <a:noFill/>
          <a:ln/>
        </p:spPr>
        <p:txBody>
          <a:bodyPr wrap="square" lIns="0" tIns="0" rIns="0" bIns="0" rtlCol="0" anchor="t"/>
          <a:lstStyle/>
          <a:p>
            <a:pPr marL="0" indent="0" algn="r">
              <a:buNone/>
            </a:pPr>
            <a:r>
              <a:rPr lang="en-US" sz="2200" b="1" dirty="0">
                <a:solidFill>
                  <a:srgbClr val="E4572E"/>
                </a:solidFill>
                <a:latin typeface="Cambria" pitchFamily="34" charset="0"/>
                <a:ea typeface="Cambria" pitchFamily="34" charset="-122"/>
                <a:cs typeface="Cambria" pitchFamily="34" charset="-120"/>
              </a:rPr>
              <a:t>0.35 → 0.64</a:t>
            </a:r>
            <a:endParaRPr lang="en-US" sz="2200" dirty="0"/>
          </a:p>
        </p:txBody>
      </p:sp>
      <p:sp>
        <p:nvSpPr>
          <p:cNvPr id="10" name="Text 7"/>
          <p:cNvSpPr txBox="1"/>
          <p:nvPr/>
        </p:nvSpPr>
        <p:spPr>
          <a:xfrm>
            <a:off x="5806440" y="2743200"/>
            <a:ext cx="2697480" cy="256032"/>
          </a:xfrm>
          <a:prstGeom prst="rect">
            <a:avLst/>
          </a:prstGeom>
          <a:noFill/>
          <a:ln/>
        </p:spPr>
        <p:txBody>
          <a:bodyPr wrap="square" lIns="0" tIns="0" rIns="0" bIns="0" rtlCol="0" anchor="t"/>
          <a:lstStyle/>
          <a:p>
            <a:pPr marL="0" indent="0" algn="r" rtl="1">
              <a:buNone/>
            </a:pPr>
            <a:r>
              <a:rPr lang="fa-IR" altLang="en-US" sz="1050" b="1" dirty="0">
                <a:solidFill>
                  <a:srgbClr val="14213D"/>
                </a:solidFill>
                <a:latin typeface="Shabnam" pitchFamily="34" charset="0"/>
                <a:ea typeface="Shabnam" pitchFamily="34" charset="-122"/>
                <a:cs typeface="Shabnam" pitchFamily="34" charset="-120"/>
              </a:rPr>
              <a:t>پیاده‌سازی من</a:t>
            </a:r>
            <a:endParaRPr lang="fa-IR" sz="1050" dirty="0"/>
          </a:p>
        </p:txBody>
      </p:sp>
      <p:sp>
        <p:nvSpPr>
          <p:cNvPr id="11" name="Text 8"/>
          <p:cNvSpPr txBox="1"/>
          <p:nvPr/>
        </p:nvSpPr>
        <p:spPr>
          <a:xfrm>
            <a:off x="5806440" y="2990088"/>
            <a:ext cx="2697480" cy="411480"/>
          </a:xfrm>
          <a:prstGeom prst="rect">
            <a:avLst/>
          </a:prstGeom>
          <a:noFill/>
          <a:ln/>
        </p:spPr>
        <p:txBody>
          <a:bodyPr wrap="square" lIns="0" tIns="0" rIns="0" bIns="0" rtlCol="0" anchor="t"/>
          <a:lstStyle/>
          <a:p>
            <a:pPr marL="0" indent="0" algn="r">
              <a:buNone/>
            </a:pPr>
            <a:r>
              <a:rPr lang="en-US" sz="2200" b="1" dirty="0">
                <a:solidFill>
                  <a:srgbClr val="17A398"/>
                </a:solidFill>
                <a:latin typeface="Cambria" pitchFamily="34" charset="0"/>
                <a:ea typeface="Cambria" pitchFamily="34" charset="-122"/>
                <a:cs typeface="Cambria" pitchFamily="34" charset="-120"/>
              </a:rPr>
              <a:t>0.72 → 0.75</a:t>
            </a:r>
            <a:endParaRPr lang="en-US" sz="2200" dirty="0"/>
          </a:p>
        </p:txBody>
      </p:sp>
      <p:sp>
        <p:nvSpPr>
          <p:cNvPr id="12" name="Text 9"/>
          <p:cNvSpPr txBox="1"/>
          <p:nvPr/>
        </p:nvSpPr>
        <p:spPr>
          <a:xfrm>
            <a:off x="5806440" y="3520440"/>
            <a:ext cx="2697480" cy="914400"/>
          </a:xfrm>
          <a:prstGeom prst="rect">
            <a:avLst/>
          </a:prstGeom>
          <a:noFill/>
          <a:ln/>
        </p:spPr>
        <p:txBody>
          <a:bodyPr wrap="square" lIns="0" tIns="0" rIns="0" bIns="0" rtlCol="0" anchor="t"/>
          <a:lstStyle/>
          <a:p>
            <a:pPr marL="0" indent="0" algn="r" rtl="1">
              <a:buNone/>
            </a:pPr>
            <a:r>
              <a:rPr lang="fa-IR" altLang="en-US" sz="1000" dirty="0">
                <a:solidFill>
                  <a:srgbClr val="1F2933"/>
                </a:solidFill>
                <a:latin typeface="Shabnam" pitchFamily="34" charset="0"/>
                <a:ea typeface="Shabnam" pitchFamily="34" charset="-122"/>
                <a:cs typeface="Shabnam" pitchFamily="34" charset="-120"/>
              </a:rPr>
              <a:t>مثل مقاله، بدون CA میانگین خطا بیشتر می‌شود (در ۳ رویداد از ۴)؛ ولی اثر در نسخه من کوچک‌تر از مقاله است.</a:t>
            </a:r>
            <a:endParaRPr lang="fa-IR" sz="1000" dirty="0"/>
          </a:p>
        </p:txBody>
      </p:sp>
      <p:sp>
        <p:nvSpPr>
          <p:cNvPr id="13" name="Text 10"/>
          <p:cNvSpPr txBox="1"/>
          <p:nvPr/>
        </p:nvSpPr>
        <p:spPr>
          <a:xfrm>
            <a:off x="457200" y="4800600"/>
            <a:ext cx="5486400" cy="228600"/>
          </a:xfrm>
          <a:prstGeom prst="rect">
            <a:avLst/>
          </a:prstGeom>
          <a:noFill/>
          <a:ln/>
        </p:spPr>
        <p:txBody>
          <a:bodyPr wrap="square" lIns="0" tIns="0" rIns="0" bIns="0" rtlCol="0" anchor="t"/>
          <a:lstStyle/>
          <a:p>
            <a:pPr marL="0" indent="0" algn="l">
              <a:buNone/>
            </a:pPr>
            <a:r>
              <a:rPr lang="en-US" sz="900" dirty="0">
                <a:solidFill>
                  <a:srgbClr val="5C6B7A"/>
                </a:solidFill>
                <a:latin typeface="Calibri" pitchFamily="34" charset="0"/>
                <a:ea typeface="Calibri" pitchFamily="34" charset="-122"/>
                <a:cs typeface="Calibri" pitchFamily="34" charset="-120"/>
              </a:rPr>
              <a:t>Yao et al., Scientific Reports 15:15472 (2025)</a:t>
            </a:r>
            <a:endParaRPr lang="en-US" sz="900" dirty="0"/>
          </a:p>
        </p:txBody>
      </p:sp>
      <p:sp>
        <p:nvSpPr>
          <p:cNvPr id="14" name="Text 11"/>
          <p:cNvSpPr txBox="1"/>
          <p:nvPr/>
        </p:nvSpPr>
        <p:spPr>
          <a:xfrm>
            <a:off x="8229600" y="4773168"/>
            <a:ext cx="457200" cy="228600"/>
          </a:xfrm>
          <a:prstGeom prst="rect">
            <a:avLst/>
          </a:prstGeom>
          <a:noFill/>
          <a:ln/>
        </p:spPr>
        <p:txBody>
          <a:bodyPr wrap="square" lIns="0" tIns="0" rIns="0" bIns="0" rtlCol="0" anchor="t"/>
          <a:lstStyle/>
          <a:p>
            <a:pPr marL="0" indent="0" algn="r" rtl="1">
              <a:buNone/>
            </a:pPr>
            <a:r>
              <a:rPr lang="fa-IR" altLang="en-US" sz="1000" dirty="0">
                <a:solidFill>
                  <a:srgbClr val="5C6B7A"/>
                </a:solidFill>
                <a:latin typeface="Shabnam" pitchFamily="34" charset="0"/>
                <a:ea typeface="Shabnam" pitchFamily="34" charset="-122"/>
                <a:cs typeface="Shabnam" pitchFamily="34" charset="-120"/>
              </a:rPr>
              <a:t>۱۳</a:t>
            </a:r>
            <a:endParaRPr lang="fa-IR"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7863840" cy="274320"/>
          </a:xfrm>
          <a:prstGeom prst="rect">
            <a:avLst/>
          </a:prstGeom>
          <a:noFill/>
          <a:ln/>
        </p:spPr>
        <p:txBody>
          <a:bodyPr wrap="square" lIns="0" tIns="0" rIns="0" bIns="0" rtlCol="0" anchor="t"/>
          <a:lstStyle/>
          <a:p>
            <a:pPr marL="0" indent="0" algn="r" rtl="1">
              <a:buNone/>
            </a:pPr>
            <a:r>
              <a:rPr lang="fa-IR" altLang="en-US" sz="1100" dirty="0">
                <a:solidFill>
                  <a:srgbClr val="5C6B7A"/>
                </a:solidFill>
                <a:latin typeface="Shabnam" pitchFamily="34" charset="0"/>
                <a:ea typeface="Shabnam" pitchFamily="34" charset="-122"/>
                <a:cs typeface="Shabnam" pitchFamily="34" charset="-120"/>
              </a:rPr>
              <a:t>۷  ·  تحلیل خروجی LLM</a:t>
            </a:r>
            <a:endParaRPr lang="fa-IR" sz="1100" dirty="0"/>
          </a:p>
        </p:txBody>
      </p:sp>
      <p:sp>
        <p:nvSpPr>
          <p:cNvPr id="3" name="Text 1"/>
          <p:cNvSpPr txBox="1"/>
          <p:nvPr/>
        </p:nvSpPr>
        <p:spPr>
          <a:xfrm>
            <a:off x="457200" y="566928"/>
            <a:ext cx="8229600" cy="594360"/>
          </a:xfrm>
          <a:prstGeom prst="rect">
            <a:avLst/>
          </a:prstGeom>
          <a:noFill/>
          <a:ln/>
        </p:spPr>
        <p:txBody>
          <a:bodyPr wrap="square" lIns="0" tIns="0" rIns="0" bIns="0" rtlCol="0" anchor="t"/>
          <a:lstStyle/>
          <a:p>
            <a:pPr marL="0" indent="0" algn="r" rtl="1">
              <a:buNone/>
            </a:pPr>
            <a:r>
              <a:rPr lang="fa-IR" altLang="en-US" sz="2400" b="1" dirty="0">
                <a:solidFill>
                  <a:srgbClr val="14213D"/>
                </a:solidFill>
                <a:latin typeface="Shabnam" pitchFamily="34" charset="0"/>
                <a:ea typeface="Shabnam" pitchFamily="34" charset="-122"/>
                <a:cs typeface="Shabnam" pitchFamily="34" charset="-120"/>
              </a:rPr>
              <a:t>چرا افت بعد از افشای حقیقت بازتولید نشد؟</a:t>
            </a:r>
            <a:endParaRPr lang="fa-IR" sz="2400" dirty="0"/>
          </a:p>
        </p:txBody>
      </p:sp>
      <p:pic>
        <p:nvPicPr>
          <p:cNvPr id="4" name="Image 0" descr="assets/jiangping_panel.png"/>
          <p:cNvPicPr>
            <a:picLocks noChangeAspect="1"/>
          </p:cNvPicPr>
          <p:nvPr/>
        </p:nvPicPr>
        <p:blipFill>
          <a:blip r:embed="rId3"/>
          <a:stretch>
            <a:fillRect/>
          </a:stretch>
        </p:blipFill>
        <p:spPr>
          <a:xfrm>
            <a:off x="457200" y="1280160"/>
            <a:ext cx="4572000" cy="3035808"/>
          </a:xfrm>
          <a:prstGeom prst="rect">
            <a:avLst/>
          </a:prstGeom>
        </p:spPr>
      </p:pic>
      <p:sp>
        <p:nvSpPr>
          <p:cNvPr id="5" name="Text 2"/>
          <p:cNvSpPr txBox="1"/>
          <p:nvPr/>
        </p:nvSpPr>
        <p:spPr>
          <a:xfrm>
            <a:off x="457200" y="4389120"/>
            <a:ext cx="4572000" cy="274320"/>
          </a:xfrm>
          <a:prstGeom prst="rect">
            <a:avLst/>
          </a:prstGeom>
          <a:noFill/>
          <a:ln/>
        </p:spPr>
        <p:txBody>
          <a:bodyPr wrap="square" lIns="0" tIns="0" rIns="0" bIns="0" rtlCol="0" anchor="t"/>
          <a:lstStyle/>
          <a:p>
            <a:pPr marL="0" indent="0" algn="ctr" rtl="1">
              <a:buNone/>
            </a:pPr>
            <a:r>
              <a:rPr lang="fa-IR" altLang="en-US" sz="900" dirty="0">
                <a:solidFill>
                  <a:srgbClr val="5C6B7A"/>
                </a:solidFill>
                <a:latin typeface="Shabnam" pitchFamily="34" charset="0"/>
                <a:ea typeface="Shabnam" pitchFamily="34" charset="-122"/>
                <a:cs typeface="Shabnam" pitchFamily="34" charset="-120"/>
              </a:rPr>
              <a:t>رویداد Jiangping از نمودار نتایج: خط نارنجی (LLM تنها) بعد از خط‌چین مثبت می‌ماند</a:t>
            </a:r>
            <a:endParaRPr lang="fa-IR" sz="900" dirty="0"/>
          </a:p>
        </p:txBody>
      </p:sp>
      <p:sp>
        <p:nvSpPr>
          <p:cNvPr id="6" name="Shape 3"/>
          <p:cNvSpPr/>
          <p:nvPr/>
        </p:nvSpPr>
        <p:spPr>
          <a:xfrm>
            <a:off x="5303520" y="1280160"/>
            <a:ext cx="3383280" cy="1051560"/>
          </a:xfrm>
          <a:prstGeom prst="roundRect">
            <a:avLst>
              <a:gd name="adj" fmla="val 6957"/>
            </a:avLst>
          </a:prstGeom>
          <a:solidFill>
            <a:srgbClr val="FDECE8"/>
          </a:solidFill>
          <a:ln w="12700">
            <a:solidFill>
              <a:srgbClr val="FDECE8"/>
            </a:solidFill>
            <a:prstDash val="solid"/>
          </a:ln>
        </p:spPr>
      </p:sp>
      <p:sp>
        <p:nvSpPr>
          <p:cNvPr id="7" name="Text 4"/>
          <p:cNvSpPr txBox="1"/>
          <p:nvPr/>
        </p:nvSpPr>
        <p:spPr>
          <a:xfrm>
            <a:off x="5486400" y="1371600"/>
            <a:ext cx="3017520" cy="320040"/>
          </a:xfrm>
          <a:prstGeom prst="rect">
            <a:avLst/>
          </a:prstGeom>
          <a:noFill/>
          <a:ln/>
        </p:spPr>
        <p:txBody>
          <a:bodyPr wrap="square" lIns="0" tIns="0" rIns="0" bIns="0" rtlCol="0" anchor="t"/>
          <a:lstStyle/>
          <a:p>
            <a:pPr marL="0" indent="0" algn="r" rtl="1">
              <a:buNone/>
            </a:pPr>
            <a:r>
              <a:rPr lang="fa-IR" altLang="en-US" sz="1300" b="1" dirty="0">
                <a:solidFill>
                  <a:srgbClr val="E4572E"/>
                </a:solidFill>
                <a:latin typeface="Shabnam" pitchFamily="34" charset="0"/>
                <a:ea typeface="Shabnam" pitchFamily="34" charset="-122"/>
                <a:cs typeface="Shabnam" pitchFamily="34" charset="-120"/>
              </a:rPr>
              <a:t>LLM به خبر حقیقت واکنش نداد</a:t>
            </a:r>
            <a:endParaRPr lang="fa-IR" sz="1300" dirty="0"/>
          </a:p>
        </p:txBody>
      </p:sp>
      <p:sp>
        <p:nvSpPr>
          <p:cNvPr id="8" name="Text 5"/>
          <p:cNvSpPr txBox="1"/>
          <p:nvPr/>
        </p:nvSpPr>
        <p:spPr>
          <a:xfrm>
            <a:off x="5486400" y="1719072"/>
            <a:ext cx="3017520" cy="594360"/>
          </a:xfrm>
          <a:prstGeom prst="rect">
            <a:avLst/>
          </a:prstGeom>
          <a:noFill/>
          <a:ln/>
        </p:spPr>
        <p:txBody>
          <a:bodyPr wrap="square" lIns="0" tIns="0" rIns="0" bIns="0" rtlCol="0" anchor="t"/>
          <a:lstStyle/>
          <a:p>
            <a:pPr marL="0" indent="0" algn="r" rtl="1">
              <a:buNone/>
            </a:pPr>
            <a:r>
              <a:rPr lang="fa-IR" altLang="en-US" sz="950" dirty="0">
                <a:solidFill>
                  <a:srgbClr val="1F2933"/>
                </a:solidFill>
                <a:latin typeface="Shabnam" pitchFamily="34" charset="0"/>
                <a:ea typeface="Shabnam" pitchFamily="34" charset="-122"/>
                <a:cs typeface="Shabnam" pitchFamily="34" charset="-120"/>
              </a:rPr>
              <a:t>منحنی «LLM تنها» که میانگین مستقیم خروجی LLM است، بعد از حقیقت در Jiangping حدود ۰٫۳+ و در Qingdao روی صفر می‌ماند.</a:t>
            </a:r>
            <a:endParaRPr lang="fa-IR" sz="950" dirty="0"/>
          </a:p>
        </p:txBody>
      </p:sp>
      <p:sp>
        <p:nvSpPr>
          <p:cNvPr id="9" name="Shape 6"/>
          <p:cNvSpPr/>
          <p:nvPr/>
        </p:nvSpPr>
        <p:spPr>
          <a:xfrm>
            <a:off x="5303520" y="2468880"/>
            <a:ext cx="3383280" cy="1051560"/>
          </a:xfrm>
          <a:prstGeom prst="roundRect">
            <a:avLst>
              <a:gd name="adj" fmla="val 6957"/>
            </a:avLst>
          </a:prstGeom>
          <a:solidFill>
            <a:srgbClr val="EEF2F7"/>
          </a:solidFill>
          <a:ln w="12700">
            <a:solidFill>
              <a:srgbClr val="EEF2F7"/>
            </a:solidFill>
            <a:prstDash val="solid"/>
          </a:ln>
        </p:spPr>
      </p:sp>
      <p:sp>
        <p:nvSpPr>
          <p:cNvPr id="10" name="Text 7"/>
          <p:cNvSpPr txBox="1"/>
          <p:nvPr/>
        </p:nvSpPr>
        <p:spPr>
          <a:xfrm>
            <a:off x="5486400" y="2560320"/>
            <a:ext cx="3017520" cy="320040"/>
          </a:xfrm>
          <a:prstGeom prst="rect">
            <a:avLst/>
          </a:prstGeom>
          <a:noFill/>
          <a:ln/>
        </p:spPr>
        <p:txBody>
          <a:bodyPr wrap="square" lIns="0" tIns="0" rIns="0" bIns="0" rtlCol="0" anchor="t"/>
          <a:lstStyle/>
          <a:p>
            <a:pPr marL="0" indent="0" algn="r" rtl="1">
              <a:buNone/>
            </a:pPr>
            <a:r>
              <a:rPr lang="fa-IR" altLang="en-US" sz="1300" b="1" dirty="0">
                <a:solidFill>
                  <a:srgbClr val="14213D"/>
                </a:solidFill>
                <a:latin typeface="Shabnam" pitchFamily="34" charset="0"/>
                <a:ea typeface="Shabnam" pitchFamily="34" charset="-122"/>
                <a:cs typeface="Shabnam" pitchFamily="34" charset="-120"/>
              </a:rPr>
              <a:t>نمونه از خروجی مدل</a:t>
            </a:r>
            <a:endParaRPr lang="fa-IR" sz="1300" dirty="0"/>
          </a:p>
        </p:txBody>
      </p:sp>
      <p:sp>
        <p:nvSpPr>
          <p:cNvPr id="11" name="Text 8"/>
          <p:cNvSpPr txBox="1"/>
          <p:nvPr/>
        </p:nvSpPr>
        <p:spPr>
          <a:xfrm>
            <a:off x="5486400" y="2907792"/>
            <a:ext cx="3017520" cy="594360"/>
          </a:xfrm>
          <a:prstGeom prst="rect">
            <a:avLst/>
          </a:prstGeom>
          <a:noFill/>
          <a:ln/>
        </p:spPr>
        <p:txBody>
          <a:bodyPr wrap="square" lIns="0" tIns="0" rIns="0" bIns="0" rtlCol="0" anchor="t"/>
          <a:lstStyle/>
          <a:p>
            <a:pPr marL="0" indent="0" algn="r" rtl="1">
              <a:buNone/>
            </a:pPr>
            <a:r>
              <a:rPr lang="fa-IR" altLang="en-US" sz="950" dirty="0">
                <a:solidFill>
                  <a:srgbClr val="1F2933"/>
                </a:solidFill>
                <a:latin typeface="Shabnam" pitchFamily="34" charset="0"/>
                <a:ea typeface="Shabnam" pitchFamily="34" charset="-122"/>
                <a:cs typeface="Shabnam" pitchFamily="34" charset="-120"/>
              </a:rPr>
              <a:t>بعد از خبر اتهام تقلب، یکی از ایجنت‌ها باز هم نوشت: «دستاورد شگفت‌انگیزی است!»</a:t>
            </a:r>
            <a:endParaRPr lang="fa-IR" sz="950" dirty="0"/>
          </a:p>
        </p:txBody>
      </p:sp>
      <p:sp>
        <p:nvSpPr>
          <p:cNvPr id="12" name="Shape 9"/>
          <p:cNvSpPr/>
          <p:nvPr/>
        </p:nvSpPr>
        <p:spPr>
          <a:xfrm>
            <a:off x="5303520" y="3657600"/>
            <a:ext cx="3383280" cy="1005840"/>
          </a:xfrm>
          <a:prstGeom prst="roundRect">
            <a:avLst>
              <a:gd name="adj" fmla="val 7273"/>
            </a:avLst>
          </a:prstGeom>
          <a:solidFill>
            <a:srgbClr val="E3F4F2"/>
          </a:solidFill>
          <a:ln w="12700">
            <a:solidFill>
              <a:srgbClr val="E3F4F2"/>
            </a:solidFill>
            <a:prstDash val="solid"/>
          </a:ln>
        </p:spPr>
      </p:sp>
      <p:sp>
        <p:nvSpPr>
          <p:cNvPr id="13" name="Text 10"/>
          <p:cNvSpPr txBox="1"/>
          <p:nvPr/>
        </p:nvSpPr>
        <p:spPr>
          <a:xfrm>
            <a:off x="5486400" y="3730752"/>
            <a:ext cx="3017520" cy="274320"/>
          </a:xfrm>
          <a:prstGeom prst="rect">
            <a:avLst/>
          </a:prstGeom>
          <a:noFill/>
          <a:ln/>
        </p:spPr>
        <p:txBody>
          <a:bodyPr wrap="square" lIns="0" tIns="0" rIns="0" bIns="0" rtlCol="0" anchor="t"/>
          <a:lstStyle/>
          <a:p>
            <a:pPr marL="0" indent="0" algn="r" rtl="1">
              <a:buNone/>
            </a:pPr>
            <a:r>
              <a:rPr lang="fa-IR" altLang="en-US" sz="1200" b="1" dirty="0">
                <a:solidFill>
                  <a:srgbClr val="17A398"/>
                </a:solidFill>
                <a:latin typeface="Shabnam" pitchFamily="34" charset="0"/>
                <a:ea typeface="Shabnam" pitchFamily="34" charset="-122"/>
                <a:cs typeface="Shabnam" pitchFamily="34" charset="-120"/>
              </a:rPr>
              <a:t>نتیجه</a:t>
            </a:r>
            <a:endParaRPr lang="fa-IR" sz="1200" dirty="0"/>
          </a:p>
        </p:txBody>
      </p:sp>
      <p:sp>
        <p:nvSpPr>
          <p:cNvPr id="14" name="Text 11"/>
          <p:cNvSpPr txBox="1"/>
          <p:nvPr/>
        </p:nvSpPr>
        <p:spPr>
          <a:xfrm>
            <a:off x="5486400" y="4023360"/>
            <a:ext cx="3017520" cy="594360"/>
          </a:xfrm>
          <a:prstGeom prst="rect">
            <a:avLst/>
          </a:prstGeom>
          <a:noFill/>
          <a:ln/>
        </p:spPr>
        <p:txBody>
          <a:bodyPr wrap="square" lIns="0" tIns="0" rIns="0" bIns="0" rtlCol="0" anchor="t"/>
          <a:lstStyle/>
          <a:p>
            <a:pPr marL="0" indent="0" algn="r" rtl="1">
              <a:buNone/>
            </a:pPr>
            <a:r>
              <a:rPr lang="fa-IR" altLang="en-US" sz="950" dirty="0">
                <a:solidFill>
                  <a:srgbClr val="1F2933"/>
                </a:solidFill>
                <a:latin typeface="Shabnam" pitchFamily="34" charset="0"/>
                <a:ea typeface="Shabnam" pitchFamily="34" charset="-122"/>
                <a:cs typeface="Shabnam" pitchFamily="34" charset="-120"/>
              </a:rPr>
              <a:t>معادلات کار خود را کردند (میرایی)، ولی سیگنال وارونگی باید از LLM بیاید؛ مدل قوی‌تر لازم است.</a:t>
            </a:r>
            <a:endParaRPr lang="fa-IR" sz="950" dirty="0"/>
          </a:p>
        </p:txBody>
      </p:sp>
      <p:sp>
        <p:nvSpPr>
          <p:cNvPr id="15" name="Text 12"/>
          <p:cNvSpPr txBox="1"/>
          <p:nvPr/>
        </p:nvSpPr>
        <p:spPr>
          <a:xfrm>
            <a:off x="457200" y="4800600"/>
            <a:ext cx="5486400" cy="228600"/>
          </a:xfrm>
          <a:prstGeom prst="rect">
            <a:avLst/>
          </a:prstGeom>
          <a:noFill/>
          <a:ln/>
        </p:spPr>
        <p:txBody>
          <a:bodyPr wrap="square" lIns="0" tIns="0" rIns="0" bIns="0" rtlCol="0" anchor="t"/>
          <a:lstStyle/>
          <a:p>
            <a:pPr marL="0" indent="0" algn="l">
              <a:buNone/>
            </a:pPr>
            <a:r>
              <a:rPr lang="en-US" sz="900" dirty="0">
                <a:solidFill>
                  <a:srgbClr val="5C6B7A"/>
                </a:solidFill>
                <a:latin typeface="Calibri" pitchFamily="34" charset="0"/>
                <a:ea typeface="Calibri" pitchFamily="34" charset="-122"/>
                <a:cs typeface="Calibri" pitchFamily="34" charset="-120"/>
              </a:rPr>
              <a:t>Yao et al., Scientific Reports 15:15472 (2025)</a:t>
            </a:r>
            <a:endParaRPr lang="en-US" sz="900" dirty="0"/>
          </a:p>
        </p:txBody>
      </p:sp>
      <p:sp>
        <p:nvSpPr>
          <p:cNvPr id="16" name="Text 13"/>
          <p:cNvSpPr txBox="1"/>
          <p:nvPr/>
        </p:nvSpPr>
        <p:spPr>
          <a:xfrm>
            <a:off x="8229600" y="4773168"/>
            <a:ext cx="457200" cy="228600"/>
          </a:xfrm>
          <a:prstGeom prst="rect">
            <a:avLst/>
          </a:prstGeom>
          <a:noFill/>
          <a:ln/>
        </p:spPr>
        <p:txBody>
          <a:bodyPr wrap="square" lIns="0" tIns="0" rIns="0" bIns="0" rtlCol="0" anchor="t"/>
          <a:lstStyle/>
          <a:p>
            <a:pPr marL="0" indent="0" algn="r" rtl="1">
              <a:buNone/>
            </a:pPr>
            <a:r>
              <a:rPr lang="fa-IR" altLang="en-US" sz="1000" dirty="0">
                <a:solidFill>
                  <a:srgbClr val="5C6B7A"/>
                </a:solidFill>
                <a:latin typeface="Shabnam" pitchFamily="34" charset="0"/>
                <a:ea typeface="Shabnam" pitchFamily="34" charset="-122"/>
                <a:cs typeface="Shabnam" pitchFamily="34" charset="-120"/>
              </a:rPr>
              <a:t>۱۴</a:t>
            </a:r>
            <a:endParaRPr lang="fa-IR"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4213D"/>
        </a:solidFill>
        <a:effectLst/>
      </p:bgPr>
    </p:bg>
    <p:spTree>
      <p:nvGrpSpPr>
        <p:cNvPr id="1" name=""/>
        <p:cNvGrpSpPr/>
        <p:nvPr/>
      </p:nvGrpSpPr>
      <p:grpSpPr>
        <a:xfrm>
          <a:off x="0" y="0"/>
          <a:ext cx="0" cy="0"/>
          <a:chOff x="0" y="0"/>
          <a:chExt cx="0" cy="0"/>
        </a:xfrm>
      </p:grpSpPr>
      <p:sp>
        <p:nvSpPr>
          <p:cNvPr id="2" name="Shape 0"/>
          <p:cNvSpPr/>
          <p:nvPr/>
        </p:nvSpPr>
        <p:spPr>
          <a:xfrm>
            <a:off x="411480" y="457200"/>
            <a:ext cx="365760" cy="365760"/>
          </a:xfrm>
          <a:prstGeom prst="ellipse">
            <a:avLst/>
          </a:prstGeom>
          <a:solidFill>
            <a:srgbClr val="17A398"/>
          </a:solidFill>
          <a:ln w="12700">
            <a:solidFill>
              <a:srgbClr val="17A398"/>
            </a:solidFill>
            <a:prstDash val="solid"/>
          </a:ln>
        </p:spPr>
      </p:sp>
      <p:sp>
        <p:nvSpPr>
          <p:cNvPr id="3" name="Shape 1"/>
          <p:cNvSpPr/>
          <p:nvPr/>
        </p:nvSpPr>
        <p:spPr>
          <a:xfrm>
            <a:off x="914400" y="868680"/>
            <a:ext cx="201168" cy="201168"/>
          </a:xfrm>
          <a:prstGeom prst="ellipse">
            <a:avLst/>
          </a:prstGeom>
          <a:solidFill>
            <a:srgbClr val="E4572E"/>
          </a:solidFill>
          <a:ln w="12700">
            <a:solidFill>
              <a:srgbClr val="E4572E"/>
            </a:solidFill>
            <a:prstDash val="solid"/>
          </a:ln>
        </p:spPr>
      </p:sp>
      <p:sp>
        <p:nvSpPr>
          <p:cNvPr id="4" name="Text 2"/>
          <p:cNvSpPr txBox="1"/>
          <p:nvPr/>
        </p:nvSpPr>
        <p:spPr>
          <a:xfrm>
            <a:off x="457200" y="274320"/>
            <a:ext cx="7863840" cy="274320"/>
          </a:xfrm>
          <a:prstGeom prst="rect">
            <a:avLst/>
          </a:prstGeom>
          <a:noFill/>
          <a:ln/>
        </p:spPr>
        <p:txBody>
          <a:bodyPr wrap="square" lIns="0" tIns="0" rIns="0" bIns="0" rtlCol="0" anchor="t"/>
          <a:lstStyle/>
          <a:p>
            <a:pPr marL="0" indent="0" algn="r" rtl="1">
              <a:buNone/>
            </a:pPr>
            <a:r>
              <a:rPr lang="fa-IR" altLang="en-US" sz="1100" dirty="0">
                <a:solidFill>
                  <a:srgbClr val="C9D6E8"/>
                </a:solidFill>
                <a:latin typeface="Shabnam" pitchFamily="34" charset="0"/>
                <a:ea typeface="Shabnam" pitchFamily="34" charset="-122"/>
                <a:cs typeface="Shabnam" pitchFamily="34" charset="-120"/>
              </a:rPr>
              <a:t>۸  ·  جمع‌بندی</a:t>
            </a:r>
            <a:endParaRPr lang="fa-IR" sz="1100" dirty="0"/>
          </a:p>
        </p:txBody>
      </p:sp>
      <p:sp>
        <p:nvSpPr>
          <p:cNvPr id="5" name="Text 3"/>
          <p:cNvSpPr txBox="1"/>
          <p:nvPr/>
        </p:nvSpPr>
        <p:spPr>
          <a:xfrm>
            <a:off x="1371600" y="566928"/>
            <a:ext cx="7315200" cy="594360"/>
          </a:xfrm>
          <a:prstGeom prst="rect">
            <a:avLst/>
          </a:prstGeom>
          <a:noFill/>
          <a:ln/>
        </p:spPr>
        <p:txBody>
          <a:bodyPr wrap="square" lIns="0" tIns="0" rIns="0" bIns="0" rtlCol="0" anchor="t"/>
          <a:lstStyle/>
          <a:p>
            <a:pPr marL="0" indent="0" algn="r" rtl="1">
              <a:buNone/>
            </a:pPr>
            <a:r>
              <a:rPr lang="fa-IR" altLang="en-US" sz="2400" b="1" dirty="0">
                <a:solidFill>
                  <a:srgbClr val="FFFFFF"/>
                </a:solidFill>
                <a:latin typeface="Shabnam" pitchFamily="34" charset="0"/>
                <a:ea typeface="Shabnam" pitchFamily="34" charset="-122"/>
                <a:cs typeface="Shabnam" pitchFamily="34" charset="-120"/>
              </a:rPr>
              <a:t>جمع‌بندی و محدودیت‌ها</a:t>
            </a:r>
            <a:endParaRPr lang="fa-IR" sz="2400" dirty="0"/>
          </a:p>
        </p:txBody>
      </p:sp>
      <p:sp>
        <p:nvSpPr>
          <p:cNvPr id="6" name="Text 4"/>
          <p:cNvSpPr txBox="1"/>
          <p:nvPr/>
        </p:nvSpPr>
        <p:spPr>
          <a:xfrm>
            <a:off x="4663440" y="1371600"/>
            <a:ext cx="4023360" cy="320040"/>
          </a:xfrm>
          <a:prstGeom prst="rect">
            <a:avLst/>
          </a:prstGeom>
          <a:noFill/>
          <a:ln/>
        </p:spPr>
        <p:txBody>
          <a:bodyPr wrap="square" lIns="0" tIns="0" rIns="0" bIns="0" rtlCol="0" anchor="t"/>
          <a:lstStyle/>
          <a:p>
            <a:pPr marL="0" indent="0" algn="r" rtl="1">
              <a:buNone/>
            </a:pPr>
            <a:r>
              <a:rPr lang="fa-IR" altLang="en-US" sz="1400" b="1" dirty="0">
                <a:solidFill>
                  <a:srgbClr val="17A398"/>
                </a:solidFill>
                <a:latin typeface="Shabnam" pitchFamily="34" charset="0"/>
                <a:ea typeface="Shabnam" pitchFamily="34" charset="-122"/>
                <a:cs typeface="Shabnam" pitchFamily="34" charset="-120"/>
              </a:rPr>
              <a:t>یافته‌ها</a:t>
            </a:r>
            <a:endParaRPr lang="fa-IR" sz="1400" dirty="0"/>
          </a:p>
        </p:txBody>
      </p:sp>
      <p:sp>
        <p:nvSpPr>
          <p:cNvPr id="7" name="Shape 5"/>
          <p:cNvSpPr/>
          <p:nvPr/>
        </p:nvSpPr>
        <p:spPr>
          <a:xfrm>
            <a:off x="8394192" y="1810512"/>
            <a:ext cx="274320" cy="274320"/>
          </a:xfrm>
          <a:prstGeom prst="ellipse">
            <a:avLst/>
          </a:prstGeom>
          <a:solidFill>
            <a:srgbClr val="17A398"/>
          </a:solidFill>
          <a:ln w="12700">
            <a:solidFill>
              <a:srgbClr val="17A398"/>
            </a:solidFill>
            <a:prstDash val="solid"/>
          </a:ln>
        </p:spPr>
      </p:sp>
      <p:sp>
        <p:nvSpPr>
          <p:cNvPr id="8" name="Text 6"/>
          <p:cNvSpPr txBox="1"/>
          <p:nvPr/>
        </p:nvSpPr>
        <p:spPr>
          <a:xfrm>
            <a:off x="8394192" y="1810512"/>
            <a:ext cx="274320" cy="274320"/>
          </a:xfrm>
          <a:prstGeom prst="rect">
            <a:avLst/>
          </a:prstGeom>
          <a:noFill/>
          <a:ln/>
        </p:spPr>
        <p:txBody>
          <a:bodyPr wrap="square" lIns="0" tIns="0" rIns="0" bIns="0" rtlCol="0" anchor="ctr"/>
          <a:lstStyle/>
          <a:p>
            <a:pPr marL="0" indent="0" algn="ctr" rtl="1">
              <a:buNone/>
            </a:pPr>
            <a:r>
              <a:rPr lang="fa-IR" altLang="en-US" sz="1200" b="1" dirty="0">
                <a:solidFill>
                  <a:srgbClr val="FFFFFF"/>
                </a:solidFill>
                <a:latin typeface="Shabnam" pitchFamily="34" charset="0"/>
                <a:ea typeface="Shabnam" pitchFamily="34" charset="-122"/>
                <a:cs typeface="Shabnam" pitchFamily="34" charset="-120"/>
              </a:rPr>
              <a:t>۱</a:t>
            </a:r>
            <a:endParaRPr lang="fa-IR" sz="1200" dirty="0"/>
          </a:p>
        </p:txBody>
      </p:sp>
      <p:sp>
        <p:nvSpPr>
          <p:cNvPr id="9" name="Text 7"/>
          <p:cNvSpPr txBox="1"/>
          <p:nvPr/>
        </p:nvSpPr>
        <p:spPr>
          <a:xfrm>
            <a:off x="4663440" y="1783080"/>
            <a:ext cx="3611880" cy="731520"/>
          </a:xfrm>
          <a:prstGeom prst="rect">
            <a:avLst/>
          </a:prstGeom>
          <a:noFill/>
          <a:ln/>
        </p:spPr>
        <p:txBody>
          <a:bodyPr wrap="square" lIns="0" tIns="0" rIns="0" bIns="0" rtlCol="0" anchor="t"/>
          <a:lstStyle/>
          <a:p>
            <a:pPr marL="0" indent="0" algn="r" rtl="1">
              <a:buNone/>
            </a:pPr>
            <a:r>
              <a:rPr lang="fa-IR" altLang="en-US" sz="1100" dirty="0">
                <a:solidFill>
                  <a:srgbClr val="FFFFFF"/>
                </a:solidFill>
                <a:latin typeface="Shabnam" pitchFamily="34" charset="0"/>
                <a:ea typeface="Shabnam" pitchFamily="34" charset="-122"/>
                <a:cs typeface="Shabnam" pitchFamily="34" charset="-120"/>
              </a:rPr>
              <a:t>FDE-LLM در هر دو معیار (DTW و همبستگی) بهترین روش بود؛ ادعای اصلی مقاله تأیید شد.</a:t>
            </a:r>
            <a:endParaRPr lang="fa-IR" sz="1100" dirty="0"/>
          </a:p>
        </p:txBody>
      </p:sp>
      <p:sp>
        <p:nvSpPr>
          <p:cNvPr id="10" name="Shape 8"/>
          <p:cNvSpPr/>
          <p:nvPr/>
        </p:nvSpPr>
        <p:spPr>
          <a:xfrm>
            <a:off x="8394192" y="2633472"/>
            <a:ext cx="274320" cy="274320"/>
          </a:xfrm>
          <a:prstGeom prst="ellipse">
            <a:avLst/>
          </a:prstGeom>
          <a:solidFill>
            <a:srgbClr val="17A398"/>
          </a:solidFill>
          <a:ln w="12700">
            <a:solidFill>
              <a:srgbClr val="17A398"/>
            </a:solidFill>
            <a:prstDash val="solid"/>
          </a:ln>
        </p:spPr>
      </p:sp>
      <p:sp>
        <p:nvSpPr>
          <p:cNvPr id="11" name="Text 9"/>
          <p:cNvSpPr txBox="1"/>
          <p:nvPr/>
        </p:nvSpPr>
        <p:spPr>
          <a:xfrm>
            <a:off x="8394192" y="2633472"/>
            <a:ext cx="274320" cy="274320"/>
          </a:xfrm>
          <a:prstGeom prst="rect">
            <a:avLst/>
          </a:prstGeom>
          <a:noFill/>
          <a:ln/>
        </p:spPr>
        <p:txBody>
          <a:bodyPr wrap="square" lIns="0" tIns="0" rIns="0" bIns="0" rtlCol="0" anchor="ctr"/>
          <a:lstStyle/>
          <a:p>
            <a:pPr marL="0" indent="0" algn="ctr" rtl="1">
              <a:buNone/>
            </a:pPr>
            <a:r>
              <a:rPr lang="fa-IR" altLang="en-US" sz="1200" b="1" dirty="0">
                <a:solidFill>
                  <a:srgbClr val="FFFFFF"/>
                </a:solidFill>
                <a:latin typeface="Shabnam" pitchFamily="34" charset="0"/>
                <a:ea typeface="Shabnam" pitchFamily="34" charset="-122"/>
                <a:cs typeface="Shabnam" pitchFamily="34" charset="-120"/>
              </a:rPr>
              <a:t>۲</a:t>
            </a:r>
            <a:endParaRPr lang="fa-IR" sz="1200" dirty="0"/>
          </a:p>
        </p:txBody>
      </p:sp>
      <p:sp>
        <p:nvSpPr>
          <p:cNvPr id="12" name="Text 10"/>
          <p:cNvSpPr txBox="1"/>
          <p:nvPr/>
        </p:nvSpPr>
        <p:spPr>
          <a:xfrm>
            <a:off x="4663440" y="2606040"/>
            <a:ext cx="3611880" cy="731520"/>
          </a:xfrm>
          <a:prstGeom prst="rect">
            <a:avLst/>
          </a:prstGeom>
          <a:noFill/>
          <a:ln/>
        </p:spPr>
        <p:txBody>
          <a:bodyPr wrap="square" lIns="0" tIns="0" rIns="0" bIns="0" rtlCol="0" anchor="t"/>
          <a:lstStyle/>
          <a:p>
            <a:pPr marL="0" indent="0" algn="r" rtl="1">
              <a:buNone/>
            </a:pPr>
            <a:r>
              <a:rPr lang="fa-IR" altLang="en-US" sz="1100" dirty="0">
                <a:solidFill>
                  <a:srgbClr val="FFFFFF"/>
                </a:solidFill>
                <a:latin typeface="Shabnam" pitchFamily="34" charset="0"/>
                <a:ea typeface="Shabnam" pitchFamily="34" charset="-122"/>
                <a:cs typeface="Shabnam" pitchFamily="34" charset="-120"/>
              </a:rPr>
              <a:t>میرایی SIR بازگشت تدریجی نظر جمعی به حالت خنثی را خوب بازتولید می‌کند.</a:t>
            </a:r>
            <a:endParaRPr lang="fa-IR" sz="1100" dirty="0"/>
          </a:p>
        </p:txBody>
      </p:sp>
      <p:sp>
        <p:nvSpPr>
          <p:cNvPr id="13" name="Shape 11"/>
          <p:cNvSpPr/>
          <p:nvPr/>
        </p:nvSpPr>
        <p:spPr>
          <a:xfrm>
            <a:off x="8394192" y="3456432"/>
            <a:ext cx="274320" cy="274320"/>
          </a:xfrm>
          <a:prstGeom prst="ellipse">
            <a:avLst/>
          </a:prstGeom>
          <a:solidFill>
            <a:srgbClr val="17A398"/>
          </a:solidFill>
          <a:ln w="12700">
            <a:solidFill>
              <a:srgbClr val="17A398"/>
            </a:solidFill>
            <a:prstDash val="solid"/>
          </a:ln>
        </p:spPr>
      </p:sp>
      <p:sp>
        <p:nvSpPr>
          <p:cNvPr id="14" name="Text 12"/>
          <p:cNvSpPr txBox="1"/>
          <p:nvPr/>
        </p:nvSpPr>
        <p:spPr>
          <a:xfrm>
            <a:off x="8394192" y="3456432"/>
            <a:ext cx="274320" cy="274320"/>
          </a:xfrm>
          <a:prstGeom prst="rect">
            <a:avLst/>
          </a:prstGeom>
          <a:noFill/>
          <a:ln/>
        </p:spPr>
        <p:txBody>
          <a:bodyPr wrap="square" lIns="0" tIns="0" rIns="0" bIns="0" rtlCol="0" anchor="ctr"/>
          <a:lstStyle/>
          <a:p>
            <a:pPr marL="0" indent="0" algn="ctr" rtl="1">
              <a:buNone/>
            </a:pPr>
            <a:r>
              <a:rPr lang="fa-IR" altLang="en-US" sz="1200" b="1" dirty="0">
                <a:solidFill>
                  <a:srgbClr val="FFFFFF"/>
                </a:solidFill>
                <a:latin typeface="Shabnam" pitchFamily="34" charset="0"/>
                <a:ea typeface="Shabnam" pitchFamily="34" charset="-122"/>
                <a:cs typeface="Shabnam" pitchFamily="34" charset="-120"/>
              </a:rPr>
              <a:t>۳</a:t>
            </a:r>
            <a:endParaRPr lang="fa-IR" sz="1200" dirty="0"/>
          </a:p>
        </p:txBody>
      </p:sp>
      <p:sp>
        <p:nvSpPr>
          <p:cNvPr id="15" name="Text 13"/>
          <p:cNvSpPr txBox="1"/>
          <p:nvPr/>
        </p:nvSpPr>
        <p:spPr>
          <a:xfrm>
            <a:off x="4663440" y="3429000"/>
            <a:ext cx="3611880" cy="731520"/>
          </a:xfrm>
          <a:prstGeom prst="rect">
            <a:avLst/>
          </a:prstGeom>
          <a:noFill/>
          <a:ln/>
        </p:spPr>
        <p:txBody>
          <a:bodyPr wrap="square" lIns="0" tIns="0" rIns="0" bIns="0" rtlCol="0" anchor="t"/>
          <a:lstStyle/>
          <a:p>
            <a:pPr marL="0" indent="0" algn="r" rtl="1">
              <a:buNone/>
            </a:pPr>
            <a:r>
              <a:rPr lang="fa-IR" altLang="en-US" sz="1100" dirty="0">
                <a:solidFill>
                  <a:srgbClr val="FFFFFF"/>
                </a:solidFill>
                <a:latin typeface="Shabnam" pitchFamily="34" charset="0"/>
                <a:ea typeface="Shabnam" pitchFamily="34" charset="-122"/>
                <a:cs typeface="Shabnam" pitchFamily="34" charset="-120"/>
              </a:rPr>
              <a:t>مدل زبانی کوچک به خبر حقیقت واکنش نشان نداد؛ بازتولید وارونگی به مدل قوی‌تر نیاز دارد.</a:t>
            </a:r>
            <a:endParaRPr lang="fa-IR" sz="1100" dirty="0"/>
          </a:p>
        </p:txBody>
      </p:sp>
      <p:sp>
        <p:nvSpPr>
          <p:cNvPr id="16" name="Text 14"/>
          <p:cNvSpPr txBox="1"/>
          <p:nvPr/>
        </p:nvSpPr>
        <p:spPr>
          <a:xfrm>
            <a:off x="457200" y="1371600"/>
            <a:ext cx="3840480" cy="320040"/>
          </a:xfrm>
          <a:prstGeom prst="rect">
            <a:avLst/>
          </a:prstGeom>
          <a:noFill/>
          <a:ln/>
        </p:spPr>
        <p:txBody>
          <a:bodyPr wrap="square" lIns="0" tIns="0" rIns="0" bIns="0" rtlCol="0" anchor="t"/>
          <a:lstStyle/>
          <a:p>
            <a:pPr marL="0" indent="0" algn="r" rtl="1">
              <a:buNone/>
            </a:pPr>
            <a:r>
              <a:rPr lang="fa-IR" altLang="en-US" sz="1400" b="1" dirty="0">
                <a:solidFill>
                  <a:srgbClr val="E4572E"/>
                </a:solidFill>
                <a:latin typeface="Shabnam" pitchFamily="34" charset="0"/>
                <a:ea typeface="Shabnam" pitchFamily="34" charset="-122"/>
                <a:cs typeface="Shabnam" pitchFamily="34" charset="-120"/>
              </a:rPr>
              <a:t>محدودیت‌ها</a:t>
            </a:r>
            <a:endParaRPr lang="fa-IR" sz="1400" dirty="0"/>
          </a:p>
        </p:txBody>
      </p:sp>
      <p:sp>
        <p:nvSpPr>
          <p:cNvPr id="17" name="Shape 15"/>
          <p:cNvSpPr/>
          <p:nvPr/>
        </p:nvSpPr>
        <p:spPr>
          <a:xfrm>
            <a:off x="4023360" y="1810512"/>
            <a:ext cx="256032" cy="256032"/>
          </a:xfrm>
          <a:prstGeom prst="ellipse">
            <a:avLst/>
          </a:prstGeom>
          <a:solidFill>
            <a:srgbClr val="E4572E"/>
          </a:solidFill>
          <a:ln w="12700">
            <a:solidFill>
              <a:srgbClr val="E4572E"/>
            </a:solidFill>
            <a:prstDash val="solid"/>
          </a:ln>
        </p:spPr>
      </p:sp>
      <p:sp>
        <p:nvSpPr>
          <p:cNvPr id="18" name="Text 16"/>
          <p:cNvSpPr txBox="1"/>
          <p:nvPr/>
        </p:nvSpPr>
        <p:spPr>
          <a:xfrm>
            <a:off x="4023360" y="1810512"/>
            <a:ext cx="256032" cy="256032"/>
          </a:xfrm>
          <a:prstGeom prst="rect">
            <a:avLst/>
          </a:prstGeom>
          <a:noFill/>
          <a:ln/>
        </p:spPr>
        <p:txBody>
          <a:bodyPr wrap="square" lIns="0" tIns="0" rIns="0" bIns="0" rtlCol="0" anchor="ctr"/>
          <a:lstStyle/>
          <a:p>
            <a:pPr marL="0" indent="0" algn="ctr" rtl="1">
              <a:buNone/>
            </a:pPr>
            <a:r>
              <a:rPr lang="fa-IR" altLang="en-US" sz="1200" b="1" dirty="0">
                <a:solidFill>
                  <a:srgbClr val="FFFFFF"/>
                </a:solidFill>
                <a:latin typeface="Shabnam" pitchFamily="34" charset="0"/>
                <a:ea typeface="Shabnam" pitchFamily="34" charset="-122"/>
                <a:cs typeface="Shabnam" pitchFamily="34" charset="-120"/>
              </a:rPr>
              <a:t>۱</a:t>
            </a:r>
            <a:endParaRPr lang="fa-IR" sz="1200" dirty="0"/>
          </a:p>
        </p:txBody>
      </p:sp>
      <p:sp>
        <p:nvSpPr>
          <p:cNvPr id="19" name="Text 17"/>
          <p:cNvSpPr txBox="1"/>
          <p:nvPr/>
        </p:nvSpPr>
        <p:spPr>
          <a:xfrm>
            <a:off x="457200" y="1783080"/>
            <a:ext cx="3474720" cy="603504"/>
          </a:xfrm>
          <a:prstGeom prst="rect">
            <a:avLst/>
          </a:prstGeom>
          <a:noFill/>
          <a:ln/>
        </p:spPr>
        <p:txBody>
          <a:bodyPr wrap="square" lIns="0" tIns="0" rIns="0" bIns="0" rtlCol="0" anchor="t"/>
          <a:lstStyle/>
          <a:p>
            <a:pPr marL="0" indent="0" algn="r" rtl="1">
              <a:buNone/>
            </a:pPr>
            <a:r>
              <a:rPr lang="fa-IR" altLang="en-US" sz="1050" dirty="0">
                <a:solidFill>
                  <a:srgbClr val="C9D6E8"/>
                </a:solidFill>
                <a:latin typeface="Shabnam" pitchFamily="34" charset="0"/>
                <a:ea typeface="Shabnam" pitchFamily="34" charset="-122"/>
                <a:cs typeface="Shabnam" pitchFamily="34" charset="-120"/>
              </a:rPr>
              <a:t>مدل زبانی کوچک؛ به خبر حقیقت واکنش درستی نشان نداد.</a:t>
            </a:r>
            <a:endParaRPr lang="fa-IR" sz="1050" dirty="0"/>
          </a:p>
        </p:txBody>
      </p:sp>
      <p:sp>
        <p:nvSpPr>
          <p:cNvPr id="20" name="Shape 18"/>
          <p:cNvSpPr/>
          <p:nvPr/>
        </p:nvSpPr>
        <p:spPr>
          <a:xfrm>
            <a:off x="4023360" y="2468880"/>
            <a:ext cx="256032" cy="256032"/>
          </a:xfrm>
          <a:prstGeom prst="ellipse">
            <a:avLst/>
          </a:prstGeom>
          <a:solidFill>
            <a:srgbClr val="E4572E"/>
          </a:solidFill>
          <a:ln w="12700">
            <a:solidFill>
              <a:srgbClr val="E4572E"/>
            </a:solidFill>
            <a:prstDash val="solid"/>
          </a:ln>
        </p:spPr>
      </p:sp>
      <p:sp>
        <p:nvSpPr>
          <p:cNvPr id="21" name="Text 19"/>
          <p:cNvSpPr txBox="1"/>
          <p:nvPr/>
        </p:nvSpPr>
        <p:spPr>
          <a:xfrm>
            <a:off x="4023360" y="2468880"/>
            <a:ext cx="256032" cy="256032"/>
          </a:xfrm>
          <a:prstGeom prst="rect">
            <a:avLst/>
          </a:prstGeom>
          <a:noFill/>
          <a:ln/>
        </p:spPr>
        <p:txBody>
          <a:bodyPr wrap="square" lIns="0" tIns="0" rIns="0" bIns="0" rtlCol="0" anchor="ctr"/>
          <a:lstStyle/>
          <a:p>
            <a:pPr marL="0" indent="0" algn="ctr" rtl="1">
              <a:buNone/>
            </a:pPr>
            <a:r>
              <a:rPr lang="fa-IR" altLang="en-US" sz="1200" b="1" dirty="0">
                <a:solidFill>
                  <a:srgbClr val="FFFFFF"/>
                </a:solidFill>
                <a:latin typeface="Shabnam" pitchFamily="34" charset="0"/>
                <a:ea typeface="Shabnam" pitchFamily="34" charset="-122"/>
                <a:cs typeface="Shabnam" pitchFamily="34" charset="-120"/>
              </a:rPr>
              <a:t>۲</a:t>
            </a:r>
            <a:endParaRPr lang="fa-IR" sz="1200" dirty="0"/>
          </a:p>
        </p:txBody>
      </p:sp>
      <p:sp>
        <p:nvSpPr>
          <p:cNvPr id="22" name="Text 20"/>
          <p:cNvSpPr txBox="1"/>
          <p:nvPr/>
        </p:nvSpPr>
        <p:spPr>
          <a:xfrm>
            <a:off x="457200" y="2441448"/>
            <a:ext cx="3474720" cy="603504"/>
          </a:xfrm>
          <a:prstGeom prst="rect">
            <a:avLst/>
          </a:prstGeom>
          <a:noFill/>
          <a:ln/>
        </p:spPr>
        <p:txBody>
          <a:bodyPr wrap="square" lIns="0" tIns="0" rIns="0" bIns="0" rtlCol="0" anchor="t"/>
          <a:lstStyle/>
          <a:p>
            <a:pPr marL="0" indent="0" algn="r" rtl="1">
              <a:buNone/>
            </a:pPr>
            <a:r>
              <a:rPr lang="fa-IR" altLang="en-US" sz="1050" dirty="0">
                <a:solidFill>
                  <a:srgbClr val="C9D6E8"/>
                </a:solidFill>
                <a:latin typeface="Shabnam" pitchFamily="34" charset="0"/>
                <a:ea typeface="Shabnam" pitchFamily="34" charset="-122"/>
                <a:cs typeface="Shabnam" pitchFamily="34" charset="-120"/>
              </a:rPr>
              <a:t>۱۰۰ ایجنت و گام روزانه به‌جای ساعتی.</a:t>
            </a:r>
            <a:endParaRPr lang="fa-IR" sz="1050" dirty="0"/>
          </a:p>
        </p:txBody>
      </p:sp>
      <p:sp>
        <p:nvSpPr>
          <p:cNvPr id="23" name="Shape 21"/>
          <p:cNvSpPr/>
          <p:nvPr/>
        </p:nvSpPr>
        <p:spPr>
          <a:xfrm>
            <a:off x="4023360" y="3127248"/>
            <a:ext cx="256032" cy="256032"/>
          </a:xfrm>
          <a:prstGeom prst="ellipse">
            <a:avLst/>
          </a:prstGeom>
          <a:solidFill>
            <a:srgbClr val="E4572E"/>
          </a:solidFill>
          <a:ln w="12700">
            <a:solidFill>
              <a:srgbClr val="E4572E"/>
            </a:solidFill>
            <a:prstDash val="solid"/>
          </a:ln>
        </p:spPr>
      </p:sp>
      <p:sp>
        <p:nvSpPr>
          <p:cNvPr id="24" name="Text 22"/>
          <p:cNvSpPr txBox="1"/>
          <p:nvPr/>
        </p:nvSpPr>
        <p:spPr>
          <a:xfrm>
            <a:off x="4023360" y="3127248"/>
            <a:ext cx="256032" cy="256032"/>
          </a:xfrm>
          <a:prstGeom prst="rect">
            <a:avLst/>
          </a:prstGeom>
          <a:noFill/>
          <a:ln/>
        </p:spPr>
        <p:txBody>
          <a:bodyPr wrap="square" lIns="0" tIns="0" rIns="0" bIns="0" rtlCol="0" anchor="ctr"/>
          <a:lstStyle/>
          <a:p>
            <a:pPr marL="0" indent="0" algn="ctr" rtl="1">
              <a:buNone/>
            </a:pPr>
            <a:r>
              <a:rPr lang="fa-IR" altLang="en-US" sz="1200" b="1" dirty="0">
                <a:solidFill>
                  <a:srgbClr val="FFFFFF"/>
                </a:solidFill>
                <a:latin typeface="Shabnam" pitchFamily="34" charset="0"/>
                <a:ea typeface="Shabnam" pitchFamily="34" charset="-122"/>
                <a:cs typeface="Shabnam" pitchFamily="34" charset="-120"/>
              </a:rPr>
              <a:t>۳</a:t>
            </a:r>
            <a:endParaRPr lang="fa-IR" sz="1200" dirty="0"/>
          </a:p>
        </p:txBody>
      </p:sp>
      <p:sp>
        <p:nvSpPr>
          <p:cNvPr id="25" name="Text 23"/>
          <p:cNvSpPr txBox="1"/>
          <p:nvPr/>
        </p:nvSpPr>
        <p:spPr>
          <a:xfrm>
            <a:off x="457200" y="3099816"/>
            <a:ext cx="3474720" cy="603504"/>
          </a:xfrm>
          <a:prstGeom prst="rect">
            <a:avLst/>
          </a:prstGeom>
          <a:noFill/>
          <a:ln/>
        </p:spPr>
        <p:txBody>
          <a:bodyPr wrap="square" lIns="0" tIns="0" rIns="0" bIns="0" rtlCol="0" anchor="t"/>
          <a:lstStyle/>
          <a:p>
            <a:pPr marL="0" indent="0" algn="r" rtl="1">
              <a:buNone/>
            </a:pPr>
            <a:r>
              <a:rPr lang="fa-IR" altLang="en-US" sz="1050" dirty="0">
                <a:solidFill>
                  <a:srgbClr val="C9D6E8"/>
                </a:solidFill>
                <a:latin typeface="Shabnam" pitchFamily="34" charset="0"/>
                <a:ea typeface="Shabnam" pitchFamily="34" charset="-122"/>
                <a:cs typeface="Shabnam" pitchFamily="34" charset="-120"/>
              </a:rPr>
              <a:t>منحنی واقعی از روی شکل مقاله استخراج شده، نه از پست‌های خام.</a:t>
            </a:r>
            <a:endParaRPr lang="fa-IR" sz="1050" dirty="0"/>
          </a:p>
        </p:txBody>
      </p:sp>
      <p:sp>
        <p:nvSpPr>
          <p:cNvPr id="26" name="Shape 24"/>
          <p:cNvSpPr/>
          <p:nvPr/>
        </p:nvSpPr>
        <p:spPr>
          <a:xfrm>
            <a:off x="4023360" y="3785616"/>
            <a:ext cx="256032" cy="256032"/>
          </a:xfrm>
          <a:prstGeom prst="ellipse">
            <a:avLst/>
          </a:prstGeom>
          <a:solidFill>
            <a:srgbClr val="E4572E"/>
          </a:solidFill>
          <a:ln w="12700">
            <a:solidFill>
              <a:srgbClr val="E4572E"/>
            </a:solidFill>
            <a:prstDash val="solid"/>
          </a:ln>
        </p:spPr>
      </p:sp>
      <p:sp>
        <p:nvSpPr>
          <p:cNvPr id="27" name="Text 25"/>
          <p:cNvSpPr txBox="1"/>
          <p:nvPr/>
        </p:nvSpPr>
        <p:spPr>
          <a:xfrm>
            <a:off x="4023360" y="3785616"/>
            <a:ext cx="256032" cy="256032"/>
          </a:xfrm>
          <a:prstGeom prst="rect">
            <a:avLst/>
          </a:prstGeom>
          <a:noFill/>
          <a:ln/>
        </p:spPr>
        <p:txBody>
          <a:bodyPr wrap="square" lIns="0" tIns="0" rIns="0" bIns="0" rtlCol="0" anchor="ctr"/>
          <a:lstStyle/>
          <a:p>
            <a:pPr marL="0" indent="0" algn="ctr" rtl="1">
              <a:buNone/>
            </a:pPr>
            <a:r>
              <a:rPr lang="fa-IR" altLang="en-US" sz="1200" b="1" dirty="0">
                <a:solidFill>
                  <a:srgbClr val="FFFFFF"/>
                </a:solidFill>
                <a:latin typeface="Shabnam" pitchFamily="34" charset="0"/>
                <a:ea typeface="Shabnam" pitchFamily="34" charset="-122"/>
                <a:cs typeface="Shabnam" pitchFamily="34" charset="-120"/>
              </a:rPr>
              <a:t>۴</a:t>
            </a:r>
            <a:endParaRPr lang="fa-IR" sz="1200" dirty="0"/>
          </a:p>
        </p:txBody>
      </p:sp>
      <p:sp>
        <p:nvSpPr>
          <p:cNvPr id="28" name="Text 26"/>
          <p:cNvSpPr txBox="1"/>
          <p:nvPr/>
        </p:nvSpPr>
        <p:spPr>
          <a:xfrm>
            <a:off x="457200" y="3758184"/>
            <a:ext cx="3474720" cy="603504"/>
          </a:xfrm>
          <a:prstGeom prst="rect">
            <a:avLst/>
          </a:prstGeom>
          <a:noFill/>
          <a:ln/>
        </p:spPr>
        <p:txBody>
          <a:bodyPr wrap="square" lIns="0" tIns="0" rIns="0" bIns="0" rtlCol="0" anchor="t"/>
          <a:lstStyle/>
          <a:p>
            <a:pPr marL="0" indent="0" algn="r" rtl="1">
              <a:buNone/>
            </a:pPr>
            <a:r>
              <a:rPr lang="fa-IR" altLang="en-US" sz="1050" dirty="0">
                <a:solidFill>
                  <a:srgbClr val="C9D6E8"/>
                </a:solidFill>
                <a:latin typeface="Shabnam" pitchFamily="34" charset="0"/>
                <a:ea typeface="Shabnam" pitchFamily="34" charset="-122"/>
                <a:cs typeface="Shabnam" pitchFamily="34" charset="-120"/>
              </a:rPr>
              <a:t>پارامترها روی همان ۴ رویدادِ آزمون تنظیم شده‌اند (مثل مقاله).</a:t>
            </a:r>
            <a:endParaRPr lang="fa-IR" sz="1050" dirty="0"/>
          </a:p>
        </p:txBody>
      </p:sp>
      <p:sp>
        <p:nvSpPr>
          <p:cNvPr id="29" name="Text 27"/>
          <p:cNvSpPr txBox="1"/>
          <p:nvPr/>
        </p:nvSpPr>
        <p:spPr>
          <a:xfrm>
            <a:off x="457200" y="4526280"/>
            <a:ext cx="8229600" cy="320040"/>
          </a:xfrm>
          <a:prstGeom prst="rect">
            <a:avLst/>
          </a:prstGeom>
          <a:noFill/>
          <a:ln/>
        </p:spPr>
        <p:txBody>
          <a:bodyPr wrap="square" lIns="0" tIns="0" rIns="0" bIns="0" rtlCol="0" anchor="t"/>
          <a:lstStyle/>
          <a:p>
            <a:pPr marL="0" indent="0" algn="ctr" rtl="1">
              <a:buNone/>
            </a:pPr>
            <a:r>
              <a:rPr lang="fa-IR" altLang="en-US" sz="1300" b="1" dirty="0">
                <a:solidFill>
                  <a:srgbClr val="FFFFFF"/>
                </a:solidFill>
                <a:latin typeface="Shabnam" pitchFamily="34" charset="0"/>
                <a:ea typeface="Shabnam" pitchFamily="34" charset="-122"/>
                <a:cs typeface="Shabnam" pitchFamily="34" charset="-120"/>
              </a:rPr>
              <a:t>با تشکر</a:t>
            </a:r>
            <a:endParaRPr lang="fa-IR"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7863840" cy="274320"/>
          </a:xfrm>
          <a:prstGeom prst="rect">
            <a:avLst/>
          </a:prstGeom>
          <a:noFill/>
          <a:ln/>
        </p:spPr>
        <p:txBody>
          <a:bodyPr wrap="square" lIns="0" tIns="0" rIns="0" bIns="0" rtlCol="0" anchor="t"/>
          <a:lstStyle/>
          <a:p>
            <a:pPr marL="0" indent="0" algn="r" rtl="1">
              <a:buNone/>
            </a:pPr>
            <a:r>
              <a:rPr lang="fa-IR" altLang="en-US" sz="1100" dirty="0">
                <a:solidFill>
                  <a:srgbClr val="5C6B7A"/>
                </a:solidFill>
                <a:latin typeface="Shabnam" pitchFamily="34" charset="0"/>
                <a:ea typeface="Shabnam" pitchFamily="34" charset="-122"/>
                <a:cs typeface="Shabnam" pitchFamily="34" charset="-120"/>
              </a:rPr>
              <a:t>منابع</a:t>
            </a:r>
            <a:endParaRPr lang="fa-IR" sz="1100" dirty="0"/>
          </a:p>
        </p:txBody>
      </p:sp>
      <p:sp>
        <p:nvSpPr>
          <p:cNvPr id="3" name="Text 1"/>
          <p:cNvSpPr txBox="1"/>
          <p:nvPr/>
        </p:nvSpPr>
        <p:spPr>
          <a:xfrm>
            <a:off x="457200" y="566928"/>
            <a:ext cx="8229600" cy="594360"/>
          </a:xfrm>
          <a:prstGeom prst="rect">
            <a:avLst/>
          </a:prstGeom>
          <a:noFill/>
          <a:ln/>
        </p:spPr>
        <p:txBody>
          <a:bodyPr wrap="square" lIns="0" tIns="0" rIns="0" bIns="0" rtlCol="0" anchor="t"/>
          <a:lstStyle/>
          <a:p>
            <a:pPr marL="0" indent="0" algn="r" rtl="1">
              <a:buNone/>
            </a:pPr>
            <a:r>
              <a:rPr lang="fa-IR" altLang="en-US" sz="2400" b="1" dirty="0">
                <a:solidFill>
                  <a:srgbClr val="14213D"/>
                </a:solidFill>
                <a:latin typeface="Shabnam" pitchFamily="34" charset="0"/>
                <a:ea typeface="Shabnam" pitchFamily="34" charset="-122"/>
                <a:cs typeface="Shabnam" pitchFamily="34" charset="-120"/>
              </a:rPr>
              <a:t>منابع اصلی</a:t>
            </a:r>
            <a:endParaRPr lang="fa-IR" sz="2400" dirty="0"/>
          </a:p>
        </p:txBody>
      </p:sp>
      <p:sp>
        <p:nvSpPr>
          <p:cNvPr id="4" name="Text 2"/>
          <p:cNvSpPr txBox="1"/>
          <p:nvPr/>
        </p:nvSpPr>
        <p:spPr>
          <a:xfrm>
            <a:off x="457200" y="1280160"/>
            <a:ext cx="8229600" cy="3383280"/>
          </a:xfrm>
          <a:prstGeom prst="rect">
            <a:avLst/>
          </a:prstGeom>
          <a:noFill/>
          <a:ln/>
        </p:spPr>
        <p:txBody>
          <a:bodyPr wrap="square" lIns="0" tIns="0" rIns="0" bIns="0" rtlCol="0" anchor="t"/>
          <a:lstStyle/>
          <a:p>
            <a:pPr marL="0" indent="0" algn="l">
              <a:spcAft>
                <a:spcPts val="500"/>
              </a:spcAft>
              <a:buNone/>
            </a:pPr>
            <a:r>
              <a:rPr lang="en-US" sz="1000" dirty="0">
                <a:solidFill>
                  <a:srgbClr val="1F2933"/>
                </a:solidFill>
                <a:latin typeface="Calibri" pitchFamily="34" charset="0"/>
                <a:ea typeface="Calibri" pitchFamily="34" charset="-122"/>
                <a:cs typeface="Calibri" pitchFamily="34" charset="-120"/>
              </a:rPr>
              <a:t>[1] Yao J. et al. Social opinions prediction utilizes fusing dynamics equation with LLM-based agents. Scientific Reports 15, 15472 (2025).</a:t>
            </a:r>
            <a:endParaRPr lang="en-US" sz="1000" dirty="0"/>
          </a:p>
          <a:p>
            <a:pPr marL="0" indent="0" algn="l">
              <a:spcAft>
                <a:spcPts val="500"/>
              </a:spcAft>
              <a:buNone/>
            </a:pPr>
            <a:r>
              <a:rPr lang="en-US" sz="1000" dirty="0">
                <a:solidFill>
                  <a:srgbClr val="1F2933"/>
                </a:solidFill>
                <a:latin typeface="Calibri" pitchFamily="34" charset="0"/>
                <a:ea typeface="Calibri" pitchFamily="34" charset="-122"/>
                <a:cs typeface="Calibri" pitchFamily="34" charset="-120"/>
              </a:rPr>
              <a:t>[2] DeGroot M.H. Reaching a consensus. J. Am. Stat. Assoc. 69, 118–121 (1974).</a:t>
            </a:r>
            <a:endParaRPr lang="en-US" sz="1000" dirty="0"/>
          </a:p>
          <a:p>
            <a:pPr marL="0" indent="0" algn="l">
              <a:spcAft>
                <a:spcPts val="500"/>
              </a:spcAft>
              <a:buNone/>
            </a:pPr>
            <a:r>
              <a:rPr lang="en-US" sz="1000" dirty="0">
                <a:solidFill>
                  <a:srgbClr val="1F2933"/>
                </a:solidFill>
                <a:latin typeface="Calibri" pitchFamily="34" charset="0"/>
                <a:ea typeface="Calibri" pitchFamily="34" charset="-122"/>
                <a:cs typeface="Calibri" pitchFamily="34" charset="-120"/>
              </a:rPr>
              <a:t>[3] Deffuant G. et al. Mixing beliefs among interacting agents. Adv. Complex Syst. 3, 87–98 (2000).</a:t>
            </a:r>
            <a:endParaRPr lang="en-US" sz="1000" dirty="0"/>
          </a:p>
          <a:p>
            <a:pPr marL="0" indent="0" algn="l">
              <a:spcAft>
                <a:spcPts val="500"/>
              </a:spcAft>
              <a:buNone/>
            </a:pPr>
            <a:r>
              <a:rPr lang="en-US" sz="1000" dirty="0">
                <a:solidFill>
                  <a:srgbClr val="1F2933"/>
                </a:solidFill>
                <a:latin typeface="Calibri" pitchFamily="34" charset="0"/>
                <a:ea typeface="Calibri" pitchFamily="34" charset="-122"/>
                <a:cs typeface="Calibri" pitchFamily="34" charset="-120"/>
              </a:rPr>
              <a:t>[4] Hegselmann R., Krause U. Opinion dynamics and bounded confidence. JASSS 5(3) (2002).</a:t>
            </a:r>
            <a:endParaRPr lang="en-US" sz="1000" dirty="0"/>
          </a:p>
          <a:p>
            <a:pPr marL="0" indent="0" algn="l">
              <a:spcAft>
                <a:spcPts val="500"/>
              </a:spcAft>
              <a:buNone/>
            </a:pPr>
            <a:r>
              <a:rPr lang="en-US" sz="1000" dirty="0">
                <a:solidFill>
                  <a:srgbClr val="1F2933"/>
                </a:solidFill>
                <a:latin typeface="Calibri" pitchFamily="34" charset="0"/>
                <a:ea typeface="Calibri" pitchFamily="34" charset="-122"/>
                <a:cs typeface="Calibri" pitchFamily="34" charset="-120"/>
              </a:rPr>
              <a:t>[5] Carpentras D. et al. Deriving an opinion dynamics model from experimental data. JASSS 25 (2022).</a:t>
            </a:r>
            <a:endParaRPr lang="en-US" sz="1000" dirty="0"/>
          </a:p>
          <a:p>
            <a:pPr marL="0" indent="0" algn="l">
              <a:spcAft>
                <a:spcPts val="500"/>
              </a:spcAft>
              <a:buNone/>
            </a:pPr>
            <a:r>
              <a:rPr lang="en-US" sz="1000" dirty="0">
                <a:solidFill>
                  <a:srgbClr val="1F2933"/>
                </a:solidFill>
                <a:latin typeface="Calibri" pitchFamily="34" charset="0"/>
                <a:ea typeface="Calibri" pitchFamily="34" charset="-122"/>
                <a:cs typeface="Calibri" pitchFamily="34" charset="-120"/>
              </a:rPr>
              <a:t>[6] Park J.S. et al. Generative agents: Interactive simulacra of human behavior. UIST (2023).</a:t>
            </a:r>
            <a:endParaRPr lang="en-US" sz="1000" dirty="0"/>
          </a:p>
          <a:p>
            <a:pPr marL="0" indent="0" algn="l">
              <a:spcAft>
                <a:spcPts val="500"/>
              </a:spcAft>
              <a:buNone/>
            </a:pPr>
            <a:r>
              <a:rPr lang="en-US" sz="1000" dirty="0">
                <a:solidFill>
                  <a:srgbClr val="1F2933"/>
                </a:solidFill>
                <a:latin typeface="Calibri" pitchFamily="34" charset="0"/>
                <a:ea typeface="Calibri" pitchFamily="34" charset="-122"/>
                <a:cs typeface="Calibri" pitchFamily="34" charset="-120"/>
              </a:rPr>
              <a:t>[7] Törnberg P. et al. Simulating social media using LLMs to evaluate alternative news feed algorithms. arXiv:2310.05984 (2023).</a:t>
            </a:r>
            <a:endParaRPr lang="en-US" sz="1000" dirty="0"/>
          </a:p>
          <a:p>
            <a:pPr marL="0" indent="0" algn="l">
              <a:spcAft>
                <a:spcPts val="500"/>
              </a:spcAft>
              <a:buNone/>
            </a:pPr>
            <a:r>
              <a:rPr lang="en-US" sz="1000" dirty="0">
                <a:solidFill>
                  <a:srgbClr val="1F2933"/>
                </a:solidFill>
                <a:latin typeface="Calibri" pitchFamily="34" charset="0"/>
                <a:ea typeface="Calibri" pitchFamily="34" charset="-122"/>
                <a:cs typeface="Calibri" pitchFamily="34" charset="-120"/>
              </a:rPr>
              <a:t>[8] Chuang Y.-S. et al. Simulating opinion dynamics with networks of LLM-based agents. Findings of NAACL (2024).</a:t>
            </a:r>
            <a:endParaRPr lang="en-US" sz="1000" dirty="0"/>
          </a:p>
          <a:p>
            <a:pPr marL="0" indent="0" algn="l">
              <a:spcAft>
                <a:spcPts val="500"/>
              </a:spcAft>
              <a:buNone/>
            </a:pPr>
            <a:r>
              <a:rPr lang="en-US" sz="1000" dirty="0">
                <a:solidFill>
                  <a:srgbClr val="1F2933"/>
                </a:solidFill>
                <a:latin typeface="Calibri" pitchFamily="34" charset="0"/>
                <a:ea typeface="Calibri" pitchFamily="34" charset="-122"/>
                <a:cs typeface="Calibri" pitchFamily="34" charset="-120"/>
              </a:rPr>
              <a:t>[9] Mou X., Wei Z., Huang X. Towards agent-based large-scale social movement simulation (HiSim). arXiv:2402.16333 (2024).</a:t>
            </a:r>
            <a:endParaRPr lang="en-US" sz="1000" dirty="0"/>
          </a:p>
        </p:txBody>
      </p:sp>
      <p:sp>
        <p:nvSpPr>
          <p:cNvPr id="5" name="Text 3"/>
          <p:cNvSpPr txBox="1"/>
          <p:nvPr/>
        </p:nvSpPr>
        <p:spPr>
          <a:xfrm>
            <a:off x="457200" y="4800600"/>
            <a:ext cx="5486400" cy="228600"/>
          </a:xfrm>
          <a:prstGeom prst="rect">
            <a:avLst/>
          </a:prstGeom>
          <a:noFill/>
          <a:ln/>
        </p:spPr>
        <p:txBody>
          <a:bodyPr wrap="square" lIns="0" tIns="0" rIns="0" bIns="0" rtlCol="0" anchor="t"/>
          <a:lstStyle/>
          <a:p>
            <a:pPr marL="0" indent="0" algn="l">
              <a:buNone/>
            </a:pPr>
            <a:r>
              <a:rPr lang="en-US" sz="900" dirty="0">
                <a:solidFill>
                  <a:srgbClr val="5C6B7A"/>
                </a:solidFill>
                <a:latin typeface="Calibri" pitchFamily="34" charset="0"/>
                <a:ea typeface="Calibri" pitchFamily="34" charset="-122"/>
                <a:cs typeface="Calibri" pitchFamily="34" charset="-120"/>
              </a:rPr>
              <a:t>Yao et al., Scientific Reports 15:15472 (2025)</a:t>
            </a:r>
            <a:endParaRPr lang="en-US" sz="900" dirty="0"/>
          </a:p>
        </p:txBody>
      </p:sp>
      <p:sp>
        <p:nvSpPr>
          <p:cNvPr id="6" name="Text 4"/>
          <p:cNvSpPr txBox="1"/>
          <p:nvPr/>
        </p:nvSpPr>
        <p:spPr>
          <a:xfrm>
            <a:off x="8229600" y="4773168"/>
            <a:ext cx="457200" cy="228600"/>
          </a:xfrm>
          <a:prstGeom prst="rect">
            <a:avLst/>
          </a:prstGeom>
          <a:noFill/>
          <a:ln/>
        </p:spPr>
        <p:txBody>
          <a:bodyPr wrap="square" lIns="0" tIns="0" rIns="0" bIns="0" rtlCol="0" anchor="t"/>
          <a:lstStyle/>
          <a:p>
            <a:pPr marL="0" indent="0" algn="r" rtl="1">
              <a:buNone/>
            </a:pPr>
            <a:r>
              <a:rPr lang="fa-IR" altLang="en-US" sz="1000" dirty="0">
                <a:solidFill>
                  <a:srgbClr val="5C6B7A"/>
                </a:solidFill>
                <a:latin typeface="Shabnam" pitchFamily="34" charset="0"/>
                <a:ea typeface="Shabnam" pitchFamily="34" charset="-122"/>
                <a:cs typeface="Shabnam" pitchFamily="34" charset="-120"/>
              </a:rPr>
              <a:t>۱۶</a:t>
            </a:r>
            <a:endParaRPr lang="fa-IR"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3511</Words>
  <Application>Microsoft Macintosh PowerPoint</Application>
  <PresentationFormat>On-screen Show (16:9)</PresentationFormat>
  <Paragraphs>364</Paragraphs>
  <Slides>16</Slides>
  <Notes>16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Cambria</vt:lpstr>
      <vt:lpstr>Cambria Math</vt:lpstr>
      <vt:lpstr>Shabnam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شبیه‌سازی شبکه اجتماعی مبتنی بر LLM</dc:title>
  <dc:subject>PptxGenJS Presentation</dc:subject>
  <dc:creator>PptxGenJS</dc:creator>
  <cp:lastModifiedBy>Parsa Banitaba</cp:lastModifiedBy>
  <cp:revision>2</cp:revision>
  <dcterms:created xsi:type="dcterms:W3CDTF">2026-09-29T10:32:35Z</dcterms:created>
  <dcterms:modified xsi:type="dcterms:W3CDTF">2026-10-04T07:28:33Z</dcterms:modified>
</cp:coreProperties>
</file>