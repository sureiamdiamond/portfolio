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6"/>
  </p:notesMasterIdLst>
  <p:sldIdLst>
    <p:sldId id="256" r:id="rId2"/>
    <p:sldId id="259" r:id="rId3"/>
    <p:sldId id="261" r:id="rId4"/>
    <p:sldId id="260" r:id="rId5"/>
    <p:sldId id="266" r:id="rId6"/>
    <p:sldId id="264" r:id="rId7"/>
    <p:sldId id="270" r:id="rId8"/>
    <p:sldId id="293" r:id="rId9"/>
    <p:sldId id="294" r:id="rId10"/>
    <p:sldId id="271" r:id="rId11"/>
    <p:sldId id="276" r:id="rId12"/>
    <p:sldId id="275" r:id="rId13"/>
    <p:sldId id="279" r:id="rId14"/>
    <p:sldId id="282" r:id="rId15"/>
    <p:sldId id="283" r:id="rId16"/>
    <p:sldId id="295" r:id="rId17"/>
    <p:sldId id="296" r:id="rId18"/>
    <p:sldId id="280" r:id="rId19"/>
    <p:sldId id="285" r:id="rId20"/>
    <p:sldId id="289" r:id="rId21"/>
    <p:sldId id="297" r:id="rId22"/>
    <p:sldId id="298" r:id="rId23"/>
    <p:sldId id="291" r:id="rId24"/>
    <p:sldId id="292" r:id="rId25"/>
  </p:sldIdLst>
  <p:sldSz cx="9144000" cy="5143500" type="screen16x9"/>
  <p:notesSz cx="6858000" cy="9144000"/>
  <p:embeddedFontLst>
    <p:embeddedFont>
      <p:font typeface="Albert Sans" pitchFamily="2" charset="77"/>
      <p:regular r:id="rId27"/>
      <p:bold r:id="rId28"/>
      <p:italic r:id="rId29"/>
      <p:boldItalic r:id="rId30"/>
    </p:embeddedFont>
    <p:embeddedFont>
      <p:font typeface="Alexandria Medium" pitchFamily="2" charset="-78"/>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6BE3"/>
    <a:srgbClr val="DBA400"/>
    <a:srgbClr val="105569"/>
    <a:srgbClr val="0E692F"/>
    <a:srgbClr val="0269AE"/>
    <a:srgbClr val="135669"/>
    <a:srgbClr val="DAA300"/>
    <a:srgbClr val="75DC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74F37C-1BDE-428A-B7DB-DAC489010AD7}">
  <a:tblStyle styleId="{1B74F37C-1BDE-428A-B7DB-DAC489010AD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668FEEE-A899-4A50-BEFD-0B2EDD6F3FC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9"/>
  </p:normalViewPr>
  <p:slideViewPr>
    <p:cSldViewPr snapToGrid="0" snapToObjects="1">
      <p:cViewPr>
        <p:scale>
          <a:sx n="91" d="100"/>
          <a:sy n="91" d="100"/>
        </p:scale>
        <p:origin x="1040" y="9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558abb5f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558abb5f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5703cb3a7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5703cb3a7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685abc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685abc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58abb5fb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703cb3a7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5703cb3a7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5685abcfc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5685abcfc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5685abcfc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5685abcfc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513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5685abcfc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5685abcfc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0593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572bee519d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572bee519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572bee519d_0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2572bee519d_0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572bee519d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572bee519d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2572bee519d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2572bee519d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72bee519d_0_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72bee519d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2572bee519d_0_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2572bee519d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2572bee519d_0_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2572bee519d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3196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2572bee519d_0_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2572bee519d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2537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572bee519d_0_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2572bee519d_0_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2572bee519d_0_7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2572bee519d_0_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2572bee519d_0_8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2572bee519d_0_8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2572bee519d_0_8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2572bee519d_0_8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3672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2572bee519d_0_8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2572bee519d_0_8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63826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2572bee519d_0_9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2572bee519d_0_9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572bee519d_0_9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2572bee519d_0_9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09" b="-6811"/>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l="-19689" t="41478" r="19690" b="2272"/>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711750" y="1958600"/>
            <a:ext cx="4280100" cy="26499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4572000" y="535000"/>
            <a:ext cx="3860400" cy="3882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09" b="-6811"/>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l="36283" t="30" r="-6" b="-40"/>
          <a:stretch/>
        </p:blipFill>
        <p:spPr>
          <a:xfrm rot="10800000">
            <a:off x="5864950" y="-3275"/>
            <a:ext cx="3279050" cy="5146775"/>
          </a:xfrm>
          <a:prstGeom prst="rect">
            <a:avLst/>
          </a:prstGeom>
          <a:noFill/>
          <a:ln>
            <a:noFill/>
          </a:ln>
        </p:spPr>
      </p:pic>
      <p:sp>
        <p:nvSpPr>
          <p:cNvPr id="16" name="Google Shape;16;p3"/>
          <p:cNvSpPr txBox="1">
            <a:spLocks noGrp="1"/>
          </p:cNvSpPr>
          <p:nvPr>
            <p:ph type="title"/>
          </p:nvPr>
        </p:nvSpPr>
        <p:spPr>
          <a:xfrm>
            <a:off x="715100" y="3328050"/>
            <a:ext cx="7708800" cy="1253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715100" y="2074250"/>
            <a:ext cx="7708800" cy="1253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7000">
                <a:solidFill>
                  <a:schemeClr val="lt2"/>
                </a:solidFill>
              </a:defRPr>
            </a:lvl1pPr>
            <a:lvl2pPr lvl="1" algn="ctr" rtl="0">
              <a:spcBef>
                <a:spcPts val="0"/>
              </a:spcBef>
              <a:spcAft>
                <a:spcPts val="0"/>
              </a:spcAft>
              <a:buClr>
                <a:schemeClr val="lt2"/>
              </a:buClr>
              <a:buSzPts val="6000"/>
              <a:buNone/>
              <a:defRPr sz="6000">
                <a:solidFill>
                  <a:schemeClr val="lt2"/>
                </a:solidFill>
              </a:defRPr>
            </a:lvl2pPr>
            <a:lvl3pPr lvl="2" algn="ctr" rtl="0">
              <a:spcBef>
                <a:spcPts val="0"/>
              </a:spcBef>
              <a:spcAft>
                <a:spcPts val="0"/>
              </a:spcAft>
              <a:buClr>
                <a:schemeClr val="lt2"/>
              </a:buClr>
              <a:buSzPts val="6000"/>
              <a:buNone/>
              <a:defRPr sz="6000">
                <a:solidFill>
                  <a:schemeClr val="lt2"/>
                </a:solidFill>
              </a:defRPr>
            </a:lvl3pPr>
            <a:lvl4pPr lvl="3" algn="ctr" rtl="0">
              <a:spcBef>
                <a:spcPts val="0"/>
              </a:spcBef>
              <a:spcAft>
                <a:spcPts val="0"/>
              </a:spcAft>
              <a:buClr>
                <a:schemeClr val="lt2"/>
              </a:buClr>
              <a:buSzPts val="6000"/>
              <a:buNone/>
              <a:defRPr sz="6000">
                <a:solidFill>
                  <a:schemeClr val="lt2"/>
                </a:solidFill>
              </a:defRPr>
            </a:lvl4pPr>
            <a:lvl5pPr lvl="4" algn="ctr" rtl="0">
              <a:spcBef>
                <a:spcPts val="0"/>
              </a:spcBef>
              <a:spcAft>
                <a:spcPts val="0"/>
              </a:spcAft>
              <a:buClr>
                <a:schemeClr val="lt2"/>
              </a:buClr>
              <a:buSzPts val="6000"/>
              <a:buNone/>
              <a:defRPr sz="6000">
                <a:solidFill>
                  <a:schemeClr val="lt2"/>
                </a:solidFill>
              </a:defRPr>
            </a:lvl5pPr>
            <a:lvl6pPr lvl="5" algn="ctr" rtl="0">
              <a:spcBef>
                <a:spcPts val="0"/>
              </a:spcBef>
              <a:spcAft>
                <a:spcPts val="0"/>
              </a:spcAft>
              <a:buClr>
                <a:schemeClr val="lt2"/>
              </a:buClr>
              <a:buSzPts val="6000"/>
              <a:buNone/>
              <a:defRPr sz="6000">
                <a:solidFill>
                  <a:schemeClr val="lt2"/>
                </a:solidFill>
              </a:defRPr>
            </a:lvl6pPr>
            <a:lvl7pPr lvl="6" algn="ctr" rtl="0">
              <a:spcBef>
                <a:spcPts val="0"/>
              </a:spcBef>
              <a:spcAft>
                <a:spcPts val="0"/>
              </a:spcAft>
              <a:buClr>
                <a:schemeClr val="lt2"/>
              </a:buClr>
              <a:buSzPts val="6000"/>
              <a:buNone/>
              <a:defRPr sz="6000">
                <a:solidFill>
                  <a:schemeClr val="lt2"/>
                </a:solidFill>
              </a:defRPr>
            </a:lvl7pPr>
            <a:lvl8pPr lvl="7" algn="ctr" rtl="0">
              <a:spcBef>
                <a:spcPts val="0"/>
              </a:spcBef>
              <a:spcAft>
                <a:spcPts val="0"/>
              </a:spcAft>
              <a:buClr>
                <a:schemeClr val="lt2"/>
              </a:buClr>
              <a:buSzPts val="6000"/>
              <a:buNone/>
              <a:defRPr sz="6000">
                <a:solidFill>
                  <a:schemeClr val="lt2"/>
                </a:solidFill>
              </a:defRPr>
            </a:lvl8pPr>
            <a:lvl9pPr lvl="8" algn="ctr" rtl="0">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1"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l="-19689" t="41478" r="19690" b="2272"/>
          <a:stretch/>
        </p:blipFill>
        <p:spPr>
          <a:xfrm>
            <a:off x="0" y="0"/>
            <a:ext cx="9144000" cy="5143500"/>
          </a:xfrm>
          <a:prstGeom prst="rect">
            <a:avLst/>
          </a:prstGeom>
          <a:noFill/>
          <a:ln>
            <a:noFill/>
          </a:ln>
        </p:spPr>
      </p:pic>
      <p:sp>
        <p:nvSpPr>
          <p:cNvPr id="39" name="Google Shape;39;p8"/>
          <p:cNvSpPr txBox="1">
            <a:spLocks noGrp="1"/>
          </p:cNvSpPr>
          <p:nvPr>
            <p:ph type="title"/>
          </p:nvPr>
        </p:nvSpPr>
        <p:spPr>
          <a:xfrm>
            <a:off x="715100" y="535000"/>
            <a:ext cx="7713900" cy="23172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3" t="47434" r="-48486" b="-26994"/>
          <a:stretch/>
        </p:blipFill>
        <p:spPr>
          <a:xfrm rot="10800000" flipH="1">
            <a:off x="-12" y="-2285"/>
            <a:ext cx="9144000" cy="5148070"/>
          </a:xfrm>
          <a:prstGeom prst="rect">
            <a:avLst/>
          </a:prstGeom>
          <a:noFill/>
          <a:ln>
            <a:noFill/>
          </a:ln>
        </p:spPr>
      </p:pic>
      <p:sp>
        <p:nvSpPr>
          <p:cNvPr id="42" name="Google Shape;42;p9"/>
          <p:cNvSpPr txBox="1">
            <a:spLocks noGrp="1"/>
          </p:cNvSpPr>
          <p:nvPr>
            <p:ph type="title"/>
          </p:nvPr>
        </p:nvSpPr>
        <p:spPr>
          <a:xfrm>
            <a:off x="720000" y="535000"/>
            <a:ext cx="5925300" cy="1250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7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3" name="Google Shape;43;p9"/>
          <p:cNvSpPr txBox="1">
            <a:spLocks noGrp="1"/>
          </p:cNvSpPr>
          <p:nvPr>
            <p:ph type="subTitle" idx="1"/>
          </p:nvPr>
        </p:nvSpPr>
        <p:spPr>
          <a:xfrm>
            <a:off x="4572000" y="3358100"/>
            <a:ext cx="3856800" cy="125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1"/>
        </a:solidFill>
        <a:effectLst/>
      </p:bgPr>
    </p:bg>
    <p:spTree>
      <p:nvGrpSpPr>
        <p:cNvPr id="1"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l="-55210" t="50562" r="55209" b="-6811"/>
          <a:stretch/>
        </p:blipFill>
        <p:spPr>
          <a:xfrm flipH="1">
            <a:off x="0" y="0"/>
            <a:ext cx="9144000" cy="5143500"/>
          </a:xfrm>
          <a:prstGeom prst="rect">
            <a:avLst/>
          </a:prstGeom>
          <a:noFill/>
          <a:ln>
            <a:noFill/>
          </a:ln>
        </p:spPr>
      </p:pic>
      <p:pic>
        <p:nvPicPr>
          <p:cNvPr id="49" name="Google Shape;49;p11"/>
          <p:cNvPicPr preferRelativeResize="0"/>
          <p:nvPr/>
        </p:nvPicPr>
        <p:blipFill rotWithShape="1">
          <a:blip r:embed="rId2">
            <a:alphaModFix/>
          </a:blip>
          <a:srcRect l="-55210" t="50562" r="55209" b="-6811"/>
          <a:stretch/>
        </p:blipFill>
        <p:spPr>
          <a:xfrm rot="10800000" flipH="1">
            <a:off x="0" y="0"/>
            <a:ext cx="9144000" cy="5143500"/>
          </a:xfrm>
          <a:prstGeom prst="rect">
            <a:avLst/>
          </a:prstGeom>
          <a:noFill/>
          <a:ln>
            <a:noFill/>
          </a:ln>
        </p:spPr>
      </p:pic>
      <p:sp>
        <p:nvSpPr>
          <p:cNvPr id="50" name="Google Shape;50;p11"/>
          <p:cNvSpPr txBox="1">
            <a:spLocks noGrp="1"/>
          </p:cNvSpPr>
          <p:nvPr>
            <p:ph type="title" hasCustomPrompt="1"/>
          </p:nvPr>
        </p:nvSpPr>
        <p:spPr>
          <a:xfrm>
            <a:off x="715100" y="3068600"/>
            <a:ext cx="7713900" cy="1539900"/>
          </a:xfrm>
          <a:prstGeom prst="rect">
            <a:avLst/>
          </a:prstGeom>
        </p:spPr>
        <p:txBody>
          <a:bodyPr spcFirstLastPara="1" wrap="square" lIns="91425" tIns="91425" rIns="91425" bIns="91425" anchor="t" anchorCtr="0">
            <a:noAutofit/>
          </a:bodyPr>
          <a:lstStyle>
            <a:lvl1pPr lvl="0">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 name="Google Shape;51;p11"/>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bg>
      <p:bgPr>
        <a:solidFill>
          <a:schemeClr val="lt1"/>
        </a:solidFill>
        <a:effectLst/>
      </p:bgPr>
    </p:bg>
    <p:spTree>
      <p:nvGrpSpPr>
        <p:cNvPr id="1"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l="-6643" t="13471" r="27548" b="-35825"/>
          <a:stretch/>
        </p:blipFill>
        <p:spPr>
          <a:xfrm>
            <a:off x="5819050" y="0"/>
            <a:ext cx="3324950" cy="5143500"/>
          </a:xfrm>
          <a:prstGeom prst="rect">
            <a:avLst/>
          </a:prstGeom>
          <a:noFill/>
          <a:ln>
            <a:noFill/>
          </a:ln>
        </p:spPr>
      </p:pic>
      <p:pic>
        <p:nvPicPr>
          <p:cNvPr id="74" name="Google Shape;74;p14"/>
          <p:cNvPicPr preferRelativeResize="0"/>
          <p:nvPr/>
        </p:nvPicPr>
        <p:blipFill rotWithShape="1">
          <a:blip r:embed="rId2">
            <a:alphaModFix/>
          </a:blip>
          <a:srcRect l="-235242" t="44962" r="44460" b="-108521"/>
          <a:stretch/>
        </p:blipFill>
        <p:spPr>
          <a:xfrm rot="10800000">
            <a:off x="-10150" y="0"/>
            <a:ext cx="9154150" cy="5148375"/>
          </a:xfrm>
          <a:prstGeom prst="rect">
            <a:avLst/>
          </a:prstGeom>
          <a:noFill/>
          <a:ln>
            <a:noFill/>
          </a:ln>
        </p:spPr>
      </p:pic>
      <p:sp>
        <p:nvSpPr>
          <p:cNvPr id="75" name="Google Shape;75;p14"/>
          <p:cNvSpPr txBox="1">
            <a:spLocks noGrp="1"/>
          </p:cNvSpPr>
          <p:nvPr>
            <p:ph type="subTitle" idx="1"/>
          </p:nvPr>
        </p:nvSpPr>
        <p:spPr>
          <a:xfrm>
            <a:off x="715100" y="1503175"/>
            <a:ext cx="5930100" cy="200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None/>
              <a:defRPr sz="30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76" name="Google Shape;76;p14"/>
          <p:cNvSpPr txBox="1">
            <a:spLocks noGrp="1"/>
          </p:cNvSpPr>
          <p:nvPr>
            <p:ph type="subTitle" idx="2"/>
          </p:nvPr>
        </p:nvSpPr>
        <p:spPr>
          <a:xfrm>
            <a:off x="715100" y="3965300"/>
            <a:ext cx="5930100" cy="456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
    <p:bg>
      <p:bgPr>
        <a:solidFill>
          <a:schemeClr val="lt1"/>
        </a:solidFill>
        <a:effectLst/>
      </p:bgPr>
    </p:bg>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l="-19689" t="41478" r="19690" b="2272"/>
          <a:stretch/>
        </p:blipFill>
        <p:spPr>
          <a:xfrm rot="10800000" flipH="1">
            <a:off x="0" y="-2285"/>
            <a:ext cx="9144000" cy="5148070"/>
          </a:xfrm>
          <a:prstGeom prst="rect">
            <a:avLst/>
          </a:prstGeom>
          <a:noFill/>
          <a:ln>
            <a:noFill/>
          </a:ln>
        </p:spPr>
      </p:pic>
      <p:sp>
        <p:nvSpPr>
          <p:cNvPr id="79" name="Google Shape;79;p15"/>
          <p:cNvSpPr txBox="1">
            <a:spLocks noGrp="1"/>
          </p:cNvSpPr>
          <p:nvPr>
            <p:ph type="title"/>
          </p:nvPr>
        </p:nvSpPr>
        <p:spPr>
          <a:xfrm>
            <a:off x="715100" y="2259575"/>
            <a:ext cx="4276800" cy="2317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70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80" name="Google Shape;80;p15"/>
          <p:cNvSpPr txBox="1">
            <a:spLocks noGrp="1"/>
          </p:cNvSpPr>
          <p:nvPr>
            <p:ph type="body" idx="1"/>
          </p:nvPr>
        </p:nvSpPr>
        <p:spPr>
          <a:xfrm>
            <a:off x="4572000" y="535000"/>
            <a:ext cx="3856500" cy="8091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400">
                <a:solidFill>
                  <a:schemeClr val="dk1"/>
                </a:solidFill>
              </a:defRPr>
            </a:lvl1pPr>
            <a:lvl2pPr marL="914400" lvl="1" indent="-304800" rtl="0">
              <a:lnSpc>
                <a:spcPct val="100000"/>
              </a:lnSpc>
              <a:spcBef>
                <a:spcPts val="0"/>
              </a:spcBef>
              <a:spcAft>
                <a:spcPts val="0"/>
              </a:spcAft>
              <a:buClr>
                <a:schemeClr val="dk1"/>
              </a:buClr>
              <a:buSzPts val="1200"/>
              <a:buChar char="○"/>
              <a:defRPr sz="1200">
                <a:solidFill>
                  <a:schemeClr val="dk1"/>
                </a:solidFill>
              </a:defRPr>
            </a:lvl2pPr>
            <a:lvl3pPr marL="1371600" lvl="2" indent="-304800" rtl="0">
              <a:lnSpc>
                <a:spcPct val="100000"/>
              </a:lnSpc>
              <a:spcBef>
                <a:spcPts val="0"/>
              </a:spcBef>
              <a:spcAft>
                <a:spcPts val="0"/>
              </a:spcAft>
              <a:buClr>
                <a:schemeClr val="dk1"/>
              </a:buClr>
              <a:buSzPts val="1200"/>
              <a:buChar char="■"/>
              <a:defRPr sz="1200">
                <a:solidFill>
                  <a:schemeClr val="dk1"/>
                </a:solidFill>
              </a:defRPr>
            </a:lvl3pPr>
            <a:lvl4pPr marL="1828800" lvl="3" indent="-304800" rtl="0">
              <a:lnSpc>
                <a:spcPct val="100000"/>
              </a:lnSpc>
              <a:spcBef>
                <a:spcPts val="0"/>
              </a:spcBef>
              <a:spcAft>
                <a:spcPts val="0"/>
              </a:spcAft>
              <a:buClr>
                <a:schemeClr val="dk1"/>
              </a:buClr>
              <a:buSzPts val="1200"/>
              <a:buChar char="●"/>
              <a:defRPr sz="1200">
                <a:solidFill>
                  <a:schemeClr val="dk1"/>
                </a:solidFill>
              </a:defRPr>
            </a:lvl4pPr>
            <a:lvl5pPr marL="2286000" lvl="4" indent="-304800" rtl="0">
              <a:lnSpc>
                <a:spcPct val="100000"/>
              </a:lnSpc>
              <a:spcBef>
                <a:spcPts val="0"/>
              </a:spcBef>
              <a:spcAft>
                <a:spcPts val="0"/>
              </a:spcAft>
              <a:buClr>
                <a:schemeClr val="dk1"/>
              </a:buClr>
              <a:buSzPts val="1200"/>
              <a:buChar char="○"/>
              <a:defRPr sz="1200">
                <a:solidFill>
                  <a:schemeClr val="dk1"/>
                </a:solidFill>
              </a:defRPr>
            </a:lvl5pPr>
            <a:lvl6pPr marL="2743200" lvl="5" indent="-304800" rtl="0">
              <a:lnSpc>
                <a:spcPct val="100000"/>
              </a:lnSpc>
              <a:spcBef>
                <a:spcPts val="0"/>
              </a:spcBef>
              <a:spcAft>
                <a:spcPts val="0"/>
              </a:spcAft>
              <a:buClr>
                <a:schemeClr val="dk1"/>
              </a:buClr>
              <a:buSzPts val="1200"/>
              <a:buChar char="■"/>
              <a:defRPr sz="1200">
                <a:solidFill>
                  <a:schemeClr val="dk1"/>
                </a:solidFill>
              </a:defRPr>
            </a:lvl6pPr>
            <a:lvl7pPr marL="3200400" lvl="6" indent="-304800" rtl="0">
              <a:lnSpc>
                <a:spcPct val="100000"/>
              </a:lnSpc>
              <a:spcBef>
                <a:spcPts val="0"/>
              </a:spcBef>
              <a:spcAft>
                <a:spcPts val="0"/>
              </a:spcAft>
              <a:buClr>
                <a:schemeClr val="dk1"/>
              </a:buClr>
              <a:buSzPts val="1200"/>
              <a:buChar char="●"/>
              <a:defRPr sz="1200">
                <a:solidFill>
                  <a:schemeClr val="dk1"/>
                </a:solidFill>
              </a:defRPr>
            </a:lvl7pPr>
            <a:lvl8pPr marL="3657600" lvl="7" indent="-304800" rtl="0">
              <a:lnSpc>
                <a:spcPct val="100000"/>
              </a:lnSpc>
              <a:spcBef>
                <a:spcPts val="0"/>
              </a:spcBef>
              <a:spcAft>
                <a:spcPts val="0"/>
              </a:spcAft>
              <a:buClr>
                <a:schemeClr val="dk1"/>
              </a:buClr>
              <a:buSzPts val="1200"/>
              <a:buChar char="○"/>
              <a:defRPr sz="1200">
                <a:solidFill>
                  <a:schemeClr val="dk1"/>
                </a:solidFill>
              </a:defRPr>
            </a:lvl8pPr>
            <a:lvl9pPr marL="4114800" lvl="8" indent="-304800" rtl="0">
              <a:lnSpc>
                <a:spcPct val="100000"/>
              </a:lnSpc>
              <a:spcBef>
                <a:spcPts val="0"/>
              </a:spcBef>
              <a:spcAft>
                <a:spcPts val="0"/>
              </a:spcAft>
              <a:buClr>
                <a:schemeClr val="dk1"/>
              </a:buClr>
              <a:buSzPts val="1200"/>
              <a:buChar char="■"/>
              <a:defRPr sz="1200">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2">
  <p:cSld name="CUSTOM_2_1">
    <p:bg>
      <p:bgPr>
        <a:solidFill>
          <a:schemeClr val="lt1"/>
        </a:solidFill>
        <a:effectLst/>
      </p:bgPr>
    </p:bg>
    <p:spTree>
      <p:nvGrpSpPr>
        <p:cNvPr id="1"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l="-50000" t="49600" r="50000" b="-5849"/>
          <a:stretch/>
        </p:blipFill>
        <p:spPr>
          <a:xfrm>
            <a:off x="0" y="0"/>
            <a:ext cx="9144000" cy="5143500"/>
          </a:xfrm>
          <a:prstGeom prst="rect">
            <a:avLst/>
          </a:prstGeom>
          <a:noFill/>
          <a:ln>
            <a:noFill/>
          </a:ln>
        </p:spPr>
      </p:pic>
      <p:sp>
        <p:nvSpPr>
          <p:cNvPr id="87" name="Google Shape;87;p17"/>
          <p:cNvSpPr txBox="1">
            <a:spLocks noGrp="1"/>
          </p:cNvSpPr>
          <p:nvPr>
            <p:ph type="title"/>
          </p:nvPr>
        </p:nvSpPr>
        <p:spPr>
          <a:xfrm>
            <a:off x="4302272" y="1931850"/>
            <a:ext cx="3704400" cy="548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88" name="Google Shape;88;p17"/>
          <p:cNvSpPr txBox="1">
            <a:spLocks noGrp="1"/>
          </p:cNvSpPr>
          <p:nvPr>
            <p:ph type="body" idx="1"/>
          </p:nvPr>
        </p:nvSpPr>
        <p:spPr>
          <a:xfrm>
            <a:off x="4302272" y="2480550"/>
            <a:ext cx="3704400" cy="7311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200">
                <a:solidFill>
                  <a:schemeClr val="dk1"/>
                </a:solidFill>
              </a:defRPr>
            </a:lvl1pPr>
            <a:lvl2pPr marL="914400" lvl="1" indent="-304800" rtl="0">
              <a:lnSpc>
                <a:spcPct val="100000"/>
              </a:lnSpc>
              <a:spcBef>
                <a:spcPts val="0"/>
              </a:spcBef>
              <a:spcAft>
                <a:spcPts val="0"/>
              </a:spcAft>
              <a:buClr>
                <a:schemeClr val="dk1"/>
              </a:buClr>
              <a:buSzPts val="1200"/>
              <a:buChar char="○"/>
              <a:defRPr sz="1200">
                <a:solidFill>
                  <a:schemeClr val="dk1"/>
                </a:solidFill>
              </a:defRPr>
            </a:lvl2pPr>
            <a:lvl3pPr marL="1371600" lvl="2" indent="-304800" rtl="0">
              <a:lnSpc>
                <a:spcPct val="100000"/>
              </a:lnSpc>
              <a:spcBef>
                <a:spcPts val="0"/>
              </a:spcBef>
              <a:spcAft>
                <a:spcPts val="0"/>
              </a:spcAft>
              <a:buClr>
                <a:schemeClr val="dk1"/>
              </a:buClr>
              <a:buSzPts val="1200"/>
              <a:buChar char="■"/>
              <a:defRPr sz="1200">
                <a:solidFill>
                  <a:schemeClr val="dk1"/>
                </a:solidFill>
              </a:defRPr>
            </a:lvl3pPr>
            <a:lvl4pPr marL="1828800" lvl="3" indent="-304800" rtl="0">
              <a:lnSpc>
                <a:spcPct val="100000"/>
              </a:lnSpc>
              <a:spcBef>
                <a:spcPts val="0"/>
              </a:spcBef>
              <a:spcAft>
                <a:spcPts val="0"/>
              </a:spcAft>
              <a:buClr>
                <a:schemeClr val="dk1"/>
              </a:buClr>
              <a:buSzPts val="1200"/>
              <a:buChar char="●"/>
              <a:defRPr sz="1200">
                <a:solidFill>
                  <a:schemeClr val="dk1"/>
                </a:solidFill>
              </a:defRPr>
            </a:lvl4pPr>
            <a:lvl5pPr marL="2286000" lvl="4" indent="-304800" rtl="0">
              <a:lnSpc>
                <a:spcPct val="100000"/>
              </a:lnSpc>
              <a:spcBef>
                <a:spcPts val="0"/>
              </a:spcBef>
              <a:spcAft>
                <a:spcPts val="0"/>
              </a:spcAft>
              <a:buClr>
                <a:schemeClr val="dk1"/>
              </a:buClr>
              <a:buSzPts val="1200"/>
              <a:buChar char="○"/>
              <a:defRPr sz="1200">
                <a:solidFill>
                  <a:schemeClr val="dk1"/>
                </a:solidFill>
              </a:defRPr>
            </a:lvl5pPr>
            <a:lvl6pPr marL="2743200" lvl="5" indent="-304800" rtl="0">
              <a:lnSpc>
                <a:spcPct val="100000"/>
              </a:lnSpc>
              <a:spcBef>
                <a:spcPts val="0"/>
              </a:spcBef>
              <a:spcAft>
                <a:spcPts val="0"/>
              </a:spcAft>
              <a:buClr>
                <a:schemeClr val="dk1"/>
              </a:buClr>
              <a:buSzPts val="1200"/>
              <a:buChar char="■"/>
              <a:defRPr sz="1200">
                <a:solidFill>
                  <a:schemeClr val="dk1"/>
                </a:solidFill>
              </a:defRPr>
            </a:lvl6pPr>
            <a:lvl7pPr marL="3200400" lvl="6" indent="-304800" rtl="0">
              <a:lnSpc>
                <a:spcPct val="100000"/>
              </a:lnSpc>
              <a:spcBef>
                <a:spcPts val="0"/>
              </a:spcBef>
              <a:spcAft>
                <a:spcPts val="0"/>
              </a:spcAft>
              <a:buClr>
                <a:schemeClr val="dk1"/>
              </a:buClr>
              <a:buSzPts val="1200"/>
              <a:buChar char="●"/>
              <a:defRPr sz="1200">
                <a:solidFill>
                  <a:schemeClr val="dk1"/>
                </a:solidFill>
              </a:defRPr>
            </a:lvl7pPr>
            <a:lvl8pPr marL="3657600" lvl="7" indent="-304800" rtl="0">
              <a:lnSpc>
                <a:spcPct val="100000"/>
              </a:lnSpc>
              <a:spcBef>
                <a:spcPts val="0"/>
              </a:spcBef>
              <a:spcAft>
                <a:spcPts val="0"/>
              </a:spcAft>
              <a:buClr>
                <a:schemeClr val="dk1"/>
              </a:buClr>
              <a:buSzPts val="1200"/>
              <a:buChar char="○"/>
              <a:defRPr sz="1200">
                <a:solidFill>
                  <a:schemeClr val="dk1"/>
                </a:solidFill>
              </a:defRPr>
            </a:lvl8pPr>
            <a:lvl9pPr marL="4114800" lvl="8" indent="-304800" rtl="0">
              <a:lnSpc>
                <a:spcPct val="100000"/>
              </a:lnSpc>
              <a:spcBef>
                <a:spcPts val="0"/>
              </a:spcBef>
              <a:spcAft>
                <a:spcPts val="0"/>
              </a:spcAft>
              <a:buClr>
                <a:schemeClr val="dk1"/>
              </a:buClr>
              <a:buSzPts val="1200"/>
              <a:buChar char="■"/>
              <a:defRPr sz="1200">
                <a:solidFill>
                  <a:schemeClr val="dk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3">
  <p:cSld name="CUSTOM_2_1_1">
    <p:bg>
      <p:bgPr>
        <a:solidFill>
          <a:schemeClr val="lt1"/>
        </a:solidFill>
        <a:effectLst/>
      </p:bgPr>
    </p:bg>
    <p:spTree>
      <p:nvGrpSpPr>
        <p:cNvPr id="1"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l="-55210" t="50562" r="55209" b="-6811"/>
          <a:stretch/>
        </p:blipFill>
        <p:spPr>
          <a:xfrm rot="10800000">
            <a:off x="0" y="0"/>
            <a:ext cx="9144000" cy="5143500"/>
          </a:xfrm>
          <a:prstGeom prst="rect">
            <a:avLst/>
          </a:prstGeom>
          <a:noFill/>
          <a:ln>
            <a:noFill/>
          </a:ln>
        </p:spPr>
      </p:pic>
      <p:sp>
        <p:nvSpPr>
          <p:cNvPr id="91" name="Google Shape;91;p18"/>
          <p:cNvSpPr txBox="1">
            <a:spLocks noGrp="1"/>
          </p:cNvSpPr>
          <p:nvPr>
            <p:ph type="title"/>
          </p:nvPr>
        </p:nvSpPr>
        <p:spPr>
          <a:xfrm>
            <a:off x="1545472" y="1931850"/>
            <a:ext cx="3704400" cy="548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92" name="Google Shape;92;p18"/>
          <p:cNvSpPr txBox="1">
            <a:spLocks noGrp="1"/>
          </p:cNvSpPr>
          <p:nvPr>
            <p:ph type="body" idx="1"/>
          </p:nvPr>
        </p:nvSpPr>
        <p:spPr>
          <a:xfrm>
            <a:off x="1545472" y="2480550"/>
            <a:ext cx="3704400" cy="7311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200">
                <a:solidFill>
                  <a:schemeClr val="dk1"/>
                </a:solidFill>
              </a:defRPr>
            </a:lvl1pPr>
            <a:lvl2pPr marL="914400" lvl="1" indent="-304800" rtl="0">
              <a:lnSpc>
                <a:spcPct val="100000"/>
              </a:lnSpc>
              <a:spcBef>
                <a:spcPts val="0"/>
              </a:spcBef>
              <a:spcAft>
                <a:spcPts val="0"/>
              </a:spcAft>
              <a:buClr>
                <a:schemeClr val="dk1"/>
              </a:buClr>
              <a:buSzPts val="1200"/>
              <a:buChar char="○"/>
              <a:defRPr sz="1200">
                <a:solidFill>
                  <a:schemeClr val="dk1"/>
                </a:solidFill>
              </a:defRPr>
            </a:lvl2pPr>
            <a:lvl3pPr marL="1371600" lvl="2" indent="-304800" rtl="0">
              <a:lnSpc>
                <a:spcPct val="100000"/>
              </a:lnSpc>
              <a:spcBef>
                <a:spcPts val="0"/>
              </a:spcBef>
              <a:spcAft>
                <a:spcPts val="0"/>
              </a:spcAft>
              <a:buClr>
                <a:schemeClr val="dk1"/>
              </a:buClr>
              <a:buSzPts val="1200"/>
              <a:buChar char="■"/>
              <a:defRPr sz="1200">
                <a:solidFill>
                  <a:schemeClr val="dk1"/>
                </a:solidFill>
              </a:defRPr>
            </a:lvl3pPr>
            <a:lvl4pPr marL="1828800" lvl="3" indent="-304800" rtl="0">
              <a:lnSpc>
                <a:spcPct val="100000"/>
              </a:lnSpc>
              <a:spcBef>
                <a:spcPts val="0"/>
              </a:spcBef>
              <a:spcAft>
                <a:spcPts val="0"/>
              </a:spcAft>
              <a:buClr>
                <a:schemeClr val="dk1"/>
              </a:buClr>
              <a:buSzPts val="1200"/>
              <a:buChar char="●"/>
              <a:defRPr sz="1200">
                <a:solidFill>
                  <a:schemeClr val="dk1"/>
                </a:solidFill>
              </a:defRPr>
            </a:lvl4pPr>
            <a:lvl5pPr marL="2286000" lvl="4" indent="-304800" rtl="0">
              <a:lnSpc>
                <a:spcPct val="100000"/>
              </a:lnSpc>
              <a:spcBef>
                <a:spcPts val="0"/>
              </a:spcBef>
              <a:spcAft>
                <a:spcPts val="0"/>
              </a:spcAft>
              <a:buClr>
                <a:schemeClr val="dk1"/>
              </a:buClr>
              <a:buSzPts val="1200"/>
              <a:buChar char="○"/>
              <a:defRPr sz="1200">
                <a:solidFill>
                  <a:schemeClr val="dk1"/>
                </a:solidFill>
              </a:defRPr>
            </a:lvl5pPr>
            <a:lvl6pPr marL="2743200" lvl="5" indent="-304800" rtl="0">
              <a:lnSpc>
                <a:spcPct val="100000"/>
              </a:lnSpc>
              <a:spcBef>
                <a:spcPts val="0"/>
              </a:spcBef>
              <a:spcAft>
                <a:spcPts val="0"/>
              </a:spcAft>
              <a:buClr>
                <a:schemeClr val="dk1"/>
              </a:buClr>
              <a:buSzPts val="1200"/>
              <a:buChar char="■"/>
              <a:defRPr sz="1200">
                <a:solidFill>
                  <a:schemeClr val="dk1"/>
                </a:solidFill>
              </a:defRPr>
            </a:lvl6pPr>
            <a:lvl7pPr marL="3200400" lvl="6" indent="-304800" rtl="0">
              <a:lnSpc>
                <a:spcPct val="100000"/>
              </a:lnSpc>
              <a:spcBef>
                <a:spcPts val="0"/>
              </a:spcBef>
              <a:spcAft>
                <a:spcPts val="0"/>
              </a:spcAft>
              <a:buClr>
                <a:schemeClr val="dk1"/>
              </a:buClr>
              <a:buSzPts val="1200"/>
              <a:buChar char="●"/>
              <a:defRPr sz="1200">
                <a:solidFill>
                  <a:schemeClr val="dk1"/>
                </a:solidFill>
              </a:defRPr>
            </a:lvl7pPr>
            <a:lvl8pPr marL="3657600" lvl="7" indent="-304800" rtl="0">
              <a:lnSpc>
                <a:spcPct val="100000"/>
              </a:lnSpc>
              <a:spcBef>
                <a:spcPts val="0"/>
              </a:spcBef>
              <a:spcAft>
                <a:spcPts val="0"/>
              </a:spcAft>
              <a:buClr>
                <a:schemeClr val="dk1"/>
              </a:buClr>
              <a:buSzPts val="1200"/>
              <a:buChar char="○"/>
              <a:defRPr sz="1200">
                <a:solidFill>
                  <a:schemeClr val="dk1"/>
                </a:solidFill>
              </a:defRPr>
            </a:lvl8pPr>
            <a:lvl9pPr marL="4114800" lvl="8" indent="-304800" rtl="0">
              <a:lnSpc>
                <a:spcPct val="100000"/>
              </a:lnSpc>
              <a:spcBef>
                <a:spcPts val="0"/>
              </a:spcBef>
              <a:spcAft>
                <a:spcPts val="0"/>
              </a:spcAft>
              <a:buClr>
                <a:schemeClr val="dk1"/>
              </a:buClr>
              <a:buSzPts val="1200"/>
              <a:buChar char="■"/>
              <a:defRPr sz="1200">
                <a:solidFill>
                  <a:schemeClr val="dk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0" r="50000" b="-5849"/>
          <a:stretch/>
        </p:blipFill>
        <p:spPr>
          <a:xfrm>
            <a:off x="0" y="0"/>
            <a:ext cx="9144000" cy="5143500"/>
          </a:xfrm>
          <a:prstGeom prst="rect">
            <a:avLst/>
          </a:prstGeom>
          <a:noFill/>
          <a:ln>
            <a:noFill/>
          </a:ln>
        </p:spPr>
      </p:pic>
      <p:sp>
        <p:nvSpPr>
          <p:cNvPr id="95" name="Google Shape;95;p19"/>
          <p:cNvSpPr txBox="1">
            <a:spLocks noGrp="1"/>
          </p:cNvSpPr>
          <p:nvPr>
            <p:ph type="subTitle" idx="1"/>
          </p:nvPr>
        </p:nvSpPr>
        <p:spPr>
          <a:xfrm>
            <a:off x="715100" y="20465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6" name="Google Shape;96;p19"/>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97" name="Google Shape;97;p19"/>
          <p:cNvSpPr txBox="1">
            <a:spLocks noGrp="1"/>
          </p:cNvSpPr>
          <p:nvPr>
            <p:ph type="subTitle" idx="2"/>
          </p:nvPr>
        </p:nvSpPr>
        <p:spPr>
          <a:xfrm>
            <a:off x="715100" y="32990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9"/>
          <p:cNvSpPr txBox="1">
            <a:spLocks noGrp="1"/>
          </p:cNvSpPr>
          <p:nvPr>
            <p:ph type="subTitle" idx="3"/>
          </p:nvPr>
        </p:nvSpPr>
        <p:spPr>
          <a:xfrm>
            <a:off x="715100" y="16667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99" name="Google Shape;99;p19"/>
          <p:cNvSpPr txBox="1">
            <a:spLocks noGrp="1"/>
          </p:cNvSpPr>
          <p:nvPr>
            <p:ph type="subTitle" idx="4"/>
          </p:nvPr>
        </p:nvSpPr>
        <p:spPr>
          <a:xfrm>
            <a:off x="715100" y="29192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solidFill>
          <a:schemeClr val="lt1"/>
        </a:solidFill>
        <a:effectLst/>
      </p:bgPr>
    </p:bg>
    <p:spTree>
      <p:nvGrpSpPr>
        <p:cNvPr id="1"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l="-235242" t="44962" r="44460" b="-108521"/>
          <a:stretch/>
        </p:blipFill>
        <p:spPr>
          <a:xfrm rot="10800000">
            <a:off x="-10150" y="0"/>
            <a:ext cx="9154150" cy="5148375"/>
          </a:xfrm>
          <a:prstGeom prst="rect">
            <a:avLst/>
          </a:prstGeom>
          <a:noFill/>
          <a:ln>
            <a:noFill/>
          </a:ln>
        </p:spPr>
      </p:pic>
      <p:pic>
        <p:nvPicPr>
          <p:cNvPr id="102" name="Google Shape;102;p20"/>
          <p:cNvPicPr preferRelativeResize="0"/>
          <p:nvPr/>
        </p:nvPicPr>
        <p:blipFill rotWithShape="1">
          <a:blip r:embed="rId2">
            <a:alphaModFix/>
          </a:blip>
          <a:srcRect l="-235242" t="44962" r="44460" b="-108521"/>
          <a:stretch/>
        </p:blipFill>
        <p:spPr>
          <a:xfrm rot="10800000" flipH="1">
            <a:off x="-4572" y="-2437"/>
            <a:ext cx="9153145" cy="5148375"/>
          </a:xfrm>
          <a:prstGeom prst="rect">
            <a:avLst/>
          </a:prstGeom>
          <a:noFill/>
          <a:ln>
            <a:noFill/>
          </a:ln>
        </p:spPr>
      </p:pic>
      <p:sp>
        <p:nvSpPr>
          <p:cNvPr id="103" name="Google Shape;103;p20"/>
          <p:cNvSpPr txBox="1">
            <a:spLocks noGrp="1"/>
          </p:cNvSpPr>
          <p:nvPr>
            <p:ph type="subTitle" idx="1"/>
          </p:nvPr>
        </p:nvSpPr>
        <p:spPr>
          <a:xfrm>
            <a:off x="715100"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 name="Google Shape;104;p20"/>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105" name="Google Shape;105;p20"/>
          <p:cNvSpPr txBox="1">
            <a:spLocks noGrp="1"/>
          </p:cNvSpPr>
          <p:nvPr>
            <p:ph type="subTitle" idx="2"/>
          </p:nvPr>
        </p:nvSpPr>
        <p:spPr>
          <a:xfrm>
            <a:off x="715100"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06" name="Google Shape;106;p20"/>
          <p:cNvSpPr txBox="1">
            <a:spLocks noGrp="1"/>
          </p:cNvSpPr>
          <p:nvPr>
            <p:ph type="subTitle" idx="3"/>
          </p:nvPr>
        </p:nvSpPr>
        <p:spPr>
          <a:xfrm>
            <a:off x="3506100"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20"/>
          <p:cNvSpPr txBox="1">
            <a:spLocks noGrp="1"/>
          </p:cNvSpPr>
          <p:nvPr>
            <p:ph type="subTitle" idx="4"/>
          </p:nvPr>
        </p:nvSpPr>
        <p:spPr>
          <a:xfrm>
            <a:off x="3506099"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08" name="Google Shape;108;p20"/>
          <p:cNvSpPr txBox="1">
            <a:spLocks noGrp="1"/>
          </p:cNvSpPr>
          <p:nvPr>
            <p:ph type="subTitle" idx="5"/>
          </p:nvPr>
        </p:nvSpPr>
        <p:spPr>
          <a:xfrm>
            <a:off x="6297202"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9" name="Google Shape;109;p20"/>
          <p:cNvSpPr txBox="1">
            <a:spLocks noGrp="1"/>
          </p:cNvSpPr>
          <p:nvPr>
            <p:ph type="subTitle" idx="6"/>
          </p:nvPr>
        </p:nvSpPr>
        <p:spPr>
          <a:xfrm>
            <a:off x="6297200"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bg>
      <p:bgPr>
        <a:solidFill>
          <a:schemeClr val="lt1"/>
        </a:solidFill>
        <a:effectLst/>
      </p:bgPr>
    </p:bg>
    <p:spTree>
      <p:nvGrpSpPr>
        <p:cNvPr id="1"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l="-50000" t="49600" r="50000" b="-5849"/>
          <a:stretch/>
        </p:blipFill>
        <p:spPr>
          <a:xfrm>
            <a:off x="0" y="0"/>
            <a:ext cx="9144000" cy="5143500"/>
          </a:xfrm>
          <a:prstGeom prst="rect">
            <a:avLst/>
          </a:prstGeom>
          <a:noFill/>
          <a:ln>
            <a:noFill/>
          </a:ln>
        </p:spPr>
      </p:pic>
      <p:sp>
        <p:nvSpPr>
          <p:cNvPr id="112" name="Google Shape;112;p21"/>
          <p:cNvSpPr txBox="1">
            <a:spLocks noGrp="1"/>
          </p:cNvSpPr>
          <p:nvPr>
            <p:ph type="subTitle" idx="1"/>
          </p:nvPr>
        </p:nvSpPr>
        <p:spPr>
          <a:xfrm>
            <a:off x="715100" y="3758613"/>
            <a:ext cx="21318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3" name="Google Shape;113;p21"/>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114" name="Google Shape;114;p21"/>
          <p:cNvSpPr txBox="1">
            <a:spLocks noGrp="1"/>
          </p:cNvSpPr>
          <p:nvPr>
            <p:ph type="subTitle" idx="2"/>
          </p:nvPr>
        </p:nvSpPr>
        <p:spPr>
          <a:xfrm>
            <a:off x="715100" y="3377613"/>
            <a:ext cx="2131800" cy="457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15" name="Google Shape;115;p21"/>
          <p:cNvSpPr txBox="1">
            <a:spLocks noGrp="1"/>
          </p:cNvSpPr>
          <p:nvPr>
            <p:ph type="subTitle" idx="3"/>
          </p:nvPr>
        </p:nvSpPr>
        <p:spPr>
          <a:xfrm>
            <a:off x="3506099" y="3758613"/>
            <a:ext cx="21318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21"/>
          <p:cNvSpPr txBox="1">
            <a:spLocks noGrp="1"/>
          </p:cNvSpPr>
          <p:nvPr>
            <p:ph type="subTitle" idx="4"/>
          </p:nvPr>
        </p:nvSpPr>
        <p:spPr>
          <a:xfrm>
            <a:off x="3506099" y="3377613"/>
            <a:ext cx="2131800" cy="457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17" name="Google Shape;117;p21"/>
          <p:cNvSpPr txBox="1">
            <a:spLocks noGrp="1"/>
          </p:cNvSpPr>
          <p:nvPr>
            <p:ph type="subTitle" idx="5"/>
          </p:nvPr>
        </p:nvSpPr>
        <p:spPr>
          <a:xfrm>
            <a:off x="6297200" y="3758613"/>
            <a:ext cx="21318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8" name="Google Shape;118;p21"/>
          <p:cNvSpPr txBox="1">
            <a:spLocks noGrp="1"/>
          </p:cNvSpPr>
          <p:nvPr>
            <p:ph type="subTitle" idx="6"/>
          </p:nvPr>
        </p:nvSpPr>
        <p:spPr>
          <a:xfrm>
            <a:off x="6297200" y="3377613"/>
            <a:ext cx="2131800" cy="457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BLANK_1_1_1_1_1_1">
    <p:bg>
      <p:bgPr>
        <a:solidFill>
          <a:schemeClr val="lt1"/>
        </a:solidFill>
        <a:effectLst/>
      </p:bgPr>
    </p:bg>
    <p:spTree>
      <p:nvGrpSpPr>
        <p:cNvPr id="1"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l="-50000" t="49600" r="50000" b="-5849"/>
          <a:stretch/>
        </p:blipFill>
        <p:spPr>
          <a:xfrm>
            <a:off x="0" y="0"/>
            <a:ext cx="9144000" cy="5143500"/>
          </a:xfrm>
          <a:prstGeom prst="rect">
            <a:avLst/>
          </a:prstGeom>
          <a:noFill/>
          <a:ln>
            <a:noFill/>
          </a:ln>
        </p:spPr>
      </p:pic>
      <p:sp>
        <p:nvSpPr>
          <p:cNvPr id="146" name="Google Shape;146;p24"/>
          <p:cNvSpPr txBox="1">
            <a:spLocks noGrp="1"/>
          </p:cNvSpPr>
          <p:nvPr>
            <p:ph type="title" hasCustomPrompt="1"/>
          </p:nvPr>
        </p:nvSpPr>
        <p:spPr>
          <a:xfrm>
            <a:off x="715100" y="983000"/>
            <a:ext cx="7713900" cy="9519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5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47" name="Google Shape;147;p24"/>
          <p:cNvSpPr txBox="1">
            <a:spLocks noGrp="1"/>
          </p:cNvSpPr>
          <p:nvPr>
            <p:ph type="subTitle" idx="1"/>
          </p:nvPr>
        </p:nvSpPr>
        <p:spPr>
          <a:xfrm>
            <a:off x="715100" y="1858700"/>
            <a:ext cx="7713900" cy="60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8" name="Google Shape;148;p24"/>
          <p:cNvSpPr txBox="1">
            <a:spLocks noGrp="1"/>
          </p:cNvSpPr>
          <p:nvPr>
            <p:ph type="title" idx="2" hasCustomPrompt="1"/>
          </p:nvPr>
        </p:nvSpPr>
        <p:spPr>
          <a:xfrm>
            <a:off x="715100" y="2921600"/>
            <a:ext cx="7713900" cy="9519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5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49" name="Google Shape;149;p24"/>
          <p:cNvSpPr txBox="1">
            <a:spLocks noGrp="1"/>
          </p:cNvSpPr>
          <p:nvPr>
            <p:ph type="subTitle" idx="3"/>
          </p:nvPr>
        </p:nvSpPr>
        <p:spPr>
          <a:xfrm>
            <a:off x="715100" y="3797300"/>
            <a:ext cx="7713900" cy="60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CUSTOM_1_1">
    <p:bg>
      <p:bgPr>
        <a:solidFill>
          <a:schemeClr val="lt1"/>
        </a:solidFill>
        <a:effectLst/>
      </p:bgPr>
    </p:bg>
    <p:spTree>
      <p:nvGrpSpPr>
        <p:cNvPr id="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l="-235242" t="44962" r="44460" b="-108521"/>
          <a:stretch/>
        </p:blipFill>
        <p:spPr>
          <a:xfrm rot="10800000">
            <a:off x="-10150" y="0"/>
            <a:ext cx="9154150" cy="5148375"/>
          </a:xfrm>
          <a:prstGeom prst="rect">
            <a:avLst/>
          </a:prstGeom>
          <a:noFill/>
          <a:ln>
            <a:noFill/>
          </a:ln>
        </p:spPr>
      </p:pic>
      <p:pic>
        <p:nvPicPr>
          <p:cNvPr id="163" name="Google Shape;163;p27"/>
          <p:cNvPicPr preferRelativeResize="0"/>
          <p:nvPr/>
        </p:nvPicPr>
        <p:blipFill rotWithShape="1">
          <a:blip r:embed="rId2">
            <a:alphaModFix/>
          </a:blip>
          <a:srcRect l="-235242" t="44962" r="44460" b="-108521"/>
          <a:stretch/>
        </p:blipFill>
        <p:spPr>
          <a:xfrm rot="10800000" flipH="1">
            <a:off x="-4572" y="-2437"/>
            <a:ext cx="9153145" cy="5148375"/>
          </a:xfrm>
          <a:prstGeom prst="rect">
            <a:avLst/>
          </a:prstGeom>
          <a:noFill/>
          <a:ln>
            <a:noFill/>
          </a:ln>
        </p:spPr>
      </p:pic>
      <p:sp>
        <p:nvSpPr>
          <p:cNvPr id="164" name="Google Shape;164;p27"/>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CUSTOM_1_1_1">
    <p:bg>
      <p:bgPr>
        <a:solidFill>
          <a:schemeClr val="lt1"/>
        </a:solidFill>
        <a:effectLst/>
      </p:bgPr>
    </p:bg>
    <p:spTree>
      <p:nvGrpSpPr>
        <p:cNvPr id="1"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l="-6643" t="-11183" r="27548" b="-11170"/>
          <a:stretch/>
        </p:blipFill>
        <p:spPr>
          <a:xfrm>
            <a:off x="5819050" y="0"/>
            <a:ext cx="3324950" cy="5143500"/>
          </a:xfrm>
          <a:prstGeom prst="rect">
            <a:avLst/>
          </a:prstGeom>
          <a:noFill/>
          <a:ln>
            <a:noFill/>
          </a:ln>
        </p:spPr>
      </p:pic>
      <p:sp>
        <p:nvSpPr>
          <p:cNvPr id="167" name="Google Shape;167;p28"/>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3" t="13471" r="27548" b="-35825"/>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l="-235242" t="44962" r="44460" b="-108521"/>
          <a:stretch/>
        </p:blipFill>
        <p:spPr>
          <a:xfrm rot="10800000" flipH="1">
            <a:off x="-10680" y="-2437"/>
            <a:ext cx="9144080" cy="51483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09" b="-6811"/>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l="-55210" t="50562" r="55209" b="-6811"/>
          <a:stretch/>
        </p:blipFill>
        <p:spPr>
          <a:xfrm rot="10800000">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48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715100" y="1083700"/>
            <a:ext cx="7713900" cy="35247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5" r:id="rId4"/>
    <p:sldLayoutId id="2147483657" r:id="rId5"/>
    <p:sldLayoutId id="2147483658" r:id="rId6"/>
    <p:sldLayoutId id="2147483660" r:id="rId7"/>
    <p:sldLayoutId id="2147483661" r:id="rId8"/>
    <p:sldLayoutId id="2147483663" r:id="rId9"/>
    <p:sldLayoutId id="2147483664" r:id="rId10"/>
    <p:sldLayoutId id="2147483665" r:id="rId11"/>
    <p:sldLayoutId id="2147483666" r:id="rId12"/>
    <p:sldLayoutId id="2147483667" r:id="rId13"/>
    <p:sldLayoutId id="2147483670" r:id="rId14"/>
    <p:sldLayoutId id="2147483673" r:id="rId15"/>
    <p:sldLayoutId id="2147483674" r:id="rId16"/>
    <p:sldLayoutId id="2147483676" r:id="rId17"/>
    <p:sldLayoutId id="2147483677"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ctrTitle"/>
          </p:nvPr>
        </p:nvSpPr>
        <p:spPr>
          <a:xfrm>
            <a:off x="456567" y="1554562"/>
            <a:ext cx="7252037" cy="10929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8000" dirty="0"/>
              <a:t>Use </a:t>
            </a:r>
            <a:br>
              <a:rPr lang="en" sz="8000" dirty="0"/>
            </a:br>
            <a:endParaRPr sz="8000" dirty="0"/>
          </a:p>
        </p:txBody>
      </p:sp>
      <p:cxnSp>
        <p:nvCxnSpPr>
          <p:cNvPr id="192" name="Google Shape;192;p35">
            <a:hlinkClick r:id="" action="ppaction://hlinkshowjump?jump=nextslide"/>
          </p:cNvPr>
          <p:cNvCxnSpPr/>
          <p:nvPr/>
        </p:nvCxnSpPr>
        <p:spPr>
          <a:xfrm>
            <a:off x="715100" y="729100"/>
            <a:ext cx="483300" cy="0"/>
          </a:xfrm>
          <a:prstGeom prst="straightConnector1">
            <a:avLst/>
          </a:prstGeom>
          <a:noFill/>
          <a:ln w="9525" cap="flat" cmpd="sng">
            <a:solidFill>
              <a:schemeClr val="dk1"/>
            </a:solidFill>
            <a:prstDash val="solid"/>
            <a:round/>
            <a:headEnd type="none" w="med" len="med"/>
            <a:tailEnd type="triangle" w="med" len="med"/>
          </a:ln>
        </p:spPr>
      </p:cxnSp>
      <p:sp>
        <p:nvSpPr>
          <p:cNvPr id="6" name="Google Shape;190;p35">
            <a:extLst>
              <a:ext uri="{FF2B5EF4-FFF2-40B4-BE49-F238E27FC236}">
                <a16:creationId xmlns:a16="http://schemas.microsoft.com/office/drawing/2014/main" id="{E729D261-133B-9F4F-8888-8F31C83AF472}"/>
              </a:ext>
            </a:extLst>
          </p:cNvPr>
          <p:cNvSpPr txBox="1">
            <a:spLocks/>
          </p:cNvSpPr>
          <p:nvPr/>
        </p:nvSpPr>
        <p:spPr>
          <a:xfrm>
            <a:off x="591487" y="3294612"/>
            <a:ext cx="7252037" cy="2649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400" dirty="0"/>
              <a:t>Project planning</a:t>
            </a:r>
          </a:p>
        </p:txBody>
      </p:sp>
      <p:sp>
        <p:nvSpPr>
          <p:cNvPr id="9" name="Google Shape;190;p35">
            <a:extLst>
              <a:ext uri="{FF2B5EF4-FFF2-40B4-BE49-F238E27FC236}">
                <a16:creationId xmlns:a16="http://schemas.microsoft.com/office/drawing/2014/main" id="{1D6C3635-18D1-CE4A-BF84-AD1ABE06DD4C}"/>
              </a:ext>
            </a:extLst>
          </p:cNvPr>
          <p:cNvSpPr txBox="1">
            <a:spLocks/>
          </p:cNvSpPr>
          <p:nvPr/>
        </p:nvSpPr>
        <p:spPr>
          <a:xfrm>
            <a:off x="946121" y="3138610"/>
            <a:ext cx="1297954" cy="10929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pPr marR="0" algn="r" rtl="1">
              <a:lnSpc>
                <a:spcPct val="90000"/>
              </a:lnSpc>
              <a:spcBef>
                <a:spcPts val="0"/>
              </a:spcBef>
              <a:spcAft>
                <a:spcPts val="0"/>
              </a:spcAft>
              <a:buClr>
                <a:schemeClr val="dk1"/>
              </a:buClr>
              <a:buSzPts val="5200"/>
              <a:buFont typeface="Alexandria Medium"/>
              <a:buNone/>
            </a:pPr>
            <a:r>
              <a:rPr lang="fa-IR" sz="4400" dirty="0"/>
              <a:t>....</a:t>
            </a:r>
            <a:endParaRPr lang="en-US" sz="4400" dirty="0"/>
          </a:p>
        </p:txBody>
      </p:sp>
      <p:sp>
        <p:nvSpPr>
          <p:cNvPr id="4" name="Rectangle 1">
            <a:extLst>
              <a:ext uri="{FF2B5EF4-FFF2-40B4-BE49-F238E27FC236}">
                <a16:creationId xmlns:a16="http://schemas.microsoft.com/office/drawing/2014/main" id="{710F7A66-E9AA-CD45-A3FF-C1E7241C761B}"/>
              </a:ext>
            </a:extLst>
          </p:cNvPr>
          <p:cNvSpPr>
            <a:spLocks noChangeArrowheads="1"/>
          </p:cNvSpPr>
          <p:nvPr/>
        </p:nvSpPr>
        <p:spPr bwMode="auto">
          <a:xfrm>
            <a:off x="456567" y="2882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0" b="0" i="0" u="none" strike="noStrike" cap="none" normalizeH="0" baseline="0" dirty="0">
                <a:ln>
                  <a:noFill/>
                </a:ln>
                <a:solidFill>
                  <a:srgbClr val="15110E"/>
                </a:solidFill>
                <a:effectLst/>
                <a:latin typeface="Alexandria Medium" pitchFamily="2" charset="-78"/>
                <a:ea typeface="Alexandria Medium" pitchFamily="2" charset="-78"/>
                <a:cs typeface="Alexandria Medium" pitchFamily="2" charset="-78"/>
              </a:rPr>
              <a:t>case-based</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Google Shape;190;p35">
            <a:extLst>
              <a:ext uri="{FF2B5EF4-FFF2-40B4-BE49-F238E27FC236}">
                <a16:creationId xmlns:a16="http://schemas.microsoft.com/office/drawing/2014/main" id="{8629B3C6-E703-CC46-89D3-A74C8FCC0F6E}"/>
              </a:ext>
            </a:extLst>
          </p:cNvPr>
          <p:cNvSpPr txBox="1">
            <a:spLocks/>
          </p:cNvSpPr>
          <p:nvPr/>
        </p:nvSpPr>
        <p:spPr>
          <a:xfrm>
            <a:off x="1198400" y="523938"/>
            <a:ext cx="1608595"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400" dirty="0" err="1"/>
              <a:t>Parsa</a:t>
            </a:r>
            <a:r>
              <a:rPr lang="en-US" sz="1400" dirty="0"/>
              <a:t> </a:t>
            </a:r>
            <a:r>
              <a:rPr lang="en-US" sz="1000" dirty="0" err="1"/>
              <a:t>Banitaba</a:t>
            </a:r>
            <a:endParaRPr lang="en-US" sz="1400" dirty="0"/>
          </a:p>
        </p:txBody>
      </p:sp>
      <p:sp>
        <p:nvSpPr>
          <p:cNvPr id="15" name="Google Shape;190;p35">
            <a:extLst>
              <a:ext uri="{FF2B5EF4-FFF2-40B4-BE49-F238E27FC236}">
                <a16:creationId xmlns:a16="http://schemas.microsoft.com/office/drawing/2014/main" id="{BBED1E84-D08B-754C-BA32-75903295F587}"/>
              </a:ext>
            </a:extLst>
          </p:cNvPr>
          <p:cNvSpPr txBox="1">
            <a:spLocks/>
          </p:cNvSpPr>
          <p:nvPr/>
        </p:nvSpPr>
        <p:spPr>
          <a:xfrm>
            <a:off x="2523217" y="543146"/>
            <a:ext cx="2515983"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300" dirty="0" err="1"/>
              <a:t>AmirMehdi</a:t>
            </a:r>
            <a:r>
              <a:rPr lang="en-US" sz="1200" dirty="0"/>
              <a:t> </a:t>
            </a:r>
            <a:r>
              <a:rPr lang="en-US" sz="1000" dirty="0" err="1"/>
              <a:t>Shojaiekian</a:t>
            </a:r>
            <a:endParaRPr lang="en-US" sz="1200" dirty="0"/>
          </a:p>
        </p:txBody>
      </p:sp>
      <p:sp>
        <p:nvSpPr>
          <p:cNvPr id="16" name="Google Shape;190;p35">
            <a:extLst>
              <a:ext uri="{FF2B5EF4-FFF2-40B4-BE49-F238E27FC236}">
                <a16:creationId xmlns:a16="http://schemas.microsoft.com/office/drawing/2014/main" id="{ECB285F1-600C-CC48-9638-B85A03FDC203}"/>
              </a:ext>
            </a:extLst>
          </p:cNvPr>
          <p:cNvSpPr txBox="1">
            <a:spLocks/>
          </p:cNvSpPr>
          <p:nvPr/>
        </p:nvSpPr>
        <p:spPr>
          <a:xfrm>
            <a:off x="4398804" y="538000"/>
            <a:ext cx="2515983"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300" dirty="0"/>
              <a:t>Hossein</a:t>
            </a:r>
            <a:r>
              <a:rPr lang="en-US" sz="1200" dirty="0"/>
              <a:t> </a:t>
            </a:r>
            <a:r>
              <a:rPr lang="en-US" sz="1000" dirty="0" err="1"/>
              <a:t>Firouzgan</a:t>
            </a:r>
            <a:endParaRPr lang="en-US" sz="1200" dirty="0"/>
          </a:p>
        </p:txBody>
      </p:sp>
      <p:sp>
        <p:nvSpPr>
          <p:cNvPr id="10" name="Google Shape;227;p38">
            <a:extLst>
              <a:ext uri="{FF2B5EF4-FFF2-40B4-BE49-F238E27FC236}">
                <a16:creationId xmlns:a16="http://schemas.microsoft.com/office/drawing/2014/main" id="{844AF36A-C62E-5647-BD7D-CB8C6AF5AB63}"/>
              </a:ext>
            </a:extLst>
          </p:cNvPr>
          <p:cNvSpPr txBox="1">
            <a:spLocks/>
          </p:cNvSpPr>
          <p:nvPr/>
        </p:nvSpPr>
        <p:spPr>
          <a:xfrm>
            <a:off x="596781" y="3489601"/>
            <a:ext cx="1189489" cy="231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fa-IR" sz="1200" b="1" dirty="0"/>
              <a:t>استاد خوشرو</a:t>
            </a:r>
          </a:p>
        </p:txBody>
      </p:sp>
      <p:sp>
        <p:nvSpPr>
          <p:cNvPr id="2" name="TextBox 1">
            <a:extLst>
              <a:ext uri="{FF2B5EF4-FFF2-40B4-BE49-F238E27FC236}">
                <a16:creationId xmlns:a16="http://schemas.microsoft.com/office/drawing/2014/main" id="{504315FF-D596-5C4B-A117-6E621CDA5074}"/>
              </a:ext>
            </a:extLst>
          </p:cNvPr>
          <p:cNvSpPr txBox="1"/>
          <p:nvPr/>
        </p:nvSpPr>
        <p:spPr>
          <a:xfrm>
            <a:off x="2194210" y="3336619"/>
            <a:ext cx="1581102" cy="307777"/>
          </a:xfrm>
          <a:prstGeom prst="rect">
            <a:avLst/>
          </a:prstGeom>
          <a:noFill/>
        </p:spPr>
        <p:txBody>
          <a:bodyPr wrap="square" rtlCol="0">
            <a:spAutoFit/>
          </a:bodyPr>
          <a:lstStyle/>
          <a:p>
            <a:r>
              <a:rPr lang="en-US">
                <a:solidFill>
                  <a:srgbClr val="0269AE"/>
                </a:solidFill>
                <a:latin typeface="Alexandria Medium" pitchFamily="2" charset="-78"/>
                <a:cs typeface="Alexandria Medium" pitchFamily="2" charset="-78"/>
              </a:rPr>
              <a:t>Khordad 1403</a:t>
            </a:r>
          </a:p>
        </p:txBody>
      </p:sp>
      <p:sp>
        <p:nvSpPr>
          <p:cNvPr id="3" name="TextBox 2">
            <a:extLst>
              <a:ext uri="{FF2B5EF4-FFF2-40B4-BE49-F238E27FC236}">
                <a16:creationId xmlns:a16="http://schemas.microsoft.com/office/drawing/2014/main" id="{FA53D2B3-C7A7-8249-9A85-4FA50F6B18D3}"/>
              </a:ext>
            </a:extLst>
          </p:cNvPr>
          <p:cNvSpPr txBox="1"/>
          <p:nvPr/>
        </p:nvSpPr>
        <p:spPr>
          <a:xfrm>
            <a:off x="2101716" y="3314262"/>
            <a:ext cx="248786" cy="369332"/>
          </a:xfrm>
          <a:prstGeom prst="rect">
            <a:avLst/>
          </a:prstGeom>
          <a:noFill/>
        </p:spPr>
        <p:txBody>
          <a:bodyPr wrap="none" rtlCol="0">
            <a:spAutoFit/>
          </a:bodyPr>
          <a:lstStyle/>
          <a:p>
            <a:r>
              <a:rPr lang="en-US" sz="1800">
                <a:solidFill>
                  <a:srgbClr val="0269AE"/>
                </a:solidFill>
                <a:latin typeface="Alexandria Medium" pitchFamily="2" charset="-78"/>
                <a:cs typeface="Alexandria Medium" pitchFamily="2" charset="-78"/>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500"/>
                                        <p:tgtEl>
                                          <p:spTgt spid="19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3" presetClass="entr" presetSubtype="10" fill="hold" nodeType="afterEffect">
                                  <p:stCondLst>
                                    <p:cond delay="1500"/>
                                  </p:stCondLst>
                                  <p:childTnLst>
                                    <p:set>
                                      <p:cBhvr>
                                        <p:cTn id="18" dur="1" fill="hold">
                                          <p:stCondLst>
                                            <p:cond delay="0"/>
                                          </p:stCondLst>
                                        </p:cTn>
                                        <p:tgtEl>
                                          <p:spTgt spid="192"/>
                                        </p:tgtEl>
                                        <p:attrNameLst>
                                          <p:attrName>style.visibility</p:attrName>
                                        </p:attrNameLst>
                                      </p:cBhvr>
                                      <p:to>
                                        <p:strVal val="visible"/>
                                      </p:to>
                                    </p:set>
                                    <p:animEffect transition="in" filter="blinds(horizontal)">
                                      <p:cBhvr>
                                        <p:cTn id="19" dur="500"/>
                                        <p:tgtEl>
                                          <p:spTgt spid="192"/>
                                        </p:tgtEl>
                                      </p:cBhvr>
                                    </p:animEffect>
                                  </p:childTnLst>
                                </p:cTn>
                              </p:par>
                            </p:childTnLst>
                          </p:cTn>
                        </p:par>
                        <p:par>
                          <p:cTn id="20" fill="hold">
                            <p:stCondLst>
                              <p:cond delay="35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4000"/>
                            </p:stCondLst>
                            <p:childTnLst>
                              <p:par>
                                <p:cTn id="25" presetID="10"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par>
                          <p:cTn id="28" fill="hold">
                            <p:stCondLst>
                              <p:cond delay="4500"/>
                            </p:stCondLst>
                            <p:childTnLst>
                              <p:par>
                                <p:cTn id="29" presetID="10" presetClass="entr" presetSubtype="0" fill="hold" nodeType="after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Effect transition="in" filter="fade">
                                      <p:cBhvr>
                                        <p:cTn id="31" dur="500"/>
                                        <p:tgtEl>
                                          <p:spTgt spid="16">
                                            <p:txEl>
                                              <p:pRg st="0" end="0"/>
                                            </p:txEl>
                                          </p:spTgt>
                                        </p:tgtEl>
                                      </p:cBhvr>
                                    </p:animEffect>
                                  </p:childTnLst>
                                </p:cTn>
                              </p:par>
                            </p:childTnLst>
                          </p:cTn>
                        </p:par>
                        <p:par>
                          <p:cTn id="32" fill="hold">
                            <p:stCondLst>
                              <p:cond delay="5000"/>
                            </p:stCondLst>
                            <p:childTnLst>
                              <p:par>
                                <p:cTn id="33" presetID="16" presetClass="entr" presetSubtype="21" fill="hold" grpId="0" nodeType="afterEffect">
                                  <p:stCondLst>
                                    <p:cond delay="50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childTnLst>
                          </p:cTn>
                        </p:par>
                        <p:par>
                          <p:cTn id="36" fill="hold">
                            <p:stCondLst>
                              <p:cond delay="60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6500"/>
                            </p:stCondLst>
                            <p:childTnLst>
                              <p:par>
                                <p:cTn id="41" presetID="9" presetClass="entr" presetSubtype="0" fill="hold" grpId="0"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dissolve">
                                      <p:cBhvr>
                                        <p:cTn id="43" dur="500"/>
                                        <p:tgtEl>
                                          <p:spTgt spid="3"/>
                                        </p:tgtEl>
                                      </p:cBhvr>
                                    </p:animEffect>
                                  </p:childTnLst>
                                </p:cTn>
                              </p:par>
                            </p:childTnLst>
                          </p:cTn>
                        </p:par>
                        <p:par>
                          <p:cTn id="44" fill="hold">
                            <p:stCondLst>
                              <p:cond delay="7000"/>
                            </p:stCondLst>
                            <p:childTnLst>
                              <p:par>
                                <p:cTn id="45" presetID="9" presetClass="entr" presetSubtype="0" fill="hold" grpId="0" nodeType="after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dissolve">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p:bldP spid="6" grpId="0"/>
      <p:bldP spid="9" grpId="0"/>
      <p:bldP spid="4" grpId="0"/>
      <p:bldP spid="14" grpId="0"/>
      <p:bldP spid="15" grpId="0"/>
      <p:bldP spid="10" grpId="0"/>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8"/>
          <p:cNvSpPr txBox="1">
            <a:spLocks noGrp="1"/>
          </p:cNvSpPr>
          <p:nvPr>
            <p:ph type="title"/>
          </p:nvPr>
        </p:nvSpPr>
        <p:spPr>
          <a:xfrm>
            <a:off x="151573" y="2571750"/>
            <a:ext cx="4420427" cy="231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a-IR" dirty="0"/>
              <a:t>خلاصه ارائه</a:t>
            </a:r>
            <a:endParaRPr dirty="0"/>
          </a:p>
        </p:txBody>
      </p:sp>
      <p:cxnSp>
        <p:nvCxnSpPr>
          <p:cNvPr id="229" name="Google Shape;229;p38">
            <a:hlinkClick r:id="" action="ppaction://hlinkshowjump?jump=nextslide"/>
          </p:cNvPr>
          <p:cNvCxnSpPr>
            <a:cxnSpLocks/>
          </p:cNvCxnSpPr>
          <p:nvPr/>
        </p:nvCxnSpPr>
        <p:spPr>
          <a:xfrm>
            <a:off x="459918" y="2409988"/>
            <a:ext cx="0" cy="323523"/>
          </a:xfrm>
          <a:prstGeom prst="straightConnector1">
            <a:avLst/>
          </a:prstGeom>
          <a:noFill/>
          <a:ln w="9525" cap="flat" cmpd="sng">
            <a:solidFill>
              <a:schemeClr val="dk1"/>
            </a:solidFill>
            <a:prstDash val="solid"/>
            <a:round/>
            <a:headEnd type="none" w="med" len="med"/>
            <a:tailEnd type="triangle" w="med" len="med"/>
          </a:ln>
        </p:spPr>
      </p:cxnSp>
      <p:sp>
        <p:nvSpPr>
          <p:cNvPr id="9" name="Google Shape;227;p38">
            <a:extLst>
              <a:ext uri="{FF2B5EF4-FFF2-40B4-BE49-F238E27FC236}">
                <a16:creationId xmlns:a16="http://schemas.microsoft.com/office/drawing/2014/main" id="{4201B038-D37B-DB47-8B77-BD28132B0E2E}"/>
              </a:ext>
            </a:extLst>
          </p:cNvPr>
          <p:cNvSpPr txBox="1">
            <a:spLocks/>
          </p:cNvSpPr>
          <p:nvPr/>
        </p:nvSpPr>
        <p:spPr>
          <a:xfrm>
            <a:off x="3030279" y="663034"/>
            <a:ext cx="5784107" cy="231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pPr algn="r" rtl="1">
              <a:lnSpc>
                <a:spcPct val="150000"/>
              </a:lnSpc>
            </a:pPr>
            <a:r>
              <a:rPr lang="fa-IR" sz="1400" b="1" dirty="0">
                <a:effectLst/>
                <a:latin typeface="NotoSansArabic"/>
              </a:rPr>
              <a:t>در این ارائه</a:t>
            </a:r>
          </a:p>
          <a:p>
            <a:pPr algn="r" rtl="1">
              <a:lnSpc>
                <a:spcPct val="150000"/>
              </a:lnSpc>
            </a:pPr>
            <a:r>
              <a:rPr lang="fa-IR" sz="1200" dirty="0">
                <a:effectLst/>
                <a:latin typeface="NotoSansArabic"/>
              </a:rPr>
              <a:t> نحوه برنامه ریزی و توسعه یک پروژه را با استفاده از </a:t>
            </a:r>
            <a:r>
              <a:rPr lang="fa-IR" sz="1200" dirty="0">
                <a:solidFill>
                  <a:srgbClr val="0269AE"/>
                </a:solidFill>
                <a:effectLst/>
                <a:latin typeface="NotoSansArabic"/>
              </a:rPr>
              <a:t>تکرارها</a:t>
            </a:r>
            <a:r>
              <a:rPr lang="fa-IR" sz="1200" dirty="0">
                <a:effectLst/>
                <a:latin typeface="NotoSansArabic"/>
              </a:rPr>
              <a:t>، </a:t>
            </a:r>
            <a:r>
              <a:rPr lang="fa-IR" sz="1200" dirty="0">
                <a:solidFill>
                  <a:schemeClr val="accent1">
                    <a:lumMod val="60000"/>
                    <a:lumOff val="40000"/>
                  </a:schemeClr>
                </a:solidFill>
                <a:effectLst/>
                <a:latin typeface="NotoSansArabic"/>
              </a:rPr>
              <a:t>تحلیل ریسک </a:t>
            </a:r>
            <a:r>
              <a:rPr lang="fa-IR" sz="1200" dirty="0">
                <a:effectLst/>
                <a:latin typeface="NotoSansArabic"/>
              </a:rPr>
              <a:t>و </a:t>
            </a:r>
            <a:r>
              <a:rPr lang="fa-IR" sz="1200" dirty="0">
                <a:solidFill>
                  <a:srgbClr val="0269AE"/>
                </a:solidFill>
                <a:effectLst/>
                <a:latin typeface="NotoSansArabic"/>
              </a:rPr>
              <a:t>برآورد تلاش </a:t>
            </a:r>
            <a:r>
              <a:rPr lang="fa-IR" sz="1200" dirty="0">
                <a:effectLst/>
                <a:latin typeface="NotoSansArabic"/>
              </a:rPr>
              <a:t>بر اساس </a:t>
            </a:r>
            <a:r>
              <a:rPr lang="en-US" sz="1400" b="1" dirty="0">
                <a:latin typeface="NotoSansArabic"/>
              </a:rPr>
              <a:t>Story Point</a:t>
            </a:r>
            <a:r>
              <a:rPr lang="fa-IR" sz="1200" dirty="0">
                <a:latin typeface="NotoSansArabic"/>
              </a:rPr>
              <a:t>ها </a:t>
            </a:r>
            <a:r>
              <a:rPr lang="fa-IR" sz="1200" dirty="0">
                <a:effectLst/>
                <a:latin typeface="NotoSansArabic"/>
              </a:rPr>
              <a:t>نشان می دهیم. </a:t>
            </a:r>
          </a:p>
          <a:p>
            <a:pPr algn="r" rtl="1">
              <a:lnSpc>
                <a:spcPct val="150000"/>
              </a:lnSpc>
            </a:pPr>
            <a:r>
              <a:rPr lang="fa-IR" sz="1200" dirty="0">
                <a:effectLst/>
                <a:latin typeface="NotoSansArabic"/>
              </a:rPr>
              <a:t>توضیح می دهیم که چگونه تلاش برای توسعه پروژه بر اساس پیچیدگی درک شده از هر </a:t>
            </a:r>
            <a:r>
              <a:rPr lang="en-US" sz="1400" b="1" dirty="0">
                <a:latin typeface="NotoSansArabic"/>
              </a:rPr>
              <a:t>U</a:t>
            </a:r>
            <a:r>
              <a:rPr lang="en-US" sz="1400" b="1" dirty="0">
                <a:effectLst/>
                <a:latin typeface="NotoSansArabic"/>
              </a:rPr>
              <a:t>se-Case</a:t>
            </a:r>
            <a:r>
              <a:rPr lang="fa-IR" sz="1400" b="1" dirty="0">
                <a:effectLst/>
                <a:latin typeface="NotoSansArabic"/>
              </a:rPr>
              <a:t> </a:t>
            </a:r>
            <a:r>
              <a:rPr lang="fa-IR" sz="1200" dirty="0">
                <a:effectLst/>
                <a:latin typeface="NotoSansArabic"/>
              </a:rPr>
              <a:t>و سایر ویژگیهای سیستم و تیم توسعه تخمین زده می شود.</a:t>
            </a:r>
          </a:p>
          <a:p>
            <a:pPr algn="r" rtl="1">
              <a:lnSpc>
                <a:spcPct val="150000"/>
              </a:lnSpc>
            </a:pPr>
            <a:r>
              <a:rPr lang="fa-IR" sz="1200" dirty="0">
                <a:effectLst/>
                <a:latin typeface="NotoSansArabic"/>
              </a:rPr>
              <a:t> در نهایت، این فصل نحوه سازمانده</a:t>
            </a:r>
            <a:r>
              <a:rPr lang="fa-IR" sz="1200" dirty="0">
                <a:latin typeface="NotoSansArabic"/>
              </a:rPr>
              <a:t>ی </a:t>
            </a:r>
            <a:r>
              <a:rPr lang="fa-IR" sz="1200" dirty="0">
                <a:effectLst/>
                <a:latin typeface="NotoSansArabic"/>
              </a:rPr>
              <a:t>یک سیستم نظارت پروژه را توضیح می دهیم تا امکان مشاهده </a:t>
            </a:r>
            <a:r>
              <a:rPr lang="fa-IR" sz="1200" dirty="0">
                <a:solidFill>
                  <a:srgbClr val="0269AE"/>
                </a:solidFill>
                <a:effectLst/>
                <a:latin typeface="NotoSansArabic"/>
              </a:rPr>
              <a:t>ریتم توسعه </a:t>
            </a:r>
            <a:r>
              <a:rPr lang="fa-IR" sz="1200" dirty="0">
                <a:effectLst/>
                <a:latin typeface="NotoSansArabic"/>
              </a:rPr>
              <a:t>یک پروژه را فراهم کند. </a:t>
            </a:r>
            <a:endParaRPr lang="fa-IR" sz="800" dirty="0">
              <a:effectLst/>
            </a:endParaRPr>
          </a:p>
          <a:p>
            <a:pPr algn="r" rtl="1">
              <a:lnSpc>
                <a:spcPct val="150000"/>
              </a:lnSpc>
            </a:pP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500"/>
                                        <p:tgtEl>
                                          <p:spTgt spid="227"/>
                                        </p:tgtEl>
                                      </p:cBhvr>
                                    </p:animEffect>
                                  </p:childTnLst>
                                </p:cTn>
                              </p:par>
                            </p:childTnLst>
                          </p:cTn>
                        </p:par>
                        <p:par>
                          <p:cTn id="8" fill="hold">
                            <p:stCondLst>
                              <p:cond delay="500"/>
                            </p:stCondLst>
                            <p:childTnLst>
                              <p:par>
                                <p:cTn id="9" presetID="22" presetClass="entr" presetSubtype="4" fill="hold" grpId="0" nodeType="afterEffect">
                                  <p:stCondLst>
                                    <p:cond delay="300"/>
                                  </p:stCondLst>
                                  <p:iterate type="lt">
                                    <p:tmPct val="10000"/>
                                  </p:iterate>
                                  <p:childTnLst>
                                    <p:set>
                                      <p:cBhvr>
                                        <p:cTn id="10" dur="1" fill="hold">
                                          <p:stCondLst>
                                            <p:cond delay="0"/>
                                          </p:stCondLst>
                                        </p:cTn>
                                        <p:tgtEl>
                                          <p:spTgt spid="9"/>
                                        </p:tgtEl>
                                        <p:attrNameLst>
                                          <p:attrName>style.visibility</p:attrName>
                                        </p:attrNameLst>
                                      </p:cBhvr>
                                      <p:to>
                                        <p:strVal val="visible"/>
                                      </p:to>
                                    </p:set>
                                    <p:animEffect transition="in" filter="wipe(down)">
                                      <p:cBhvr>
                                        <p:cTn id="11" dur="1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p:bldP spid="9" grpId="0" bldLvl="2" rev="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 name="Google Shape;227;p38">
            <a:extLst>
              <a:ext uri="{FF2B5EF4-FFF2-40B4-BE49-F238E27FC236}">
                <a16:creationId xmlns:a16="http://schemas.microsoft.com/office/drawing/2014/main" id="{8B6EDF55-E520-9C46-9620-FF6BCBBD91B1}"/>
              </a:ext>
            </a:extLst>
          </p:cNvPr>
          <p:cNvSpPr txBox="1">
            <a:spLocks noGrp="1"/>
          </p:cNvSpPr>
          <p:nvPr>
            <p:ph type="title"/>
          </p:nvPr>
        </p:nvSpPr>
        <p:spPr>
          <a:xfrm>
            <a:off x="-51133" y="1434836"/>
            <a:ext cx="7373778" cy="23172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fa-IR" sz="5400" dirty="0"/>
              <a:t>کلید </a:t>
            </a:r>
            <a:br>
              <a:rPr lang="fa-IR" sz="5400" dirty="0"/>
            </a:br>
            <a:r>
              <a:rPr lang="fa-IR" sz="5400" dirty="0"/>
              <a:t>واژه ها و </a:t>
            </a:r>
            <a:br>
              <a:rPr lang="fa-IR" sz="5400" dirty="0"/>
            </a:br>
            <a:r>
              <a:rPr lang="fa-IR" sz="5400" dirty="0"/>
              <a:t>موضوعات </a:t>
            </a:r>
            <a:br>
              <a:rPr lang="fa-IR" sz="5400" dirty="0"/>
            </a:br>
            <a:r>
              <a:rPr lang="fa-IR" sz="5400" dirty="0"/>
              <a:t>کلیدی </a:t>
            </a:r>
            <a:endParaRPr sz="5400" dirty="0"/>
          </a:p>
        </p:txBody>
      </p:sp>
      <p:sp>
        <p:nvSpPr>
          <p:cNvPr id="8" name="Google Shape;227;p38">
            <a:extLst>
              <a:ext uri="{FF2B5EF4-FFF2-40B4-BE49-F238E27FC236}">
                <a16:creationId xmlns:a16="http://schemas.microsoft.com/office/drawing/2014/main" id="{B7361466-82C3-5B49-8901-42A379BB82DF}"/>
              </a:ext>
            </a:extLst>
          </p:cNvPr>
          <p:cNvSpPr txBox="1">
            <a:spLocks/>
          </p:cNvSpPr>
          <p:nvPr/>
        </p:nvSpPr>
        <p:spPr>
          <a:xfrm>
            <a:off x="1787578" y="1217259"/>
            <a:ext cx="5977128" cy="231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pPr algn="l" rtl="1"/>
            <a:r>
              <a:rPr lang="fa-IR" sz="1200" dirty="0">
                <a:latin typeface="NotoSansArabic"/>
              </a:rPr>
              <a:t>نکات داستانی</a:t>
            </a:r>
            <a:r>
              <a:rPr lang="en-US" sz="1200" dirty="0">
                <a:latin typeface="NotoSansArabic"/>
              </a:rPr>
              <a:t>        </a:t>
            </a:r>
            <a:r>
              <a:rPr lang="en-US" sz="1200" dirty="0"/>
              <a:t>StroyPonits </a:t>
            </a:r>
            <a:r>
              <a:rPr lang="fa-IR" sz="1200" dirty="0">
                <a:solidFill>
                  <a:srgbClr val="0269AE"/>
                </a:solidFill>
                <a:latin typeface="NotoSansArabic"/>
              </a:rPr>
              <a:t>تحلیل ریسک</a:t>
            </a:r>
            <a:r>
              <a:rPr lang="fa-IR" sz="1200" dirty="0">
                <a:latin typeface="NotoSansArabic"/>
              </a:rPr>
              <a:t> </a:t>
            </a:r>
            <a:r>
              <a:rPr lang="en-US" sz="1200" dirty="0">
                <a:latin typeface="NotoSansArabic"/>
              </a:rPr>
              <a:t>  </a:t>
            </a:r>
            <a:r>
              <a:rPr lang="fa-IR" sz="1200" dirty="0">
                <a:latin typeface="NotoSansArabic"/>
              </a:rPr>
              <a:t>   برآورد تلاش تکرار  </a:t>
            </a:r>
            <a:r>
              <a:rPr lang="en-US" sz="1200" dirty="0">
                <a:latin typeface="NotoSansArabic"/>
              </a:rPr>
              <a:t>  </a:t>
            </a:r>
            <a:r>
              <a:rPr lang="fa-IR" sz="1200" dirty="0">
                <a:latin typeface="NotoSansArabic"/>
              </a:rPr>
              <a:t>  </a:t>
            </a:r>
            <a:r>
              <a:rPr lang="fa-IR" sz="1200" dirty="0">
                <a:solidFill>
                  <a:srgbClr val="0269AE"/>
                </a:solidFill>
                <a:latin typeface="NotoSansArabic"/>
              </a:rPr>
              <a:t>برنامه ریزی پروژه</a:t>
            </a:r>
            <a:r>
              <a:rPr lang="fa-IR" sz="1200" dirty="0">
                <a:latin typeface="NotoSansArabic"/>
              </a:rPr>
              <a:t> </a:t>
            </a:r>
            <a:endParaRPr lang="fa-IR" sz="1200" dirty="0"/>
          </a:p>
        </p:txBody>
      </p:sp>
      <p:sp>
        <p:nvSpPr>
          <p:cNvPr id="12" name="Google Shape;190;p35">
            <a:extLst>
              <a:ext uri="{FF2B5EF4-FFF2-40B4-BE49-F238E27FC236}">
                <a16:creationId xmlns:a16="http://schemas.microsoft.com/office/drawing/2014/main" id="{F7B27505-092E-9D4E-B345-9CC1CACA21A6}"/>
              </a:ext>
            </a:extLst>
          </p:cNvPr>
          <p:cNvSpPr txBox="1">
            <a:spLocks/>
          </p:cNvSpPr>
          <p:nvPr/>
        </p:nvSpPr>
        <p:spPr>
          <a:xfrm>
            <a:off x="5210917" y="298736"/>
            <a:ext cx="1608595"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pPr marR="0" algn="l" rtl="0">
              <a:lnSpc>
                <a:spcPct val="90000"/>
              </a:lnSpc>
              <a:spcBef>
                <a:spcPts val="0"/>
              </a:spcBef>
              <a:spcAft>
                <a:spcPts val="0"/>
              </a:spcAft>
              <a:buClr>
                <a:schemeClr val="dk1"/>
              </a:buClr>
              <a:buSzPts val="5200"/>
              <a:buFont typeface="Alexandria Medium"/>
              <a:buNone/>
            </a:pPr>
            <a:endParaRPr lang="en-US" sz="1400" dirty="0"/>
          </a:p>
        </p:txBody>
      </p:sp>
      <p:cxnSp>
        <p:nvCxnSpPr>
          <p:cNvPr id="13" name="Google Shape;229;p38">
            <a:hlinkClick r:id="" action="ppaction://hlinkshowjump?jump=nextslide"/>
            <a:extLst>
              <a:ext uri="{FF2B5EF4-FFF2-40B4-BE49-F238E27FC236}">
                <a16:creationId xmlns:a16="http://schemas.microsoft.com/office/drawing/2014/main" id="{01260BA4-C31F-5A42-BE77-4FBBCC6DA335}"/>
              </a:ext>
            </a:extLst>
          </p:cNvPr>
          <p:cNvCxnSpPr>
            <a:cxnSpLocks/>
          </p:cNvCxnSpPr>
          <p:nvPr/>
        </p:nvCxnSpPr>
        <p:spPr>
          <a:xfrm>
            <a:off x="2357123" y="4390416"/>
            <a:ext cx="2402154" cy="0"/>
          </a:xfrm>
          <a:prstGeom prst="straightConnector1">
            <a:avLst/>
          </a:prstGeom>
          <a:noFill/>
          <a:ln w="9525" cap="flat" cmpd="sng">
            <a:solidFill>
              <a:schemeClr val="dk1"/>
            </a:solidFill>
            <a:prstDash val="solid"/>
            <a:round/>
            <a:headEnd type="none" w="med" len="med"/>
            <a:tailEnd type="triangle" w="med" len="med"/>
          </a:ln>
        </p:spPr>
      </p:cxnSp>
      <p:sp>
        <p:nvSpPr>
          <p:cNvPr id="14" name="Google Shape;227;p38">
            <a:extLst>
              <a:ext uri="{FF2B5EF4-FFF2-40B4-BE49-F238E27FC236}">
                <a16:creationId xmlns:a16="http://schemas.microsoft.com/office/drawing/2014/main" id="{BF284859-5F0F-E84A-A2A8-D6D0B8F42934}"/>
              </a:ext>
            </a:extLst>
          </p:cNvPr>
          <p:cNvSpPr txBox="1">
            <a:spLocks noGrp="1"/>
          </p:cNvSpPr>
          <p:nvPr/>
        </p:nvSpPr>
        <p:spPr>
          <a:xfrm>
            <a:off x="4087064" y="2800380"/>
            <a:ext cx="4420427" cy="2317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pPr algn="r" rtl="1">
              <a:lnSpc>
                <a:spcPct val="150000"/>
              </a:lnSpc>
            </a:pPr>
            <a:r>
              <a:rPr lang="fa-IR" sz="1800" dirty="0">
                <a:solidFill>
                  <a:srgbClr val="0269AE"/>
                </a:solidFill>
                <a:effectLst/>
                <a:latin typeface="NotoSans"/>
              </a:rPr>
              <a:t>•</a:t>
            </a:r>
            <a:r>
              <a:rPr lang="fa-IR" sz="1800" dirty="0">
                <a:solidFill>
                  <a:srgbClr val="2D2D2D"/>
                </a:solidFill>
                <a:effectLst/>
                <a:latin typeface="NotoSansArabic"/>
              </a:rPr>
              <a:t> برآورد تلاش</a:t>
            </a:r>
          </a:p>
          <a:p>
            <a:pPr algn="r" rtl="1">
              <a:lnSpc>
                <a:spcPct val="150000"/>
              </a:lnSpc>
            </a:pPr>
            <a:r>
              <a:rPr lang="fa-IR" sz="1800" dirty="0">
                <a:solidFill>
                  <a:srgbClr val="0269AE"/>
                </a:solidFill>
                <a:effectLst/>
                <a:latin typeface="NotoSans"/>
              </a:rPr>
              <a:t>•</a:t>
            </a:r>
            <a:r>
              <a:rPr lang="fa-IR" sz="1800" dirty="0">
                <a:solidFill>
                  <a:srgbClr val="2D2D2D"/>
                </a:solidFill>
                <a:effectLst/>
                <a:latin typeface="NotoSansArabic"/>
              </a:rPr>
              <a:t> ارزیابی ریسک </a:t>
            </a:r>
          </a:p>
          <a:p>
            <a:pPr algn="r" rtl="1">
              <a:lnSpc>
                <a:spcPct val="150000"/>
              </a:lnSpc>
            </a:pPr>
            <a:r>
              <a:rPr lang="fa-IR" sz="1800" dirty="0">
                <a:solidFill>
                  <a:srgbClr val="0269AE"/>
                </a:solidFill>
                <a:effectLst/>
                <a:latin typeface="NotoSans"/>
              </a:rPr>
              <a:t>•</a:t>
            </a:r>
            <a:r>
              <a:rPr lang="fa-IR" sz="1800" dirty="0">
                <a:solidFill>
                  <a:srgbClr val="2D2D2D"/>
                </a:solidFill>
                <a:effectLst/>
                <a:latin typeface="NotoSansArabic"/>
              </a:rPr>
              <a:t> زمان های ایده آل و حداقل توسعه </a:t>
            </a:r>
          </a:p>
          <a:p>
            <a:pPr algn="r" rtl="1">
              <a:lnSpc>
                <a:spcPct val="150000"/>
              </a:lnSpc>
            </a:pPr>
            <a:r>
              <a:rPr lang="fa-IR" sz="1800" dirty="0">
                <a:solidFill>
                  <a:srgbClr val="0269AE"/>
                </a:solidFill>
                <a:effectLst/>
                <a:latin typeface="NotoSans"/>
              </a:rPr>
              <a:t>•</a:t>
            </a:r>
            <a:r>
              <a:rPr lang="fa-IR" sz="1800" dirty="0">
                <a:solidFill>
                  <a:srgbClr val="2D2D2D"/>
                </a:solidFill>
                <a:effectLst/>
                <a:latin typeface="NotoSansArabic"/>
              </a:rPr>
              <a:t> اولویت بندی موارد استفاده </a:t>
            </a:r>
            <a:endParaRPr lang="fa-IR" dirty="0">
              <a:effectLst/>
            </a:endParaRPr>
          </a:p>
        </p:txBody>
      </p:sp>
      <p:cxnSp>
        <p:nvCxnSpPr>
          <p:cNvPr id="16" name="Google Shape;229;p38">
            <a:hlinkClick r:id="" action="ppaction://hlinkshowjump?jump=nextslide"/>
            <a:extLst>
              <a:ext uri="{FF2B5EF4-FFF2-40B4-BE49-F238E27FC236}">
                <a16:creationId xmlns:a16="http://schemas.microsoft.com/office/drawing/2014/main" id="{7802BA9B-76D1-7042-AA5C-448DAE423586}"/>
              </a:ext>
            </a:extLst>
          </p:cNvPr>
          <p:cNvCxnSpPr>
            <a:cxnSpLocks/>
          </p:cNvCxnSpPr>
          <p:nvPr/>
        </p:nvCxnSpPr>
        <p:spPr>
          <a:xfrm>
            <a:off x="1428788" y="1434836"/>
            <a:ext cx="337524" cy="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500"/>
                            </p:stCondLst>
                            <p:childTnLst>
                              <p:par>
                                <p:cTn id="13" presetID="9" presetClass="entr" presetSubtype="0" fill="hold" nodeType="afterEffect">
                                  <p:stCondLst>
                                    <p:cond delay="3500"/>
                                  </p:stCondLst>
                                  <p:childTnLst>
                                    <p:set>
                                      <p:cBhvr>
                                        <p:cTn id="14" dur="1" fill="hold">
                                          <p:stCondLst>
                                            <p:cond delay="0"/>
                                          </p:stCondLst>
                                        </p:cTn>
                                        <p:tgtEl>
                                          <p:spTgt spid="13"/>
                                        </p:tgtEl>
                                        <p:attrNameLst>
                                          <p:attrName>style.visibility</p:attrName>
                                        </p:attrNameLst>
                                      </p:cBhvr>
                                      <p:to>
                                        <p:strVal val="visible"/>
                                      </p:to>
                                    </p:set>
                                    <p:animEffect transition="in" filter="dissolve">
                                      <p:cBhvr>
                                        <p:cTn id="15" dur="500"/>
                                        <p:tgtEl>
                                          <p:spTgt spid="13"/>
                                        </p:tgtEl>
                                      </p:cBhvr>
                                    </p:animEffect>
                                  </p:childTnLst>
                                </p:cTn>
                              </p:par>
                            </p:childTnLst>
                          </p:cTn>
                        </p:par>
                        <p:par>
                          <p:cTn id="16" fill="hold">
                            <p:stCondLst>
                              <p:cond delay="5500"/>
                            </p:stCondLst>
                            <p:childTnLst>
                              <p:par>
                                <p:cTn id="17" presetID="3" presetClass="entr" presetSubtype="10" fill="hold" grpId="0" nodeType="after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blinds(horizontal)">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9"/>
          <p:cNvSpPr txBox="1">
            <a:spLocks noGrp="1"/>
          </p:cNvSpPr>
          <p:nvPr>
            <p:ph type="title"/>
          </p:nvPr>
        </p:nvSpPr>
        <p:spPr>
          <a:xfrm>
            <a:off x="513082" y="3225300"/>
            <a:ext cx="7708800" cy="1253700"/>
          </a:xfrm>
          <a:prstGeom prst="rect">
            <a:avLst/>
          </a:prstGeom>
        </p:spPr>
        <p:txBody>
          <a:bodyPr spcFirstLastPara="1" wrap="square" lIns="91425" tIns="91425" rIns="91425" bIns="91425" anchor="t" anchorCtr="0">
            <a:noAutofit/>
          </a:bodyPr>
          <a:lstStyle/>
          <a:p>
            <a:r>
              <a:rPr lang="fa-IR" sz="4800" dirty="0">
                <a:solidFill>
                  <a:schemeClr val="tx1"/>
                </a:solidFill>
                <a:effectLst/>
                <a:latin typeface="NotoSansArabic"/>
              </a:rPr>
              <a:t>مقدمه ای بر برآورد تلاش </a:t>
            </a:r>
            <a:endParaRPr lang="fa-IR" sz="19900" dirty="0">
              <a:solidFill>
                <a:schemeClr val="tx1"/>
              </a:solidFill>
              <a:effectLst/>
            </a:endParaRPr>
          </a:p>
        </p:txBody>
      </p:sp>
      <p:sp>
        <p:nvSpPr>
          <p:cNvPr id="235" name="Google Shape;235;p39"/>
          <p:cNvSpPr txBox="1">
            <a:spLocks noGrp="1"/>
          </p:cNvSpPr>
          <p:nvPr>
            <p:ph type="title" idx="2"/>
          </p:nvPr>
        </p:nvSpPr>
        <p:spPr>
          <a:xfrm>
            <a:off x="715100" y="2165699"/>
            <a:ext cx="7708800" cy="125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cxnSp>
        <p:nvCxnSpPr>
          <p:cNvPr id="237" name="Google Shape;237;p39">
            <a:hlinkClick r:id="" action="ppaction://hlinkshowjump?jump=nextslide"/>
          </p:cNvPr>
          <p:cNvCxnSpPr/>
          <p:nvPr/>
        </p:nvCxnSpPr>
        <p:spPr>
          <a:xfrm>
            <a:off x="1055342" y="2182418"/>
            <a:ext cx="483300" cy="0"/>
          </a:xfrm>
          <a:prstGeom prst="straightConnector1">
            <a:avLst/>
          </a:prstGeom>
          <a:noFill/>
          <a:ln w="9525" cap="flat" cmpd="sng">
            <a:solidFill>
              <a:schemeClr val="dk1"/>
            </a:solidFill>
            <a:prstDash val="solid"/>
            <a:round/>
            <a:headEnd type="none" w="med" len="med"/>
            <a:tailEnd type="triangle" w="med" len="med"/>
          </a:ln>
        </p:spPr>
      </p:cxnSp>
      <p:sp>
        <p:nvSpPr>
          <p:cNvPr id="5" name="Google Shape;190;p35">
            <a:extLst>
              <a:ext uri="{FF2B5EF4-FFF2-40B4-BE49-F238E27FC236}">
                <a16:creationId xmlns:a16="http://schemas.microsoft.com/office/drawing/2014/main" id="{15003C9D-0A63-7D4B-B600-DB6A6741C906}"/>
              </a:ext>
            </a:extLst>
          </p:cNvPr>
          <p:cNvSpPr txBox="1">
            <a:spLocks/>
          </p:cNvSpPr>
          <p:nvPr/>
        </p:nvSpPr>
        <p:spPr>
          <a:xfrm>
            <a:off x="251044" y="1904132"/>
            <a:ext cx="1608595"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400" dirty="0" err="1"/>
              <a:t>Parsa</a:t>
            </a:r>
            <a:r>
              <a:rPr lang="en-US" sz="1400" dirty="0"/>
              <a:t> </a:t>
            </a:r>
            <a:r>
              <a:rPr lang="en-US" sz="1000" dirty="0" err="1"/>
              <a:t>Banitaba</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3" name="Google Shape;661;p70">
            <a:extLst>
              <a:ext uri="{FF2B5EF4-FFF2-40B4-BE49-F238E27FC236}">
                <a16:creationId xmlns:a16="http://schemas.microsoft.com/office/drawing/2014/main" id="{E9D05F5B-5C6E-054C-9CD3-DD222E6EA4CA}"/>
              </a:ext>
            </a:extLst>
          </p:cNvPr>
          <p:cNvPicPr preferRelativeResize="0"/>
          <p:nvPr/>
        </p:nvPicPr>
        <p:blipFill>
          <a:blip r:embed="rId3">
            <a:alphaModFix/>
          </a:blip>
          <a:stretch>
            <a:fillRect/>
          </a:stretch>
        </p:blipFill>
        <p:spPr>
          <a:xfrm rot="10800000">
            <a:off x="-1465918" y="-527572"/>
            <a:ext cx="3101955" cy="1338255"/>
          </a:xfrm>
          <a:prstGeom prst="rect">
            <a:avLst/>
          </a:prstGeom>
          <a:noFill/>
          <a:ln>
            <a:noFill/>
          </a:ln>
        </p:spPr>
      </p:pic>
      <p:sp>
        <p:nvSpPr>
          <p:cNvPr id="4" name="Google Shape;234;p39">
            <a:extLst>
              <a:ext uri="{FF2B5EF4-FFF2-40B4-BE49-F238E27FC236}">
                <a16:creationId xmlns:a16="http://schemas.microsoft.com/office/drawing/2014/main" id="{692BA353-53BF-0249-93C7-C9D5AFA67945}"/>
              </a:ext>
            </a:extLst>
          </p:cNvPr>
          <p:cNvSpPr txBox="1">
            <a:spLocks noGrp="1"/>
          </p:cNvSpPr>
          <p:nvPr>
            <p:ph type="title"/>
          </p:nvPr>
        </p:nvSpPr>
        <p:spPr>
          <a:xfrm>
            <a:off x="1226472" y="346677"/>
            <a:ext cx="7430192" cy="1253700"/>
          </a:xfrm>
          <a:prstGeom prst="rect">
            <a:avLst/>
          </a:prstGeom>
        </p:spPr>
        <p:txBody>
          <a:bodyPr spcFirstLastPara="1" wrap="square" lIns="91425" tIns="91425" rIns="91425" bIns="91425" anchor="t" anchorCtr="0">
            <a:noAutofit/>
          </a:bodyPr>
          <a:lstStyle/>
          <a:p>
            <a:pPr algn="r">
              <a:lnSpc>
                <a:spcPct val="150000"/>
              </a:lnSpc>
            </a:pPr>
            <a:r>
              <a:rPr lang="fa-IR" sz="1600" dirty="0">
                <a:solidFill>
                  <a:srgbClr val="2D2D2D"/>
                </a:solidFill>
                <a:effectLst/>
                <a:latin typeface="NotoSansArabic"/>
              </a:rPr>
              <a:t>انگیزه تخمین تلاش در پروژه های نرم افزاری از این واقعیت ناشی می شود که از نظر تاریخی، اکثر پروژه های توسعه نرم افزار: </a:t>
            </a:r>
            <a:br>
              <a:rPr lang="fa-IR" sz="3200" dirty="0">
                <a:effectLst/>
              </a:rPr>
            </a:br>
            <a:endParaRPr lang="fa-IR" sz="3200" dirty="0">
              <a:effectLst/>
            </a:endParaRPr>
          </a:p>
        </p:txBody>
      </p:sp>
      <p:sp>
        <p:nvSpPr>
          <p:cNvPr id="3" name="TextBox 2">
            <a:extLst>
              <a:ext uri="{FF2B5EF4-FFF2-40B4-BE49-F238E27FC236}">
                <a16:creationId xmlns:a16="http://schemas.microsoft.com/office/drawing/2014/main" id="{E1AF966D-568D-DF47-A19B-FDE4F7937C74}"/>
              </a:ext>
            </a:extLst>
          </p:cNvPr>
          <p:cNvSpPr txBox="1"/>
          <p:nvPr/>
        </p:nvSpPr>
        <p:spPr>
          <a:xfrm>
            <a:off x="8150252" y="1223359"/>
            <a:ext cx="338554" cy="461665"/>
          </a:xfrm>
          <a:prstGeom prst="rect">
            <a:avLst/>
          </a:prstGeom>
          <a:noFill/>
        </p:spPr>
        <p:txBody>
          <a:bodyPr wrap="none" rtlCol="0">
            <a:spAutoFit/>
          </a:bodyPr>
          <a:lstStyle/>
          <a:p>
            <a:r>
              <a:rPr lang="fa-IR" sz="2400" dirty="0">
                <a:solidFill>
                  <a:srgbClr val="2D2D2D"/>
                </a:solidFill>
                <a:effectLst/>
                <a:latin typeface="NotoSans"/>
              </a:rPr>
              <a:t>•</a:t>
            </a:r>
            <a:endParaRPr lang="en-US" sz="2400" dirty="0">
              <a:solidFill>
                <a:srgbClr val="0269AE"/>
              </a:solidFill>
            </a:endParaRPr>
          </a:p>
        </p:txBody>
      </p:sp>
      <p:sp>
        <p:nvSpPr>
          <p:cNvPr id="8" name="Google Shape;234;p39">
            <a:extLst>
              <a:ext uri="{FF2B5EF4-FFF2-40B4-BE49-F238E27FC236}">
                <a16:creationId xmlns:a16="http://schemas.microsoft.com/office/drawing/2014/main" id="{35FBA324-D35E-094B-A5CE-5033B66EE92C}"/>
              </a:ext>
            </a:extLst>
          </p:cNvPr>
          <p:cNvSpPr txBox="1">
            <a:spLocks noGrp="1"/>
          </p:cNvSpPr>
          <p:nvPr/>
        </p:nvSpPr>
        <p:spPr>
          <a:xfrm>
            <a:off x="5329566" y="1244472"/>
            <a:ext cx="4343302" cy="4976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r>
              <a:rPr lang="fa-IR" sz="1200" dirty="0">
                <a:solidFill>
                  <a:srgbClr val="0269AE"/>
                </a:solidFill>
                <a:effectLst/>
                <a:latin typeface="NotoSansArabic"/>
              </a:rPr>
              <a:t>بیش از حد انتظار برای تکمیل وقت بگذارید</a:t>
            </a:r>
            <a:endParaRPr lang="fa-IR" sz="900" dirty="0">
              <a:solidFill>
                <a:srgbClr val="0269AE"/>
              </a:solidFill>
              <a:effectLst/>
            </a:endParaRPr>
          </a:p>
        </p:txBody>
      </p:sp>
      <p:sp>
        <p:nvSpPr>
          <p:cNvPr id="12" name="Google Shape;234;p39">
            <a:extLst>
              <a:ext uri="{FF2B5EF4-FFF2-40B4-BE49-F238E27FC236}">
                <a16:creationId xmlns:a16="http://schemas.microsoft.com/office/drawing/2014/main" id="{5AC154B4-92C5-234D-8601-E114FCD20AE9}"/>
              </a:ext>
            </a:extLst>
          </p:cNvPr>
          <p:cNvSpPr txBox="1">
            <a:spLocks noGrp="1"/>
          </p:cNvSpPr>
          <p:nvPr/>
        </p:nvSpPr>
        <p:spPr>
          <a:xfrm>
            <a:off x="6079337" y="1647610"/>
            <a:ext cx="7708800" cy="4061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r>
              <a:rPr lang="fa-IR" sz="1200" dirty="0">
                <a:solidFill>
                  <a:srgbClr val="0269AE"/>
                </a:solidFill>
                <a:effectLst/>
                <a:latin typeface="NotoSansArabic"/>
              </a:rPr>
              <a:t>هزینه بسیار بیشتر از حد انتظار  </a:t>
            </a:r>
            <a:endParaRPr lang="fa-IR" sz="500" dirty="0">
              <a:solidFill>
                <a:srgbClr val="0269AE"/>
              </a:solidFill>
              <a:effectLst/>
            </a:endParaRPr>
          </a:p>
        </p:txBody>
      </p:sp>
      <p:sp>
        <p:nvSpPr>
          <p:cNvPr id="13" name="TextBox 12">
            <a:extLst>
              <a:ext uri="{FF2B5EF4-FFF2-40B4-BE49-F238E27FC236}">
                <a16:creationId xmlns:a16="http://schemas.microsoft.com/office/drawing/2014/main" id="{D36B0915-41BE-6049-B181-F1307A48E466}"/>
              </a:ext>
            </a:extLst>
          </p:cNvPr>
          <p:cNvSpPr txBox="1"/>
          <p:nvPr/>
        </p:nvSpPr>
        <p:spPr>
          <a:xfrm>
            <a:off x="8150252" y="1615132"/>
            <a:ext cx="338554" cy="461665"/>
          </a:xfrm>
          <a:prstGeom prst="rect">
            <a:avLst/>
          </a:prstGeom>
          <a:noFill/>
        </p:spPr>
        <p:txBody>
          <a:bodyPr wrap="none" rtlCol="0">
            <a:spAutoFit/>
          </a:bodyPr>
          <a:lstStyle/>
          <a:p>
            <a:r>
              <a:rPr lang="fa-IR" sz="2400" dirty="0">
                <a:solidFill>
                  <a:srgbClr val="2D2D2D"/>
                </a:solidFill>
                <a:effectLst/>
                <a:latin typeface="NotoSans"/>
              </a:rPr>
              <a:t>•</a:t>
            </a:r>
            <a:endParaRPr lang="en-US" sz="2400" dirty="0">
              <a:solidFill>
                <a:srgbClr val="0269AE"/>
              </a:solidFill>
            </a:endParaRPr>
          </a:p>
        </p:txBody>
      </p:sp>
      <p:sp>
        <p:nvSpPr>
          <p:cNvPr id="14" name="TextBox 13">
            <a:extLst>
              <a:ext uri="{FF2B5EF4-FFF2-40B4-BE49-F238E27FC236}">
                <a16:creationId xmlns:a16="http://schemas.microsoft.com/office/drawing/2014/main" id="{9B418153-1B94-9640-BFB6-65533CDC6925}"/>
              </a:ext>
            </a:extLst>
          </p:cNvPr>
          <p:cNvSpPr txBox="1"/>
          <p:nvPr/>
        </p:nvSpPr>
        <p:spPr>
          <a:xfrm>
            <a:off x="8150252" y="2002516"/>
            <a:ext cx="338554" cy="461665"/>
          </a:xfrm>
          <a:prstGeom prst="rect">
            <a:avLst/>
          </a:prstGeom>
          <a:noFill/>
        </p:spPr>
        <p:txBody>
          <a:bodyPr wrap="none" rtlCol="0">
            <a:spAutoFit/>
          </a:bodyPr>
          <a:lstStyle/>
          <a:p>
            <a:r>
              <a:rPr lang="fa-IR" sz="2400" dirty="0">
                <a:solidFill>
                  <a:srgbClr val="2D2D2D"/>
                </a:solidFill>
                <a:effectLst/>
                <a:latin typeface="NotoSans"/>
              </a:rPr>
              <a:t>•</a:t>
            </a:r>
            <a:endParaRPr lang="en-US" sz="2400" dirty="0">
              <a:solidFill>
                <a:srgbClr val="0269AE"/>
              </a:solidFill>
            </a:endParaRPr>
          </a:p>
        </p:txBody>
      </p:sp>
      <p:sp>
        <p:nvSpPr>
          <p:cNvPr id="15" name="Google Shape;234;p39">
            <a:extLst>
              <a:ext uri="{FF2B5EF4-FFF2-40B4-BE49-F238E27FC236}">
                <a16:creationId xmlns:a16="http://schemas.microsoft.com/office/drawing/2014/main" id="{9CDDFE31-570A-C146-9372-6624BA9A0C6D}"/>
              </a:ext>
            </a:extLst>
          </p:cNvPr>
          <p:cNvSpPr txBox="1">
            <a:spLocks noGrp="1"/>
          </p:cNvSpPr>
          <p:nvPr/>
        </p:nvSpPr>
        <p:spPr>
          <a:xfrm>
            <a:off x="4700876" y="2033985"/>
            <a:ext cx="5257897" cy="4061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r>
              <a:rPr lang="fa-IR" sz="1200" dirty="0">
                <a:solidFill>
                  <a:srgbClr val="0269AE"/>
                </a:solidFill>
                <a:effectLst/>
                <a:latin typeface="NotoSansArabic"/>
              </a:rPr>
              <a:t>محصولی تولید کنید که کیفیت مورد انتظار را ندارد </a:t>
            </a:r>
            <a:endParaRPr lang="fa-IR" sz="500" dirty="0">
              <a:solidFill>
                <a:srgbClr val="0269AE"/>
              </a:solidFill>
              <a:effectLst/>
            </a:endParaRPr>
          </a:p>
        </p:txBody>
      </p:sp>
      <p:sp>
        <p:nvSpPr>
          <p:cNvPr id="16" name="TextBox 2">
            <a:extLst>
              <a:ext uri="{FF2B5EF4-FFF2-40B4-BE49-F238E27FC236}">
                <a16:creationId xmlns:a16="http://schemas.microsoft.com/office/drawing/2014/main" id="{E1AF966D-568D-DF47-A19B-FDE4F7937C74}"/>
              </a:ext>
            </a:extLst>
          </p:cNvPr>
          <p:cNvSpPr txBox="1"/>
          <p:nvPr/>
        </p:nvSpPr>
        <p:spPr>
          <a:xfrm>
            <a:off x="8150252" y="2370288"/>
            <a:ext cx="338554" cy="461665"/>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a-IR" sz="2400" dirty="0">
                <a:solidFill>
                  <a:srgbClr val="2D2D2D"/>
                </a:solidFill>
                <a:effectLst/>
                <a:latin typeface="NotoSans"/>
              </a:rPr>
              <a:t>•</a:t>
            </a:r>
            <a:endParaRPr lang="en-US" sz="2400" dirty="0">
              <a:solidFill>
                <a:srgbClr val="0269AE"/>
              </a:solidFill>
            </a:endParaRPr>
          </a:p>
        </p:txBody>
      </p:sp>
      <p:sp>
        <p:nvSpPr>
          <p:cNvPr id="17" name="Google Shape;234;p39">
            <a:extLst>
              <a:ext uri="{FF2B5EF4-FFF2-40B4-BE49-F238E27FC236}">
                <a16:creationId xmlns:a16="http://schemas.microsoft.com/office/drawing/2014/main" id="{43C158B4-258E-9449-B599-2011F0372C39}"/>
              </a:ext>
            </a:extLst>
          </p:cNvPr>
          <p:cNvSpPr txBox="1">
            <a:spLocks noGrp="1"/>
          </p:cNvSpPr>
          <p:nvPr/>
        </p:nvSpPr>
        <p:spPr>
          <a:xfrm>
            <a:off x="3831334" y="2411307"/>
            <a:ext cx="6523170" cy="4061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r>
              <a:rPr lang="fa-IR" sz="1200" dirty="0">
                <a:solidFill>
                  <a:srgbClr val="0269AE"/>
                </a:solidFill>
                <a:effectLst/>
                <a:latin typeface="NotoSansArabic"/>
              </a:rPr>
              <a:t>محصولی تولید کنید که دامنه و بازه مورد انتظار را نداشته باشد </a:t>
            </a:r>
            <a:endParaRPr lang="fa-IR" sz="500" dirty="0">
              <a:solidFill>
                <a:srgbClr val="0269AE"/>
              </a:solidFill>
              <a:effectLst/>
            </a:endParaRPr>
          </a:p>
        </p:txBody>
      </p:sp>
      <p:cxnSp>
        <p:nvCxnSpPr>
          <p:cNvPr id="18" name="Google Shape;237;p39">
            <a:hlinkClick r:id="" action="ppaction://hlinkshowjump?jump=nextslide"/>
            <a:extLst>
              <a:ext uri="{FF2B5EF4-FFF2-40B4-BE49-F238E27FC236}">
                <a16:creationId xmlns:a16="http://schemas.microsoft.com/office/drawing/2014/main" id="{0A2381C1-E497-1348-BD33-8DF928000B05}"/>
              </a:ext>
            </a:extLst>
          </p:cNvPr>
          <p:cNvCxnSpPr/>
          <p:nvPr/>
        </p:nvCxnSpPr>
        <p:spPr>
          <a:xfrm>
            <a:off x="289798" y="4670435"/>
            <a:ext cx="483300" cy="0"/>
          </a:xfrm>
          <a:prstGeom prst="straightConnector1">
            <a:avLst/>
          </a:prstGeom>
          <a:noFill/>
          <a:ln w="9525" cap="flat" cmpd="sng">
            <a:solidFill>
              <a:schemeClr val="dk1"/>
            </a:solidFill>
            <a:prstDash val="solid"/>
            <a:round/>
            <a:headEnd type="none" w="med" len="med"/>
            <a:tailEnd type="triangle" w="med" len="med"/>
          </a:ln>
        </p:spPr>
      </p:cxnSp>
      <p:sp>
        <p:nvSpPr>
          <p:cNvPr id="20" name="Google Shape;234;p39">
            <a:extLst>
              <a:ext uri="{FF2B5EF4-FFF2-40B4-BE49-F238E27FC236}">
                <a16:creationId xmlns:a16="http://schemas.microsoft.com/office/drawing/2014/main" id="{F0E7E7F6-8999-A946-9833-E6036472093E}"/>
              </a:ext>
            </a:extLst>
          </p:cNvPr>
          <p:cNvSpPr txBox="1">
            <a:spLocks noGrp="1"/>
          </p:cNvSpPr>
          <p:nvPr/>
        </p:nvSpPr>
        <p:spPr>
          <a:xfrm>
            <a:off x="749348" y="2845784"/>
            <a:ext cx="8923520" cy="27326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pPr marL="1188720" algn="r" rtl="1">
              <a:lnSpc>
                <a:spcPct val="150000"/>
              </a:lnSpc>
            </a:pPr>
            <a:r>
              <a:rPr lang="fa-IR" sz="1200" dirty="0"/>
              <a:t>بنابراین </a:t>
            </a:r>
            <a:r>
              <a:rPr lang="fa-IR" sz="1200" b="1" dirty="0"/>
              <a:t>نکته</a:t>
            </a:r>
            <a:r>
              <a:rPr lang="fa-IR" sz="1200" dirty="0"/>
              <a:t> این است که تیم های توسعه نرم افزار و مشتریان باید بیاموزند که</a:t>
            </a:r>
          </a:p>
          <a:p>
            <a:pPr marL="1188720" algn="r" rtl="1">
              <a:lnSpc>
                <a:spcPct val="150000"/>
              </a:lnSpc>
            </a:pPr>
            <a:r>
              <a:rPr lang="fa-IR" sz="1200" dirty="0"/>
              <a:t> </a:t>
            </a:r>
            <a:r>
              <a:rPr lang="fa-IR" sz="1200" dirty="0">
                <a:solidFill>
                  <a:srgbClr val="0269AE"/>
                </a:solidFill>
              </a:rPr>
              <a:t>انتظار</a:t>
            </a:r>
            <a:r>
              <a:rPr lang="fa-IR" sz="1200" dirty="0"/>
              <a:t> </a:t>
            </a:r>
            <a:r>
              <a:rPr lang="fa-IR" sz="1200" dirty="0">
                <a:solidFill>
                  <a:srgbClr val="0269AE"/>
                </a:solidFill>
              </a:rPr>
              <a:t>زمان</a:t>
            </a:r>
            <a:r>
              <a:rPr lang="fa-IR" sz="1400" b="1" dirty="0"/>
              <a:t>،</a:t>
            </a:r>
            <a:r>
              <a:rPr lang="fa-IR" sz="1200" dirty="0"/>
              <a:t> </a:t>
            </a:r>
            <a:r>
              <a:rPr lang="fa-IR" sz="1200" dirty="0">
                <a:solidFill>
                  <a:srgbClr val="0269AE"/>
                </a:solidFill>
              </a:rPr>
              <a:t>هزینه</a:t>
            </a:r>
            <a:r>
              <a:rPr lang="fa-IR" sz="1400" b="1" dirty="0"/>
              <a:t>،</a:t>
            </a:r>
            <a:r>
              <a:rPr lang="fa-IR" sz="1200" dirty="0"/>
              <a:t> </a:t>
            </a:r>
            <a:r>
              <a:rPr lang="fa-IR" sz="1200" dirty="0">
                <a:solidFill>
                  <a:srgbClr val="0269AE"/>
                </a:solidFill>
              </a:rPr>
              <a:t>کیفیت</a:t>
            </a:r>
            <a:r>
              <a:rPr lang="fa-IR" sz="1200" dirty="0"/>
              <a:t> و </a:t>
            </a:r>
            <a:r>
              <a:rPr lang="fa-IR" sz="1200" dirty="0">
                <a:solidFill>
                  <a:srgbClr val="0269AE"/>
                </a:solidFill>
              </a:rPr>
              <a:t>محدوده مناسب</a:t>
            </a:r>
            <a:r>
              <a:rPr lang="fa-IR" sz="1200" dirty="0"/>
              <a:t> را در مورد پروژه خود داشته باشند. برای دستیابی به این اهداف از تکنیکهای </a:t>
            </a:r>
            <a:r>
              <a:rPr lang="fa-IR" sz="1200" dirty="0">
                <a:solidFill>
                  <a:srgbClr val="0269AE"/>
                </a:solidFill>
              </a:rPr>
              <a:t>تخمین تلاش استفاده </a:t>
            </a:r>
            <a:r>
              <a:rPr lang="fa-IR" sz="1200" dirty="0"/>
              <a:t>می شود. </a:t>
            </a:r>
            <a:endParaRPr lang="fa-IR" sz="100" dirty="0"/>
          </a:p>
          <a:p>
            <a:pPr marL="1188720" algn="r" rtl="1">
              <a:lnSpc>
                <a:spcPct val="150000"/>
              </a:lnSpc>
            </a:pPr>
            <a:r>
              <a:rPr lang="fa-IR" sz="1200" dirty="0">
                <a:solidFill>
                  <a:srgbClr val="0269AE"/>
                </a:solidFill>
              </a:rPr>
              <a:t>تخمین تلاش </a:t>
            </a:r>
            <a:r>
              <a:rPr lang="fa-IR" sz="1200" dirty="0"/>
              <a:t>ممکن است به دو گروه بزرگ تقسیم شود:  </a:t>
            </a:r>
            <a:r>
              <a:rPr lang="fa-IR" sz="1200" b="1" dirty="0" err="1">
                <a:solidFill>
                  <a:srgbClr val="0269AE"/>
                </a:solidFill>
              </a:rPr>
              <a:t>پارامتریک</a:t>
            </a:r>
            <a:r>
              <a:rPr lang="fa-IR" sz="1200" dirty="0"/>
              <a:t> و </a:t>
            </a:r>
            <a:r>
              <a:rPr lang="fa-IR" sz="1200" b="1" dirty="0" err="1">
                <a:solidFill>
                  <a:srgbClr val="0269AE"/>
                </a:solidFill>
              </a:rPr>
              <a:t>ناپارامتریک</a:t>
            </a:r>
            <a:endParaRPr lang="fa-IR" sz="1200" dirty="0"/>
          </a:p>
          <a:p>
            <a:pPr marL="1188720" algn="r" rtl="1">
              <a:lnSpc>
                <a:spcPct val="150000"/>
              </a:lnSpc>
            </a:pPr>
            <a:r>
              <a:rPr lang="fa-IR" sz="1200" dirty="0">
                <a:solidFill>
                  <a:schemeClr val="tx1">
                    <a:lumMod val="75000"/>
                    <a:lumOff val="25000"/>
                  </a:schemeClr>
                </a:solidFill>
              </a:rPr>
              <a:t>در بخشهای فرعی بعدی، هر دو مورد ارائه و بحث خواهند شد. </a:t>
            </a:r>
            <a:endParaRPr lang="fa-IR" sz="100" dirty="0">
              <a:solidFill>
                <a:schemeClr val="tx1">
                  <a:lumMod val="75000"/>
                  <a:lumOff val="25000"/>
                </a:schemeClr>
              </a:solidFill>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par>
                          <p:cTn id="40" fill="hold">
                            <p:stCondLst>
                              <p:cond delay="4500"/>
                            </p:stCondLst>
                            <p:childTnLst>
                              <p:par>
                                <p:cTn id="41" presetID="41" presetClass="entr" presetSubtype="0" fill="hold" grpId="1" nodeType="afterEffect">
                                  <p:stCondLst>
                                    <p:cond delay="0"/>
                                  </p:stCondLst>
                                  <p:iterate type="lt">
                                    <p:tmPct val="10000"/>
                                  </p:iterate>
                                  <p:childTnLst>
                                    <p:set>
                                      <p:cBhvr>
                                        <p:cTn id="42" dur="1" fill="hold">
                                          <p:stCondLst>
                                            <p:cond delay="0"/>
                                          </p:stCondLst>
                                        </p:cTn>
                                        <p:tgtEl>
                                          <p:spTgt spid="20"/>
                                        </p:tgtEl>
                                        <p:attrNameLst>
                                          <p:attrName>style.visibility</p:attrName>
                                        </p:attrNameLst>
                                      </p:cBhvr>
                                      <p:to>
                                        <p:strVal val="visible"/>
                                      </p:to>
                                    </p:set>
                                    <p:anim calcmode="lin" valueType="num">
                                      <p:cBhvr>
                                        <p:cTn id="43" dur="31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44" dur="310" fill="hold"/>
                                        <p:tgtEl>
                                          <p:spTgt spid="20"/>
                                        </p:tgtEl>
                                        <p:attrNameLst>
                                          <p:attrName>ppt_y</p:attrName>
                                        </p:attrNameLst>
                                      </p:cBhvr>
                                      <p:tavLst>
                                        <p:tav tm="0">
                                          <p:val>
                                            <p:strVal val="#ppt_y"/>
                                          </p:val>
                                        </p:tav>
                                        <p:tav tm="100000">
                                          <p:val>
                                            <p:strVal val="#ppt_y"/>
                                          </p:val>
                                        </p:tav>
                                      </p:tavLst>
                                    </p:anim>
                                    <p:anim calcmode="lin" valueType="num">
                                      <p:cBhvr>
                                        <p:cTn id="45" dur="31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46" dur="31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47" dur="310" tmFilter="0,0; .5, 1; 1, 1"/>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8" grpId="0"/>
      <p:bldP spid="12" grpId="0"/>
      <p:bldP spid="13" grpId="0"/>
      <p:bldP spid="14" grpId="0"/>
      <p:bldP spid="15" grpId="0"/>
      <p:bldP spid="16" grpId="0"/>
      <p:bldP spid="17" grpId="0"/>
      <p:bldP spid="20"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15" name="Google Shape;661;p70">
            <a:extLst>
              <a:ext uri="{FF2B5EF4-FFF2-40B4-BE49-F238E27FC236}">
                <a16:creationId xmlns:a16="http://schemas.microsoft.com/office/drawing/2014/main" id="{312DE7F7-35D9-6D4C-8395-BFB2A43EA795}"/>
              </a:ext>
            </a:extLst>
          </p:cNvPr>
          <p:cNvPicPr preferRelativeResize="0"/>
          <p:nvPr/>
        </p:nvPicPr>
        <p:blipFill>
          <a:blip r:embed="rId3">
            <a:alphaModFix/>
          </a:blip>
          <a:stretch>
            <a:fillRect/>
          </a:stretch>
        </p:blipFill>
        <p:spPr>
          <a:xfrm rot="10800000">
            <a:off x="1076606" y="-594700"/>
            <a:ext cx="3101955" cy="1338255"/>
          </a:xfrm>
          <a:prstGeom prst="rect">
            <a:avLst/>
          </a:prstGeom>
          <a:noFill/>
          <a:ln>
            <a:noFill/>
          </a:ln>
        </p:spPr>
      </p:pic>
      <p:pic>
        <p:nvPicPr>
          <p:cNvPr id="3" name="Google Shape;661;p70">
            <a:extLst>
              <a:ext uri="{FF2B5EF4-FFF2-40B4-BE49-F238E27FC236}">
                <a16:creationId xmlns:a16="http://schemas.microsoft.com/office/drawing/2014/main" id="{1D3E97BF-E3C8-AA47-8C08-C40C4D809D8C}"/>
              </a:ext>
            </a:extLst>
          </p:cNvPr>
          <p:cNvPicPr preferRelativeResize="0"/>
          <p:nvPr/>
        </p:nvPicPr>
        <p:blipFill>
          <a:blip r:embed="rId3">
            <a:alphaModFix/>
          </a:blip>
          <a:stretch>
            <a:fillRect/>
          </a:stretch>
        </p:blipFill>
        <p:spPr>
          <a:xfrm rot="10800000">
            <a:off x="-1061881" y="4370706"/>
            <a:ext cx="3101955" cy="1338255"/>
          </a:xfrm>
          <a:prstGeom prst="rect">
            <a:avLst/>
          </a:prstGeom>
          <a:noFill/>
          <a:ln>
            <a:noFill/>
          </a:ln>
        </p:spPr>
      </p:pic>
      <p:cxnSp>
        <p:nvCxnSpPr>
          <p:cNvPr id="4" name="Google Shape;237;p39">
            <a:hlinkClick r:id="" action="ppaction://hlinkshowjump?jump=nextslide"/>
            <a:extLst>
              <a:ext uri="{FF2B5EF4-FFF2-40B4-BE49-F238E27FC236}">
                <a16:creationId xmlns:a16="http://schemas.microsoft.com/office/drawing/2014/main" id="{576BFB02-DE37-F342-A793-9E8CBE9687DB}"/>
              </a:ext>
            </a:extLst>
          </p:cNvPr>
          <p:cNvCxnSpPr/>
          <p:nvPr/>
        </p:nvCxnSpPr>
        <p:spPr>
          <a:xfrm>
            <a:off x="8381175" y="4553478"/>
            <a:ext cx="483300" cy="0"/>
          </a:xfrm>
          <a:prstGeom prst="straightConnector1">
            <a:avLst/>
          </a:prstGeom>
          <a:noFill/>
          <a:ln w="9525" cap="flat" cmpd="sng">
            <a:solidFill>
              <a:schemeClr val="dk1"/>
            </a:solidFill>
            <a:prstDash val="solid"/>
            <a:round/>
            <a:headEnd type="none" w="med" len="med"/>
            <a:tailEnd type="triangle" w="med" len="med"/>
          </a:ln>
        </p:spPr>
      </p:cxnSp>
      <p:sp>
        <p:nvSpPr>
          <p:cNvPr id="5" name="Google Shape;234;p39">
            <a:extLst>
              <a:ext uri="{FF2B5EF4-FFF2-40B4-BE49-F238E27FC236}">
                <a16:creationId xmlns:a16="http://schemas.microsoft.com/office/drawing/2014/main" id="{A764905E-3137-D54B-9306-C5B72E495158}"/>
              </a:ext>
            </a:extLst>
          </p:cNvPr>
          <p:cNvSpPr txBox="1">
            <a:spLocks noGrp="1"/>
          </p:cNvSpPr>
          <p:nvPr>
            <p:ph type="title"/>
          </p:nvPr>
        </p:nvSpPr>
        <p:spPr>
          <a:xfrm>
            <a:off x="-2586378" y="3181611"/>
            <a:ext cx="7708800" cy="1253700"/>
          </a:xfrm>
          <a:prstGeom prst="rect">
            <a:avLst/>
          </a:prstGeom>
        </p:spPr>
        <p:txBody>
          <a:bodyPr spcFirstLastPara="1" wrap="square" lIns="91425" tIns="91425" rIns="91425" bIns="91425" anchor="t" anchorCtr="0">
            <a:noAutofit/>
          </a:bodyPr>
          <a:lstStyle/>
          <a:p>
            <a:pPr algn="r" rtl="1"/>
            <a:r>
              <a:rPr lang="fa-IR" sz="4000" dirty="0">
                <a:solidFill>
                  <a:schemeClr val="tx1"/>
                </a:solidFill>
                <a:effectLst/>
                <a:latin typeface="NotoSansArabic"/>
              </a:rPr>
              <a:t>تکنیک های</a:t>
            </a:r>
            <a:r>
              <a:rPr lang="fa-IR" sz="4000" dirty="0">
                <a:solidFill>
                  <a:schemeClr val="tx1"/>
                </a:solidFill>
                <a:effectLst/>
                <a:latin typeface="NotoSans"/>
              </a:rPr>
              <a:t> </a:t>
            </a:r>
            <a:r>
              <a:rPr lang="en-US" sz="4800" dirty="0">
                <a:solidFill>
                  <a:schemeClr val="tx1"/>
                </a:solidFill>
                <a:effectLst/>
                <a:latin typeface="NotoSans"/>
              </a:rPr>
              <a:t>Ad hoc</a:t>
            </a:r>
            <a:endParaRPr lang="en-US" sz="6600" dirty="0">
              <a:solidFill>
                <a:schemeClr val="tx1"/>
              </a:solidFill>
              <a:effectLst/>
            </a:endParaRPr>
          </a:p>
        </p:txBody>
      </p:sp>
      <p:sp>
        <p:nvSpPr>
          <p:cNvPr id="8" name="Subtitle 2">
            <a:extLst>
              <a:ext uri="{FF2B5EF4-FFF2-40B4-BE49-F238E27FC236}">
                <a16:creationId xmlns:a16="http://schemas.microsoft.com/office/drawing/2014/main" id="{AF53EC78-A3A5-1B41-94BF-54373276A8D0}"/>
              </a:ext>
            </a:extLst>
          </p:cNvPr>
          <p:cNvSpPr>
            <a:spLocks noGrp="1"/>
          </p:cNvSpPr>
          <p:nvPr>
            <p:ph type="subTitle" idx="1"/>
          </p:nvPr>
        </p:nvSpPr>
        <p:spPr>
          <a:xfrm>
            <a:off x="4572000" y="535000"/>
            <a:ext cx="3856800" cy="388200"/>
          </a:xfrm>
        </p:spPr>
        <p:txBody>
          <a:bodyPr/>
          <a:lstStyle/>
          <a:p>
            <a:endParaRPr lang="en-US"/>
          </a:p>
        </p:txBody>
      </p:sp>
      <p:sp>
        <p:nvSpPr>
          <p:cNvPr id="10" name="Google Shape;235;p39">
            <a:extLst>
              <a:ext uri="{FF2B5EF4-FFF2-40B4-BE49-F238E27FC236}">
                <a16:creationId xmlns:a16="http://schemas.microsoft.com/office/drawing/2014/main" id="{2956189C-5CA6-F24A-BB3C-EE44E62AA229}"/>
              </a:ext>
            </a:extLst>
          </p:cNvPr>
          <p:cNvSpPr txBox="1">
            <a:spLocks/>
          </p:cNvSpPr>
          <p:nvPr/>
        </p:nvSpPr>
        <p:spPr>
          <a:xfrm>
            <a:off x="672375" y="2342421"/>
            <a:ext cx="7708800" cy="106252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6000"/>
              <a:buFont typeface="Alexandria Medium"/>
              <a:buNone/>
              <a:defRPr sz="7000" b="0" i="0" u="none" strike="noStrike" cap="none">
                <a:solidFill>
                  <a:schemeClr val="lt2"/>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9pPr>
          </a:lstStyle>
          <a:p>
            <a:r>
              <a:rPr lang="en" dirty="0"/>
              <a:t>02</a:t>
            </a:r>
          </a:p>
        </p:txBody>
      </p:sp>
      <p:sp>
        <p:nvSpPr>
          <p:cNvPr id="9" name="TextBox 8">
            <a:extLst>
              <a:ext uri="{FF2B5EF4-FFF2-40B4-BE49-F238E27FC236}">
                <a16:creationId xmlns:a16="http://schemas.microsoft.com/office/drawing/2014/main" id="{C4D12F85-899E-F74D-B74B-37DEE0A8BB51}"/>
              </a:ext>
            </a:extLst>
          </p:cNvPr>
          <p:cNvSpPr txBox="1"/>
          <p:nvPr/>
        </p:nvSpPr>
        <p:spPr>
          <a:xfrm>
            <a:off x="523821" y="3887880"/>
            <a:ext cx="5934851" cy="307777"/>
          </a:xfrm>
          <a:prstGeom prst="rect">
            <a:avLst/>
          </a:prstGeom>
          <a:noFill/>
        </p:spPr>
        <p:txBody>
          <a:bodyPr wrap="square">
            <a:spAutoFit/>
          </a:bodyPr>
          <a:lstStyle/>
          <a:p>
            <a:r>
              <a:rPr lang="en-US">
                <a:latin typeface="Alexandria Medium" pitchFamily="2" charset="-78"/>
                <a:cs typeface="Alexandria Medium" pitchFamily="2" charset="-78"/>
              </a:rPr>
              <a:t>(</a:t>
            </a:r>
            <a:r>
              <a:rPr lang="fa-IR" sz="1400" b="1" dirty="0" err="1">
                <a:solidFill>
                  <a:srgbClr val="0269AE"/>
                </a:solidFill>
                <a:latin typeface="Alexandria Medium" pitchFamily="2" charset="-78"/>
                <a:cs typeface="Alexandria Medium" pitchFamily="2" charset="-78"/>
              </a:rPr>
              <a:t>ناپارامتریک</a:t>
            </a:r>
            <a:r>
              <a:rPr lang="en-US" b="1" dirty="0" err="1">
                <a:solidFill>
                  <a:schemeClr val="tx1"/>
                </a:solidFill>
                <a:latin typeface="Alexandria Medium" pitchFamily="2" charset="-78"/>
                <a:cs typeface="Alexandria Medium" pitchFamily="2" charset="-78"/>
              </a:rPr>
              <a:t>)</a:t>
            </a:r>
            <a:endParaRPr lang="en-US">
              <a:solidFill>
                <a:schemeClr val="tx1"/>
              </a:solidFill>
              <a:latin typeface="Alexandria Medium" pitchFamily="2" charset="-78"/>
              <a:cs typeface="Alexandria Medium"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6" name="Google Shape;661;p70">
            <a:extLst>
              <a:ext uri="{FF2B5EF4-FFF2-40B4-BE49-F238E27FC236}">
                <a16:creationId xmlns:a16="http://schemas.microsoft.com/office/drawing/2014/main" id="{3D76BA56-77BE-EC47-8250-797E3E94A992}"/>
              </a:ext>
            </a:extLst>
          </p:cNvPr>
          <p:cNvPicPr preferRelativeResize="0"/>
          <p:nvPr/>
        </p:nvPicPr>
        <p:blipFill>
          <a:blip r:embed="rId3">
            <a:alphaModFix/>
          </a:blip>
          <a:stretch>
            <a:fillRect/>
          </a:stretch>
        </p:blipFill>
        <p:spPr>
          <a:xfrm rot="20417076">
            <a:off x="3021022" y="-516563"/>
            <a:ext cx="3101955" cy="1338255"/>
          </a:xfrm>
          <a:prstGeom prst="rect">
            <a:avLst/>
          </a:prstGeom>
          <a:noFill/>
          <a:ln>
            <a:noFill/>
          </a:ln>
        </p:spPr>
      </p:pic>
      <p:cxnSp>
        <p:nvCxnSpPr>
          <p:cNvPr id="3" name="Google Shape;237;p39">
            <a:hlinkClick r:id="" action="ppaction://hlinkshowjump?jump=nextslide"/>
            <a:extLst>
              <a:ext uri="{FF2B5EF4-FFF2-40B4-BE49-F238E27FC236}">
                <a16:creationId xmlns:a16="http://schemas.microsoft.com/office/drawing/2014/main" id="{51598969-7C31-FB47-A3BE-7836ADE2CF8A}"/>
              </a:ext>
            </a:extLst>
          </p:cNvPr>
          <p:cNvCxnSpPr>
            <a:cxnSpLocks/>
          </p:cNvCxnSpPr>
          <p:nvPr/>
        </p:nvCxnSpPr>
        <p:spPr>
          <a:xfrm flipV="1">
            <a:off x="519710" y="4073236"/>
            <a:ext cx="0" cy="456491"/>
          </a:xfrm>
          <a:prstGeom prst="straightConnector1">
            <a:avLst/>
          </a:prstGeom>
          <a:noFill/>
          <a:ln w="9525" cap="flat" cmpd="sng">
            <a:solidFill>
              <a:schemeClr val="dk1"/>
            </a:solidFill>
            <a:prstDash val="solid"/>
            <a:round/>
            <a:headEnd type="none" w="med" len="med"/>
            <a:tailEnd type="triangle" w="med" len="med"/>
          </a:ln>
        </p:spPr>
      </p:cxnSp>
      <p:sp>
        <p:nvSpPr>
          <p:cNvPr id="8" name="Google Shape;234;p39">
            <a:extLst>
              <a:ext uri="{FF2B5EF4-FFF2-40B4-BE49-F238E27FC236}">
                <a16:creationId xmlns:a16="http://schemas.microsoft.com/office/drawing/2014/main" id="{3BFDE6D3-CB61-4A44-85FC-F7B635439D0B}"/>
              </a:ext>
            </a:extLst>
          </p:cNvPr>
          <p:cNvSpPr txBox="1">
            <a:spLocks noGrp="1"/>
          </p:cNvSpPr>
          <p:nvPr/>
        </p:nvSpPr>
        <p:spPr>
          <a:xfrm>
            <a:off x="-2280517" y="495221"/>
            <a:ext cx="11199016" cy="40617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pPr algn="r" rtl="1"/>
            <a:r>
              <a:rPr lang="fa-IR" sz="1300" dirty="0"/>
              <a:t>چندین</a:t>
            </a:r>
            <a:r>
              <a:rPr lang="en-US" sz="1300" dirty="0"/>
              <a:t> </a:t>
            </a:r>
            <a:r>
              <a:rPr lang="fa-IR" sz="1300" dirty="0"/>
              <a:t>تکنیک برای برآورد تلاش در چندین دهه اخیر پیشنهاد و استفاده شده است. </a:t>
            </a:r>
            <a:endParaRPr lang="fa-IR" sz="1300" dirty="0">
              <a:effectLst/>
            </a:endParaRPr>
          </a:p>
        </p:txBody>
      </p:sp>
      <p:sp>
        <p:nvSpPr>
          <p:cNvPr id="9" name="Google Shape;190;p35">
            <a:extLst>
              <a:ext uri="{FF2B5EF4-FFF2-40B4-BE49-F238E27FC236}">
                <a16:creationId xmlns:a16="http://schemas.microsoft.com/office/drawing/2014/main" id="{D1459F54-D6DE-ED40-B77F-846044F6D6CF}"/>
              </a:ext>
            </a:extLst>
          </p:cNvPr>
          <p:cNvSpPr txBox="1">
            <a:spLocks/>
          </p:cNvSpPr>
          <p:nvPr/>
        </p:nvSpPr>
        <p:spPr>
          <a:xfrm>
            <a:off x="2894303" y="1416498"/>
            <a:ext cx="1608595"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b="1" dirty="0"/>
              <a:t>Smith technique  </a:t>
            </a:r>
            <a:endParaRPr lang="en-US" sz="1200" b="1" dirty="0">
              <a:effectLst/>
            </a:endParaRPr>
          </a:p>
        </p:txBody>
      </p:sp>
      <p:sp>
        <p:nvSpPr>
          <p:cNvPr id="10" name="Google Shape;190;p35">
            <a:extLst>
              <a:ext uri="{FF2B5EF4-FFF2-40B4-BE49-F238E27FC236}">
                <a16:creationId xmlns:a16="http://schemas.microsoft.com/office/drawing/2014/main" id="{7939C10E-E030-0A4F-9D48-59BAEB9CADA9}"/>
              </a:ext>
            </a:extLst>
          </p:cNvPr>
          <p:cNvSpPr txBox="1">
            <a:spLocks/>
          </p:cNvSpPr>
          <p:nvPr/>
        </p:nvSpPr>
        <p:spPr>
          <a:xfrm>
            <a:off x="4529689" y="1628447"/>
            <a:ext cx="3005243"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”Smith, you have three months to develop that system! “</a:t>
            </a:r>
            <a:r>
              <a:rPr lang="fa-IR" sz="1200" dirty="0"/>
              <a:t> </a:t>
            </a:r>
            <a:r>
              <a:rPr lang="fa-IR" sz="1100" dirty="0">
                <a:solidFill>
                  <a:srgbClr val="0269AE"/>
                </a:solidFill>
              </a:rPr>
              <a:t>( </a:t>
            </a:r>
            <a:r>
              <a:rPr lang="en-US" sz="1000" dirty="0" err="1">
                <a:solidFill>
                  <a:srgbClr val="0269AE"/>
                </a:solidFill>
              </a:rPr>
              <a:t>اس</a:t>
            </a:r>
            <a:r>
              <a:rPr lang="fa-IR" sz="1000" dirty="0" err="1">
                <a:solidFill>
                  <a:srgbClr val="0269AE"/>
                </a:solidFill>
              </a:rPr>
              <a:t>میت</a:t>
            </a:r>
            <a:r>
              <a:rPr lang="fa-IR" sz="1000" dirty="0">
                <a:solidFill>
                  <a:srgbClr val="0269AE"/>
                </a:solidFill>
              </a:rPr>
              <a:t> محدود </a:t>
            </a:r>
            <a:r>
              <a:rPr lang="fa-IR" sz="1050" dirty="0">
                <a:solidFill>
                  <a:srgbClr val="0269AE"/>
                </a:solidFill>
              </a:rPr>
              <a:t>)</a:t>
            </a:r>
            <a:endParaRPr lang="en-US" sz="1200" dirty="0">
              <a:solidFill>
                <a:srgbClr val="0269AE"/>
              </a:solidFill>
              <a:effectLst/>
            </a:endParaRPr>
          </a:p>
        </p:txBody>
      </p:sp>
      <p:sp>
        <p:nvSpPr>
          <p:cNvPr id="11" name="Google Shape;190;p35">
            <a:extLst>
              <a:ext uri="{FF2B5EF4-FFF2-40B4-BE49-F238E27FC236}">
                <a16:creationId xmlns:a16="http://schemas.microsoft.com/office/drawing/2014/main" id="{8E25954A-0140-FC42-A16B-38E2F0138D0D}"/>
              </a:ext>
            </a:extLst>
          </p:cNvPr>
          <p:cNvSpPr txBox="1">
            <a:spLocks/>
          </p:cNvSpPr>
          <p:nvPr/>
        </p:nvSpPr>
        <p:spPr>
          <a:xfrm>
            <a:off x="4529689" y="1104158"/>
            <a:ext cx="3005243"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“Smith, tell us how much time you need to develop that system!” </a:t>
            </a:r>
            <a:endParaRPr lang="en-US" sz="1200" dirty="0">
              <a:effectLst/>
            </a:endParaRPr>
          </a:p>
        </p:txBody>
      </p:sp>
      <p:sp>
        <p:nvSpPr>
          <p:cNvPr id="16" name="Google Shape;234;p39">
            <a:extLst>
              <a:ext uri="{FF2B5EF4-FFF2-40B4-BE49-F238E27FC236}">
                <a16:creationId xmlns:a16="http://schemas.microsoft.com/office/drawing/2014/main" id="{E6FA4826-F339-E941-92B0-F94A92A7D767}"/>
              </a:ext>
            </a:extLst>
          </p:cNvPr>
          <p:cNvSpPr txBox="1">
            <a:spLocks noGrp="1"/>
          </p:cNvSpPr>
          <p:nvPr>
            <p:ph type="title"/>
          </p:nvPr>
        </p:nvSpPr>
        <p:spPr>
          <a:xfrm>
            <a:off x="2719569" y="2152736"/>
            <a:ext cx="7708800" cy="440082"/>
          </a:xfrm>
          <a:prstGeom prst="rect">
            <a:avLst/>
          </a:prstGeom>
        </p:spPr>
        <p:txBody>
          <a:bodyPr spcFirstLastPara="1" wrap="square" lIns="91425" tIns="91425" rIns="91425" bIns="91425" anchor="t" anchorCtr="0">
            <a:noAutofit/>
          </a:bodyPr>
          <a:lstStyle/>
          <a:p>
            <a:r>
              <a:rPr lang="fa-IR" sz="1000" dirty="0">
                <a:solidFill>
                  <a:srgbClr val="C00000"/>
                </a:solidFill>
              </a:rPr>
              <a:t>این رویکرد ممکن است خیلی دقیق نباشد و به شدت به تجربه شخص در برآورد تلاش نرم افزار بستگی دارد </a:t>
            </a:r>
            <a:endParaRPr lang="fa-IR" sz="4400" dirty="0">
              <a:solidFill>
                <a:srgbClr val="C00000"/>
              </a:solidFill>
              <a:effectLst/>
            </a:endParaRPr>
          </a:p>
        </p:txBody>
      </p:sp>
      <p:sp>
        <p:nvSpPr>
          <p:cNvPr id="17" name="Google Shape;190;p35">
            <a:extLst>
              <a:ext uri="{FF2B5EF4-FFF2-40B4-BE49-F238E27FC236}">
                <a16:creationId xmlns:a16="http://schemas.microsoft.com/office/drawing/2014/main" id="{B8D20F76-A9C8-3F47-97DD-8FD19649E52F}"/>
              </a:ext>
            </a:extLst>
          </p:cNvPr>
          <p:cNvSpPr txBox="1">
            <a:spLocks/>
          </p:cNvSpPr>
          <p:nvPr/>
        </p:nvSpPr>
        <p:spPr>
          <a:xfrm>
            <a:off x="2886211" y="3034095"/>
            <a:ext cx="1964085"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100" b="1" dirty="0"/>
              <a:t>Six Months technique </a:t>
            </a:r>
          </a:p>
        </p:txBody>
      </p:sp>
      <p:sp>
        <p:nvSpPr>
          <p:cNvPr id="18" name="Google Shape;190;p35">
            <a:extLst>
              <a:ext uri="{FF2B5EF4-FFF2-40B4-BE49-F238E27FC236}">
                <a16:creationId xmlns:a16="http://schemas.microsoft.com/office/drawing/2014/main" id="{35B5AE3A-39B9-6249-A622-0A313433BC93}"/>
              </a:ext>
            </a:extLst>
          </p:cNvPr>
          <p:cNvSpPr txBox="1">
            <a:spLocks/>
          </p:cNvSpPr>
          <p:nvPr/>
        </p:nvSpPr>
        <p:spPr>
          <a:xfrm>
            <a:off x="4634089" y="2786574"/>
            <a:ext cx="3923502" cy="12283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It consists of estimating “six months” for any software project at the beginning of its negotiation with the client and then adjusting it up or down as the real scope and requirements are discovered. </a:t>
            </a:r>
            <a:endParaRPr lang="en-US" sz="1200" dirty="0">
              <a:effectLst/>
            </a:endParaRPr>
          </a:p>
        </p:txBody>
      </p:sp>
      <p:sp>
        <p:nvSpPr>
          <p:cNvPr id="20" name="Google Shape;234;p39">
            <a:extLst>
              <a:ext uri="{FF2B5EF4-FFF2-40B4-BE49-F238E27FC236}">
                <a16:creationId xmlns:a16="http://schemas.microsoft.com/office/drawing/2014/main" id="{2C02B917-5845-4841-A4FE-91861341079E}"/>
              </a:ext>
            </a:extLst>
          </p:cNvPr>
          <p:cNvSpPr txBox="1">
            <a:spLocks/>
          </p:cNvSpPr>
          <p:nvPr/>
        </p:nvSpPr>
        <p:spPr>
          <a:xfrm>
            <a:off x="3947850" y="3742996"/>
            <a:ext cx="7708800"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6000"/>
              <a:buFont typeface="Alexandria Medium"/>
              <a:buNone/>
              <a:defRPr sz="6000" b="0" i="0" u="none" strike="noStrike" cap="none">
                <a:solidFill>
                  <a:schemeClr val="dk1"/>
                </a:solidFill>
                <a:latin typeface="Alexandria Medium"/>
                <a:ea typeface="Alexandria Medium"/>
                <a:cs typeface="Alexandria Medium"/>
                <a:sym typeface="Alexandria Medium"/>
              </a:defRPr>
            </a:lvl9pPr>
          </a:lstStyle>
          <a:p>
            <a:r>
              <a:rPr lang="fa-IR" sz="1000" dirty="0">
                <a:solidFill>
                  <a:srgbClr val="C00000"/>
                </a:solidFill>
              </a:rPr>
              <a:t>این تکنیک انواع مختلفی دارد که یکی دیگر از آن تکنیک </a:t>
            </a:r>
            <a:r>
              <a:rPr lang="fa-IR" sz="1000" b="1" dirty="0">
                <a:solidFill>
                  <a:srgbClr val="C00000"/>
                </a:solidFill>
              </a:rPr>
              <a:t>یک سال و هجده ماه </a:t>
            </a:r>
            <a:r>
              <a:rPr lang="fa-IR" sz="1000" dirty="0">
                <a:solidFill>
                  <a:srgbClr val="C00000"/>
                </a:solidFill>
              </a:rPr>
              <a:t>است</a:t>
            </a:r>
            <a:endParaRPr lang="fa-IR" sz="4400" dirty="0">
              <a:solidFill>
                <a:srgbClr val="C00000"/>
              </a:solidFill>
            </a:endParaRPr>
          </a:p>
        </p:txBody>
      </p:sp>
      <p:sp>
        <p:nvSpPr>
          <p:cNvPr id="13" name="Google Shape;190;p35">
            <a:extLst>
              <a:ext uri="{FF2B5EF4-FFF2-40B4-BE49-F238E27FC236}">
                <a16:creationId xmlns:a16="http://schemas.microsoft.com/office/drawing/2014/main" id="{5DE556FD-29DC-0A4D-86DF-15187DC3E6B1}"/>
              </a:ext>
            </a:extLst>
          </p:cNvPr>
          <p:cNvSpPr txBox="1">
            <a:spLocks/>
          </p:cNvSpPr>
          <p:nvPr/>
        </p:nvSpPr>
        <p:spPr>
          <a:xfrm>
            <a:off x="193541" y="973104"/>
            <a:ext cx="2314008" cy="6397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b="1" dirty="0">
                <a:solidFill>
                  <a:schemeClr val="tx2">
                    <a:lumMod val="75000"/>
                  </a:schemeClr>
                </a:solidFill>
              </a:rPr>
              <a:t>Somerville (2006) identifies some other ad hoc techniques : </a:t>
            </a:r>
            <a:endParaRPr lang="en-US" sz="1200" b="1" dirty="0">
              <a:solidFill>
                <a:schemeClr val="tx2">
                  <a:lumMod val="75000"/>
                </a:schemeClr>
              </a:solidFill>
              <a:effectLst/>
            </a:endParaRPr>
          </a:p>
        </p:txBody>
      </p:sp>
      <p:sp>
        <p:nvSpPr>
          <p:cNvPr id="21" name="Google Shape;190;p35">
            <a:extLst>
              <a:ext uri="{FF2B5EF4-FFF2-40B4-BE49-F238E27FC236}">
                <a16:creationId xmlns:a16="http://schemas.microsoft.com/office/drawing/2014/main" id="{4E3CC392-0BB8-FF4B-9E03-9A5CB9ED16D2}"/>
              </a:ext>
            </a:extLst>
          </p:cNvPr>
          <p:cNvSpPr txBox="1">
            <a:spLocks/>
          </p:cNvSpPr>
          <p:nvPr/>
        </p:nvSpPr>
        <p:spPr>
          <a:xfrm>
            <a:off x="198764" y="2096803"/>
            <a:ext cx="2225681"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Estimation by analogy </a:t>
            </a:r>
          </a:p>
          <a:p>
            <a:endParaRPr lang="en-US" sz="1200" b="1" dirty="0">
              <a:solidFill>
                <a:schemeClr val="accent1">
                  <a:lumMod val="75000"/>
                </a:schemeClr>
              </a:solidFill>
            </a:endParaRPr>
          </a:p>
        </p:txBody>
      </p:sp>
      <p:sp>
        <p:nvSpPr>
          <p:cNvPr id="22" name="Google Shape;190;p35">
            <a:extLst>
              <a:ext uri="{FF2B5EF4-FFF2-40B4-BE49-F238E27FC236}">
                <a16:creationId xmlns:a16="http://schemas.microsoft.com/office/drawing/2014/main" id="{A8C04452-D3F3-A24D-B36A-187ACD16C29C}"/>
              </a:ext>
            </a:extLst>
          </p:cNvPr>
          <p:cNvSpPr txBox="1">
            <a:spLocks/>
          </p:cNvSpPr>
          <p:nvPr/>
        </p:nvSpPr>
        <p:spPr>
          <a:xfrm>
            <a:off x="194306" y="1602703"/>
            <a:ext cx="2225681"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Expert judgment </a:t>
            </a:r>
          </a:p>
          <a:p>
            <a:endParaRPr lang="en-US" sz="1200" b="1" dirty="0">
              <a:solidFill>
                <a:schemeClr val="accent1">
                  <a:lumMod val="75000"/>
                </a:schemeClr>
              </a:solidFill>
            </a:endParaRPr>
          </a:p>
          <a:p>
            <a:endParaRPr lang="en-US" sz="1200" b="1" dirty="0">
              <a:solidFill>
                <a:schemeClr val="accent1">
                  <a:lumMod val="75000"/>
                </a:schemeClr>
              </a:solidFill>
              <a:effectLst/>
            </a:endParaRPr>
          </a:p>
        </p:txBody>
      </p:sp>
      <p:sp>
        <p:nvSpPr>
          <p:cNvPr id="19" name="TextBox 18">
            <a:extLst>
              <a:ext uri="{FF2B5EF4-FFF2-40B4-BE49-F238E27FC236}">
                <a16:creationId xmlns:a16="http://schemas.microsoft.com/office/drawing/2014/main" id="{3B744A94-F9DC-6141-987B-4DAB4FE1F745}"/>
              </a:ext>
            </a:extLst>
          </p:cNvPr>
          <p:cNvSpPr txBox="1"/>
          <p:nvPr/>
        </p:nvSpPr>
        <p:spPr>
          <a:xfrm>
            <a:off x="194306" y="2619162"/>
            <a:ext cx="6981444" cy="276999"/>
          </a:xfrm>
          <a:prstGeom prst="rect">
            <a:avLst/>
          </a:prstGeom>
          <a:noFill/>
        </p:spPr>
        <p:txBody>
          <a:bodyPr wrap="square">
            <a:spAutoFit/>
          </a:bodyPr>
          <a:lstStyle/>
          <a:p>
            <a:r>
              <a:rPr lang="en-US" sz="1200" dirty="0">
                <a:solidFill>
                  <a:srgbClr val="2D2D2D"/>
                </a:solidFill>
                <a:effectLst/>
                <a:latin typeface="Alexandria Medium" pitchFamily="2" charset="-78"/>
                <a:cs typeface="Alexandria Medium" pitchFamily="2" charset="-78"/>
              </a:rPr>
              <a:t>Parkinson’s Law </a:t>
            </a:r>
            <a:endParaRPr lang="en-US" sz="1200" dirty="0">
              <a:effectLst/>
              <a:latin typeface="Alexandria Medium" pitchFamily="2" charset="-78"/>
              <a:cs typeface="Alexandria Medium" pitchFamily="2" charset="-78"/>
            </a:endParaRPr>
          </a:p>
        </p:txBody>
      </p:sp>
      <p:cxnSp>
        <p:nvCxnSpPr>
          <p:cNvPr id="5" name="Straight Connector 4">
            <a:extLst>
              <a:ext uri="{FF2B5EF4-FFF2-40B4-BE49-F238E27FC236}">
                <a16:creationId xmlns:a16="http://schemas.microsoft.com/office/drawing/2014/main" id="{034AF1BD-046D-7A4F-AC02-B8D080696E9E}"/>
              </a:ext>
            </a:extLst>
          </p:cNvPr>
          <p:cNvCxnSpPr/>
          <p:nvPr/>
        </p:nvCxnSpPr>
        <p:spPr>
          <a:xfrm>
            <a:off x="2595110" y="411720"/>
            <a:ext cx="0" cy="4362196"/>
          </a:xfrm>
          <a:prstGeom prst="line">
            <a:avLst/>
          </a:prstGeom>
          <a:ln>
            <a:solidFill>
              <a:srgbClr val="105569">
                <a:alpha val="36863"/>
              </a:srgb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2CDDC13-36B1-624B-9EF4-35393964DE2C}"/>
              </a:ext>
            </a:extLst>
          </p:cNvPr>
          <p:cNvSpPr txBox="1"/>
          <p:nvPr/>
        </p:nvSpPr>
        <p:spPr>
          <a:xfrm>
            <a:off x="192808" y="3112588"/>
            <a:ext cx="1301959" cy="461665"/>
          </a:xfrm>
          <a:prstGeom prst="rect">
            <a:avLst/>
          </a:prstGeom>
          <a:noFill/>
        </p:spPr>
        <p:txBody>
          <a:bodyPr wrap="none" rtlCol="0">
            <a:spAutoFit/>
          </a:bodyPr>
          <a:lstStyle/>
          <a:p>
            <a:r>
              <a:rPr lang="en-US" sz="1200" dirty="0">
                <a:solidFill>
                  <a:srgbClr val="2D2D2D"/>
                </a:solidFill>
                <a:effectLst/>
                <a:latin typeface="Alexandria Medium" pitchFamily="2" charset="-78"/>
                <a:cs typeface="Alexandria Medium" pitchFamily="2" charset="-78"/>
              </a:rPr>
              <a:t>Pricing to win </a:t>
            </a:r>
            <a:endParaRPr lang="en-US" sz="1200" dirty="0">
              <a:effectLst/>
              <a:latin typeface="Alexandria Medium" pitchFamily="2" charset="-78"/>
              <a:cs typeface="Alexandria Medium" pitchFamily="2" charset="-78"/>
            </a:endParaRPr>
          </a:p>
          <a:p>
            <a:endParaRPr lang="en-US" sz="1200" dirty="0">
              <a:latin typeface="Alexandria Medium" pitchFamily="2" charset="-78"/>
              <a:cs typeface="Alexandria Medium" pitchFamily="2" charset="-78"/>
            </a:endParaRPr>
          </a:p>
        </p:txBody>
      </p:sp>
      <p:sp>
        <p:nvSpPr>
          <p:cNvPr id="12" name="TextBox 11">
            <a:extLst>
              <a:ext uri="{FF2B5EF4-FFF2-40B4-BE49-F238E27FC236}">
                <a16:creationId xmlns:a16="http://schemas.microsoft.com/office/drawing/2014/main" id="{D3A0E8CF-5589-B149-AD72-22E149F6D060}"/>
              </a:ext>
            </a:extLst>
          </p:cNvPr>
          <p:cNvSpPr txBox="1"/>
          <p:nvPr/>
        </p:nvSpPr>
        <p:spPr>
          <a:xfrm>
            <a:off x="143269" y="1822662"/>
            <a:ext cx="1223476" cy="400110"/>
          </a:xfrm>
          <a:prstGeom prst="rect">
            <a:avLst/>
          </a:prstGeom>
          <a:noFill/>
        </p:spPr>
        <p:txBody>
          <a:bodyPr wrap="none" rtlCol="0">
            <a:spAutoFit/>
          </a:bodyPr>
          <a:lstStyle/>
          <a:p>
            <a:pPr algn="r" rtl="1"/>
            <a:r>
              <a:rPr lang="fa-IR" sz="1000" dirty="0">
                <a:solidFill>
                  <a:schemeClr val="accent2">
                    <a:lumMod val="50000"/>
                  </a:schemeClr>
                </a:solidFill>
                <a:effectLst/>
                <a:latin typeface="Alexandria Medium" pitchFamily="2" charset="-78"/>
                <a:cs typeface="Alexandria Medium" pitchFamily="2" charset="-78"/>
              </a:rPr>
              <a:t>قضاوت</a:t>
            </a:r>
            <a:r>
              <a:rPr lang="en-US" sz="1000" b="1" dirty="0">
                <a:solidFill>
                  <a:schemeClr val="accent2">
                    <a:lumMod val="50000"/>
                  </a:schemeClr>
                </a:solidFill>
                <a:effectLst/>
                <a:latin typeface="Alexandria Medium" pitchFamily="2" charset="-78"/>
                <a:cs typeface="Alexandria Medium" pitchFamily="2" charset="-78"/>
              </a:rPr>
              <a:t> </a:t>
            </a:r>
            <a:r>
              <a:rPr lang="fa-IR" sz="1000" dirty="0">
                <a:solidFill>
                  <a:schemeClr val="accent2">
                    <a:lumMod val="50000"/>
                  </a:schemeClr>
                </a:solidFill>
                <a:effectLst/>
                <a:latin typeface="Alexandria Medium" pitchFamily="2" charset="-78"/>
                <a:cs typeface="Alexandria Medium" pitchFamily="2" charset="-78"/>
              </a:rPr>
              <a:t>کارشناس</a:t>
            </a:r>
            <a:r>
              <a:rPr lang="fa-IR" sz="1000" b="1" dirty="0">
                <a:solidFill>
                  <a:schemeClr val="accent2">
                    <a:lumMod val="50000"/>
                  </a:schemeClr>
                </a:solidFill>
                <a:effectLst/>
                <a:latin typeface="Alexandria Medium" pitchFamily="2" charset="-78"/>
                <a:cs typeface="Alexandria Medium" pitchFamily="2" charset="-78"/>
              </a:rPr>
              <a:t> </a:t>
            </a:r>
          </a:p>
          <a:p>
            <a:pPr algn="r" rtl="1"/>
            <a:endParaRPr lang="en-US" sz="1000" b="1" dirty="0">
              <a:solidFill>
                <a:schemeClr val="accent2">
                  <a:lumMod val="50000"/>
                </a:schemeClr>
              </a:solidFill>
              <a:latin typeface="Alexandria Medium" pitchFamily="2" charset="-78"/>
              <a:cs typeface="Alexandria Medium" pitchFamily="2" charset="-78"/>
            </a:endParaRPr>
          </a:p>
        </p:txBody>
      </p:sp>
      <p:sp>
        <p:nvSpPr>
          <p:cNvPr id="14" name="TextBox 13">
            <a:extLst>
              <a:ext uri="{FF2B5EF4-FFF2-40B4-BE49-F238E27FC236}">
                <a16:creationId xmlns:a16="http://schemas.microsoft.com/office/drawing/2014/main" id="{C08BC77C-86CF-A04C-A6AC-7B3C15378A4A}"/>
              </a:ext>
            </a:extLst>
          </p:cNvPr>
          <p:cNvSpPr txBox="1"/>
          <p:nvPr/>
        </p:nvSpPr>
        <p:spPr>
          <a:xfrm>
            <a:off x="154162" y="2312718"/>
            <a:ext cx="1151342" cy="415498"/>
          </a:xfrm>
          <a:prstGeom prst="rect">
            <a:avLst/>
          </a:prstGeom>
          <a:noFill/>
        </p:spPr>
        <p:txBody>
          <a:bodyPr wrap="none" rtlCol="0">
            <a:spAutoFit/>
          </a:bodyPr>
          <a:lstStyle/>
          <a:p>
            <a:pPr algn="r" rtl="1"/>
            <a:r>
              <a:rPr lang="fa-IR" sz="1050" dirty="0">
                <a:solidFill>
                  <a:schemeClr val="accent2">
                    <a:lumMod val="50000"/>
                  </a:schemeClr>
                </a:solidFill>
                <a:effectLst/>
                <a:latin typeface="Alexandria Medium" pitchFamily="2" charset="-78"/>
                <a:cs typeface="Alexandria Medium" pitchFamily="2" charset="-78"/>
              </a:rPr>
              <a:t>تخمین</a:t>
            </a:r>
            <a:r>
              <a:rPr lang="en-US" sz="1050" dirty="0">
                <a:solidFill>
                  <a:schemeClr val="accent2">
                    <a:lumMod val="50000"/>
                  </a:schemeClr>
                </a:solidFill>
                <a:effectLst/>
                <a:latin typeface="Alexandria Medium" pitchFamily="2" charset="-78"/>
                <a:cs typeface="Alexandria Medium" pitchFamily="2" charset="-78"/>
              </a:rPr>
              <a:t> </a:t>
            </a:r>
            <a:r>
              <a:rPr lang="fa-IR" sz="1050" dirty="0">
                <a:solidFill>
                  <a:schemeClr val="accent2">
                    <a:lumMod val="50000"/>
                  </a:schemeClr>
                </a:solidFill>
                <a:effectLst/>
                <a:latin typeface="Alexandria Medium" pitchFamily="2" charset="-78"/>
                <a:cs typeface="Alexandria Medium" pitchFamily="2" charset="-78"/>
              </a:rPr>
              <a:t>با قیاس </a:t>
            </a:r>
          </a:p>
          <a:p>
            <a:pPr algn="r" rtl="1"/>
            <a:endParaRPr lang="en-US" sz="1050" dirty="0">
              <a:solidFill>
                <a:schemeClr val="accent2">
                  <a:lumMod val="50000"/>
                </a:schemeClr>
              </a:solidFill>
              <a:latin typeface="Alexandria Medium" pitchFamily="2" charset="-78"/>
              <a:cs typeface="Alexandria Medium" pitchFamily="2" charset="-78"/>
            </a:endParaRPr>
          </a:p>
        </p:txBody>
      </p:sp>
      <p:sp>
        <p:nvSpPr>
          <p:cNvPr id="15" name="TextBox 14">
            <a:extLst>
              <a:ext uri="{FF2B5EF4-FFF2-40B4-BE49-F238E27FC236}">
                <a16:creationId xmlns:a16="http://schemas.microsoft.com/office/drawing/2014/main" id="{6E0FD209-5019-C746-A3CE-9C890281BF2C}"/>
              </a:ext>
            </a:extLst>
          </p:cNvPr>
          <p:cNvSpPr txBox="1"/>
          <p:nvPr/>
        </p:nvSpPr>
        <p:spPr>
          <a:xfrm>
            <a:off x="163306" y="2802495"/>
            <a:ext cx="1183402" cy="400110"/>
          </a:xfrm>
          <a:prstGeom prst="rect">
            <a:avLst/>
          </a:prstGeom>
          <a:noFill/>
        </p:spPr>
        <p:txBody>
          <a:bodyPr wrap="none" rtlCol="0">
            <a:spAutoFit/>
          </a:bodyPr>
          <a:lstStyle/>
          <a:p>
            <a:pPr algn="r" rtl="1"/>
            <a:r>
              <a:rPr lang="fa-IR" sz="1000" dirty="0">
                <a:solidFill>
                  <a:schemeClr val="accent2">
                    <a:lumMod val="50000"/>
                  </a:schemeClr>
                </a:solidFill>
                <a:effectLst/>
                <a:latin typeface="Alexandria Medium" pitchFamily="2" charset="-78"/>
                <a:cs typeface="Alexandria Medium" pitchFamily="2" charset="-78"/>
              </a:rPr>
              <a:t>قانون</a:t>
            </a:r>
            <a:r>
              <a:rPr lang="en-US" sz="1000" dirty="0">
                <a:solidFill>
                  <a:schemeClr val="accent2">
                    <a:lumMod val="50000"/>
                  </a:schemeClr>
                </a:solidFill>
                <a:effectLst/>
                <a:latin typeface="Alexandria Medium" pitchFamily="2" charset="-78"/>
                <a:cs typeface="Alexandria Medium" pitchFamily="2" charset="-78"/>
              </a:rPr>
              <a:t> </a:t>
            </a:r>
            <a:r>
              <a:rPr lang="fa-IR" sz="1000" dirty="0">
                <a:solidFill>
                  <a:schemeClr val="accent2">
                    <a:lumMod val="50000"/>
                  </a:schemeClr>
                </a:solidFill>
                <a:effectLst/>
                <a:latin typeface="Alexandria Medium" pitchFamily="2" charset="-78"/>
                <a:cs typeface="Alexandria Medium" pitchFamily="2" charset="-78"/>
              </a:rPr>
              <a:t>پارکینسون </a:t>
            </a:r>
          </a:p>
          <a:p>
            <a:pPr algn="r" rtl="1"/>
            <a:endParaRPr lang="en-US" sz="1000" dirty="0">
              <a:solidFill>
                <a:schemeClr val="accent2">
                  <a:lumMod val="50000"/>
                </a:schemeClr>
              </a:solidFill>
              <a:latin typeface="Alexandria Medium" pitchFamily="2" charset="-78"/>
              <a:cs typeface="Alexandria Medium" pitchFamily="2" charset="-78"/>
            </a:endParaRPr>
          </a:p>
        </p:txBody>
      </p:sp>
      <p:sp>
        <p:nvSpPr>
          <p:cNvPr id="23" name="TextBox 22">
            <a:extLst>
              <a:ext uri="{FF2B5EF4-FFF2-40B4-BE49-F238E27FC236}">
                <a16:creationId xmlns:a16="http://schemas.microsoft.com/office/drawing/2014/main" id="{1156E956-3F47-AC44-A93D-8CA8964DD7B7}"/>
              </a:ext>
            </a:extLst>
          </p:cNvPr>
          <p:cNvSpPr txBox="1"/>
          <p:nvPr/>
        </p:nvSpPr>
        <p:spPr>
          <a:xfrm>
            <a:off x="163306" y="3334418"/>
            <a:ext cx="1489575" cy="400110"/>
          </a:xfrm>
          <a:prstGeom prst="rect">
            <a:avLst/>
          </a:prstGeom>
          <a:noFill/>
        </p:spPr>
        <p:txBody>
          <a:bodyPr wrap="none" rtlCol="0">
            <a:spAutoFit/>
          </a:bodyPr>
          <a:lstStyle/>
          <a:p>
            <a:pPr algn="r" rtl="1"/>
            <a:r>
              <a:rPr lang="fa-IR" sz="1000" dirty="0">
                <a:solidFill>
                  <a:schemeClr val="accent2">
                    <a:lumMod val="50000"/>
                  </a:schemeClr>
                </a:solidFill>
                <a:effectLst/>
                <a:latin typeface="Alexandria Medium" pitchFamily="2" charset="-78"/>
                <a:cs typeface="Alexandria Medium" pitchFamily="2" charset="-78"/>
              </a:rPr>
              <a:t>قیمت</a:t>
            </a:r>
            <a:r>
              <a:rPr lang="en-US" sz="1000" dirty="0">
                <a:solidFill>
                  <a:schemeClr val="accent2">
                    <a:lumMod val="50000"/>
                  </a:schemeClr>
                </a:solidFill>
                <a:effectLst/>
                <a:latin typeface="Alexandria Medium" pitchFamily="2" charset="-78"/>
                <a:cs typeface="Alexandria Medium" pitchFamily="2" charset="-78"/>
              </a:rPr>
              <a:t> </a:t>
            </a:r>
            <a:r>
              <a:rPr lang="fa-IR" sz="1000" dirty="0">
                <a:solidFill>
                  <a:schemeClr val="accent2">
                    <a:lumMod val="50000"/>
                  </a:schemeClr>
                </a:solidFill>
                <a:effectLst/>
                <a:latin typeface="Alexandria Medium" pitchFamily="2" charset="-78"/>
                <a:cs typeface="Alexandria Medium" pitchFamily="2" charset="-78"/>
              </a:rPr>
              <a:t>گذاری برای بُردن</a:t>
            </a:r>
          </a:p>
          <a:p>
            <a:pPr algn="r" rtl="1"/>
            <a:endParaRPr lang="en-US" sz="1000" dirty="0">
              <a:solidFill>
                <a:schemeClr val="accent2">
                  <a:lumMod val="50000"/>
                </a:schemeClr>
              </a:solidFill>
              <a:latin typeface="Alexandria Medium" pitchFamily="2" charset="-78"/>
              <a:cs typeface="Alexandria Medium"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55" presetClass="entr" presetSubtype="0"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1000" fill="hold"/>
                                        <p:tgtEl>
                                          <p:spTgt spid="16"/>
                                        </p:tgtEl>
                                        <p:attrNameLst>
                                          <p:attrName>ppt_w</p:attrName>
                                        </p:attrNameLst>
                                      </p:cBhvr>
                                      <p:tavLst>
                                        <p:tav tm="0">
                                          <p:val>
                                            <p:strVal val="#ppt_w*0.70"/>
                                          </p:val>
                                        </p:tav>
                                        <p:tav tm="100000">
                                          <p:val>
                                            <p:strVal val="#ppt_w"/>
                                          </p:val>
                                        </p:tav>
                                      </p:tavLst>
                                    </p:anim>
                                    <p:anim calcmode="lin" valueType="num">
                                      <p:cBhvr>
                                        <p:cTn id="24" dur="1000" fill="hold"/>
                                        <p:tgtEl>
                                          <p:spTgt spid="16"/>
                                        </p:tgtEl>
                                        <p:attrNameLst>
                                          <p:attrName>ppt_h</p:attrName>
                                        </p:attrNameLst>
                                      </p:cBhvr>
                                      <p:tavLst>
                                        <p:tav tm="0">
                                          <p:val>
                                            <p:strVal val="#ppt_h"/>
                                          </p:val>
                                        </p:tav>
                                        <p:tav tm="100000">
                                          <p:val>
                                            <p:strVal val="#ppt_h"/>
                                          </p:val>
                                        </p:tav>
                                      </p:tavLst>
                                    </p:anim>
                                    <p:animEffect transition="in" filter="fade">
                                      <p:cBhvr>
                                        <p:cTn id="25" dur="1000"/>
                                        <p:tgtEl>
                                          <p:spTgt spid="16"/>
                                        </p:tgtEl>
                                      </p:cBhvr>
                                    </p:animEffect>
                                  </p:childTnLst>
                                </p:cTn>
                              </p:par>
                            </p:childTnLst>
                          </p:cTn>
                        </p:par>
                        <p:par>
                          <p:cTn id="26" fill="hold">
                            <p:stCondLst>
                              <p:cond delay="3000"/>
                            </p:stCondLst>
                            <p:childTnLst>
                              <p:par>
                                <p:cTn id="27" presetID="10" presetClass="entr" presetSubtype="0" fill="hold" grpId="0" nodeType="afterEffect">
                                  <p:stCondLst>
                                    <p:cond delay="25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par>
                          <p:cTn id="30" fill="hold">
                            <p:stCondLst>
                              <p:cond delay="6000"/>
                            </p:stCondLst>
                            <p:childTnLst>
                              <p:par>
                                <p:cTn id="31" presetID="10" presetClass="entr" presetSubtype="0"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par>
                          <p:cTn id="34" fill="hold">
                            <p:stCondLst>
                              <p:cond delay="6500"/>
                            </p:stCondLst>
                            <p:childTnLst>
                              <p:par>
                                <p:cTn id="35" presetID="55" presetClass="entr" presetSubtype="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1000" fill="hold"/>
                                        <p:tgtEl>
                                          <p:spTgt spid="20"/>
                                        </p:tgtEl>
                                        <p:attrNameLst>
                                          <p:attrName>ppt_w</p:attrName>
                                        </p:attrNameLst>
                                      </p:cBhvr>
                                      <p:tavLst>
                                        <p:tav tm="0">
                                          <p:val>
                                            <p:strVal val="#ppt_w*0.70"/>
                                          </p:val>
                                        </p:tav>
                                        <p:tav tm="100000">
                                          <p:val>
                                            <p:strVal val="#ppt_w"/>
                                          </p:val>
                                        </p:tav>
                                      </p:tavLst>
                                    </p:anim>
                                    <p:anim calcmode="lin" valueType="num">
                                      <p:cBhvr>
                                        <p:cTn id="38" dur="1000" fill="hold"/>
                                        <p:tgtEl>
                                          <p:spTgt spid="20"/>
                                        </p:tgtEl>
                                        <p:attrNameLst>
                                          <p:attrName>ppt_h</p:attrName>
                                        </p:attrNameLst>
                                      </p:cBhvr>
                                      <p:tavLst>
                                        <p:tav tm="0">
                                          <p:val>
                                            <p:strVal val="#ppt_h"/>
                                          </p:val>
                                        </p:tav>
                                        <p:tav tm="100000">
                                          <p:val>
                                            <p:strVal val="#ppt_h"/>
                                          </p:val>
                                        </p:tav>
                                      </p:tavLst>
                                    </p:anim>
                                    <p:animEffect transition="in" filter="fade">
                                      <p:cBhvr>
                                        <p:cTn id="39" dur="1000"/>
                                        <p:tgtEl>
                                          <p:spTgt spid="20"/>
                                        </p:tgtEl>
                                      </p:cBhvr>
                                    </p:animEffect>
                                  </p:childTnLst>
                                </p:cTn>
                              </p:par>
                            </p:childTnLst>
                          </p:cTn>
                        </p:par>
                        <p:par>
                          <p:cTn id="40" fill="hold">
                            <p:stCondLst>
                              <p:cond delay="7500"/>
                            </p:stCondLst>
                            <p:childTnLst>
                              <p:par>
                                <p:cTn id="41" presetID="10" presetClass="entr" presetSubtype="0" fill="hold" nodeType="afterEffect">
                                  <p:stCondLst>
                                    <p:cond delay="900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par>
                          <p:cTn id="44" fill="hold">
                            <p:stCondLst>
                              <p:cond delay="17000"/>
                            </p:stCondLst>
                            <p:childTnLst>
                              <p:par>
                                <p:cTn id="45" presetID="10" presetClass="entr" presetSubtype="0" fill="hold" grpId="1"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17500"/>
                            </p:stCondLst>
                            <p:childTnLst>
                              <p:par>
                                <p:cTn id="49" presetID="22" presetClass="entr" presetSubtype="4" fill="hold" grpId="1"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down)">
                                      <p:cBhvr>
                                        <p:cTn id="51" dur="500"/>
                                        <p:tgtEl>
                                          <p:spTgt spid="22"/>
                                        </p:tgtEl>
                                      </p:cBhvr>
                                    </p:animEffect>
                                  </p:childTnLst>
                                </p:cTn>
                              </p:par>
                            </p:childTnLst>
                          </p:cTn>
                        </p:par>
                        <p:par>
                          <p:cTn id="52" fill="hold">
                            <p:stCondLst>
                              <p:cond delay="18000"/>
                            </p:stCondLst>
                            <p:childTnLst>
                              <p:par>
                                <p:cTn id="53" presetID="22" presetClass="entr" presetSubtype="4"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down)">
                                      <p:cBhvr>
                                        <p:cTn id="55" dur="500"/>
                                        <p:tgtEl>
                                          <p:spTgt spid="12"/>
                                        </p:tgtEl>
                                      </p:cBhvr>
                                    </p:animEffect>
                                  </p:childTnLst>
                                </p:cTn>
                              </p:par>
                            </p:childTnLst>
                          </p:cTn>
                        </p:par>
                        <p:par>
                          <p:cTn id="56" fill="hold">
                            <p:stCondLst>
                              <p:cond delay="18500"/>
                            </p:stCondLst>
                            <p:childTnLst>
                              <p:par>
                                <p:cTn id="57" presetID="10" presetClass="entr" presetSubtype="0" fill="hold" grpId="1"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9000"/>
                            </p:stCondLst>
                            <p:childTnLst>
                              <p:par>
                                <p:cTn id="61" presetID="10" presetClass="entr" presetSubtype="0"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childTnLst>
                                </p:cTn>
                              </p:par>
                            </p:childTnLst>
                          </p:cTn>
                        </p:par>
                        <p:par>
                          <p:cTn id="64" fill="hold">
                            <p:stCondLst>
                              <p:cond delay="19500"/>
                            </p:stCondLst>
                            <p:childTnLst>
                              <p:par>
                                <p:cTn id="65" presetID="10" presetClass="entr" presetSubtype="0"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childTnLst>
                          </p:cTn>
                        </p:par>
                        <p:par>
                          <p:cTn id="68" fill="hold">
                            <p:stCondLst>
                              <p:cond delay="20000"/>
                            </p:stCondLst>
                            <p:childTnLst>
                              <p:par>
                                <p:cTn id="69" presetID="10"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childTnLst>
                                </p:cTn>
                              </p:par>
                            </p:childTnLst>
                          </p:cTn>
                        </p:par>
                        <p:par>
                          <p:cTn id="72" fill="hold">
                            <p:stCondLst>
                              <p:cond delay="20500"/>
                            </p:stCondLst>
                            <p:childTnLst>
                              <p:par>
                                <p:cTn id="73" presetID="10" presetClass="entr" presetSubtype="0" fill="hold" grpId="0" nodeType="after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fade">
                                      <p:cBhvr>
                                        <p:cTn id="75" dur="500"/>
                                        <p:tgtEl>
                                          <p:spTgt spid="7"/>
                                        </p:tgtEl>
                                      </p:cBhvr>
                                    </p:animEffect>
                                  </p:childTnLst>
                                </p:cTn>
                              </p:par>
                            </p:childTnLst>
                          </p:cTn>
                        </p:par>
                        <p:par>
                          <p:cTn id="76" fill="hold">
                            <p:stCondLst>
                              <p:cond delay="21000"/>
                            </p:stCondLst>
                            <p:childTnLst>
                              <p:par>
                                <p:cTn id="77" presetID="10" presetClass="entr" presetSubtype="0" fill="hold" grpId="0"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6" grpId="0"/>
      <p:bldP spid="17" grpId="0"/>
      <p:bldP spid="18" grpId="0"/>
      <p:bldP spid="20" grpId="0"/>
      <p:bldP spid="13" grpId="1"/>
      <p:bldP spid="21" grpId="1"/>
      <p:bldP spid="22" grpId="1"/>
      <p:bldP spid="19" grpId="0"/>
      <p:bldP spid="7" grpId="0"/>
      <p:bldP spid="12" grpId="0"/>
      <p:bldP spid="14" grpId="0"/>
      <p:bldP spid="15"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6" name="Google Shape;661;p70">
            <a:extLst>
              <a:ext uri="{FF2B5EF4-FFF2-40B4-BE49-F238E27FC236}">
                <a16:creationId xmlns:a16="http://schemas.microsoft.com/office/drawing/2014/main" id="{3D76BA56-77BE-EC47-8250-797E3E94A992}"/>
              </a:ext>
            </a:extLst>
          </p:cNvPr>
          <p:cNvPicPr preferRelativeResize="0"/>
          <p:nvPr/>
        </p:nvPicPr>
        <p:blipFill>
          <a:blip r:embed="rId3">
            <a:alphaModFix/>
          </a:blip>
          <a:stretch>
            <a:fillRect/>
          </a:stretch>
        </p:blipFill>
        <p:spPr>
          <a:xfrm rot="20417076">
            <a:off x="6623962" y="-609708"/>
            <a:ext cx="3101955" cy="1338255"/>
          </a:xfrm>
          <a:prstGeom prst="rect">
            <a:avLst/>
          </a:prstGeom>
          <a:noFill/>
          <a:ln>
            <a:noFill/>
          </a:ln>
        </p:spPr>
      </p:pic>
      <p:cxnSp>
        <p:nvCxnSpPr>
          <p:cNvPr id="3" name="Google Shape;237;p39">
            <a:hlinkClick r:id="" action="ppaction://hlinkshowjump?jump=nextslide"/>
            <a:extLst>
              <a:ext uri="{FF2B5EF4-FFF2-40B4-BE49-F238E27FC236}">
                <a16:creationId xmlns:a16="http://schemas.microsoft.com/office/drawing/2014/main" id="{51598969-7C31-FB47-A3BE-7836ADE2CF8A}"/>
              </a:ext>
            </a:extLst>
          </p:cNvPr>
          <p:cNvCxnSpPr>
            <a:cxnSpLocks/>
          </p:cNvCxnSpPr>
          <p:nvPr/>
        </p:nvCxnSpPr>
        <p:spPr>
          <a:xfrm flipV="1">
            <a:off x="519710" y="4073236"/>
            <a:ext cx="0" cy="456491"/>
          </a:xfrm>
          <a:prstGeom prst="straightConnector1">
            <a:avLst/>
          </a:prstGeom>
          <a:noFill/>
          <a:ln w="9525" cap="flat" cmpd="sng">
            <a:solidFill>
              <a:schemeClr val="dk1"/>
            </a:solidFill>
            <a:prstDash val="solid"/>
            <a:round/>
            <a:headEnd type="none" w="med" len="med"/>
            <a:tailEnd type="triangle" w="med" len="med"/>
          </a:ln>
        </p:spPr>
      </p:cxnSp>
      <p:sp>
        <p:nvSpPr>
          <p:cNvPr id="13" name="Google Shape;190;p35">
            <a:extLst>
              <a:ext uri="{FF2B5EF4-FFF2-40B4-BE49-F238E27FC236}">
                <a16:creationId xmlns:a16="http://schemas.microsoft.com/office/drawing/2014/main" id="{5DE556FD-29DC-0A4D-86DF-15187DC3E6B1}"/>
              </a:ext>
            </a:extLst>
          </p:cNvPr>
          <p:cNvSpPr txBox="1">
            <a:spLocks/>
          </p:cNvSpPr>
          <p:nvPr/>
        </p:nvSpPr>
        <p:spPr>
          <a:xfrm>
            <a:off x="193541" y="973104"/>
            <a:ext cx="2314008" cy="6397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b="1" dirty="0">
                <a:solidFill>
                  <a:schemeClr val="tx2">
                    <a:lumMod val="75000"/>
                  </a:schemeClr>
                </a:solidFill>
              </a:rPr>
              <a:t>Somerville (2006) identifies some other ad hoc techniques : </a:t>
            </a:r>
            <a:endParaRPr lang="en-US" sz="1200" b="1" dirty="0">
              <a:solidFill>
                <a:schemeClr val="tx2">
                  <a:lumMod val="75000"/>
                </a:schemeClr>
              </a:solidFill>
              <a:effectLst/>
            </a:endParaRPr>
          </a:p>
        </p:txBody>
      </p:sp>
      <p:sp>
        <p:nvSpPr>
          <p:cNvPr id="21" name="Google Shape;190;p35">
            <a:extLst>
              <a:ext uri="{FF2B5EF4-FFF2-40B4-BE49-F238E27FC236}">
                <a16:creationId xmlns:a16="http://schemas.microsoft.com/office/drawing/2014/main" id="{4E3CC392-0BB8-FF4B-9E03-9A5CB9ED16D2}"/>
              </a:ext>
            </a:extLst>
          </p:cNvPr>
          <p:cNvSpPr txBox="1">
            <a:spLocks/>
          </p:cNvSpPr>
          <p:nvPr/>
        </p:nvSpPr>
        <p:spPr>
          <a:xfrm>
            <a:off x="198764" y="2096803"/>
            <a:ext cx="2225681"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Estimation by analogy </a:t>
            </a:r>
          </a:p>
          <a:p>
            <a:endParaRPr lang="en-US" sz="1200" b="1" dirty="0">
              <a:solidFill>
                <a:schemeClr val="accent1">
                  <a:lumMod val="75000"/>
                </a:schemeClr>
              </a:solidFill>
            </a:endParaRPr>
          </a:p>
        </p:txBody>
      </p:sp>
      <p:sp>
        <p:nvSpPr>
          <p:cNvPr id="22" name="Google Shape;190;p35">
            <a:extLst>
              <a:ext uri="{FF2B5EF4-FFF2-40B4-BE49-F238E27FC236}">
                <a16:creationId xmlns:a16="http://schemas.microsoft.com/office/drawing/2014/main" id="{A8C04452-D3F3-A24D-B36A-187ACD16C29C}"/>
              </a:ext>
            </a:extLst>
          </p:cNvPr>
          <p:cNvSpPr txBox="1">
            <a:spLocks/>
          </p:cNvSpPr>
          <p:nvPr/>
        </p:nvSpPr>
        <p:spPr>
          <a:xfrm>
            <a:off x="194306" y="1602703"/>
            <a:ext cx="2225681"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Expert judgment </a:t>
            </a:r>
          </a:p>
          <a:p>
            <a:endParaRPr lang="en-US" sz="1200" b="1" dirty="0">
              <a:solidFill>
                <a:schemeClr val="accent1">
                  <a:lumMod val="75000"/>
                </a:schemeClr>
              </a:solidFill>
            </a:endParaRPr>
          </a:p>
          <a:p>
            <a:endParaRPr lang="en-US" sz="1200" b="1" dirty="0">
              <a:solidFill>
                <a:schemeClr val="accent1">
                  <a:lumMod val="75000"/>
                </a:schemeClr>
              </a:solidFill>
              <a:effectLst/>
            </a:endParaRPr>
          </a:p>
        </p:txBody>
      </p:sp>
      <p:sp>
        <p:nvSpPr>
          <p:cNvPr id="19" name="TextBox 18">
            <a:extLst>
              <a:ext uri="{FF2B5EF4-FFF2-40B4-BE49-F238E27FC236}">
                <a16:creationId xmlns:a16="http://schemas.microsoft.com/office/drawing/2014/main" id="{3B744A94-F9DC-6141-987B-4DAB4FE1F745}"/>
              </a:ext>
            </a:extLst>
          </p:cNvPr>
          <p:cNvSpPr txBox="1"/>
          <p:nvPr/>
        </p:nvSpPr>
        <p:spPr>
          <a:xfrm>
            <a:off x="194306" y="2619162"/>
            <a:ext cx="6981444" cy="276999"/>
          </a:xfrm>
          <a:prstGeom prst="rect">
            <a:avLst/>
          </a:prstGeom>
          <a:noFill/>
        </p:spPr>
        <p:txBody>
          <a:bodyPr wrap="square">
            <a:spAutoFit/>
          </a:bodyPr>
          <a:lstStyle/>
          <a:p>
            <a:r>
              <a:rPr lang="en-US" sz="1200" dirty="0">
                <a:solidFill>
                  <a:srgbClr val="2D2D2D"/>
                </a:solidFill>
                <a:effectLst/>
                <a:latin typeface="Alexandria Medium" pitchFamily="2" charset="-78"/>
                <a:cs typeface="Alexandria Medium" pitchFamily="2" charset="-78"/>
              </a:rPr>
              <a:t>Parkinson’s Law </a:t>
            </a:r>
            <a:endParaRPr lang="en-US" sz="1200" dirty="0">
              <a:effectLst/>
              <a:latin typeface="Alexandria Medium" pitchFamily="2" charset="-78"/>
              <a:cs typeface="Alexandria Medium" pitchFamily="2" charset="-78"/>
            </a:endParaRPr>
          </a:p>
        </p:txBody>
      </p:sp>
      <p:cxnSp>
        <p:nvCxnSpPr>
          <p:cNvPr id="5" name="Straight Connector 4">
            <a:extLst>
              <a:ext uri="{FF2B5EF4-FFF2-40B4-BE49-F238E27FC236}">
                <a16:creationId xmlns:a16="http://schemas.microsoft.com/office/drawing/2014/main" id="{034AF1BD-046D-7A4F-AC02-B8D080696E9E}"/>
              </a:ext>
            </a:extLst>
          </p:cNvPr>
          <p:cNvCxnSpPr/>
          <p:nvPr/>
        </p:nvCxnSpPr>
        <p:spPr>
          <a:xfrm>
            <a:off x="2595110" y="411720"/>
            <a:ext cx="0" cy="4362196"/>
          </a:xfrm>
          <a:prstGeom prst="line">
            <a:avLst/>
          </a:prstGeom>
          <a:ln>
            <a:solidFill>
              <a:srgbClr val="105569">
                <a:alpha val="36863"/>
              </a:srgb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2CDDC13-36B1-624B-9EF4-35393964DE2C}"/>
              </a:ext>
            </a:extLst>
          </p:cNvPr>
          <p:cNvSpPr txBox="1"/>
          <p:nvPr/>
        </p:nvSpPr>
        <p:spPr>
          <a:xfrm>
            <a:off x="192808" y="3112588"/>
            <a:ext cx="1301959" cy="461665"/>
          </a:xfrm>
          <a:prstGeom prst="rect">
            <a:avLst/>
          </a:prstGeom>
          <a:noFill/>
        </p:spPr>
        <p:txBody>
          <a:bodyPr wrap="none" rtlCol="0">
            <a:spAutoFit/>
          </a:bodyPr>
          <a:lstStyle/>
          <a:p>
            <a:r>
              <a:rPr lang="en-US" sz="1200" dirty="0">
                <a:solidFill>
                  <a:srgbClr val="2D2D2D"/>
                </a:solidFill>
                <a:effectLst/>
                <a:latin typeface="Alexandria Medium" pitchFamily="2" charset="-78"/>
                <a:cs typeface="Alexandria Medium" pitchFamily="2" charset="-78"/>
              </a:rPr>
              <a:t>Pricing to win </a:t>
            </a:r>
            <a:endParaRPr lang="en-US" sz="1200" dirty="0">
              <a:effectLst/>
              <a:latin typeface="Alexandria Medium" pitchFamily="2" charset="-78"/>
              <a:cs typeface="Alexandria Medium" pitchFamily="2" charset="-78"/>
            </a:endParaRPr>
          </a:p>
          <a:p>
            <a:endParaRPr lang="en-US" sz="1200" dirty="0">
              <a:latin typeface="Alexandria Medium" pitchFamily="2" charset="-78"/>
              <a:cs typeface="Alexandria Medium" pitchFamily="2" charset="-78"/>
            </a:endParaRPr>
          </a:p>
        </p:txBody>
      </p:sp>
      <p:sp>
        <p:nvSpPr>
          <p:cNvPr id="12" name="TextBox 11">
            <a:extLst>
              <a:ext uri="{FF2B5EF4-FFF2-40B4-BE49-F238E27FC236}">
                <a16:creationId xmlns:a16="http://schemas.microsoft.com/office/drawing/2014/main" id="{D3A0E8CF-5589-B149-AD72-22E149F6D060}"/>
              </a:ext>
            </a:extLst>
          </p:cNvPr>
          <p:cNvSpPr txBox="1"/>
          <p:nvPr/>
        </p:nvSpPr>
        <p:spPr>
          <a:xfrm>
            <a:off x="151097" y="1825065"/>
            <a:ext cx="1223476" cy="400110"/>
          </a:xfrm>
          <a:prstGeom prst="rect">
            <a:avLst/>
          </a:prstGeom>
          <a:noFill/>
        </p:spPr>
        <p:txBody>
          <a:bodyPr wrap="none" rtlCol="0">
            <a:spAutoFit/>
          </a:bodyPr>
          <a:lstStyle/>
          <a:p>
            <a:pPr algn="r" rtl="1"/>
            <a:r>
              <a:rPr lang="fa-IR" sz="1000" dirty="0">
                <a:solidFill>
                  <a:schemeClr val="bg1">
                    <a:lumMod val="50000"/>
                  </a:schemeClr>
                </a:solidFill>
                <a:effectLst/>
                <a:latin typeface="Alexandria Medium" pitchFamily="2" charset="-78"/>
                <a:cs typeface="Alexandria Medium" pitchFamily="2" charset="-78"/>
              </a:rPr>
              <a:t>قضاوت</a:t>
            </a:r>
            <a:r>
              <a:rPr lang="en-US" sz="1000" b="1" dirty="0">
                <a:solidFill>
                  <a:schemeClr val="bg1">
                    <a:lumMod val="50000"/>
                  </a:schemeClr>
                </a:solidFill>
                <a:effectLst/>
                <a:latin typeface="Alexandria Medium" pitchFamily="2" charset="-78"/>
                <a:cs typeface="Alexandria Medium" pitchFamily="2" charset="-78"/>
              </a:rPr>
              <a:t> </a:t>
            </a:r>
            <a:r>
              <a:rPr lang="fa-IR" sz="1000" dirty="0">
                <a:solidFill>
                  <a:schemeClr val="bg1">
                    <a:lumMod val="50000"/>
                  </a:schemeClr>
                </a:solidFill>
                <a:effectLst/>
                <a:latin typeface="Alexandria Medium" pitchFamily="2" charset="-78"/>
                <a:cs typeface="Alexandria Medium" pitchFamily="2" charset="-78"/>
              </a:rPr>
              <a:t>کارشناس</a:t>
            </a:r>
            <a:r>
              <a:rPr lang="fa-IR" sz="1000" b="1" dirty="0">
                <a:solidFill>
                  <a:schemeClr val="bg1">
                    <a:lumMod val="50000"/>
                  </a:schemeClr>
                </a:solidFill>
                <a:effectLst/>
                <a:latin typeface="Alexandria Medium" pitchFamily="2" charset="-78"/>
                <a:cs typeface="Alexandria Medium" pitchFamily="2" charset="-78"/>
              </a:rPr>
              <a:t> </a:t>
            </a:r>
          </a:p>
          <a:p>
            <a:pPr algn="r" rtl="1"/>
            <a:endParaRPr lang="en-US" sz="1000" b="1" dirty="0">
              <a:solidFill>
                <a:schemeClr val="bg1">
                  <a:lumMod val="50000"/>
                </a:schemeClr>
              </a:solidFill>
              <a:latin typeface="Alexandria Medium" pitchFamily="2" charset="-78"/>
              <a:cs typeface="Alexandria Medium" pitchFamily="2" charset="-78"/>
            </a:endParaRPr>
          </a:p>
        </p:txBody>
      </p:sp>
      <p:sp>
        <p:nvSpPr>
          <p:cNvPr id="14" name="TextBox 13">
            <a:extLst>
              <a:ext uri="{FF2B5EF4-FFF2-40B4-BE49-F238E27FC236}">
                <a16:creationId xmlns:a16="http://schemas.microsoft.com/office/drawing/2014/main" id="{C08BC77C-86CF-A04C-A6AC-7B3C15378A4A}"/>
              </a:ext>
            </a:extLst>
          </p:cNvPr>
          <p:cNvSpPr txBox="1"/>
          <p:nvPr/>
        </p:nvSpPr>
        <p:spPr>
          <a:xfrm>
            <a:off x="154162" y="2312718"/>
            <a:ext cx="1151342" cy="415498"/>
          </a:xfrm>
          <a:prstGeom prst="rect">
            <a:avLst/>
          </a:prstGeom>
          <a:noFill/>
        </p:spPr>
        <p:txBody>
          <a:bodyPr wrap="none" rtlCol="0">
            <a:spAutoFit/>
          </a:bodyPr>
          <a:lstStyle/>
          <a:p>
            <a:pPr algn="r" rtl="1"/>
            <a:r>
              <a:rPr lang="fa-IR" sz="1050" dirty="0">
                <a:solidFill>
                  <a:schemeClr val="bg1">
                    <a:lumMod val="50000"/>
                  </a:schemeClr>
                </a:solidFill>
                <a:effectLst/>
                <a:latin typeface="Alexandria Medium" pitchFamily="2" charset="-78"/>
                <a:cs typeface="Alexandria Medium" pitchFamily="2" charset="-78"/>
              </a:rPr>
              <a:t>تخمین</a:t>
            </a:r>
            <a:r>
              <a:rPr lang="en-US" sz="1050" dirty="0">
                <a:solidFill>
                  <a:schemeClr val="bg1">
                    <a:lumMod val="50000"/>
                  </a:schemeClr>
                </a:solidFill>
                <a:effectLst/>
                <a:latin typeface="Alexandria Medium" pitchFamily="2" charset="-78"/>
                <a:cs typeface="Alexandria Medium" pitchFamily="2" charset="-78"/>
              </a:rPr>
              <a:t> </a:t>
            </a:r>
            <a:r>
              <a:rPr lang="fa-IR" sz="1050" dirty="0">
                <a:solidFill>
                  <a:schemeClr val="bg1">
                    <a:lumMod val="50000"/>
                  </a:schemeClr>
                </a:solidFill>
                <a:effectLst/>
                <a:latin typeface="Alexandria Medium" pitchFamily="2" charset="-78"/>
                <a:cs typeface="Alexandria Medium" pitchFamily="2" charset="-78"/>
              </a:rPr>
              <a:t>با قیاس </a:t>
            </a:r>
          </a:p>
          <a:p>
            <a:pPr algn="r" rtl="1"/>
            <a:endParaRPr lang="en-US" sz="1050" dirty="0">
              <a:solidFill>
                <a:schemeClr val="bg1">
                  <a:lumMod val="50000"/>
                </a:schemeClr>
              </a:solidFill>
              <a:latin typeface="Alexandria Medium" pitchFamily="2" charset="-78"/>
              <a:cs typeface="Alexandria Medium" pitchFamily="2" charset="-78"/>
            </a:endParaRPr>
          </a:p>
        </p:txBody>
      </p:sp>
      <p:sp>
        <p:nvSpPr>
          <p:cNvPr id="15" name="TextBox 14">
            <a:extLst>
              <a:ext uri="{FF2B5EF4-FFF2-40B4-BE49-F238E27FC236}">
                <a16:creationId xmlns:a16="http://schemas.microsoft.com/office/drawing/2014/main" id="{6E0FD209-5019-C746-A3CE-9C890281BF2C}"/>
              </a:ext>
            </a:extLst>
          </p:cNvPr>
          <p:cNvSpPr txBox="1"/>
          <p:nvPr/>
        </p:nvSpPr>
        <p:spPr>
          <a:xfrm>
            <a:off x="163306" y="2802495"/>
            <a:ext cx="1183402" cy="400110"/>
          </a:xfrm>
          <a:prstGeom prst="rect">
            <a:avLst/>
          </a:prstGeom>
          <a:noFill/>
        </p:spPr>
        <p:txBody>
          <a:bodyPr wrap="none" rtlCol="0">
            <a:spAutoFit/>
          </a:bodyPr>
          <a:lstStyle/>
          <a:p>
            <a:pPr algn="r" rtl="1"/>
            <a:r>
              <a:rPr lang="fa-IR" sz="1000" dirty="0">
                <a:solidFill>
                  <a:schemeClr val="accent2">
                    <a:lumMod val="50000"/>
                  </a:schemeClr>
                </a:solidFill>
                <a:effectLst/>
                <a:latin typeface="Alexandria Medium" pitchFamily="2" charset="-78"/>
                <a:cs typeface="Alexandria Medium" pitchFamily="2" charset="-78"/>
              </a:rPr>
              <a:t>قانون</a:t>
            </a:r>
            <a:r>
              <a:rPr lang="en-US" sz="1000" dirty="0">
                <a:solidFill>
                  <a:schemeClr val="accent2">
                    <a:lumMod val="50000"/>
                  </a:schemeClr>
                </a:solidFill>
                <a:effectLst/>
                <a:latin typeface="Alexandria Medium" pitchFamily="2" charset="-78"/>
                <a:cs typeface="Alexandria Medium" pitchFamily="2" charset="-78"/>
              </a:rPr>
              <a:t> </a:t>
            </a:r>
            <a:r>
              <a:rPr lang="fa-IR" sz="1000" dirty="0">
                <a:solidFill>
                  <a:schemeClr val="accent2">
                    <a:lumMod val="50000"/>
                  </a:schemeClr>
                </a:solidFill>
                <a:effectLst/>
                <a:latin typeface="Alexandria Medium" pitchFamily="2" charset="-78"/>
                <a:cs typeface="Alexandria Medium" pitchFamily="2" charset="-78"/>
              </a:rPr>
              <a:t>پارکینسون </a:t>
            </a:r>
          </a:p>
          <a:p>
            <a:pPr algn="r" rtl="1"/>
            <a:endParaRPr lang="en-US" sz="1000" dirty="0">
              <a:solidFill>
                <a:schemeClr val="accent2">
                  <a:lumMod val="50000"/>
                </a:schemeClr>
              </a:solidFill>
              <a:latin typeface="Alexandria Medium" pitchFamily="2" charset="-78"/>
              <a:cs typeface="Alexandria Medium" pitchFamily="2" charset="-78"/>
            </a:endParaRPr>
          </a:p>
        </p:txBody>
      </p:sp>
      <p:sp>
        <p:nvSpPr>
          <p:cNvPr id="23" name="TextBox 22">
            <a:extLst>
              <a:ext uri="{FF2B5EF4-FFF2-40B4-BE49-F238E27FC236}">
                <a16:creationId xmlns:a16="http://schemas.microsoft.com/office/drawing/2014/main" id="{1156E956-3F47-AC44-A93D-8CA8964DD7B7}"/>
              </a:ext>
            </a:extLst>
          </p:cNvPr>
          <p:cNvSpPr txBox="1"/>
          <p:nvPr/>
        </p:nvSpPr>
        <p:spPr>
          <a:xfrm>
            <a:off x="163306" y="3334418"/>
            <a:ext cx="1489575" cy="400110"/>
          </a:xfrm>
          <a:prstGeom prst="rect">
            <a:avLst/>
          </a:prstGeom>
          <a:noFill/>
        </p:spPr>
        <p:txBody>
          <a:bodyPr wrap="none" rtlCol="0">
            <a:spAutoFit/>
          </a:bodyPr>
          <a:lstStyle/>
          <a:p>
            <a:pPr algn="r" rtl="1"/>
            <a:r>
              <a:rPr lang="fa-IR" sz="1000" dirty="0">
                <a:solidFill>
                  <a:schemeClr val="accent2">
                    <a:lumMod val="50000"/>
                  </a:schemeClr>
                </a:solidFill>
                <a:effectLst/>
                <a:latin typeface="Alexandria Medium" pitchFamily="2" charset="-78"/>
                <a:cs typeface="Alexandria Medium" pitchFamily="2" charset="-78"/>
              </a:rPr>
              <a:t>قیمت</a:t>
            </a:r>
            <a:r>
              <a:rPr lang="en-US" sz="1000" dirty="0">
                <a:solidFill>
                  <a:schemeClr val="accent2">
                    <a:lumMod val="50000"/>
                  </a:schemeClr>
                </a:solidFill>
                <a:effectLst/>
                <a:latin typeface="Alexandria Medium" pitchFamily="2" charset="-78"/>
                <a:cs typeface="Alexandria Medium" pitchFamily="2" charset="-78"/>
              </a:rPr>
              <a:t> </a:t>
            </a:r>
            <a:r>
              <a:rPr lang="fa-IR" sz="1000" dirty="0">
                <a:solidFill>
                  <a:schemeClr val="accent2">
                    <a:lumMod val="50000"/>
                  </a:schemeClr>
                </a:solidFill>
                <a:effectLst/>
                <a:latin typeface="Alexandria Medium" pitchFamily="2" charset="-78"/>
                <a:cs typeface="Alexandria Medium" pitchFamily="2" charset="-78"/>
              </a:rPr>
              <a:t>گذاری برای بُردن</a:t>
            </a:r>
          </a:p>
          <a:p>
            <a:pPr algn="r" rtl="1"/>
            <a:endParaRPr lang="en-US" sz="1000" dirty="0">
              <a:solidFill>
                <a:schemeClr val="accent2">
                  <a:lumMod val="50000"/>
                </a:schemeClr>
              </a:solidFill>
              <a:latin typeface="Alexandria Medium" pitchFamily="2" charset="-78"/>
              <a:cs typeface="Alexandria Medium" pitchFamily="2" charset="-78"/>
            </a:endParaRPr>
          </a:p>
        </p:txBody>
      </p:sp>
      <p:cxnSp>
        <p:nvCxnSpPr>
          <p:cNvPr id="27" name="Elbow Connector 26">
            <a:extLst>
              <a:ext uri="{FF2B5EF4-FFF2-40B4-BE49-F238E27FC236}">
                <a16:creationId xmlns:a16="http://schemas.microsoft.com/office/drawing/2014/main" id="{BF941173-24E3-AF42-94BF-3B807434D3C3}"/>
              </a:ext>
            </a:extLst>
          </p:cNvPr>
          <p:cNvCxnSpPr>
            <a:cxnSpLocks/>
          </p:cNvCxnSpPr>
          <p:nvPr/>
        </p:nvCxnSpPr>
        <p:spPr>
          <a:xfrm flipV="1">
            <a:off x="2345559" y="722419"/>
            <a:ext cx="1341064" cy="11003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B8B1969-DC93-AE4F-AEE4-A250654CA613}"/>
              </a:ext>
            </a:extLst>
          </p:cNvPr>
          <p:cNvSpPr txBox="1"/>
          <p:nvPr/>
        </p:nvSpPr>
        <p:spPr>
          <a:xfrm>
            <a:off x="3612696" y="530198"/>
            <a:ext cx="5420099" cy="527965"/>
          </a:xfrm>
          <a:prstGeom prst="rect">
            <a:avLst/>
          </a:prstGeom>
          <a:noFill/>
        </p:spPr>
        <p:txBody>
          <a:bodyPr wrap="square">
            <a:spAutoFit/>
          </a:bodyPr>
          <a:lstStyle/>
          <a:p>
            <a:pPr marL="365760" algn="r" rtl="1">
              <a:lnSpc>
                <a:spcPct val="150000"/>
              </a:lnSpc>
              <a:spcBef>
                <a:spcPts val="1800"/>
              </a:spcBef>
              <a:spcAft>
                <a:spcPts val="600"/>
              </a:spcAft>
            </a:pPr>
            <a:r>
              <a:rPr lang="fa-IR" sz="1000" dirty="0">
                <a:solidFill>
                  <a:srgbClr val="2D2D2D"/>
                </a:solidFill>
                <a:effectLst/>
                <a:latin typeface="Alexandria Medium" pitchFamily="2" charset="-78"/>
                <a:cs typeface="Alexandria Medium" pitchFamily="2" charset="-78"/>
              </a:rPr>
              <a:t>پیشنهاد می کند که یک یا چند متخصص در حوزه پروژه و توسعه نرم افزار باید ملاقات کنند و از تجربیات خود برای تولید تخمین استفاده کنند.</a:t>
            </a:r>
            <a:endParaRPr lang="en-US" sz="1000" dirty="0">
              <a:solidFill>
                <a:srgbClr val="2D2D2D"/>
              </a:solidFill>
              <a:effectLst/>
              <a:latin typeface="Alexandria Medium" pitchFamily="2" charset="-78"/>
              <a:cs typeface="Alexandria Medium" pitchFamily="2" charset="-78"/>
            </a:endParaRPr>
          </a:p>
        </p:txBody>
      </p:sp>
      <p:sp>
        <p:nvSpPr>
          <p:cNvPr id="31" name="TextBox 30">
            <a:extLst>
              <a:ext uri="{FF2B5EF4-FFF2-40B4-BE49-F238E27FC236}">
                <a16:creationId xmlns:a16="http://schemas.microsoft.com/office/drawing/2014/main" id="{DD862814-B061-D64C-B439-B53067011802}"/>
              </a:ext>
            </a:extLst>
          </p:cNvPr>
          <p:cNvSpPr txBox="1"/>
          <p:nvPr/>
        </p:nvSpPr>
        <p:spPr>
          <a:xfrm>
            <a:off x="4022560" y="1404028"/>
            <a:ext cx="5034516" cy="506164"/>
          </a:xfrm>
          <a:prstGeom prst="rect">
            <a:avLst/>
          </a:prstGeom>
          <a:noFill/>
        </p:spPr>
        <p:txBody>
          <a:bodyPr wrap="square">
            <a:spAutoFit/>
          </a:bodyPr>
          <a:lstStyle/>
          <a:p>
            <a:pPr marL="365760" algn="r" rtl="1">
              <a:lnSpc>
                <a:spcPct val="150000"/>
              </a:lnSpc>
              <a:spcBef>
                <a:spcPts val="1800"/>
              </a:spcBef>
              <a:spcAft>
                <a:spcPts val="600"/>
              </a:spcAft>
            </a:pPr>
            <a:r>
              <a:rPr lang="fa-IR" sz="950" dirty="0">
                <a:solidFill>
                  <a:srgbClr val="0E692F"/>
                </a:solidFill>
                <a:effectLst/>
                <a:latin typeface="Alexandria Medium" pitchFamily="2" charset="-78"/>
                <a:cs typeface="Alexandria Medium" pitchFamily="2" charset="-78"/>
              </a:rPr>
              <a:t>با این حال، اگر کارشناسان واقعاً تجربه گسترده ای در پروژههای مشابه داشته باشند، این یک تکنیک عملی، سریع و نسبتا بی دردسر است. </a:t>
            </a:r>
          </a:p>
        </p:txBody>
      </p:sp>
      <p:sp>
        <p:nvSpPr>
          <p:cNvPr id="33" name="TextBox 32">
            <a:extLst>
              <a:ext uri="{FF2B5EF4-FFF2-40B4-BE49-F238E27FC236}">
                <a16:creationId xmlns:a16="http://schemas.microsoft.com/office/drawing/2014/main" id="{2B72C3E8-AD7A-EB4A-9981-CF107FAF3870}"/>
              </a:ext>
            </a:extLst>
          </p:cNvPr>
          <p:cNvSpPr txBox="1"/>
          <p:nvPr/>
        </p:nvSpPr>
        <p:spPr>
          <a:xfrm>
            <a:off x="4022560" y="998867"/>
            <a:ext cx="5034516" cy="484363"/>
          </a:xfrm>
          <a:prstGeom prst="rect">
            <a:avLst/>
          </a:prstGeom>
          <a:noFill/>
        </p:spPr>
        <p:txBody>
          <a:bodyPr wrap="square">
            <a:spAutoFit/>
          </a:bodyPr>
          <a:lstStyle/>
          <a:p>
            <a:pPr marL="365760" algn="r" rtl="1">
              <a:lnSpc>
                <a:spcPct val="150000"/>
              </a:lnSpc>
              <a:spcBef>
                <a:spcPts val="1800"/>
              </a:spcBef>
              <a:spcAft>
                <a:spcPts val="600"/>
              </a:spcAft>
            </a:pPr>
            <a:r>
              <a:rPr lang="fa-IR" sz="900" dirty="0">
                <a:solidFill>
                  <a:srgbClr val="C00000"/>
                </a:solidFill>
                <a:effectLst/>
                <a:latin typeface="Alexandria Medium" pitchFamily="2" charset="-78"/>
                <a:cs typeface="Alexandria Medium" pitchFamily="2" charset="-78"/>
              </a:rPr>
              <a:t> تکنیک اسمیت یک سناریوی بالقوه بد برای تکنیک</a:t>
            </a:r>
            <a:r>
              <a:rPr lang="en-US" sz="900" dirty="0">
                <a:solidFill>
                  <a:srgbClr val="C00000"/>
                </a:solidFill>
                <a:effectLst/>
                <a:latin typeface="Alexandria Medium" pitchFamily="2" charset="-78"/>
                <a:cs typeface="Alexandria Medium" pitchFamily="2" charset="-78"/>
              </a:rPr>
              <a:t> </a:t>
            </a:r>
            <a:r>
              <a:rPr lang="fa-IR" sz="900" dirty="0">
                <a:solidFill>
                  <a:srgbClr val="C00000"/>
                </a:solidFill>
                <a:effectLst/>
                <a:latin typeface="Alexandria Medium" pitchFamily="2" charset="-78"/>
                <a:cs typeface="Alexandria Medium" pitchFamily="2" charset="-78"/>
              </a:rPr>
              <a:t>قضاوت است: این تکنیک ممکن است نادرست باشد، بنا به</a:t>
            </a:r>
            <a:r>
              <a:rPr lang="en-US" sz="900" dirty="0">
                <a:solidFill>
                  <a:srgbClr val="C00000"/>
                </a:solidFill>
                <a:effectLst/>
                <a:latin typeface="Alexandria Medium" pitchFamily="2" charset="-78"/>
                <a:cs typeface="Alexandria Medium" pitchFamily="2" charset="-78"/>
              </a:rPr>
              <a:t> </a:t>
            </a:r>
            <a:r>
              <a:rPr lang="fa-IR" sz="900" dirty="0">
                <a:solidFill>
                  <a:srgbClr val="C00000"/>
                </a:solidFill>
                <a:effectLst/>
                <a:latin typeface="Alexandria Medium" pitchFamily="2" charset="-78"/>
                <a:cs typeface="Alexandria Medium" pitchFamily="2" charset="-78"/>
              </a:rPr>
              <a:t>تخصص برآورد کنندگان . </a:t>
            </a:r>
          </a:p>
        </p:txBody>
      </p:sp>
      <p:sp>
        <p:nvSpPr>
          <p:cNvPr id="37" name="TextBox 36">
            <a:extLst>
              <a:ext uri="{FF2B5EF4-FFF2-40B4-BE49-F238E27FC236}">
                <a16:creationId xmlns:a16="http://schemas.microsoft.com/office/drawing/2014/main" id="{AC3A9A43-ADC3-424C-BEB4-C5BD13F0B678}"/>
              </a:ext>
            </a:extLst>
          </p:cNvPr>
          <p:cNvSpPr txBox="1"/>
          <p:nvPr/>
        </p:nvSpPr>
        <p:spPr>
          <a:xfrm>
            <a:off x="3435266" y="2547457"/>
            <a:ext cx="5277591" cy="527965"/>
          </a:xfrm>
          <a:prstGeom prst="rect">
            <a:avLst/>
          </a:prstGeom>
          <a:noFill/>
        </p:spPr>
        <p:txBody>
          <a:bodyPr wrap="square" rtlCol="0">
            <a:spAutoFit/>
          </a:bodyPr>
          <a:lstStyle/>
          <a:p>
            <a:pPr marR="0" algn="r" rtl="1">
              <a:lnSpc>
                <a:spcPct val="150000"/>
              </a:lnSpc>
              <a:spcBef>
                <a:spcPts val="1800"/>
              </a:spcBef>
              <a:buClr>
                <a:srgbClr val="000000"/>
              </a:buClr>
              <a:buFont typeface="Arial"/>
            </a:pPr>
            <a:r>
              <a:rPr lang="fa-IR" sz="1000" dirty="0">
                <a:solidFill>
                  <a:srgbClr val="2D2D2D"/>
                </a:solidFill>
                <a:effectLst/>
                <a:latin typeface="Alexandria Medium" pitchFamily="2" charset="-78"/>
                <a:cs typeface="Alexandria Medium" pitchFamily="2" charset="-78"/>
              </a:rPr>
              <a:t>این تکنیک در واقع مبنای عملگرایانه </a:t>
            </a:r>
            <a:r>
              <a:rPr lang="fa-IR" sz="1000" dirty="0">
                <a:solidFill>
                  <a:srgbClr val="0E692F"/>
                </a:solidFill>
                <a:effectLst/>
                <a:latin typeface="Alexandria Medium" pitchFamily="2" charset="-78"/>
                <a:cs typeface="Alexandria Medium" pitchFamily="2" charset="-78"/>
              </a:rPr>
              <a:t>تکنیک قبلی </a:t>
            </a:r>
            <a:r>
              <a:rPr lang="fa-IR" sz="1000" dirty="0">
                <a:solidFill>
                  <a:srgbClr val="2D2D2D"/>
                </a:solidFill>
                <a:effectLst/>
                <a:latin typeface="Alexandria Medium" pitchFamily="2" charset="-78"/>
                <a:cs typeface="Alexandria Medium" pitchFamily="2" charset="-78"/>
              </a:rPr>
              <a:t>است. فرض بر این است که تلاش برای توسعه یک سیستم جدید مانند تلاش برای توسعه سایر سیستمهای مشابه خواهد بود.</a:t>
            </a:r>
            <a:endParaRPr lang="en-US" sz="1000" dirty="0">
              <a:latin typeface="Alexandria Medium" pitchFamily="2" charset="-78"/>
              <a:cs typeface="Alexandria Medium" pitchFamily="2" charset="-78"/>
            </a:endParaRPr>
          </a:p>
        </p:txBody>
      </p:sp>
      <p:cxnSp>
        <p:nvCxnSpPr>
          <p:cNvPr id="41" name="Elbow Connector 40">
            <a:extLst>
              <a:ext uri="{FF2B5EF4-FFF2-40B4-BE49-F238E27FC236}">
                <a16:creationId xmlns:a16="http://schemas.microsoft.com/office/drawing/2014/main" id="{4C99CAD6-0DCE-2943-95D1-E1F73DCE53B3}"/>
              </a:ext>
            </a:extLst>
          </p:cNvPr>
          <p:cNvCxnSpPr>
            <a:cxnSpLocks/>
          </p:cNvCxnSpPr>
          <p:nvPr/>
        </p:nvCxnSpPr>
        <p:spPr>
          <a:xfrm>
            <a:off x="2345559" y="2312718"/>
            <a:ext cx="1004105" cy="61911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ED6402E-96E0-7B44-AEAD-794FDF55E749}"/>
              </a:ext>
            </a:extLst>
          </p:cNvPr>
          <p:cNvSpPr txBox="1"/>
          <p:nvPr/>
        </p:nvSpPr>
        <p:spPr>
          <a:xfrm>
            <a:off x="3678755" y="3200192"/>
            <a:ext cx="5023882" cy="899862"/>
          </a:xfrm>
          <a:prstGeom prst="rect">
            <a:avLst/>
          </a:prstGeom>
          <a:noFill/>
        </p:spPr>
        <p:txBody>
          <a:bodyPr wrap="square">
            <a:spAutoFit/>
          </a:bodyPr>
          <a:lstStyle/>
          <a:p>
            <a:pPr marR="0" algn="r" rtl="1">
              <a:lnSpc>
                <a:spcPct val="150000"/>
              </a:lnSpc>
              <a:spcBef>
                <a:spcPts val="0"/>
              </a:spcBef>
              <a:spcAft>
                <a:spcPts val="0"/>
              </a:spcAft>
              <a:buClr>
                <a:srgbClr val="000000"/>
              </a:buClr>
              <a:buFont typeface="Arial"/>
            </a:pPr>
            <a:r>
              <a:rPr lang="en-US" sz="900" dirty="0">
                <a:latin typeface="Alexandria Medium" pitchFamily="2" charset="-78"/>
                <a:cs typeface="Alexandria Medium" pitchFamily="2" charset="-78"/>
              </a:rPr>
              <a:t>می تواند </a:t>
            </a:r>
            <a:r>
              <a:rPr lang="en-US" sz="900" dirty="0" err="1">
                <a:latin typeface="Alexandria Medium" pitchFamily="2" charset="-78"/>
                <a:cs typeface="Alexandria Medium" pitchFamily="2" charset="-78"/>
              </a:rPr>
              <a:t>از</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یک</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یا</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چند</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متخصص</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برای</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تعیین</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اینکه</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چه</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چیزی</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به</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عنوان</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یک</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سیستم</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مشابه</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واجد</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شرایط</a:t>
            </a:r>
            <a:r>
              <a:rPr lang="en-US" sz="900" dirty="0">
                <a:latin typeface="Alexandria Medium" pitchFamily="2" charset="-78"/>
                <a:cs typeface="Alexandria Medium" pitchFamily="2" charset="-78"/>
              </a:rPr>
              <a:t> </a:t>
            </a:r>
            <a:r>
              <a:rPr lang="en-US" sz="900" dirty="0" err="1">
                <a:latin typeface="Alexandria Medium" pitchFamily="2" charset="-78"/>
                <a:cs typeface="Alexandria Medium" pitchFamily="2" charset="-78"/>
              </a:rPr>
              <a:t>است</a:t>
            </a:r>
            <a:r>
              <a:rPr lang="fa-IR" sz="900" dirty="0" err="1">
                <a:latin typeface="Alexandria Medium" pitchFamily="2" charset="-78"/>
                <a:cs typeface="Alexandria Medium" pitchFamily="2" charset="-78"/>
              </a:rPr>
              <a:t> </a:t>
            </a:r>
            <a:r>
              <a:rPr lang="fa-IR" sz="900" dirty="0">
                <a:latin typeface="Alexandria Medium" pitchFamily="2" charset="-78"/>
                <a:cs typeface="Alexandria Medium" pitchFamily="2" charset="-78"/>
              </a:rPr>
              <a:t>و چگونه زمان صرف شده برای توسعه آن می تواند به عنوان مبنایی برای برآورد تلاش برای پروژه فعلی استفاده شود، به خوبی استفاده کند. </a:t>
            </a:r>
          </a:p>
          <a:p>
            <a:pPr marR="0" algn="r" rtl="1">
              <a:lnSpc>
                <a:spcPct val="150000"/>
              </a:lnSpc>
              <a:spcBef>
                <a:spcPts val="0"/>
              </a:spcBef>
              <a:spcAft>
                <a:spcPts val="0"/>
              </a:spcAft>
              <a:buClr>
                <a:srgbClr val="000000"/>
              </a:buClr>
              <a:buFont typeface="Arial"/>
            </a:pPr>
            <a:r>
              <a:rPr lang="fa-IR" sz="900" dirty="0">
                <a:latin typeface="Alexandria Medium" pitchFamily="2" charset="-78"/>
                <a:cs typeface="Alexandria Medium" pitchFamily="2" charset="-78"/>
              </a:rPr>
              <a:t>بنابراین این تکنیک معمولاً ممکن است به </a:t>
            </a:r>
            <a:r>
              <a:rPr lang="fa-IR" sz="900" dirty="0">
                <a:solidFill>
                  <a:srgbClr val="0E692F"/>
                </a:solidFill>
                <a:latin typeface="Alexandria Medium" pitchFamily="2" charset="-78"/>
                <a:cs typeface="Alexandria Medium" pitchFamily="2" charset="-78"/>
              </a:rPr>
              <a:t>قضاوت کارشناس </a:t>
            </a:r>
            <a:r>
              <a:rPr lang="fa-IR" sz="900" dirty="0">
                <a:latin typeface="Alexandria Medium" pitchFamily="2" charset="-78"/>
                <a:cs typeface="Alexandria Medium" pitchFamily="2" charset="-78"/>
              </a:rPr>
              <a:t>تبدیل شود.</a:t>
            </a:r>
            <a:endParaRPr lang="en-US" sz="900" dirty="0">
              <a:latin typeface="Alexandria Medium" pitchFamily="2" charset="-78"/>
              <a:cs typeface="Alexandria Medium" pitchFamily="2" charset="-78"/>
            </a:endParaRPr>
          </a:p>
        </p:txBody>
      </p:sp>
      <p:sp>
        <p:nvSpPr>
          <p:cNvPr id="46" name="TextBox 45">
            <a:extLst>
              <a:ext uri="{FF2B5EF4-FFF2-40B4-BE49-F238E27FC236}">
                <a16:creationId xmlns:a16="http://schemas.microsoft.com/office/drawing/2014/main" id="{21B0D9E5-CBE5-7244-913B-0641335010FF}"/>
              </a:ext>
            </a:extLst>
          </p:cNvPr>
          <p:cNvSpPr txBox="1"/>
          <p:nvPr/>
        </p:nvSpPr>
        <p:spPr>
          <a:xfrm>
            <a:off x="3686623" y="3061122"/>
            <a:ext cx="5023882" cy="230832"/>
          </a:xfrm>
          <a:prstGeom prst="rect">
            <a:avLst/>
          </a:prstGeom>
          <a:noFill/>
        </p:spPr>
        <p:txBody>
          <a:bodyPr wrap="square">
            <a:spAutoFit/>
          </a:bodyPr>
          <a:lstStyle/>
          <a:p>
            <a:pPr marR="0" algn="r" rtl="1">
              <a:lnSpc>
                <a:spcPct val="100000"/>
              </a:lnSpc>
              <a:spcBef>
                <a:spcPts val="0"/>
              </a:spcBef>
              <a:spcAft>
                <a:spcPts val="0"/>
              </a:spcAft>
              <a:buClr>
                <a:srgbClr val="000000"/>
              </a:buClr>
              <a:buFont typeface="Arial"/>
            </a:pPr>
            <a:r>
              <a:rPr lang="fa-IR" sz="900" dirty="0">
                <a:solidFill>
                  <a:srgbClr val="C00000"/>
                </a:solidFill>
                <a:effectLst/>
                <a:latin typeface="Alexandria Medium" pitchFamily="2" charset="-78"/>
                <a:cs typeface="Alexandria Medium" pitchFamily="2" charset="-78"/>
              </a:rPr>
              <a:t>اگر پروژه های مشابه برای مقایسه در دسترس نباشند، این تکنیک امکان پذیر نیست.</a:t>
            </a:r>
            <a:endParaRPr lang="en-US" sz="900" dirty="0">
              <a:solidFill>
                <a:srgbClr val="C00000"/>
              </a:solidFill>
              <a:latin typeface="Alexandria Medium" pitchFamily="2" charset="-78"/>
              <a:cs typeface="Alexandria Medium" pitchFamily="2" charset="-78"/>
            </a:endParaRPr>
          </a:p>
        </p:txBody>
      </p:sp>
    </p:spTree>
    <p:extLst>
      <p:ext uri="{BB962C8B-B14F-4D97-AF65-F5344CB8AC3E}">
        <p14:creationId xmlns:p14="http://schemas.microsoft.com/office/powerpoint/2010/main" val="1207988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par>
                          <p:cTn id="16" fill="hold">
                            <p:stCondLst>
                              <p:cond delay="2000"/>
                            </p:stCondLst>
                            <p:childTnLst>
                              <p:par>
                                <p:cTn id="17" presetID="10" presetClass="entr" presetSubtype="0" fill="hold" grpId="0" nodeType="afterEffect">
                                  <p:stCondLst>
                                    <p:cond delay="5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par>
                          <p:cTn id="20" fill="hold">
                            <p:stCondLst>
                              <p:cond delay="3000"/>
                            </p:stCondLst>
                            <p:childTnLst>
                              <p:par>
                                <p:cTn id="21" presetID="10" presetClass="entr" presetSubtype="0" fill="hold" grpId="0" nodeType="afterEffect">
                                  <p:stCondLst>
                                    <p:cond delay="250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6000"/>
                            </p:stCondLst>
                            <p:childTnLst>
                              <p:par>
                                <p:cTn id="25" presetID="10" presetClass="entr" presetSubtype="0" fill="hold"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par>
                          <p:cTn id="28" fill="hold">
                            <p:stCondLst>
                              <p:cond delay="6500"/>
                            </p:stCondLst>
                            <p:childTnLst>
                              <p:par>
                                <p:cTn id="29" presetID="10" presetClass="entr" presetSubtype="0"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childTnLst>
                          </p:cTn>
                        </p:par>
                        <p:par>
                          <p:cTn id="32" fill="hold">
                            <p:stCondLst>
                              <p:cond delay="7000"/>
                            </p:stCondLst>
                            <p:childTnLst>
                              <p:par>
                                <p:cTn id="33" presetID="10" presetClass="entr" presetSubtype="0"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childTnLst>
                          </p:cTn>
                        </p:par>
                        <p:par>
                          <p:cTn id="36" fill="hold">
                            <p:stCondLst>
                              <p:cond delay="7500"/>
                            </p:stCondLst>
                            <p:childTnLst>
                              <p:par>
                                <p:cTn id="37" presetID="10" presetClass="entr" presetSubtype="0" fill="hold" grpId="0" nodeType="afterEffect">
                                  <p:stCondLst>
                                    <p:cond delay="50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9" grpId="0"/>
      <p:bldP spid="31" grpId="0"/>
      <p:bldP spid="33" grpId="0"/>
      <p:bldP spid="37" grpId="0"/>
      <p:bldP spid="44" grpId="0"/>
      <p:bldP spid="4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6" name="Google Shape;661;p70">
            <a:extLst>
              <a:ext uri="{FF2B5EF4-FFF2-40B4-BE49-F238E27FC236}">
                <a16:creationId xmlns:a16="http://schemas.microsoft.com/office/drawing/2014/main" id="{3D76BA56-77BE-EC47-8250-797E3E94A992}"/>
              </a:ext>
            </a:extLst>
          </p:cNvPr>
          <p:cNvPicPr preferRelativeResize="0"/>
          <p:nvPr/>
        </p:nvPicPr>
        <p:blipFill>
          <a:blip r:embed="rId3">
            <a:alphaModFix/>
          </a:blip>
          <a:stretch>
            <a:fillRect/>
          </a:stretch>
        </p:blipFill>
        <p:spPr>
          <a:xfrm rot="20417076">
            <a:off x="6623962" y="-609708"/>
            <a:ext cx="3101955" cy="1338255"/>
          </a:xfrm>
          <a:prstGeom prst="rect">
            <a:avLst/>
          </a:prstGeom>
          <a:noFill/>
          <a:ln>
            <a:noFill/>
          </a:ln>
        </p:spPr>
      </p:pic>
      <p:cxnSp>
        <p:nvCxnSpPr>
          <p:cNvPr id="3" name="Google Shape;237;p39">
            <a:hlinkClick r:id="" action="ppaction://hlinkshowjump?jump=nextslide"/>
            <a:extLst>
              <a:ext uri="{FF2B5EF4-FFF2-40B4-BE49-F238E27FC236}">
                <a16:creationId xmlns:a16="http://schemas.microsoft.com/office/drawing/2014/main" id="{51598969-7C31-FB47-A3BE-7836ADE2CF8A}"/>
              </a:ext>
            </a:extLst>
          </p:cNvPr>
          <p:cNvCxnSpPr>
            <a:cxnSpLocks/>
          </p:cNvCxnSpPr>
          <p:nvPr/>
        </p:nvCxnSpPr>
        <p:spPr>
          <a:xfrm flipV="1">
            <a:off x="519710" y="4073236"/>
            <a:ext cx="0" cy="456491"/>
          </a:xfrm>
          <a:prstGeom prst="straightConnector1">
            <a:avLst/>
          </a:prstGeom>
          <a:noFill/>
          <a:ln w="9525" cap="flat" cmpd="sng">
            <a:solidFill>
              <a:schemeClr val="dk1"/>
            </a:solidFill>
            <a:prstDash val="solid"/>
            <a:round/>
            <a:headEnd type="none" w="med" len="med"/>
            <a:tailEnd type="triangle" w="med" len="med"/>
          </a:ln>
        </p:spPr>
      </p:cxnSp>
      <p:sp>
        <p:nvSpPr>
          <p:cNvPr id="13" name="Google Shape;190;p35">
            <a:extLst>
              <a:ext uri="{FF2B5EF4-FFF2-40B4-BE49-F238E27FC236}">
                <a16:creationId xmlns:a16="http://schemas.microsoft.com/office/drawing/2014/main" id="{5DE556FD-29DC-0A4D-86DF-15187DC3E6B1}"/>
              </a:ext>
            </a:extLst>
          </p:cNvPr>
          <p:cNvSpPr txBox="1">
            <a:spLocks/>
          </p:cNvSpPr>
          <p:nvPr/>
        </p:nvSpPr>
        <p:spPr>
          <a:xfrm>
            <a:off x="193541" y="973104"/>
            <a:ext cx="2314008" cy="6397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b="1" dirty="0">
                <a:solidFill>
                  <a:schemeClr val="tx2">
                    <a:lumMod val="75000"/>
                  </a:schemeClr>
                </a:solidFill>
              </a:rPr>
              <a:t>Somerville (2006) identifies some other ad hoc techniques : </a:t>
            </a:r>
            <a:endParaRPr lang="en-US" sz="1200" b="1" dirty="0">
              <a:solidFill>
                <a:schemeClr val="tx2">
                  <a:lumMod val="75000"/>
                </a:schemeClr>
              </a:solidFill>
              <a:effectLst/>
            </a:endParaRPr>
          </a:p>
        </p:txBody>
      </p:sp>
      <p:sp>
        <p:nvSpPr>
          <p:cNvPr id="21" name="Google Shape;190;p35">
            <a:extLst>
              <a:ext uri="{FF2B5EF4-FFF2-40B4-BE49-F238E27FC236}">
                <a16:creationId xmlns:a16="http://schemas.microsoft.com/office/drawing/2014/main" id="{4E3CC392-0BB8-FF4B-9E03-9A5CB9ED16D2}"/>
              </a:ext>
            </a:extLst>
          </p:cNvPr>
          <p:cNvSpPr txBox="1">
            <a:spLocks/>
          </p:cNvSpPr>
          <p:nvPr/>
        </p:nvSpPr>
        <p:spPr>
          <a:xfrm>
            <a:off x="198764" y="2096803"/>
            <a:ext cx="2225681"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Estimation by analogy </a:t>
            </a:r>
          </a:p>
          <a:p>
            <a:endParaRPr lang="en-US" sz="1200" b="1" dirty="0">
              <a:solidFill>
                <a:schemeClr val="accent1">
                  <a:lumMod val="75000"/>
                </a:schemeClr>
              </a:solidFill>
            </a:endParaRPr>
          </a:p>
        </p:txBody>
      </p:sp>
      <p:sp>
        <p:nvSpPr>
          <p:cNvPr id="22" name="Google Shape;190;p35">
            <a:extLst>
              <a:ext uri="{FF2B5EF4-FFF2-40B4-BE49-F238E27FC236}">
                <a16:creationId xmlns:a16="http://schemas.microsoft.com/office/drawing/2014/main" id="{A8C04452-D3F3-A24D-B36A-187ACD16C29C}"/>
              </a:ext>
            </a:extLst>
          </p:cNvPr>
          <p:cNvSpPr txBox="1">
            <a:spLocks/>
          </p:cNvSpPr>
          <p:nvPr/>
        </p:nvSpPr>
        <p:spPr>
          <a:xfrm>
            <a:off x="194306" y="1602703"/>
            <a:ext cx="2225681"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200" dirty="0"/>
              <a:t>Expert judgment </a:t>
            </a:r>
          </a:p>
          <a:p>
            <a:endParaRPr lang="en-US" sz="1200" b="1" dirty="0">
              <a:solidFill>
                <a:schemeClr val="accent1">
                  <a:lumMod val="75000"/>
                </a:schemeClr>
              </a:solidFill>
            </a:endParaRPr>
          </a:p>
          <a:p>
            <a:endParaRPr lang="en-US" sz="1200" b="1" dirty="0">
              <a:solidFill>
                <a:schemeClr val="accent1">
                  <a:lumMod val="75000"/>
                </a:schemeClr>
              </a:solidFill>
              <a:effectLst/>
            </a:endParaRPr>
          </a:p>
        </p:txBody>
      </p:sp>
      <p:sp>
        <p:nvSpPr>
          <p:cNvPr id="19" name="TextBox 18">
            <a:extLst>
              <a:ext uri="{FF2B5EF4-FFF2-40B4-BE49-F238E27FC236}">
                <a16:creationId xmlns:a16="http://schemas.microsoft.com/office/drawing/2014/main" id="{3B744A94-F9DC-6141-987B-4DAB4FE1F745}"/>
              </a:ext>
            </a:extLst>
          </p:cNvPr>
          <p:cNvSpPr txBox="1"/>
          <p:nvPr/>
        </p:nvSpPr>
        <p:spPr>
          <a:xfrm>
            <a:off x="194306" y="2619162"/>
            <a:ext cx="6981444" cy="276999"/>
          </a:xfrm>
          <a:prstGeom prst="rect">
            <a:avLst/>
          </a:prstGeom>
          <a:noFill/>
        </p:spPr>
        <p:txBody>
          <a:bodyPr wrap="square">
            <a:spAutoFit/>
          </a:bodyPr>
          <a:lstStyle/>
          <a:p>
            <a:r>
              <a:rPr lang="en-US" sz="1200" dirty="0">
                <a:solidFill>
                  <a:srgbClr val="2D2D2D"/>
                </a:solidFill>
                <a:effectLst/>
                <a:latin typeface="Alexandria Medium" pitchFamily="2" charset="-78"/>
                <a:cs typeface="Alexandria Medium" pitchFamily="2" charset="-78"/>
              </a:rPr>
              <a:t>Parkinson’s Law </a:t>
            </a:r>
            <a:endParaRPr lang="en-US" sz="1200" dirty="0">
              <a:effectLst/>
              <a:latin typeface="Alexandria Medium" pitchFamily="2" charset="-78"/>
              <a:cs typeface="Alexandria Medium" pitchFamily="2" charset="-78"/>
            </a:endParaRPr>
          </a:p>
        </p:txBody>
      </p:sp>
      <p:cxnSp>
        <p:nvCxnSpPr>
          <p:cNvPr id="5" name="Straight Connector 4">
            <a:extLst>
              <a:ext uri="{FF2B5EF4-FFF2-40B4-BE49-F238E27FC236}">
                <a16:creationId xmlns:a16="http://schemas.microsoft.com/office/drawing/2014/main" id="{034AF1BD-046D-7A4F-AC02-B8D080696E9E}"/>
              </a:ext>
            </a:extLst>
          </p:cNvPr>
          <p:cNvCxnSpPr>
            <a:cxnSpLocks/>
          </p:cNvCxnSpPr>
          <p:nvPr/>
        </p:nvCxnSpPr>
        <p:spPr>
          <a:xfrm>
            <a:off x="2595110" y="776177"/>
            <a:ext cx="0" cy="3525304"/>
          </a:xfrm>
          <a:prstGeom prst="line">
            <a:avLst/>
          </a:prstGeom>
          <a:ln>
            <a:solidFill>
              <a:srgbClr val="105569">
                <a:alpha val="36863"/>
              </a:srgb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2CDDC13-36B1-624B-9EF4-35393964DE2C}"/>
              </a:ext>
            </a:extLst>
          </p:cNvPr>
          <p:cNvSpPr txBox="1"/>
          <p:nvPr/>
        </p:nvSpPr>
        <p:spPr>
          <a:xfrm>
            <a:off x="192808" y="3112588"/>
            <a:ext cx="1301959" cy="461665"/>
          </a:xfrm>
          <a:prstGeom prst="rect">
            <a:avLst/>
          </a:prstGeom>
          <a:noFill/>
        </p:spPr>
        <p:txBody>
          <a:bodyPr wrap="none" rtlCol="0">
            <a:spAutoFit/>
          </a:bodyPr>
          <a:lstStyle/>
          <a:p>
            <a:r>
              <a:rPr lang="en-US" sz="1200" dirty="0">
                <a:solidFill>
                  <a:srgbClr val="2D2D2D"/>
                </a:solidFill>
                <a:effectLst/>
                <a:latin typeface="Alexandria Medium" pitchFamily="2" charset="-78"/>
                <a:cs typeface="Alexandria Medium" pitchFamily="2" charset="-78"/>
              </a:rPr>
              <a:t>Pricing to win </a:t>
            </a:r>
            <a:endParaRPr lang="en-US" sz="1200" dirty="0">
              <a:effectLst/>
              <a:latin typeface="Alexandria Medium" pitchFamily="2" charset="-78"/>
              <a:cs typeface="Alexandria Medium" pitchFamily="2" charset="-78"/>
            </a:endParaRPr>
          </a:p>
          <a:p>
            <a:endParaRPr lang="en-US" sz="1200" dirty="0">
              <a:latin typeface="Alexandria Medium" pitchFamily="2" charset="-78"/>
              <a:cs typeface="Alexandria Medium" pitchFamily="2" charset="-78"/>
            </a:endParaRPr>
          </a:p>
        </p:txBody>
      </p:sp>
      <p:sp>
        <p:nvSpPr>
          <p:cNvPr id="12" name="TextBox 11">
            <a:extLst>
              <a:ext uri="{FF2B5EF4-FFF2-40B4-BE49-F238E27FC236}">
                <a16:creationId xmlns:a16="http://schemas.microsoft.com/office/drawing/2014/main" id="{D3A0E8CF-5589-B149-AD72-22E149F6D060}"/>
              </a:ext>
            </a:extLst>
          </p:cNvPr>
          <p:cNvSpPr txBox="1"/>
          <p:nvPr/>
        </p:nvSpPr>
        <p:spPr>
          <a:xfrm>
            <a:off x="151097" y="1825065"/>
            <a:ext cx="1223476" cy="400110"/>
          </a:xfrm>
          <a:prstGeom prst="rect">
            <a:avLst/>
          </a:prstGeom>
          <a:noFill/>
        </p:spPr>
        <p:txBody>
          <a:bodyPr wrap="none" rtlCol="0">
            <a:spAutoFit/>
          </a:bodyPr>
          <a:lstStyle/>
          <a:p>
            <a:pPr algn="r" rtl="1"/>
            <a:r>
              <a:rPr lang="fa-IR" sz="1000" dirty="0">
                <a:solidFill>
                  <a:schemeClr val="accent2">
                    <a:lumMod val="50000"/>
                  </a:schemeClr>
                </a:solidFill>
                <a:effectLst/>
                <a:latin typeface="Alexandria Medium" pitchFamily="2" charset="-78"/>
                <a:cs typeface="Alexandria Medium" pitchFamily="2" charset="-78"/>
              </a:rPr>
              <a:t>قضاوت</a:t>
            </a:r>
            <a:r>
              <a:rPr lang="en-US" sz="1000" b="1" dirty="0">
                <a:solidFill>
                  <a:schemeClr val="accent2">
                    <a:lumMod val="50000"/>
                  </a:schemeClr>
                </a:solidFill>
                <a:effectLst/>
                <a:latin typeface="Alexandria Medium" pitchFamily="2" charset="-78"/>
                <a:cs typeface="Alexandria Medium" pitchFamily="2" charset="-78"/>
              </a:rPr>
              <a:t> </a:t>
            </a:r>
            <a:r>
              <a:rPr lang="fa-IR" sz="1000" dirty="0">
                <a:solidFill>
                  <a:schemeClr val="accent2">
                    <a:lumMod val="50000"/>
                  </a:schemeClr>
                </a:solidFill>
                <a:effectLst/>
                <a:latin typeface="Alexandria Medium" pitchFamily="2" charset="-78"/>
                <a:cs typeface="Alexandria Medium" pitchFamily="2" charset="-78"/>
              </a:rPr>
              <a:t>کارشناس</a:t>
            </a:r>
            <a:r>
              <a:rPr lang="fa-IR" sz="1000" b="1" dirty="0">
                <a:solidFill>
                  <a:schemeClr val="accent2">
                    <a:lumMod val="50000"/>
                  </a:schemeClr>
                </a:solidFill>
                <a:effectLst/>
                <a:latin typeface="Alexandria Medium" pitchFamily="2" charset="-78"/>
                <a:cs typeface="Alexandria Medium" pitchFamily="2" charset="-78"/>
              </a:rPr>
              <a:t> </a:t>
            </a:r>
          </a:p>
          <a:p>
            <a:pPr algn="r" rtl="1"/>
            <a:endParaRPr lang="en-US" sz="1000" b="1" dirty="0">
              <a:solidFill>
                <a:schemeClr val="accent2">
                  <a:lumMod val="50000"/>
                </a:schemeClr>
              </a:solidFill>
              <a:latin typeface="Alexandria Medium" pitchFamily="2" charset="-78"/>
              <a:cs typeface="Alexandria Medium" pitchFamily="2" charset="-78"/>
            </a:endParaRPr>
          </a:p>
        </p:txBody>
      </p:sp>
      <p:sp>
        <p:nvSpPr>
          <p:cNvPr id="14" name="TextBox 13">
            <a:extLst>
              <a:ext uri="{FF2B5EF4-FFF2-40B4-BE49-F238E27FC236}">
                <a16:creationId xmlns:a16="http://schemas.microsoft.com/office/drawing/2014/main" id="{C08BC77C-86CF-A04C-A6AC-7B3C15378A4A}"/>
              </a:ext>
            </a:extLst>
          </p:cNvPr>
          <p:cNvSpPr txBox="1"/>
          <p:nvPr/>
        </p:nvSpPr>
        <p:spPr>
          <a:xfrm>
            <a:off x="154162" y="2312718"/>
            <a:ext cx="1151342" cy="415498"/>
          </a:xfrm>
          <a:prstGeom prst="rect">
            <a:avLst/>
          </a:prstGeom>
          <a:noFill/>
        </p:spPr>
        <p:txBody>
          <a:bodyPr wrap="none" rtlCol="0">
            <a:spAutoFit/>
          </a:bodyPr>
          <a:lstStyle/>
          <a:p>
            <a:pPr algn="r" rtl="1"/>
            <a:r>
              <a:rPr lang="fa-IR" sz="1050" dirty="0">
                <a:solidFill>
                  <a:schemeClr val="accent2">
                    <a:lumMod val="50000"/>
                  </a:schemeClr>
                </a:solidFill>
                <a:effectLst/>
                <a:latin typeface="Alexandria Medium" pitchFamily="2" charset="-78"/>
                <a:cs typeface="Alexandria Medium" pitchFamily="2" charset="-78"/>
              </a:rPr>
              <a:t>تخمین</a:t>
            </a:r>
            <a:r>
              <a:rPr lang="en-US" sz="1050" dirty="0">
                <a:solidFill>
                  <a:schemeClr val="accent2">
                    <a:lumMod val="50000"/>
                  </a:schemeClr>
                </a:solidFill>
                <a:effectLst/>
                <a:latin typeface="Alexandria Medium" pitchFamily="2" charset="-78"/>
                <a:cs typeface="Alexandria Medium" pitchFamily="2" charset="-78"/>
              </a:rPr>
              <a:t> </a:t>
            </a:r>
            <a:r>
              <a:rPr lang="fa-IR" sz="1050" dirty="0">
                <a:solidFill>
                  <a:schemeClr val="accent2">
                    <a:lumMod val="50000"/>
                  </a:schemeClr>
                </a:solidFill>
                <a:effectLst/>
                <a:latin typeface="Alexandria Medium" pitchFamily="2" charset="-78"/>
                <a:cs typeface="Alexandria Medium" pitchFamily="2" charset="-78"/>
              </a:rPr>
              <a:t>با قیاس </a:t>
            </a:r>
          </a:p>
          <a:p>
            <a:pPr algn="r" rtl="1"/>
            <a:endParaRPr lang="en-US" sz="1050" dirty="0">
              <a:solidFill>
                <a:schemeClr val="accent2">
                  <a:lumMod val="50000"/>
                </a:schemeClr>
              </a:solidFill>
              <a:latin typeface="Alexandria Medium" pitchFamily="2" charset="-78"/>
              <a:cs typeface="Alexandria Medium" pitchFamily="2" charset="-78"/>
            </a:endParaRPr>
          </a:p>
        </p:txBody>
      </p:sp>
      <p:sp>
        <p:nvSpPr>
          <p:cNvPr id="15" name="TextBox 14">
            <a:extLst>
              <a:ext uri="{FF2B5EF4-FFF2-40B4-BE49-F238E27FC236}">
                <a16:creationId xmlns:a16="http://schemas.microsoft.com/office/drawing/2014/main" id="{6E0FD209-5019-C746-A3CE-9C890281BF2C}"/>
              </a:ext>
            </a:extLst>
          </p:cNvPr>
          <p:cNvSpPr txBox="1"/>
          <p:nvPr/>
        </p:nvSpPr>
        <p:spPr>
          <a:xfrm>
            <a:off x="163306" y="2802495"/>
            <a:ext cx="1183402" cy="400110"/>
          </a:xfrm>
          <a:prstGeom prst="rect">
            <a:avLst/>
          </a:prstGeom>
          <a:noFill/>
        </p:spPr>
        <p:txBody>
          <a:bodyPr wrap="none" rtlCol="0">
            <a:spAutoFit/>
          </a:bodyPr>
          <a:lstStyle/>
          <a:p>
            <a:pPr algn="r" rtl="1"/>
            <a:r>
              <a:rPr lang="fa-IR" sz="1000" dirty="0">
                <a:solidFill>
                  <a:schemeClr val="bg1">
                    <a:lumMod val="50000"/>
                  </a:schemeClr>
                </a:solidFill>
                <a:effectLst/>
                <a:latin typeface="Alexandria Medium" pitchFamily="2" charset="-78"/>
                <a:cs typeface="Alexandria Medium" pitchFamily="2" charset="-78"/>
              </a:rPr>
              <a:t>قانون</a:t>
            </a:r>
            <a:r>
              <a:rPr lang="en-US" sz="1000" dirty="0">
                <a:solidFill>
                  <a:schemeClr val="bg1">
                    <a:lumMod val="50000"/>
                  </a:schemeClr>
                </a:solidFill>
                <a:effectLst/>
                <a:latin typeface="Alexandria Medium" pitchFamily="2" charset="-78"/>
                <a:cs typeface="Alexandria Medium" pitchFamily="2" charset="-78"/>
              </a:rPr>
              <a:t> </a:t>
            </a:r>
            <a:r>
              <a:rPr lang="fa-IR" sz="1000" dirty="0">
                <a:solidFill>
                  <a:schemeClr val="bg1">
                    <a:lumMod val="50000"/>
                  </a:schemeClr>
                </a:solidFill>
                <a:effectLst/>
                <a:latin typeface="Alexandria Medium" pitchFamily="2" charset="-78"/>
                <a:cs typeface="Alexandria Medium" pitchFamily="2" charset="-78"/>
              </a:rPr>
              <a:t>پارکینسون </a:t>
            </a:r>
          </a:p>
          <a:p>
            <a:pPr algn="r" rtl="1"/>
            <a:endParaRPr lang="en-US" sz="1000" dirty="0">
              <a:solidFill>
                <a:schemeClr val="bg1">
                  <a:lumMod val="50000"/>
                </a:schemeClr>
              </a:solidFill>
              <a:latin typeface="Alexandria Medium" pitchFamily="2" charset="-78"/>
              <a:cs typeface="Alexandria Medium" pitchFamily="2" charset="-78"/>
            </a:endParaRPr>
          </a:p>
        </p:txBody>
      </p:sp>
      <p:sp>
        <p:nvSpPr>
          <p:cNvPr id="23" name="TextBox 22">
            <a:extLst>
              <a:ext uri="{FF2B5EF4-FFF2-40B4-BE49-F238E27FC236}">
                <a16:creationId xmlns:a16="http://schemas.microsoft.com/office/drawing/2014/main" id="{1156E956-3F47-AC44-A93D-8CA8964DD7B7}"/>
              </a:ext>
            </a:extLst>
          </p:cNvPr>
          <p:cNvSpPr txBox="1"/>
          <p:nvPr/>
        </p:nvSpPr>
        <p:spPr>
          <a:xfrm>
            <a:off x="163306" y="3334418"/>
            <a:ext cx="1489575" cy="400110"/>
          </a:xfrm>
          <a:prstGeom prst="rect">
            <a:avLst/>
          </a:prstGeom>
          <a:noFill/>
        </p:spPr>
        <p:txBody>
          <a:bodyPr wrap="none" rtlCol="0">
            <a:spAutoFit/>
          </a:bodyPr>
          <a:lstStyle/>
          <a:p>
            <a:pPr algn="r" rtl="1"/>
            <a:r>
              <a:rPr lang="fa-IR" sz="1000" dirty="0">
                <a:solidFill>
                  <a:schemeClr val="bg1">
                    <a:lumMod val="50000"/>
                  </a:schemeClr>
                </a:solidFill>
                <a:effectLst/>
                <a:latin typeface="Alexandria Medium" pitchFamily="2" charset="-78"/>
                <a:cs typeface="Alexandria Medium" pitchFamily="2" charset="-78"/>
              </a:rPr>
              <a:t>قیمت</a:t>
            </a:r>
            <a:r>
              <a:rPr lang="en-US" sz="1000" dirty="0">
                <a:solidFill>
                  <a:schemeClr val="bg1">
                    <a:lumMod val="50000"/>
                  </a:schemeClr>
                </a:solidFill>
                <a:effectLst/>
                <a:latin typeface="Alexandria Medium" pitchFamily="2" charset="-78"/>
                <a:cs typeface="Alexandria Medium" pitchFamily="2" charset="-78"/>
              </a:rPr>
              <a:t> </a:t>
            </a:r>
            <a:r>
              <a:rPr lang="fa-IR" sz="1000" dirty="0">
                <a:solidFill>
                  <a:schemeClr val="bg1">
                    <a:lumMod val="50000"/>
                  </a:schemeClr>
                </a:solidFill>
                <a:effectLst/>
                <a:latin typeface="Alexandria Medium" pitchFamily="2" charset="-78"/>
                <a:cs typeface="Alexandria Medium" pitchFamily="2" charset="-78"/>
              </a:rPr>
              <a:t>گذاری برای بُردن</a:t>
            </a:r>
          </a:p>
          <a:p>
            <a:pPr algn="r" rtl="1"/>
            <a:endParaRPr lang="en-US" sz="1000" dirty="0">
              <a:solidFill>
                <a:schemeClr val="bg1">
                  <a:lumMod val="50000"/>
                </a:schemeClr>
              </a:solidFill>
              <a:latin typeface="Alexandria Medium" pitchFamily="2" charset="-78"/>
              <a:cs typeface="Alexandria Medium" pitchFamily="2" charset="-78"/>
            </a:endParaRPr>
          </a:p>
        </p:txBody>
      </p:sp>
      <p:cxnSp>
        <p:nvCxnSpPr>
          <p:cNvPr id="27" name="Elbow Connector 26">
            <a:extLst>
              <a:ext uri="{FF2B5EF4-FFF2-40B4-BE49-F238E27FC236}">
                <a16:creationId xmlns:a16="http://schemas.microsoft.com/office/drawing/2014/main" id="{BF941173-24E3-AF42-94BF-3B807434D3C3}"/>
              </a:ext>
            </a:extLst>
          </p:cNvPr>
          <p:cNvCxnSpPr>
            <a:cxnSpLocks/>
          </p:cNvCxnSpPr>
          <p:nvPr/>
        </p:nvCxnSpPr>
        <p:spPr>
          <a:xfrm flipV="1">
            <a:off x="2345559" y="1517837"/>
            <a:ext cx="1339469" cy="1297712"/>
          </a:xfrm>
          <a:prstGeom prst="bentConnector3">
            <a:avLst>
              <a:gd name="adj1" fmla="val 4682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4C99CAD6-0DCE-2943-95D1-E1F73DCE53B3}"/>
              </a:ext>
            </a:extLst>
          </p:cNvPr>
          <p:cNvCxnSpPr>
            <a:cxnSpLocks/>
          </p:cNvCxnSpPr>
          <p:nvPr/>
        </p:nvCxnSpPr>
        <p:spPr>
          <a:xfrm>
            <a:off x="2345559" y="3310108"/>
            <a:ext cx="1120130" cy="26414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6704AB4-DD03-D040-8739-63BC20079E7B}"/>
              </a:ext>
            </a:extLst>
          </p:cNvPr>
          <p:cNvSpPr txBox="1"/>
          <p:nvPr/>
        </p:nvSpPr>
        <p:spPr>
          <a:xfrm>
            <a:off x="3607892" y="948236"/>
            <a:ext cx="5171334" cy="571182"/>
          </a:xfrm>
          <a:prstGeom prst="rect">
            <a:avLst/>
          </a:prstGeom>
          <a:noFill/>
        </p:spPr>
        <p:txBody>
          <a:bodyPr wrap="square" rtlCol="0">
            <a:spAutoFit/>
          </a:bodyPr>
          <a:lstStyle/>
          <a:p>
            <a:pPr marR="0" algn="r" rtl="1">
              <a:lnSpc>
                <a:spcPct val="150000"/>
              </a:lnSpc>
              <a:spcBef>
                <a:spcPts val="0"/>
              </a:spcBef>
              <a:spcAft>
                <a:spcPts val="0"/>
              </a:spcAft>
              <a:buClr>
                <a:srgbClr val="000000"/>
              </a:buClr>
              <a:buFont typeface="Arial"/>
            </a:pPr>
            <a:r>
              <a:rPr lang="fa-IR" sz="1100">
                <a:latin typeface="Alexandria Medium" pitchFamily="2" charset="-78"/>
                <a:cs typeface="Alexandria Medium" pitchFamily="2" charset="-78"/>
              </a:rPr>
              <a:t>این تکنیک معمولاً آشکارا پذیرفته نمی‌شود، اما در پروژه‌های نرم‌افزاری و در سایر زمینه‌ها تکرار می‌شود: </a:t>
            </a:r>
          </a:p>
        </p:txBody>
      </p:sp>
      <p:sp>
        <p:nvSpPr>
          <p:cNvPr id="34" name="TextBox 33">
            <a:extLst>
              <a:ext uri="{FF2B5EF4-FFF2-40B4-BE49-F238E27FC236}">
                <a16:creationId xmlns:a16="http://schemas.microsoft.com/office/drawing/2014/main" id="{F73ADF10-E9A1-0B4B-B6EE-4700DFD18DB2}"/>
              </a:ext>
            </a:extLst>
          </p:cNvPr>
          <p:cNvSpPr txBox="1"/>
          <p:nvPr/>
        </p:nvSpPr>
        <p:spPr>
          <a:xfrm>
            <a:off x="3869899" y="2084971"/>
            <a:ext cx="4933506" cy="692113"/>
          </a:xfrm>
          <a:prstGeom prst="rect">
            <a:avLst/>
          </a:prstGeom>
          <a:noFill/>
        </p:spPr>
        <p:txBody>
          <a:bodyPr wrap="square">
            <a:spAutoFit/>
          </a:bodyPr>
          <a:lstStyle/>
          <a:p>
            <a:pPr marR="0" algn="r" rtl="1">
              <a:lnSpc>
                <a:spcPct val="150000"/>
              </a:lnSpc>
              <a:spcBef>
                <a:spcPts val="0"/>
              </a:spcBef>
              <a:spcAft>
                <a:spcPts val="0"/>
              </a:spcAft>
              <a:buClr>
                <a:srgbClr val="000000"/>
              </a:buClr>
              <a:buFont typeface="Arial"/>
            </a:pPr>
            <a:r>
              <a:rPr lang="fa-IR" sz="900">
                <a:latin typeface="Alexandria Medium" pitchFamily="2" charset="-78"/>
                <a:cs typeface="Alexandria Medium" pitchFamily="2" charset="-78"/>
              </a:rPr>
              <a:t>این تکنیک با گفتگو توضیح داده می شود: </a:t>
            </a:r>
            <a:endParaRPr lang="en-US" sz="900">
              <a:latin typeface="Alexandria Medium" pitchFamily="2" charset="-78"/>
              <a:cs typeface="Alexandria Medium" pitchFamily="2" charset="-78"/>
            </a:endParaRPr>
          </a:p>
          <a:p>
            <a:pPr marR="0" algn="r" rtl="1">
              <a:lnSpc>
                <a:spcPct val="150000"/>
              </a:lnSpc>
              <a:spcBef>
                <a:spcPts val="0"/>
              </a:spcBef>
              <a:spcAft>
                <a:spcPts val="0"/>
              </a:spcAft>
              <a:buClr>
                <a:srgbClr val="000000"/>
              </a:buClr>
              <a:buFont typeface="Arial"/>
            </a:pPr>
            <a:r>
              <a:rPr lang="fa-IR" sz="900">
                <a:solidFill>
                  <a:srgbClr val="0269AE"/>
                </a:solidFill>
                <a:latin typeface="Alexandria Medium" pitchFamily="2" charset="-78"/>
                <a:cs typeface="Alexandria Medium" pitchFamily="2" charset="-78"/>
              </a:rPr>
              <a:t>"هزینه سیستم چقدر خواهد بود؟" </a:t>
            </a:r>
            <a:endParaRPr lang="en-US" sz="900">
              <a:solidFill>
                <a:srgbClr val="0269AE"/>
              </a:solidFill>
              <a:latin typeface="Alexandria Medium" pitchFamily="2" charset="-78"/>
              <a:cs typeface="Alexandria Medium" pitchFamily="2" charset="-78"/>
            </a:endParaRPr>
          </a:p>
          <a:p>
            <a:pPr marR="0" algn="r" rtl="1">
              <a:lnSpc>
                <a:spcPct val="150000"/>
              </a:lnSpc>
              <a:spcBef>
                <a:spcPts val="0"/>
              </a:spcBef>
              <a:spcAft>
                <a:spcPts val="0"/>
              </a:spcAft>
              <a:buClr>
                <a:srgbClr val="000000"/>
              </a:buClr>
              <a:buFont typeface="Arial"/>
            </a:pPr>
            <a:r>
              <a:rPr lang="fa-IR" sz="900">
                <a:solidFill>
                  <a:schemeClr val="tx1"/>
                </a:solidFill>
                <a:latin typeface="Alexandria Medium" pitchFamily="2" charset="-78"/>
                <a:cs typeface="Alexandria Medium" pitchFamily="2" charset="-78"/>
              </a:rPr>
              <a:t>باید پاسخ داد</a:t>
            </a:r>
            <a:r>
              <a:rPr lang="en-US" sz="900">
                <a:solidFill>
                  <a:schemeClr val="tx1"/>
                </a:solidFill>
                <a:latin typeface="Alexandria Medium" pitchFamily="2" charset="-78"/>
                <a:cs typeface="Alexandria Medium" pitchFamily="2" charset="-78"/>
              </a:rPr>
              <a:t> </a:t>
            </a:r>
            <a:r>
              <a:rPr lang="fa-IR" sz="900">
                <a:solidFill>
                  <a:schemeClr val="tx1"/>
                </a:solidFill>
                <a:latin typeface="Alexandria Medium" pitchFamily="2" charset="-78"/>
                <a:cs typeface="Alexandria Medium" pitchFamily="2" charset="-78"/>
              </a:rPr>
              <a:t>: </a:t>
            </a:r>
            <a:r>
              <a:rPr lang="fa-IR" sz="900">
                <a:solidFill>
                  <a:srgbClr val="0269AE"/>
                </a:solidFill>
                <a:latin typeface="Alexandria Medium" pitchFamily="2" charset="-78"/>
                <a:cs typeface="Alexandria Medium" pitchFamily="2" charset="-78"/>
              </a:rPr>
              <a:t>"چقدر دارید؟ "</a:t>
            </a:r>
            <a:endParaRPr lang="en-US" sz="900">
              <a:solidFill>
                <a:srgbClr val="0269AE"/>
              </a:solidFill>
              <a:latin typeface="Alexandria Medium" pitchFamily="2" charset="-78"/>
              <a:cs typeface="Alexandria Medium" pitchFamily="2" charset="-78"/>
            </a:endParaRPr>
          </a:p>
        </p:txBody>
      </p:sp>
      <p:sp>
        <p:nvSpPr>
          <p:cNvPr id="26" name="TextBox 25">
            <a:extLst>
              <a:ext uri="{FF2B5EF4-FFF2-40B4-BE49-F238E27FC236}">
                <a16:creationId xmlns:a16="http://schemas.microsoft.com/office/drawing/2014/main" id="{874ED4AC-FD32-3343-B321-D9AF2BFE9E2E}"/>
              </a:ext>
            </a:extLst>
          </p:cNvPr>
          <p:cNvSpPr txBox="1"/>
          <p:nvPr/>
        </p:nvSpPr>
        <p:spPr>
          <a:xfrm>
            <a:off x="6085832" y="1486279"/>
            <a:ext cx="2693366" cy="230832"/>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900">
                <a:solidFill>
                  <a:srgbClr val="C00000"/>
                </a:solidFill>
                <a:latin typeface="Alexandria Medium" pitchFamily="2" charset="-78"/>
                <a:cs typeface="Alexandria Medium" pitchFamily="2" charset="-78"/>
              </a:rPr>
              <a:t>پروژه با هر منابعی که در دسترس باشد هزینه دارد.</a:t>
            </a:r>
            <a:endParaRPr lang="en-US" sz="900">
              <a:solidFill>
                <a:srgbClr val="C00000"/>
              </a:solidFill>
            </a:endParaRPr>
          </a:p>
        </p:txBody>
      </p:sp>
      <p:sp>
        <p:nvSpPr>
          <p:cNvPr id="28" name="TextBox 27">
            <a:extLst>
              <a:ext uri="{FF2B5EF4-FFF2-40B4-BE49-F238E27FC236}">
                <a16:creationId xmlns:a16="http://schemas.microsoft.com/office/drawing/2014/main" id="{64161459-20D6-894E-B610-618A523FA8D7}"/>
              </a:ext>
            </a:extLst>
          </p:cNvPr>
          <p:cNvSpPr txBox="1"/>
          <p:nvPr/>
        </p:nvSpPr>
        <p:spPr>
          <a:xfrm>
            <a:off x="4785371" y="1682778"/>
            <a:ext cx="4028667" cy="483915"/>
          </a:xfrm>
          <a:prstGeom prst="rect">
            <a:avLst/>
          </a:prstGeom>
          <a:noFill/>
        </p:spPr>
        <p:txBody>
          <a:bodyPr wrap="none" rtlCol="0">
            <a:spAutoFit/>
          </a:bodyPr>
          <a:lstStyle/>
          <a:p>
            <a:pPr marR="0" algn="r" rtl="1">
              <a:lnSpc>
                <a:spcPct val="150000"/>
              </a:lnSpc>
              <a:spcBef>
                <a:spcPts val="0"/>
              </a:spcBef>
              <a:spcAft>
                <a:spcPts val="0"/>
              </a:spcAft>
              <a:buClr>
                <a:srgbClr val="000000"/>
              </a:buClr>
              <a:buFont typeface="Arial"/>
            </a:pPr>
            <a:r>
              <a:rPr lang="fa-IR" sz="900">
                <a:solidFill>
                  <a:srgbClr val="0E692F"/>
                </a:solidFill>
                <a:latin typeface="Alexandria Medium" pitchFamily="2" charset="-78"/>
                <a:cs typeface="Alexandria Medium" pitchFamily="2" charset="-78"/>
              </a:rPr>
              <a:t>مزیت آن این است که هزینه پروژه بیش از حد انتظار نخواهد بود</a:t>
            </a:r>
            <a:r>
              <a:rPr lang="fa-IR" sz="900">
                <a:latin typeface="Alexandria Medium" pitchFamily="2" charset="-78"/>
                <a:cs typeface="Alexandria Medium" pitchFamily="2" charset="-78"/>
              </a:rPr>
              <a:t>، </a:t>
            </a:r>
            <a:r>
              <a:rPr lang="fa-IR" sz="900">
                <a:solidFill>
                  <a:srgbClr val="C00000"/>
                </a:solidFill>
                <a:latin typeface="Alexandria Medium" pitchFamily="2" charset="-78"/>
                <a:cs typeface="Alexandria Medium" pitchFamily="2" charset="-78"/>
              </a:rPr>
              <a:t>اما در نهایت </a:t>
            </a:r>
          </a:p>
          <a:p>
            <a:pPr marR="0" algn="r" rtl="1">
              <a:lnSpc>
                <a:spcPct val="150000"/>
              </a:lnSpc>
              <a:spcBef>
                <a:spcPts val="0"/>
              </a:spcBef>
              <a:spcAft>
                <a:spcPts val="0"/>
              </a:spcAft>
              <a:buClr>
                <a:srgbClr val="000000"/>
              </a:buClr>
              <a:buFont typeface="Arial"/>
            </a:pPr>
            <a:r>
              <a:rPr lang="fa-IR" sz="900">
                <a:solidFill>
                  <a:srgbClr val="C00000"/>
                </a:solidFill>
                <a:latin typeface="Alexandria Medium" pitchFamily="2" charset="-78"/>
                <a:cs typeface="Alexandria Medium" pitchFamily="2" charset="-78"/>
              </a:rPr>
              <a:t>دامنه سیستم به طور کامل پوشش داده نخواهد شد.</a:t>
            </a:r>
            <a:endParaRPr lang="en-US" sz="900">
              <a:solidFill>
                <a:srgbClr val="C00000"/>
              </a:solidFill>
            </a:endParaRPr>
          </a:p>
        </p:txBody>
      </p:sp>
      <p:sp>
        <p:nvSpPr>
          <p:cNvPr id="30" name="TextBox 29">
            <a:extLst>
              <a:ext uri="{FF2B5EF4-FFF2-40B4-BE49-F238E27FC236}">
                <a16:creationId xmlns:a16="http://schemas.microsoft.com/office/drawing/2014/main" id="{0C8D7A8B-9AA0-C744-A7B3-C475E74364A4}"/>
              </a:ext>
            </a:extLst>
          </p:cNvPr>
          <p:cNvSpPr txBox="1"/>
          <p:nvPr/>
        </p:nvSpPr>
        <p:spPr>
          <a:xfrm>
            <a:off x="4496730" y="3413960"/>
            <a:ext cx="4353389" cy="692113"/>
          </a:xfrm>
          <a:prstGeom prst="rect">
            <a:avLst/>
          </a:prstGeom>
          <a:noFill/>
        </p:spPr>
        <p:txBody>
          <a:bodyPr wrap="square" rtlCol="0">
            <a:spAutoFit/>
          </a:bodyPr>
          <a:lstStyle/>
          <a:p>
            <a:pPr marR="0" algn="r" rtl="1">
              <a:lnSpc>
                <a:spcPct val="150000"/>
              </a:lnSpc>
              <a:spcBef>
                <a:spcPts val="0"/>
              </a:spcBef>
              <a:spcAft>
                <a:spcPts val="0"/>
              </a:spcAft>
              <a:buClr>
                <a:srgbClr val="000000"/>
              </a:buClr>
              <a:buFont typeface="Arial"/>
            </a:pPr>
            <a:r>
              <a:rPr lang="fa-IR" sz="900">
                <a:solidFill>
                  <a:srgbClr val="C00000"/>
                </a:solidFill>
                <a:latin typeface="Alexandria Medium" pitchFamily="2" charset="-78"/>
                <a:cs typeface="Alexandria Medium" pitchFamily="2" charset="-78"/>
              </a:rPr>
              <a:t>عیب این روش این است که سیستم دریافتی مشتری ممکن است آن چیزی نباشد که او انتظار دارد</a:t>
            </a:r>
            <a:r>
              <a:rPr lang="fa-IR" sz="900">
                <a:latin typeface="Alexandria Medium" pitchFamily="2" charset="-78"/>
                <a:cs typeface="Alexandria Medium" pitchFamily="2" charset="-78"/>
              </a:rPr>
              <a:t>، زیرا از آنجایی که هزینه ها معمولاً باید کاهش یابد، ممکن است </a:t>
            </a:r>
          </a:p>
          <a:p>
            <a:pPr marR="0" algn="r" rtl="1">
              <a:lnSpc>
                <a:spcPct val="150000"/>
              </a:lnSpc>
              <a:spcBef>
                <a:spcPts val="0"/>
              </a:spcBef>
              <a:spcAft>
                <a:spcPts val="0"/>
              </a:spcAft>
              <a:buClr>
                <a:srgbClr val="000000"/>
              </a:buClr>
              <a:buFont typeface="Arial"/>
            </a:pPr>
            <a:r>
              <a:rPr lang="fa-IR" sz="900">
                <a:latin typeface="Alexandria Medium" pitchFamily="2" charset="-78"/>
                <a:cs typeface="Alexandria Medium" pitchFamily="2" charset="-78"/>
              </a:rPr>
              <a:t>بر کیفیت و دامنه تأثیر بگذارد.</a:t>
            </a:r>
            <a:endParaRPr lang="en-US" sz="900">
              <a:latin typeface="Alexandria Medium" pitchFamily="2" charset="-78"/>
              <a:cs typeface="Alexandria Medium" pitchFamily="2" charset="-78"/>
            </a:endParaRPr>
          </a:p>
        </p:txBody>
      </p:sp>
      <p:sp>
        <p:nvSpPr>
          <p:cNvPr id="32" name="TextBox 31">
            <a:extLst>
              <a:ext uri="{FF2B5EF4-FFF2-40B4-BE49-F238E27FC236}">
                <a16:creationId xmlns:a16="http://schemas.microsoft.com/office/drawing/2014/main" id="{CEBF3729-3EC5-B844-8BB3-1F82E0F3B064}"/>
              </a:ext>
            </a:extLst>
          </p:cNvPr>
          <p:cNvSpPr txBox="1"/>
          <p:nvPr/>
        </p:nvSpPr>
        <p:spPr>
          <a:xfrm>
            <a:off x="5224542" y="3255449"/>
            <a:ext cx="3605539" cy="415498"/>
          </a:xfrm>
          <a:prstGeom prst="rect">
            <a:avLst/>
          </a:prstGeom>
          <a:noFill/>
        </p:spPr>
        <p:txBody>
          <a:bodyPr wrap="none" rtlCol="0">
            <a:spAutoFit/>
          </a:bodyPr>
          <a:lstStyle/>
          <a:p>
            <a:pPr algn="r" rtl="1"/>
            <a:r>
              <a:rPr lang="fa-IR" sz="1050">
                <a:latin typeface="Alexandria Medium" pitchFamily="2" charset="-78"/>
                <a:cs typeface="Alexandria Medium" pitchFamily="2" charset="-78"/>
              </a:rPr>
              <a:t>هزینه پروژه برابر با قیمتی است که برنده قرارداد می شود. </a:t>
            </a:r>
          </a:p>
          <a:p>
            <a:pPr marR="0" algn="r" rtl="1">
              <a:lnSpc>
                <a:spcPct val="100000"/>
              </a:lnSpc>
              <a:spcBef>
                <a:spcPts val="0"/>
              </a:spcBef>
              <a:spcAft>
                <a:spcPts val="0"/>
              </a:spcAft>
              <a:buClr>
                <a:srgbClr val="000000"/>
              </a:buClr>
              <a:buFont typeface="Arial"/>
            </a:pPr>
            <a:endParaRPr lang="en-US" sz="1050"/>
          </a:p>
        </p:txBody>
      </p:sp>
      <p:sp>
        <p:nvSpPr>
          <p:cNvPr id="36" name="TextBox 35">
            <a:extLst>
              <a:ext uri="{FF2B5EF4-FFF2-40B4-BE49-F238E27FC236}">
                <a16:creationId xmlns:a16="http://schemas.microsoft.com/office/drawing/2014/main" id="{0258EBA5-96EC-A04D-93DD-BA53864898F8}"/>
              </a:ext>
            </a:extLst>
          </p:cNvPr>
          <p:cNvSpPr txBox="1"/>
          <p:nvPr/>
        </p:nvSpPr>
        <p:spPr>
          <a:xfrm>
            <a:off x="1781609" y="4325220"/>
            <a:ext cx="5580781" cy="430887"/>
          </a:xfrm>
          <a:prstGeom prst="rect">
            <a:avLst/>
          </a:prstGeom>
          <a:noFill/>
        </p:spPr>
        <p:txBody>
          <a:bodyPr wrap="square" rtlCol="0">
            <a:spAutoFit/>
          </a:bodyPr>
          <a:lstStyle/>
          <a:p>
            <a:pPr marR="0" algn="ctr" rtl="0">
              <a:spcBef>
                <a:spcPts val="0"/>
              </a:spcBef>
              <a:spcAft>
                <a:spcPts val="600"/>
              </a:spcAft>
              <a:buClr>
                <a:srgbClr val="000000"/>
              </a:buClr>
              <a:buFont typeface="Arial"/>
            </a:pPr>
            <a:r>
              <a:rPr lang="fa-IR" sz="1100">
                <a:highlight>
                  <a:srgbClr val="FFFF00"/>
                </a:highlight>
                <a:latin typeface="Alexandria Medium" pitchFamily="2" charset="-78"/>
                <a:cs typeface="Alexandria Medium" pitchFamily="2" charset="-78"/>
              </a:rPr>
              <a:t>این نوع تکنیک ها به عنوان </a:t>
            </a:r>
            <a:r>
              <a:rPr lang="fa-IR" sz="1100">
                <a:solidFill>
                  <a:srgbClr val="C00000"/>
                </a:solidFill>
                <a:highlight>
                  <a:srgbClr val="FFFF00"/>
                </a:highlight>
                <a:latin typeface="Alexandria Medium" pitchFamily="2" charset="-78"/>
                <a:cs typeface="Alexandria Medium" pitchFamily="2" charset="-78"/>
              </a:rPr>
              <a:t>تخمین ناپارامتریک </a:t>
            </a:r>
            <a:r>
              <a:rPr lang="fa-IR" sz="1100">
                <a:highlight>
                  <a:srgbClr val="FFFF00"/>
                </a:highlight>
                <a:latin typeface="Alexandria Medium" pitchFamily="2" charset="-78"/>
                <a:cs typeface="Alexandria Medium" pitchFamily="2" charset="-78"/>
              </a:rPr>
              <a:t>شناخته می شوند زیرا بر اساس معیارهای پروژه ای که قرار است توسعه داده شود، نیستند.</a:t>
            </a:r>
            <a:endParaRPr lang="en-US" sz="1100">
              <a:highlight>
                <a:srgbClr val="FFFF00"/>
              </a:highlight>
              <a:latin typeface="Alexandria Medium" pitchFamily="2" charset="-78"/>
              <a:cs typeface="Alexandria Medium" pitchFamily="2" charset="-78"/>
            </a:endParaRPr>
          </a:p>
        </p:txBody>
      </p:sp>
    </p:spTree>
    <p:extLst>
      <p:ext uri="{BB962C8B-B14F-4D97-AF65-F5344CB8AC3E}">
        <p14:creationId xmlns:p14="http://schemas.microsoft.com/office/powerpoint/2010/main" val="3451458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par>
                          <p:cTn id="16" fill="hold">
                            <p:stCondLst>
                              <p:cond delay="1500"/>
                            </p:stCondLst>
                            <p:childTnLst>
                              <p:par>
                                <p:cTn id="17" presetID="10" presetClass="entr" presetSubtype="0" fill="hold" grpId="0" nodeType="afterEffect">
                                  <p:stCondLst>
                                    <p:cond delay="50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par>
                          <p:cTn id="20" fill="hold">
                            <p:stCondLst>
                              <p:cond delay="2500"/>
                            </p:stCondLst>
                            <p:childTnLst>
                              <p:par>
                                <p:cTn id="21" presetID="10" presetClass="entr" presetSubtype="0" fill="hold" grpId="0" nodeType="afterEffect">
                                  <p:stCondLst>
                                    <p:cond delay="400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par>
                          <p:cTn id="24" fill="hold">
                            <p:stCondLst>
                              <p:cond delay="7000"/>
                            </p:stCondLst>
                            <p:childTnLst>
                              <p:par>
                                <p:cTn id="25" presetID="10" presetClass="entr" presetSubtype="0"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childTnLst>
                          </p:cTn>
                        </p:par>
                        <p:par>
                          <p:cTn id="28" fill="hold">
                            <p:stCondLst>
                              <p:cond delay="7500"/>
                            </p:stCondLst>
                            <p:childTnLst>
                              <p:par>
                                <p:cTn id="29" presetID="10" presetClass="entr" presetSubtype="0" fill="hold" grpId="0" nodeType="afterEffect">
                                  <p:stCondLst>
                                    <p:cond delay="1000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4" grpId="0"/>
      <p:bldP spid="26" grpId="0"/>
      <p:bldP spid="28" grpId="0"/>
      <p:bldP spid="30" grpId="0"/>
      <p:bldP spid="32"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2" name="Google Shape;235;p39">
            <a:extLst>
              <a:ext uri="{FF2B5EF4-FFF2-40B4-BE49-F238E27FC236}">
                <a16:creationId xmlns:a16="http://schemas.microsoft.com/office/drawing/2014/main" id="{8D1E118E-08EC-FA4C-960C-6138D679DA8C}"/>
              </a:ext>
            </a:extLst>
          </p:cNvPr>
          <p:cNvSpPr txBox="1">
            <a:spLocks/>
          </p:cNvSpPr>
          <p:nvPr/>
        </p:nvSpPr>
        <p:spPr>
          <a:xfrm>
            <a:off x="672375" y="2342421"/>
            <a:ext cx="7708800" cy="106252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6000"/>
              <a:buFont typeface="Alexandria Medium"/>
              <a:buNone/>
              <a:defRPr sz="7000" b="0" i="0" u="none" strike="noStrike" cap="none">
                <a:solidFill>
                  <a:schemeClr val="lt2"/>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9pPr>
          </a:lstStyle>
          <a:p>
            <a:r>
              <a:rPr lang="en" dirty="0"/>
              <a:t>03</a:t>
            </a:r>
          </a:p>
        </p:txBody>
      </p:sp>
      <p:sp>
        <p:nvSpPr>
          <p:cNvPr id="3" name="TextBox 2">
            <a:extLst>
              <a:ext uri="{FF2B5EF4-FFF2-40B4-BE49-F238E27FC236}">
                <a16:creationId xmlns:a16="http://schemas.microsoft.com/office/drawing/2014/main" id="{94D95D69-78C5-6246-9442-03D1D8CFF6FB}"/>
              </a:ext>
            </a:extLst>
          </p:cNvPr>
          <p:cNvSpPr txBox="1"/>
          <p:nvPr/>
        </p:nvSpPr>
        <p:spPr>
          <a:xfrm>
            <a:off x="672375" y="3179136"/>
            <a:ext cx="5442516" cy="1169551"/>
          </a:xfrm>
          <a:prstGeom prst="rect">
            <a:avLst/>
          </a:prstGeom>
          <a:noFill/>
        </p:spPr>
        <p:txBody>
          <a:bodyPr wrap="none" rtlCol="0">
            <a:spAutoFit/>
          </a:bodyPr>
          <a:lstStyle/>
          <a:p>
            <a:r>
              <a:rPr lang="en-US" sz="3500">
                <a:solidFill>
                  <a:schemeClr val="tx1"/>
                </a:solidFill>
                <a:effectLst/>
                <a:latin typeface="Alexandria Medium" pitchFamily="2" charset="-78"/>
                <a:cs typeface="Alexandria Medium" pitchFamily="2" charset="-78"/>
              </a:rPr>
              <a:t>Parametric techniques </a:t>
            </a:r>
          </a:p>
          <a:p>
            <a:endParaRPr lang="en-US" sz="3500">
              <a:solidFill>
                <a:schemeClr val="tx1"/>
              </a:solidFill>
              <a:latin typeface="Alexandria Medium" pitchFamily="2" charset="-78"/>
              <a:cs typeface="Alexandria Medium" pitchFamily="2" charset="-78"/>
            </a:endParaRPr>
          </a:p>
        </p:txBody>
      </p:sp>
      <p:cxnSp>
        <p:nvCxnSpPr>
          <p:cNvPr id="5" name="Google Shape;237;p39">
            <a:hlinkClick r:id="" action="ppaction://hlinkshowjump?jump=nextslide"/>
            <a:extLst>
              <a:ext uri="{FF2B5EF4-FFF2-40B4-BE49-F238E27FC236}">
                <a16:creationId xmlns:a16="http://schemas.microsoft.com/office/drawing/2014/main" id="{609DA656-1C97-864A-974B-2BBE9A14C13F}"/>
              </a:ext>
            </a:extLst>
          </p:cNvPr>
          <p:cNvCxnSpPr>
            <a:cxnSpLocks/>
          </p:cNvCxnSpPr>
          <p:nvPr/>
        </p:nvCxnSpPr>
        <p:spPr>
          <a:xfrm flipV="1">
            <a:off x="432500" y="4550992"/>
            <a:ext cx="479750" cy="1"/>
          </a:xfrm>
          <a:prstGeom prst="straightConnector1">
            <a:avLst/>
          </a:prstGeom>
          <a:noFill/>
          <a:ln w="9525" cap="flat" cmpd="sng">
            <a:solidFill>
              <a:schemeClr val="dk1"/>
            </a:solidFill>
            <a:prstDash val="solid"/>
            <a:round/>
            <a:headEnd type="none" w="med" len="med"/>
            <a:tailEnd type="triangle" w="med" len="med"/>
          </a:ln>
        </p:spPr>
      </p:cxnSp>
      <p:sp>
        <p:nvSpPr>
          <p:cNvPr id="7" name="TextBox 6">
            <a:extLst>
              <a:ext uri="{FF2B5EF4-FFF2-40B4-BE49-F238E27FC236}">
                <a16:creationId xmlns:a16="http://schemas.microsoft.com/office/drawing/2014/main" id="{0B7EFE2B-5CF2-4241-8400-AA2D76C785D8}"/>
              </a:ext>
            </a:extLst>
          </p:cNvPr>
          <p:cNvSpPr txBox="1"/>
          <p:nvPr/>
        </p:nvSpPr>
        <p:spPr>
          <a:xfrm>
            <a:off x="672375" y="3653477"/>
            <a:ext cx="5934851" cy="307777"/>
          </a:xfrm>
          <a:prstGeom prst="rect">
            <a:avLst/>
          </a:prstGeom>
          <a:noFill/>
        </p:spPr>
        <p:txBody>
          <a:bodyPr wrap="square">
            <a:spAutoFit/>
          </a:bodyPr>
          <a:lstStyle/>
          <a:p>
            <a:r>
              <a:rPr lang="en-US">
                <a:latin typeface="Alexandria Medium" pitchFamily="2" charset="-78"/>
                <a:cs typeface="Alexandria Medium" pitchFamily="2" charset="-78"/>
              </a:rPr>
              <a:t>(</a:t>
            </a:r>
            <a:r>
              <a:rPr lang="fa-IR" sz="1400" b="1" dirty="0" err="1">
                <a:solidFill>
                  <a:srgbClr val="0269AE"/>
                </a:solidFill>
                <a:latin typeface="Alexandria Medium" pitchFamily="2" charset="-78"/>
                <a:cs typeface="Alexandria Medium" pitchFamily="2" charset="-78"/>
              </a:rPr>
              <a:t>پارامتریک</a:t>
            </a:r>
            <a:r>
              <a:rPr lang="en-US" b="1" dirty="0" err="1">
                <a:solidFill>
                  <a:schemeClr val="tx1"/>
                </a:solidFill>
                <a:latin typeface="Alexandria Medium" pitchFamily="2" charset="-78"/>
                <a:cs typeface="Alexandria Medium" pitchFamily="2" charset="-78"/>
              </a:rPr>
              <a:t>)</a:t>
            </a:r>
            <a:endParaRPr lang="en-US">
              <a:solidFill>
                <a:schemeClr val="tx1"/>
              </a:solidFill>
              <a:latin typeface="Alexandria Medium" pitchFamily="2" charset="-78"/>
              <a:cs typeface="Alexandria Medium"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3" name="TextBox 2">
            <a:extLst>
              <a:ext uri="{FF2B5EF4-FFF2-40B4-BE49-F238E27FC236}">
                <a16:creationId xmlns:a16="http://schemas.microsoft.com/office/drawing/2014/main" id="{6698D3C1-5684-B240-8F44-D1F855B2FB9F}"/>
              </a:ext>
            </a:extLst>
          </p:cNvPr>
          <p:cNvSpPr txBox="1"/>
          <p:nvPr/>
        </p:nvSpPr>
        <p:spPr>
          <a:xfrm>
            <a:off x="979406" y="281076"/>
            <a:ext cx="7693633" cy="511871"/>
          </a:xfrm>
          <a:prstGeom prst="rect">
            <a:avLst/>
          </a:prstGeom>
          <a:noFill/>
        </p:spPr>
        <p:txBody>
          <a:bodyPr wrap="square" rtlCol="0">
            <a:spAutoFit/>
          </a:bodyPr>
          <a:lstStyle/>
          <a:p>
            <a:pPr algn="r" rtl="1">
              <a:lnSpc>
                <a:spcPts val="1740"/>
              </a:lnSpc>
              <a:spcBef>
                <a:spcPts val="2200"/>
              </a:spcBef>
              <a:spcAft>
                <a:spcPts val="600"/>
              </a:spcAft>
            </a:pPr>
            <a:r>
              <a:rPr lang="fa-IR" sz="1200">
                <a:latin typeface="Alexandria Medium" pitchFamily="2" charset="-78"/>
                <a:cs typeface="Alexandria Medium" pitchFamily="2" charset="-78"/>
              </a:rPr>
              <a:t>دسته دیگری </a:t>
            </a:r>
            <a:r>
              <a:rPr lang="fa-IR" sz="1200">
                <a:solidFill>
                  <a:schemeClr val="tx1"/>
                </a:solidFill>
                <a:latin typeface="Alexandria Medium" pitchFamily="2" charset="-78"/>
                <a:cs typeface="Alexandria Medium" pitchFamily="2" charset="-78"/>
              </a:rPr>
              <a:t>از </a:t>
            </a:r>
            <a:r>
              <a:rPr lang="fa-IR" sz="1200">
                <a:solidFill>
                  <a:srgbClr val="105569"/>
                </a:solidFill>
                <a:latin typeface="Alexandria Medium" pitchFamily="2" charset="-78"/>
                <a:cs typeface="Alexandria Medium" pitchFamily="2" charset="-78"/>
              </a:rPr>
              <a:t>تکنیک های تخمین </a:t>
            </a:r>
            <a:r>
              <a:rPr lang="fa-IR" sz="1200">
                <a:latin typeface="Alexandria Medium" pitchFamily="2" charset="-78"/>
                <a:cs typeface="Alexandria Medium" pitchFamily="2" charset="-78"/>
              </a:rPr>
              <a:t>شامل تکنیک های </a:t>
            </a:r>
            <a:r>
              <a:rPr lang="fa-IR" sz="1200">
                <a:solidFill>
                  <a:srgbClr val="0269AE"/>
                </a:solidFill>
                <a:latin typeface="Alexandria Medium" pitchFamily="2" charset="-78"/>
                <a:cs typeface="Alexandria Medium" pitchFamily="2" charset="-78"/>
              </a:rPr>
              <a:t>پارامتریک</a:t>
            </a:r>
            <a:r>
              <a:rPr lang="fa-IR" sz="1200">
                <a:latin typeface="Alexandria Medium" pitchFamily="2" charset="-78"/>
                <a:cs typeface="Alexandria Medium" pitchFamily="2" charset="-78"/>
              </a:rPr>
              <a:t> است که هدف آن ارائه تخمین تلاش بر اساس </a:t>
            </a:r>
            <a:r>
              <a:rPr lang="fa-IR" sz="1200" b="1">
                <a:solidFill>
                  <a:srgbClr val="105569"/>
                </a:solidFill>
                <a:latin typeface="Alexandria Medium" pitchFamily="2" charset="-78"/>
                <a:cs typeface="Alexandria Medium" pitchFamily="2" charset="-78"/>
              </a:rPr>
              <a:t>اندازه تخمینی سیستم</a:t>
            </a:r>
            <a:r>
              <a:rPr lang="fa-IR" sz="1200">
                <a:latin typeface="Alexandria Medium" pitchFamily="2" charset="-78"/>
                <a:cs typeface="Alexandria Medium" pitchFamily="2" charset="-78"/>
              </a:rPr>
              <a:t>، </a:t>
            </a:r>
            <a:r>
              <a:rPr lang="fa-IR" sz="1200" b="1">
                <a:solidFill>
                  <a:srgbClr val="105569"/>
                </a:solidFill>
                <a:latin typeface="Alexandria Medium" pitchFamily="2" charset="-78"/>
                <a:cs typeface="Alexandria Medium" pitchFamily="2" charset="-78"/>
              </a:rPr>
              <a:t>دشواری فنی توسعه آن</a:t>
            </a:r>
            <a:r>
              <a:rPr lang="fa-IR" sz="1200" b="1">
                <a:latin typeface="Alexandria Medium" pitchFamily="2" charset="-78"/>
                <a:cs typeface="Alexandria Medium" pitchFamily="2" charset="-78"/>
              </a:rPr>
              <a:t> </a:t>
            </a:r>
            <a:r>
              <a:rPr lang="fa-IR" sz="1200">
                <a:latin typeface="Alexandria Medium" pitchFamily="2" charset="-78"/>
                <a:cs typeface="Alexandria Medium" pitchFamily="2" charset="-78"/>
              </a:rPr>
              <a:t>و </a:t>
            </a:r>
            <a:r>
              <a:rPr lang="fa-IR" sz="1200" b="1">
                <a:solidFill>
                  <a:srgbClr val="105569"/>
                </a:solidFill>
                <a:latin typeface="Alexandria Medium" pitchFamily="2" charset="-78"/>
                <a:cs typeface="Alexandria Medium" pitchFamily="2" charset="-78"/>
              </a:rPr>
              <a:t>ظرفیت تیم </a:t>
            </a:r>
            <a:r>
              <a:rPr lang="fa-IR" sz="1200">
                <a:latin typeface="Alexandria Medium" pitchFamily="2" charset="-78"/>
                <a:cs typeface="Alexandria Medium" pitchFamily="2" charset="-78"/>
              </a:rPr>
              <a:t>و سایر ویژگی ها است.</a:t>
            </a:r>
            <a:endParaRPr lang="en-US" sz="1200">
              <a:latin typeface="Alexandria Medium" pitchFamily="2" charset="-78"/>
              <a:cs typeface="Alexandria Medium" pitchFamily="2" charset="-78"/>
            </a:endParaRPr>
          </a:p>
        </p:txBody>
      </p:sp>
      <p:sp>
        <p:nvSpPr>
          <p:cNvPr id="4" name="TextBox 3">
            <a:extLst>
              <a:ext uri="{FF2B5EF4-FFF2-40B4-BE49-F238E27FC236}">
                <a16:creationId xmlns:a16="http://schemas.microsoft.com/office/drawing/2014/main" id="{159905D1-1C09-9143-9880-7EA85F1780B2}"/>
              </a:ext>
            </a:extLst>
          </p:cNvPr>
          <p:cNvSpPr txBox="1"/>
          <p:nvPr/>
        </p:nvSpPr>
        <p:spPr>
          <a:xfrm>
            <a:off x="4845566" y="990307"/>
            <a:ext cx="3869970" cy="430887"/>
          </a:xfrm>
          <a:prstGeom prst="rect">
            <a:avLst/>
          </a:prstGeom>
          <a:noFill/>
        </p:spPr>
        <p:txBody>
          <a:bodyPr wrap="none" rtlCol="0">
            <a:spAutoFit/>
          </a:bodyPr>
          <a:lstStyle/>
          <a:p>
            <a:r>
              <a:rPr lang="fa-IR" sz="1100">
                <a:solidFill>
                  <a:srgbClr val="0269AE"/>
                </a:solidFill>
                <a:latin typeface="Alexandria Medium" pitchFamily="2" charset="-78"/>
                <a:cs typeface="Alexandria Medium" pitchFamily="2" charset="-78"/>
              </a:rPr>
              <a:t> اندازه سیستم را می توان بر حسب موارد زیر اندازه گیری کرد:</a:t>
            </a:r>
            <a:endParaRPr lang="en-US" sz="1100">
              <a:solidFill>
                <a:srgbClr val="0269AE"/>
              </a:solidFill>
              <a:latin typeface="Alexandria Medium" pitchFamily="2" charset="-78"/>
              <a:cs typeface="Alexandria Medium" pitchFamily="2" charset="-78"/>
            </a:endParaRPr>
          </a:p>
          <a:p>
            <a:endParaRPr lang="en-US" sz="1100">
              <a:solidFill>
                <a:srgbClr val="0269AE"/>
              </a:solidFill>
            </a:endParaRPr>
          </a:p>
        </p:txBody>
      </p:sp>
      <p:sp>
        <p:nvSpPr>
          <p:cNvPr id="5" name="TextBox 4">
            <a:extLst>
              <a:ext uri="{FF2B5EF4-FFF2-40B4-BE49-F238E27FC236}">
                <a16:creationId xmlns:a16="http://schemas.microsoft.com/office/drawing/2014/main" id="{58771E01-EB81-854D-B37F-4BAFA55CEF94}"/>
              </a:ext>
            </a:extLst>
          </p:cNvPr>
          <p:cNvSpPr txBox="1"/>
          <p:nvPr/>
        </p:nvSpPr>
        <p:spPr>
          <a:xfrm>
            <a:off x="444888" y="1460927"/>
            <a:ext cx="8221021" cy="784830"/>
          </a:xfrm>
          <a:prstGeom prst="rect">
            <a:avLst/>
          </a:prstGeom>
          <a:noFill/>
        </p:spPr>
        <p:txBody>
          <a:bodyPr wrap="square" rtlCol="0">
            <a:spAutoFit/>
          </a:bodyPr>
          <a:lstStyle/>
          <a:p>
            <a:pPr algn="r" rtl="1">
              <a:lnSpc>
                <a:spcPts val="1780"/>
              </a:lnSpc>
            </a:pPr>
            <a:r>
              <a:rPr lang="fa-IR" sz="1200">
                <a:solidFill>
                  <a:schemeClr val="tx1">
                    <a:lumMod val="75000"/>
                    <a:lumOff val="25000"/>
                  </a:schemeClr>
                </a:solidFill>
                <a:latin typeface="Alexandria Medium" pitchFamily="2" charset="-78"/>
                <a:cs typeface="Alexandria Medium" pitchFamily="2" charset="-78"/>
              </a:rPr>
              <a:t>تکنیک هایی مانند </a:t>
            </a:r>
            <a:r>
              <a:rPr lang="en-US" sz="1200">
                <a:solidFill>
                  <a:schemeClr val="tx1">
                    <a:lumMod val="75000"/>
                    <a:lumOff val="25000"/>
                  </a:schemeClr>
                </a:solidFill>
                <a:latin typeface="Alexandria Medium" pitchFamily="2" charset="-78"/>
                <a:cs typeface="Alexandria Medium" pitchFamily="2" charset="-78"/>
              </a:rPr>
              <a:t>COCOMO II (</a:t>
            </a:r>
            <a:r>
              <a:rPr lang="en-US" sz="1200">
                <a:solidFill>
                  <a:schemeClr val="tx1"/>
                </a:solidFill>
                <a:latin typeface="Alexandria Medium" pitchFamily="2" charset="-78"/>
                <a:cs typeface="Alexandria Medium" pitchFamily="2" charset="-78"/>
              </a:rPr>
              <a:t>Constructive Cost MOdel II) </a:t>
            </a:r>
            <a:r>
              <a:rPr lang="fa-IR" sz="1200">
                <a:solidFill>
                  <a:schemeClr val="tx1"/>
                </a:solidFill>
                <a:latin typeface="Alexandria Medium" pitchFamily="2" charset="-78"/>
                <a:cs typeface="Alexandria Medium" pitchFamily="2" charset="-78"/>
              </a:rPr>
              <a:t> </a:t>
            </a:r>
            <a:r>
              <a:rPr lang="fa-IR" sz="1200">
                <a:solidFill>
                  <a:schemeClr val="tx1">
                    <a:lumMod val="75000"/>
                    <a:lumOff val="25000"/>
                  </a:schemeClr>
                </a:solidFill>
                <a:latin typeface="Alexandria Medium" pitchFamily="2" charset="-78"/>
                <a:cs typeface="Alexandria Medium" pitchFamily="2" charset="-78"/>
              </a:rPr>
              <a:t>شروع به تخمین تعداد خط منبع کد سیستم می کنند.</a:t>
            </a:r>
            <a:endParaRPr lang="en-US" sz="1200">
              <a:solidFill>
                <a:schemeClr val="tx1">
                  <a:lumMod val="75000"/>
                  <a:lumOff val="25000"/>
                </a:schemeClr>
              </a:solidFill>
              <a:latin typeface="Alexandria Medium" pitchFamily="2" charset="-78"/>
              <a:cs typeface="Alexandria Medium" pitchFamily="2" charset="-78"/>
            </a:endParaRPr>
          </a:p>
          <a:p>
            <a:pPr algn="r" rtl="1">
              <a:lnSpc>
                <a:spcPts val="1780"/>
              </a:lnSpc>
            </a:pPr>
            <a:r>
              <a:rPr lang="fa-IR" sz="1200">
                <a:solidFill>
                  <a:schemeClr val="tx1">
                    <a:lumMod val="75000"/>
                    <a:lumOff val="25000"/>
                  </a:schemeClr>
                </a:solidFill>
                <a:latin typeface="Alexandria Medium" pitchFamily="2" charset="-78"/>
                <a:cs typeface="Alexandria Medium" pitchFamily="2" charset="-78"/>
              </a:rPr>
              <a:t>در واقع، از آنجایی که اکثر سیستم ها دارای هزاران خط کد هستند، معیار  آن </a:t>
            </a:r>
            <a:r>
              <a:rPr lang="en-US" sz="1200">
                <a:solidFill>
                  <a:srgbClr val="2D2D2D"/>
                </a:solidFill>
                <a:effectLst/>
                <a:latin typeface="Alexandria Medium" pitchFamily="2" charset="-78"/>
                <a:cs typeface="Alexandria Medium" pitchFamily="2" charset="-78"/>
              </a:rPr>
              <a:t>kilo source lines of code)</a:t>
            </a:r>
            <a:r>
              <a:rPr lang="fa-IR" sz="1200">
                <a:solidFill>
                  <a:srgbClr val="2D2D2D"/>
                </a:solidFill>
                <a:latin typeface="Alexandria Medium" pitchFamily="2" charset="-78"/>
                <a:cs typeface="Alexandria Medium" pitchFamily="2" charset="-78"/>
              </a:rPr>
              <a:t>)</a:t>
            </a:r>
            <a:r>
              <a:rPr lang="fa-IR" sz="1200">
                <a:solidFill>
                  <a:schemeClr val="tx1">
                    <a:lumMod val="75000"/>
                    <a:lumOff val="25000"/>
                  </a:schemeClr>
                </a:solidFill>
                <a:latin typeface="Alexandria Medium" pitchFamily="2" charset="-78"/>
                <a:cs typeface="Alexandria Medium" pitchFamily="2" charset="-78"/>
              </a:rPr>
              <a:t> </a:t>
            </a:r>
            <a:r>
              <a:rPr lang="en-US" sz="1200">
                <a:solidFill>
                  <a:schemeClr val="tx1">
                    <a:lumMod val="75000"/>
                    <a:lumOff val="25000"/>
                  </a:schemeClr>
                </a:solidFill>
                <a:latin typeface="Alexandria Medium" pitchFamily="2" charset="-78"/>
                <a:cs typeface="Alexandria Medium" pitchFamily="2" charset="-78"/>
              </a:rPr>
              <a:t>KSLOC</a:t>
            </a:r>
            <a:r>
              <a:rPr lang="fa-IR" sz="1200">
                <a:solidFill>
                  <a:schemeClr val="tx1">
                    <a:lumMod val="75000"/>
                    <a:lumOff val="25000"/>
                  </a:schemeClr>
                </a:solidFill>
                <a:latin typeface="Alexandria Medium" pitchFamily="2" charset="-78"/>
                <a:cs typeface="Alexandria Medium" pitchFamily="2" charset="-78"/>
              </a:rPr>
              <a:t> است.</a:t>
            </a:r>
            <a:endParaRPr lang="en-US" sz="1200">
              <a:solidFill>
                <a:schemeClr val="tx1">
                  <a:lumMod val="75000"/>
                  <a:lumOff val="25000"/>
                </a:schemeClr>
              </a:solidFill>
              <a:latin typeface="Alexandria Medium" pitchFamily="2" charset="-78"/>
              <a:cs typeface="Alexandria Medium" pitchFamily="2" charset="-78"/>
            </a:endParaRPr>
          </a:p>
          <a:p>
            <a:pPr algn="r" rtl="1">
              <a:lnSpc>
                <a:spcPts val="1780"/>
              </a:lnSpc>
            </a:pPr>
            <a:endParaRPr lang="en-US" sz="1600" b="1">
              <a:effectLst/>
              <a:latin typeface="Alexandria Medium" pitchFamily="2" charset="-78"/>
              <a:cs typeface="Alexandria Medium" pitchFamily="2" charset="-78"/>
            </a:endParaRPr>
          </a:p>
        </p:txBody>
      </p:sp>
      <p:sp>
        <p:nvSpPr>
          <p:cNvPr id="6" name="TextBox 5">
            <a:extLst>
              <a:ext uri="{FF2B5EF4-FFF2-40B4-BE49-F238E27FC236}">
                <a16:creationId xmlns:a16="http://schemas.microsoft.com/office/drawing/2014/main" id="{AB85D28F-094F-324F-A27D-A38C2F72EA90}"/>
              </a:ext>
            </a:extLst>
          </p:cNvPr>
          <p:cNvSpPr txBox="1"/>
          <p:nvPr/>
        </p:nvSpPr>
        <p:spPr>
          <a:xfrm>
            <a:off x="7686507" y="1216748"/>
            <a:ext cx="990977" cy="307777"/>
          </a:xfrm>
          <a:prstGeom prst="rect">
            <a:avLst/>
          </a:prstGeom>
          <a:noFill/>
        </p:spPr>
        <p:txBody>
          <a:bodyPr wrap="none" rtlCol="0">
            <a:spAutoFit/>
          </a:bodyPr>
          <a:lstStyle/>
          <a:p>
            <a:r>
              <a:rPr lang="fa-IR" b="1">
                <a:latin typeface="Alexandria Medium" pitchFamily="2" charset="-78"/>
                <a:cs typeface="Alexandria Medium" pitchFamily="2" charset="-78"/>
              </a:rPr>
              <a:t>خطوط کد</a:t>
            </a:r>
            <a:endParaRPr lang="en-US" b="1">
              <a:latin typeface="Alexandria Medium" pitchFamily="2" charset="-78"/>
              <a:cs typeface="Alexandria Medium" pitchFamily="2" charset="-78"/>
            </a:endParaRPr>
          </a:p>
        </p:txBody>
      </p:sp>
      <p:sp>
        <p:nvSpPr>
          <p:cNvPr id="7" name="TextBox 6">
            <a:extLst>
              <a:ext uri="{FF2B5EF4-FFF2-40B4-BE49-F238E27FC236}">
                <a16:creationId xmlns:a16="http://schemas.microsoft.com/office/drawing/2014/main" id="{8E527440-05F6-EF45-B477-675544656CFB}"/>
              </a:ext>
            </a:extLst>
          </p:cNvPr>
          <p:cNvSpPr txBox="1"/>
          <p:nvPr/>
        </p:nvSpPr>
        <p:spPr>
          <a:xfrm>
            <a:off x="7286396" y="2228458"/>
            <a:ext cx="1378904" cy="307777"/>
          </a:xfrm>
          <a:prstGeom prst="rect">
            <a:avLst/>
          </a:prstGeom>
          <a:noFill/>
        </p:spPr>
        <p:txBody>
          <a:bodyPr wrap="none" rtlCol="0">
            <a:spAutoFit/>
          </a:bodyPr>
          <a:lstStyle/>
          <a:p>
            <a:r>
              <a:rPr lang="fa-IR" b="1">
                <a:latin typeface="Alexandria Medium" pitchFamily="2" charset="-78"/>
                <a:cs typeface="Alexandria Medium" pitchFamily="2" charset="-78"/>
              </a:rPr>
              <a:t>نقاط عملکردی</a:t>
            </a:r>
            <a:endParaRPr lang="en-US" b="1">
              <a:latin typeface="Alexandria Medium" pitchFamily="2" charset="-78"/>
              <a:cs typeface="Alexandria Medium" pitchFamily="2" charset="-78"/>
            </a:endParaRPr>
          </a:p>
        </p:txBody>
      </p:sp>
      <p:sp>
        <p:nvSpPr>
          <p:cNvPr id="10" name="TextBox 9">
            <a:extLst>
              <a:ext uri="{FF2B5EF4-FFF2-40B4-BE49-F238E27FC236}">
                <a16:creationId xmlns:a16="http://schemas.microsoft.com/office/drawing/2014/main" id="{910CB346-E639-8847-A8C1-4436B611AF2B}"/>
              </a:ext>
            </a:extLst>
          </p:cNvPr>
          <p:cNvSpPr txBox="1"/>
          <p:nvPr/>
        </p:nvSpPr>
        <p:spPr>
          <a:xfrm>
            <a:off x="219920" y="2512508"/>
            <a:ext cx="8423120" cy="1162882"/>
          </a:xfrm>
          <a:prstGeom prst="rect">
            <a:avLst/>
          </a:prstGeom>
          <a:noFill/>
        </p:spPr>
        <p:txBody>
          <a:bodyPr wrap="square" rtlCol="0">
            <a:spAutoFit/>
          </a:bodyPr>
          <a:lstStyle/>
          <a:p>
            <a:pPr algn="r" rtl="1">
              <a:lnSpc>
                <a:spcPts val="1740"/>
              </a:lnSpc>
            </a:pPr>
            <a:r>
              <a:rPr lang="fa-IR" sz="1200">
                <a:solidFill>
                  <a:schemeClr val="tx1">
                    <a:lumMod val="75000"/>
                    <a:lumOff val="25000"/>
                  </a:schemeClr>
                </a:solidFill>
                <a:latin typeface="Alexandria Medium" pitchFamily="2" charset="-78"/>
                <a:cs typeface="Alexandria Medium" pitchFamily="2" charset="-78"/>
              </a:rPr>
              <a:t>تکنیک های مبتنی بر تجزیه و تحلیل نقاط تابع</a:t>
            </a:r>
            <a:r>
              <a:rPr lang="en-US" sz="1200">
                <a:solidFill>
                  <a:schemeClr val="tx1">
                    <a:lumMod val="75000"/>
                    <a:lumOff val="25000"/>
                  </a:schemeClr>
                </a:solidFill>
                <a:latin typeface="Alexandria Medium" pitchFamily="2" charset="-78"/>
                <a:cs typeface="Alexandria Medium" pitchFamily="2" charset="-78"/>
              </a:rPr>
              <a:t> </a:t>
            </a:r>
            <a:r>
              <a:rPr lang="en-US" sz="1200">
                <a:solidFill>
                  <a:srgbClr val="2D2D2D"/>
                </a:solidFill>
                <a:effectLst/>
                <a:latin typeface="Alexandria Medium" pitchFamily="2" charset="-78"/>
                <a:cs typeface="Alexandria Medium" pitchFamily="2" charset="-78"/>
              </a:rPr>
              <a:t>Function Point analysis (FPA) </a:t>
            </a:r>
            <a:r>
              <a:rPr lang="fa-IR" sz="1200">
                <a:solidFill>
                  <a:schemeClr val="tx1">
                    <a:lumMod val="75000"/>
                    <a:lumOff val="25000"/>
                  </a:schemeClr>
                </a:solidFill>
                <a:latin typeface="Alexandria Medium" pitchFamily="2" charset="-78"/>
                <a:cs typeface="Alexandria Medium" pitchFamily="2" charset="-78"/>
              </a:rPr>
              <a:t> و تغییرات آن مربوط به خطوط کد نیستند.</a:t>
            </a:r>
            <a:r>
              <a:rPr lang="en-US" sz="1200">
                <a:solidFill>
                  <a:schemeClr val="tx1">
                    <a:lumMod val="75000"/>
                    <a:lumOff val="25000"/>
                  </a:schemeClr>
                </a:solidFill>
                <a:latin typeface="Alexandria Medium" pitchFamily="2" charset="-78"/>
                <a:cs typeface="Alexandria Medium" pitchFamily="2" charset="-78"/>
              </a:rPr>
              <a:t> </a:t>
            </a:r>
          </a:p>
          <a:p>
            <a:pPr algn="r" rtl="1">
              <a:lnSpc>
                <a:spcPts val="1740"/>
              </a:lnSpc>
            </a:pPr>
            <a:r>
              <a:rPr lang="fa-IR" sz="1200">
                <a:solidFill>
                  <a:schemeClr val="tx1">
                    <a:lumMod val="75000"/>
                    <a:lumOff val="25000"/>
                  </a:schemeClr>
                </a:solidFill>
                <a:latin typeface="Alexandria Medium" pitchFamily="2" charset="-78"/>
                <a:cs typeface="Alexandria Medium" pitchFamily="2" charset="-78"/>
              </a:rPr>
              <a:t> آنها تخمین می زنند که تلاش برای توسعه یک سیستم به عملکرد ظاهری که قرار است پیاده سازی شود بستگی دارد. بنابراین معمولاً این تکنیک‌ها تعداد نیازمندی‌های عملکردی را می‌شمارند</a:t>
            </a:r>
            <a:r>
              <a:rPr lang="en-US" sz="1200">
                <a:solidFill>
                  <a:schemeClr val="tx1">
                    <a:lumMod val="75000"/>
                    <a:lumOff val="25000"/>
                  </a:schemeClr>
                </a:solidFill>
                <a:latin typeface="Alexandria Medium" pitchFamily="2" charset="-78"/>
                <a:cs typeface="Alexandria Medium" pitchFamily="2" charset="-78"/>
              </a:rPr>
              <a:t> </a:t>
            </a:r>
            <a:r>
              <a:rPr lang="fa-IR" sz="1200">
                <a:solidFill>
                  <a:schemeClr val="tx1">
                    <a:lumMod val="75000"/>
                    <a:lumOff val="25000"/>
                  </a:schemeClr>
                </a:solidFill>
                <a:latin typeface="Alexandria Medium" pitchFamily="2" charset="-78"/>
                <a:cs typeface="Alexandria Medium" pitchFamily="2" charset="-78"/>
              </a:rPr>
              <a:t>و پیچیدگی آنها را با پرسیدن تعداد عناصر و عملکردهای رابط‌ها و تعداد و اندازه جداول پایگاه داده ارزیابی می‌کنند.</a:t>
            </a:r>
            <a:endParaRPr lang="en-US" sz="1200">
              <a:solidFill>
                <a:schemeClr val="tx1">
                  <a:lumMod val="75000"/>
                  <a:lumOff val="25000"/>
                </a:schemeClr>
              </a:solidFill>
              <a:latin typeface="Alexandria Medium" pitchFamily="2" charset="-78"/>
              <a:cs typeface="Alexandria Medium" pitchFamily="2" charset="-78"/>
            </a:endParaRPr>
          </a:p>
          <a:p>
            <a:pPr algn="r" rtl="1">
              <a:lnSpc>
                <a:spcPts val="1740"/>
              </a:lnSpc>
            </a:pPr>
            <a:endParaRPr lang="en-US" sz="1200">
              <a:solidFill>
                <a:schemeClr val="tx1">
                  <a:lumMod val="75000"/>
                  <a:lumOff val="25000"/>
                </a:schemeClr>
              </a:solidFill>
            </a:endParaRPr>
          </a:p>
        </p:txBody>
      </p:sp>
      <p:sp>
        <p:nvSpPr>
          <p:cNvPr id="11" name="TextBox 10">
            <a:extLst>
              <a:ext uri="{FF2B5EF4-FFF2-40B4-BE49-F238E27FC236}">
                <a16:creationId xmlns:a16="http://schemas.microsoft.com/office/drawing/2014/main" id="{DA0DAAFA-8975-CE49-9E99-896055D54BBA}"/>
              </a:ext>
            </a:extLst>
          </p:cNvPr>
          <p:cNvSpPr txBox="1"/>
          <p:nvPr/>
        </p:nvSpPr>
        <p:spPr>
          <a:xfrm>
            <a:off x="6877949" y="3631891"/>
            <a:ext cx="2075469" cy="338554"/>
          </a:xfrm>
          <a:prstGeom prst="rect">
            <a:avLst/>
          </a:prstGeom>
          <a:noFill/>
        </p:spPr>
        <p:txBody>
          <a:bodyPr wrap="square" rtlCol="0">
            <a:spAutoFit/>
          </a:bodyPr>
          <a:lstStyle/>
          <a:p>
            <a:r>
              <a:rPr lang="en-US" sz="1600">
                <a:latin typeface="Alexandria Medium" pitchFamily="2" charset="-78"/>
                <a:cs typeface="Alexandria Medium" pitchFamily="2" charset="-78"/>
              </a:rPr>
              <a:t>Use-case points</a:t>
            </a:r>
          </a:p>
        </p:txBody>
      </p:sp>
      <p:sp>
        <p:nvSpPr>
          <p:cNvPr id="12" name="TextBox 11">
            <a:extLst>
              <a:ext uri="{FF2B5EF4-FFF2-40B4-BE49-F238E27FC236}">
                <a16:creationId xmlns:a16="http://schemas.microsoft.com/office/drawing/2014/main" id="{9AD3C585-32BE-3C4C-B4BA-0655E7B60388}"/>
              </a:ext>
            </a:extLst>
          </p:cNvPr>
          <p:cNvSpPr txBox="1"/>
          <p:nvPr/>
        </p:nvSpPr>
        <p:spPr>
          <a:xfrm>
            <a:off x="1751378" y="3900614"/>
            <a:ext cx="6921661" cy="276999"/>
          </a:xfrm>
          <a:prstGeom prst="rect">
            <a:avLst/>
          </a:prstGeom>
          <a:noFill/>
        </p:spPr>
        <p:txBody>
          <a:bodyPr wrap="square" rtlCol="0">
            <a:spAutoFit/>
          </a:bodyPr>
          <a:lstStyle/>
          <a:p>
            <a:pPr algn="r" rtl="1"/>
            <a:r>
              <a:rPr lang="fa-IR" sz="1200">
                <a:solidFill>
                  <a:schemeClr val="tx1">
                    <a:lumMod val="75000"/>
                    <a:lumOff val="25000"/>
                  </a:schemeClr>
                </a:solidFill>
                <a:latin typeface="Alexandria Medium" pitchFamily="2" charset="-78"/>
                <a:cs typeface="Alexandria Medium" pitchFamily="2" charset="-78"/>
              </a:rPr>
              <a:t>این نوعی از تکنیک</a:t>
            </a:r>
            <a:r>
              <a:rPr lang="en-US" sz="1200">
                <a:solidFill>
                  <a:schemeClr val="tx1">
                    <a:lumMod val="75000"/>
                    <a:lumOff val="25000"/>
                  </a:schemeClr>
                </a:solidFill>
                <a:latin typeface="Alexandria Medium" pitchFamily="2" charset="-78"/>
                <a:cs typeface="Alexandria Medium" pitchFamily="2" charset="-78"/>
              </a:rPr>
              <a:t>FPA </a:t>
            </a:r>
            <a:r>
              <a:rPr lang="fa-IR" sz="1200">
                <a:solidFill>
                  <a:schemeClr val="tx1">
                    <a:lumMod val="75000"/>
                    <a:lumOff val="25000"/>
                  </a:schemeClr>
                </a:solidFill>
                <a:latin typeface="Alexandria Medium" pitchFamily="2" charset="-78"/>
                <a:cs typeface="Alexandria Medium" pitchFamily="2" charset="-78"/>
              </a:rPr>
              <a:t> است که بر اساس موارد استفاده به جای الزامات عملکردی برای برآورد است.</a:t>
            </a:r>
            <a:endParaRPr lang="en-US" sz="1200">
              <a:solidFill>
                <a:schemeClr val="tx1">
                  <a:lumMod val="75000"/>
                  <a:lumOff val="25000"/>
                </a:schemeClr>
              </a:solidFill>
              <a:latin typeface="Alexandria Medium" pitchFamily="2" charset="-78"/>
              <a:cs typeface="Alexandria Medium" pitchFamily="2" charset="-78"/>
            </a:endParaRPr>
          </a:p>
        </p:txBody>
      </p:sp>
      <p:sp>
        <p:nvSpPr>
          <p:cNvPr id="13" name="TextBox 12">
            <a:extLst>
              <a:ext uri="{FF2B5EF4-FFF2-40B4-BE49-F238E27FC236}">
                <a16:creationId xmlns:a16="http://schemas.microsoft.com/office/drawing/2014/main" id="{6143390B-18C1-994F-9C1D-3665A1659C4D}"/>
              </a:ext>
            </a:extLst>
          </p:cNvPr>
          <p:cNvSpPr txBox="1"/>
          <p:nvPr/>
        </p:nvSpPr>
        <p:spPr>
          <a:xfrm>
            <a:off x="1807575" y="4106901"/>
            <a:ext cx="6037294" cy="492443"/>
          </a:xfrm>
          <a:prstGeom prst="rect">
            <a:avLst/>
          </a:prstGeom>
          <a:noFill/>
        </p:spPr>
        <p:txBody>
          <a:bodyPr wrap="none" rtlCol="0">
            <a:spAutoFit/>
          </a:bodyPr>
          <a:lstStyle/>
          <a:p>
            <a:pPr algn="r" rtl="1"/>
            <a:r>
              <a:rPr lang="en-US" sz="1300">
                <a:solidFill>
                  <a:schemeClr val="tx1">
                    <a:lumMod val="75000"/>
                    <a:lumOff val="25000"/>
                  </a:schemeClr>
                </a:solidFill>
                <a:effectLst/>
                <a:latin typeface="Alexandria Medium" pitchFamily="2" charset="-78"/>
                <a:cs typeface="Alexandria Medium" pitchFamily="2" charset="-78"/>
              </a:rPr>
              <a:t>based on use cases instead of functional requirements for estimation. </a:t>
            </a:r>
          </a:p>
          <a:p>
            <a:pPr marR="0" algn="r" rtl="1">
              <a:lnSpc>
                <a:spcPct val="100000"/>
              </a:lnSpc>
              <a:spcBef>
                <a:spcPts val="0"/>
              </a:spcBef>
              <a:spcAft>
                <a:spcPts val="0"/>
              </a:spcAft>
              <a:buClr>
                <a:srgbClr val="000000"/>
              </a:buClr>
              <a:buFont typeface="Arial"/>
            </a:pPr>
            <a:endParaRPr lang="en-US" sz="1300">
              <a:solidFill>
                <a:schemeClr val="tx1">
                  <a:lumMod val="75000"/>
                  <a:lumOff val="25000"/>
                </a:schemeClr>
              </a:solidFill>
              <a:latin typeface="Alexandria Medium" pitchFamily="2" charset="-78"/>
              <a:cs typeface="Alexandria Medium" pitchFamily="2" charset="-78"/>
            </a:endParaRPr>
          </a:p>
        </p:txBody>
      </p:sp>
      <p:cxnSp>
        <p:nvCxnSpPr>
          <p:cNvPr id="14" name="Google Shape;237;p39">
            <a:hlinkClick r:id="" action="ppaction://hlinkshowjump?jump=nextslide"/>
            <a:extLst>
              <a:ext uri="{FF2B5EF4-FFF2-40B4-BE49-F238E27FC236}">
                <a16:creationId xmlns:a16="http://schemas.microsoft.com/office/drawing/2014/main" id="{147EF1BB-12E0-E542-91CB-7C2CA260D871}"/>
              </a:ext>
            </a:extLst>
          </p:cNvPr>
          <p:cNvCxnSpPr>
            <a:cxnSpLocks/>
          </p:cNvCxnSpPr>
          <p:nvPr/>
        </p:nvCxnSpPr>
        <p:spPr>
          <a:xfrm flipV="1">
            <a:off x="8316811" y="4599343"/>
            <a:ext cx="479750" cy="1"/>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2000"/>
                            </p:stCondLst>
                            <p:childTnLst>
                              <p:par>
                                <p:cTn id="13" presetID="10" presetClass="entr" presetSubtype="0" fill="hold" grpId="0" nodeType="afterEffect">
                                  <p:stCondLst>
                                    <p:cond delay="10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3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4000"/>
                            </p:stCondLst>
                            <p:childTnLst>
                              <p:par>
                                <p:cTn id="21" presetID="10" presetClass="entr" presetSubtype="0" fill="hold" grpId="0" nodeType="afterEffect">
                                  <p:stCondLst>
                                    <p:cond delay="10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550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6000"/>
                            </p:stCondLst>
                            <p:childTnLst>
                              <p:par>
                                <p:cTn id="29" presetID="10" presetClass="entr" presetSubtype="0" fill="hold" grpId="0" nodeType="afterEffect">
                                  <p:stCondLst>
                                    <p:cond delay="10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75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par>
                          <p:cTn id="36" fill="hold">
                            <p:stCondLst>
                              <p:cond delay="8000"/>
                            </p:stCondLst>
                            <p:childTnLst>
                              <p:par>
                                <p:cTn id="37" presetID="10"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0" grpId="0"/>
      <p:bldP spid="11" grpId="0"/>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cxnSp>
        <p:nvCxnSpPr>
          <p:cNvPr id="2" name="Google Shape;237;p39">
            <a:hlinkClick r:id="" action="ppaction://hlinkshowjump?jump=nextslide"/>
            <a:extLst>
              <a:ext uri="{FF2B5EF4-FFF2-40B4-BE49-F238E27FC236}">
                <a16:creationId xmlns:a16="http://schemas.microsoft.com/office/drawing/2014/main" id="{08318F75-A241-9347-B50B-FDFD6898AA73}"/>
              </a:ext>
            </a:extLst>
          </p:cNvPr>
          <p:cNvCxnSpPr>
            <a:cxnSpLocks/>
          </p:cNvCxnSpPr>
          <p:nvPr/>
        </p:nvCxnSpPr>
        <p:spPr>
          <a:xfrm flipV="1">
            <a:off x="4572000" y="4143737"/>
            <a:ext cx="0" cy="501906"/>
          </a:xfrm>
          <a:prstGeom prst="straightConnector1">
            <a:avLst/>
          </a:prstGeom>
          <a:noFill/>
          <a:ln w="9525" cap="flat" cmpd="sng">
            <a:solidFill>
              <a:schemeClr val="dk1"/>
            </a:solidFill>
            <a:prstDash val="solid"/>
            <a:round/>
            <a:headEnd type="none" w="med" len="med"/>
            <a:tailEnd type="triangle" w="med" len="med"/>
          </a:ln>
        </p:spPr>
      </p:cxnSp>
      <p:sp>
        <p:nvSpPr>
          <p:cNvPr id="4" name="TextBox 3">
            <a:extLst>
              <a:ext uri="{FF2B5EF4-FFF2-40B4-BE49-F238E27FC236}">
                <a16:creationId xmlns:a16="http://schemas.microsoft.com/office/drawing/2014/main" id="{AF3C5251-F157-7442-9595-7985EE4AA9BB}"/>
              </a:ext>
            </a:extLst>
          </p:cNvPr>
          <p:cNvSpPr txBox="1"/>
          <p:nvPr/>
        </p:nvSpPr>
        <p:spPr>
          <a:xfrm>
            <a:off x="1527859" y="2456376"/>
            <a:ext cx="7176303" cy="702180"/>
          </a:xfrm>
          <a:prstGeom prst="rect">
            <a:avLst/>
          </a:prstGeom>
          <a:noFill/>
        </p:spPr>
        <p:txBody>
          <a:bodyPr wrap="square" rtlCol="0">
            <a:spAutoFit/>
          </a:bodyPr>
          <a:lstStyle/>
          <a:p>
            <a:pPr algn="r" rtl="1">
              <a:lnSpc>
                <a:spcPct val="150000"/>
              </a:lnSpc>
            </a:pPr>
            <a:r>
              <a:rPr lang="en-US">
                <a:solidFill>
                  <a:srgbClr val="0269AE"/>
                </a:solidFill>
                <a:latin typeface="Alexandria Medium" pitchFamily="2" charset="-78"/>
                <a:cs typeface="Alexandria Medium" pitchFamily="2" charset="-78"/>
              </a:rPr>
              <a:t>COCOMO II </a:t>
            </a:r>
            <a:r>
              <a:rPr lang="fa-IR">
                <a:solidFill>
                  <a:srgbClr val="0269AE"/>
                </a:solidFill>
                <a:latin typeface="Alexandria Medium" pitchFamily="2" charset="-78"/>
                <a:cs typeface="Alexandria Medium" pitchFamily="2" charset="-78"/>
              </a:rPr>
              <a:t> </a:t>
            </a:r>
            <a:r>
              <a:rPr lang="fa-IR">
                <a:latin typeface="Alexandria Medium" pitchFamily="2" charset="-78"/>
                <a:cs typeface="Alexandria Medium" pitchFamily="2" charset="-78"/>
              </a:rPr>
              <a:t>مانند </a:t>
            </a:r>
            <a:r>
              <a:rPr lang="fa-IR">
                <a:solidFill>
                  <a:srgbClr val="0269AE"/>
                </a:solidFill>
                <a:latin typeface="Alexandria Medium" pitchFamily="2" charset="-78"/>
                <a:cs typeface="Alexandria Medium" pitchFamily="2" charset="-78"/>
              </a:rPr>
              <a:t>تنوعی از نظرات متخصص </a:t>
            </a:r>
            <a:r>
              <a:rPr lang="fa-IR">
                <a:latin typeface="Alexandria Medium" pitchFamily="2" charset="-78"/>
                <a:cs typeface="Alexandria Medium" pitchFamily="2" charset="-78"/>
              </a:rPr>
              <a:t>با بسیاری از تنظیمات فنی است که بر اساس آمار در مورد پروژه های واقعی انجام شده است.</a:t>
            </a:r>
          </a:p>
        </p:txBody>
      </p:sp>
      <p:sp>
        <p:nvSpPr>
          <p:cNvPr id="8" name="TextBox 7">
            <a:extLst>
              <a:ext uri="{FF2B5EF4-FFF2-40B4-BE49-F238E27FC236}">
                <a16:creationId xmlns:a16="http://schemas.microsoft.com/office/drawing/2014/main" id="{B6C4A524-40FE-E942-85BC-2901B87BE52C}"/>
              </a:ext>
            </a:extLst>
          </p:cNvPr>
          <p:cNvSpPr txBox="1"/>
          <p:nvPr/>
        </p:nvSpPr>
        <p:spPr>
          <a:xfrm>
            <a:off x="694481" y="1011337"/>
            <a:ext cx="7917083" cy="1394677"/>
          </a:xfrm>
          <a:prstGeom prst="rect">
            <a:avLst/>
          </a:prstGeom>
          <a:noFill/>
        </p:spPr>
        <p:txBody>
          <a:bodyPr wrap="square">
            <a:spAutoFit/>
          </a:bodyPr>
          <a:lstStyle/>
          <a:p>
            <a:pPr algn="r" rtl="1">
              <a:lnSpc>
                <a:spcPct val="150000"/>
              </a:lnSpc>
            </a:pPr>
            <a:r>
              <a:rPr lang="fa-IR">
                <a:latin typeface="Alexandria Medium" pitchFamily="2" charset="-78"/>
                <a:cs typeface="Alexandria Medium" pitchFamily="2" charset="-78"/>
              </a:rPr>
              <a:t>اگرچه </a:t>
            </a:r>
            <a:r>
              <a:rPr lang="en-US">
                <a:latin typeface="Alexandria Medium" pitchFamily="2" charset="-78"/>
                <a:cs typeface="Alexandria Medium" pitchFamily="2" charset="-78"/>
              </a:rPr>
              <a:t> </a:t>
            </a:r>
            <a:r>
              <a:rPr lang="en-US">
                <a:solidFill>
                  <a:srgbClr val="0269AE"/>
                </a:solidFill>
                <a:latin typeface="Alexandria Medium" pitchFamily="2" charset="-78"/>
                <a:cs typeface="Alexandria Medium" pitchFamily="2" charset="-78"/>
              </a:rPr>
              <a:t>COCOMO II </a:t>
            </a:r>
            <a:r>
              <a:rPr lang="fa-IR">
                <a:latin typeface="Alexandria Medium" pitchFamily="2" charset="-78"/>
                <a:cs typeface="Alexandria Medium" pitchFamily="2" charset="-78"/>
              </a:rPr>
              <a:t>دقیق ترین تکنیک است، اما در مقایسه </a:t>
            </a:r>
            <a:r>
              <a:rPr lang="fa-IR">
                <a:solidFill>
                  <a:srgbClr val="0269AE"/>
                </a:solidFill>
                <a:latin typeface="Alexandria Medium" pitchFamily="2" charset="-78"/>
                <a:cs typeface="Alexandria Medium" pitchFamily="2" charset="-78"/>
              </a:rPr>
              <a:t>با نقاط عملکرد</a:t>
            </a:r>
            <a:r>
              <a:rPr lang="fa-IR">
                <a:latin typeface="Alexandria Medium" pitchFamily="2" charset="-78"/>
                <a:cs typeface="Alexandria Medium" pitchFamily="2" charset="-78"/>
              </a:rPr>
              <a:t> و </a:t>
            </a:r>
            <a:r>
              <a:rPr lang="en-US" sz="1600">
                <a:solidFill>
                  <a:srgbClr val="0269AE"/>
                </a:solidFill>
                <a:latin typeface="Alexandria Medium" pitchFamily="2" charset="-78"/>
                <a:cs typeface="Alexandria Medium" pitchFamily="2" charset="-78"/>
              </a:rPr>
              <a:t>Use-case points</a:t>
            </a:r>
            <a:r>
              <a:rPr lang="en-US" sz="1600">
                <a:latin typeface="Alexandria Medium" pitchFamily="2" charset="-78"/>
                <a:cs typeface="Alexandria Medium" pitchFamily="2" charset="-78"/>
              </a:rPr>
              <a:t> </a:t>
            </a:r>
            <a:r>
              <a:rPr lang="fa-IR" sz="1600">
                <a:latin typeface="Alexandria Medium" pitchFamily="2" charset="-78"/>
                <a:cs typeface="Alexandria Medium" pitchFamily="2" charset="-78"/>
              </a:rPr>
              <a:t> </a:t>
            </a:r>
            <a:r>
              <a:rPr lang="fa-IR">
                <a:latin typeface="Alexandria Medium" pitchFamily="2" charset="-78"/>
                <a:cs typeface="Alexandria Medium" pitchFamily="2" charset="-78"/>
              </a:rPr>
              <a:t>دارای </a:t>
            </a:r>
            <a:r>
              <a:rPr lang="fa-IR">
                <a:solidFill>
                  <a:srgbClr val="C00000"/>
                </a:solidFill>
                <a:latin typeface="Alexandria Medium" pitchFamily="2" charset="-78"/>
                <a:cs typeface="Alexandria Medium" pitchFamily="2" charset="-78"/>
              </a:rPr>
              <a:t>یک نقطه ضعف </a:t>
            </a:r>
            <a:r>
              <a:rPr lang="fa-IR">
                <a:latin typeface="Alexandria Medium" pitchFamily="2" charset="-78"/>
                <a:cs typeface="Alexandria Medium" pitchFamily="2" charset="-78"/>
              </a:rPr>
              <a:t>است:</a:t>
            </a:r>
          </a:p>
          <a:p>
            <a:pPr algn="r" rtl="1">
              <a:lnSpc>
                <a:spcPct val="150000"/>
              </a:lnSpc>
            </a:pPr>
            <a:r>
              <a:rPr lang="fa-IR">
                <a:latin typeface="Alexandria Medium" pitchFamily="2" charset="-78"/>
                <a:cs typeface="Alexandria Medium" pitchFamily="2" charset="-78"/>
              </a:rPr>
              <a:t> تعداد </a:t>
            </a:r>
            <a:r>
              <a:rPr lang="en-US" b="1">
                <a:solidFill>
                  <a:srgbClr val="105569"/>
                </a:solidFill>
                <a:latin typeface="Alexandria Medium" pitchFamily="2" charset="-78"/>
                <a:cs typeface="Alexandria Medium" pitchFamily="2" charset="-78"/>
              </a:rPr>
              <a:t>KSLOC</a:t>
            </a:r>
            <a:r>
              <a:rPr lang="en-US">
                <a:latin typeface="Alexandria Medium" pitchFamily="2" charset="-78"/>
                <a:cs typeface="Alexandria Medium" pitchFamily="2" charset="-78"/>
              </a:rPr>
              <a:t> </a:t>
            </a:r>
            <a:r>
              <a:rPr lang="fa-IR">
                <a:latin typeface="Alexandria Medium" pitchFamily="2" charset="-78"/>
                <a:cs typeface="Alexandria Medium" pitchFamily="2" charset="-78"/>
              </a:rPr>
              <a:t> باید قبل از استفاده از روش توسط متخصصان تخمین زده شود، و این منبع قابل توجهی از عدم قطعیت است. </a:t>
            </a:r>
            <a:endParaRPr lang="en-US">
              <a:latin typeface="Alexandria Medium" pitchFamily="2" charset="-78"/>
              <a:cs typeface="Alexandria Medium" pitchFamily="2" charset="-78"/>
            </a:endParaRPr>
          </a:p>
        </p:txBody>
      </p:sp>
      <p:sp>
        <p:nvSpPr>
          <p:cNvPr id="10" name="TextBox 9">
            <a:extLst>
              <a:ext uri="{FF2B5EF4-FFF2-40B4-BE49-F238E27FC236}">
                <a16:creationId xmlns:a16="http://schemas.microsoft.com/office/drawing/2014/main" id="{CC9CF227-0FA9-9A45-8ADB-85BDD8188087}"/>
              </a:ext>
            </a:extLst>
          </p:cNvPr>
          <p:cNvSpPr txBox="1"/>
          <p:nvPr/>
        </p:nvSpPr>
        <p:spPr>
          <a:xfrm>
            <a:off x="2448045" y="3227321"/>
            <a:ext cx="6256117" cy="540597"/>
          </a:xfrm>
          <a:prstGeom prst="rect">
            <a:avLst/>
          </a:prstGeom>
          <a:noFill/>
        </p:spPr>
        <p:txBody>
          <a:bodyPr wrap="square">
            <a:spAutoFit/>
          </a:bodyPr>
          <a:lstStyle/>
          <a:p>
            <a:pPr algn="r" rtl="1">
              <a:lnSpc>
                <a:spcPts val="1780"/>
              </a:lnSpc>
            </a:pPr>
            <a:r>
              <a:rPr lang="fa-IR">
                <a:latin typeface="Alexandria Medium" pitchFamily="2" charset="-78"/>
                <a:cs typeface="Alexandria Medium" pitchFamily="2" charset="-78"/>
              </a:rPr>
              <a:t> </a:t>
            </a:r>
            <a:r>
              <a:rPr lang="fa-IR">
                <a:solidFill>
                  <a:srgbClr val="C00000"/>
                </a:solidFill>
                <a:latin typeface="Alexandria Medium" pitchFamily="2" charset="-78"/>
                <a:cs typeface="Alexandria Medium" pitchFamily="2" charset="-78"/>
              </a:rPr>
              <a:t>با این حال، اولین مشکل باقی می ماند: </a:t>
            </a:r>
          </a:p>
          <a:p>
            <a:pPr algn="r" rtl="1">
              <a:lnSpc>
                <a:spcPts val="1780"/>
              </a:lnSpc>
            </a:pPr>
            <a:r>
              <a:rPr lang="fa-IR">
                <a:latin typeface="Alexandria Medium" pitchFamily="2" charset="-78"/>
                <a:cs typeface="Alexandria Medium" pitchFamily="2" charset="-78"/>
              </a:rPr>
              <a:t>آیا سیستم دارای </a:t>
            </a:r>
            <a:r>
              <a:rPr lang="en-US">
                <a:latin typeface="Alexandria Medium" pitchFamily="2" charset="-78"/>
                <a:cs typeface="Alexandria Medium" pitchFamily="2" charset="-78"/>
              </a:rPr>
              <a:t> 20K,30K </a:t>
            </a:r>
            <a:r>
              <a:rPr lang="fa-IR">
                <a:latin typeface="Alexandria Medium" pitchFamily="2" charset="-78"/>
                <a:cs typeface="Alexandria Medium" pitchFamily="2" charset="-78"/>
              </a:rPr>
              <a:t>یا </a:t>
            </a:r>
            <a:r>
              <a:rPr lang="en-US">
                <a:latin typeface="Alexandria Medium" pitchFamily="2" charset="-78"/>
                <a:cs typeface="Alexandria Medium" pitchFamily="2" charset="-78"/>
              </a:rPr>
              <a:t> 70k</a:t>
            </a:r>
            <a:r>
              <a:rPr lang="fa-IR">
                <a:latin typeface="Alexandria Medium" pitchFamily="2" charset="-78"/>
                <a:cs typeface="Alexandria Medium" pitchFamily="2" charset="-78"/>
              </a:rPr>
              <a:t>خط کد خواهد بود؟</a:t>
            </a:r>
            <a:endParaRPr lang="en-US">
              <a:latin typeface="Alexandria Medium" pitchFamily="2" charset="-78"/>
              <a:cs typeface="Alexandria Medium" pitchFamily="2" charset="-78"/>
            </a:endParaRPr>
          </a:p>
        </p:txBody>
      </p:sp>
      <p:sp>
        <p:nvSpPr>
          <p:cNvPr id="12" name="TextBox 11">
            <a:extLst>
              <a:ext uri="{FF2B5EF4-FFF2-40B4-BE49-F238E27FC236}">
                <a16:creationId xmlns:a16="http://schemas.microsoft.com/office/drawing/2014/main" id="{CD7A2445-80A3-0743-BE0C-4D765FFC1AF3}"/>
              </a:ext>
            </a:extLst>
          </p:cNvPr>
          <p:cNvSpPr txBox="1"/>
          <p:nvPr/>
        </p:nvSpPr>
        <p:spPr>
          <a:xfrm>
            <a:off x="1718840" y="2083783"/>
            <a:ext cx="4572000" cy="307777"/>
          </a:xfrm>
          <a:prstGeom prst="rect">
            <a:avLst/>
          </a:prstGeom>
          <a:noFill/>
        </p:spPr>
        <p:txBody>
          <a:bodyPr wrap="square">
            <a:spAutoFit/>
          </a:bodyPr>
          <a:lstStyle/>
          <a:p>
            <a:pPr algn="r" rtl="1"/>
            <a:r>
              <a:rPr lang="en-US" sz="1400">
                <a:solidFill>
                  <a:srgbClr val="2D2D2D"/>
                </a:solidFill>
                <a:effectLst/>
                <a:latin typeface="Alexandria Medium" pitchFamily="2" charset="-78"/>
                <a:cs typeface="Alexandria Medium" pitchFamily="2" charset="-78"/>
              </a:rPr>
              <a:t>kilo source lines of code)</a:t>
            </a:r>
            <a:r>
              <a:rPr lang="fa-IR" sz="1400">
                <a:solidFill>
                  <a:srgbClr val="2D2D2D"/>
                </a:solidFill>
                <a:latin typeface="Alexandria Medium" pitchFamily="2" charset="-78"/>
                <a:cs typeface="Alexandria Medium" pitchFamily="2" charset="-78"/>
              </a:rPr>
              <a:t>)</a:t>
            </a:r>
            <a:r>
              <a:rPr lang="fa-IR" sz="1400">
                <a:solidFill>
                  <a:schemeClr val="tx1">
                    <a:lumMod val="75000"/>
                    <a:lumOff val="25000"/>
                  </a:schemeClr>
                </a:solidFill>
                <a:latin typeface="Alexandria Medium" pitchFamily="2" charset="-78"/>
                <a:cs typeface="Alexandria Medium" pitchFamily="2" charset="-78"/>
              </a:rPr>
              <a:t> </a:t>
            </a:r>
            <a:r>
              <a:rPr lang="en-US" sz="1400">
                <a:solidFill>
                  <a:schemeClr val="tx1">
                    <a:lumMod val="75000"/>
                    <a:lumOff val="25000"/>
                  </a:schemeClr>
                </a:solidFill>
                <a:latin typeface="Alexandria Medium" pitchFamily="2" charset="-78"/>
                <a:cs typeface="Alexandria Medium" pitchFamily="2" charset="-78"/>
              </a:rPr>
              <a:t>KSLOC</a:t>
            </a:r>
            <a:r>
              <a:rPr lang="fa-IR" sz="1400">
                <a:solidFill>
                  <a:schemeClr val="tx1">
                    <a:lumMod val="75000"/>
                    <a:lumOff val="25000"/>
                  </a:schemeClr>
                </a:solidFill>
                <a:latin typeface="Alexandria Medium" pitchFamily="2" charset="-78"/>
                <a:cs typeface="Alexandria Medium" pitchFamily="2" charset="-78"/>
              </a:rPr>
              <a:t> </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fade">
                                      <p:cBhvr>
                                        <p:cTn id="11" dur="500"/>
                                        <p:tgtEl>
                                          <p:spTgt spid="12">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5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2000"/>
                            </p:stCondLst>
                            <p:childTnLst>
                              <p:par>
                                <p:cTn id="17" presetID="10" presetClass="entr" presetSubtype="0" fill="hold" grpId="0" nodeType="afterEffect">
                                  <p:stCondLst>
                                    <p:cond delay="5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2" name="Google Shape;235;p39">
            <a:extLst>
              <a:ext uri="{FF2B5EF4-FFF2-40B4-BE49-F238E27FC236}">
                <a16:creationId xmlns:a16="http://schemas.microsoft.com/office/drawing/2014/main" id="{59C4236A-1F4F-F04E-9C0B-D898AAB342CD}"/>
              </a:ext>
            </a:extLst>
          </p:cNvPr>
          <p:cNvSpPr txBox="1">
            <a:spLocks/>
          </p:cNvSpPr>
          <p:nvPr/>
        </p:nvSpPr>
        <p:spPr>
          <a:xfrm>
            <a:off x="672375" y="2342421"/>
            <a:ext cx="7708800" cy="106252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6000"/>
              <a:buFont typeface="Alexandria Medium"/>
              <a:buNone/>
              <a:defRPr sz="7000" b="0" i="0" u="none" strike="noStrike" cap="none">
                <a:solidFill>
                  <a:schemeClr val="lt2"/>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lt2"/>
              </a:buClr>
              <a:buSzPts val="6000"/>
              <a:buFont typeface="Alexandria Medium"/>
              <a:buNone/>
              <a:defRPr sz="6000" b="0" i="0" u="none" strike="noStrike" cap="none">
                <a:solidFill>
                  <a:schemeClr val="lt2"/>
                </a:solidFill>
                <a:latin typeface="Alexandria Medium"/>
                <a:ea typeface="Alexandria Medium"/>
                <a:cs typeface="Alexandria Medium"/>
                <a:sym typeface="Alexandria Medium"/>
              </a:defRPr>
            </a:lvl9pPr>
          </a:lstStyle>
          <a:p>
            <a:r>
              <a:rPr lang="en" dirty="0"/>
              <a:t>04</a:t>
            </a:r>
          </a:p>
        </p:txBody>
      </p:sp>
      <p:sp>
        <p:nvSpPr>
          <p:cNvPr id="3" name="TextBox 2">
            <a:extLst>
              <a:ext uri="{FF2B5EF4-FFF2-40B4-BE49-F238E27FC236}">
                <a16:creationId xmlns:a16="http://schemas.microsoft.com/office/drawing/2014/main" id="{5C83AF75-523A-8340-ABAB-F224AF2C0DDC}"/>
              </a:ext>
            </a:extLst>
          </p:cNvPr>
          <p:cNvSpPr txBox="1"/>
          <p:nvPr/>
        </p:nvSpPr>
        <p:spPr>
          <a:xfrm>
            <a:off x="672375" y="3179136"/>
            <a:ext cx="4195379" cy="646331"/>
          </a:xfrm>
          <a:prstGeom prst="rect">
            <a:avLst/>
          </a:prstGeom>
          <a:noFill/>
        </p:spPr>
        <p:txBody>
          <a:bodyPr wrap="none" rtlCol="0">
            <a:spAutoFit/>
          </a:bodyPr>
          <a:lstStyle/>
          <a:p>
            <a:r>
              <a:rPr lang="en-US" sz="3600">
                <a:solidFill>
                  <a:schemeClr val="tx1"/>
                </a:solidFill>
                <a:effectLst/>
                <a:latin typeface="Alexandria Medium" pitchFamily="2" charset="-78"/>
                <a:cs typeface="Alexandria Medium" pitchFamily="2" charset="-78"/>
              </a:rPr>
              <a:t>User story points </a:t>
            </a:r>
          </a:p>
        </p:txBody>
      </p:sp>
      <p:cxnSp>
        <p:nvCxnSpPr>
          <p:cNvPr id="9" name="Google Shape;237;p39">
            <a:hlinkClick r:id="" action="ppaction://hlinkshowjump?jump=nextslide"/>
            <a:extLst>
              <a:ext uri="{FF2B5EF4-FFF2-40B4-BE49-F238E27FC236}">
                <a16:creationId xmlns:a16="http://schemas.microsoft.com/office/drawing/2014/main" id="{96729A20-E053-0344-9D07-1CD672C00E9B}"/>
              </a:ext>
            </a:extLst>
          </p:cNvPr>
          <p:cNvCxnSpPr>
            <a:cxnSpLocks/>
          </p:cNvCxnSpPr>
          <p:nvPr/>
        </p:nvCxnSpPr>
        <p:spPr>
          <a:xfrm flipV="1">
            <a:off x="4433104" y="-729204"/>
            <a:ext cx="0" cy="501906"/>
          </a:xfrm>
          <a:prstGeom prst="straightConnector1">
            <a:avLst/>
          </a:prstGeom>
          <a:noFill/>
          <a:ln w="9525" cap="flat" cmpd="sng">
            <a:solidFill>
              <a:schemeClr val="dk1"/>
            </a:solidFill>
            <a:prstDash val="solid"/>
            <a:round/>
            <a:headEnd type="none" w="med" len="med"/>
            <a:tailEnd type="triangle" w="med" len="med"/>
          </a:ln>
        </p:spPr>
      </p:cxnSp>
      <p:cxnSp>
        <p:nvCxnSpPr>
          <p:cNvPr id="11" name="Straight Arrow Connector 10">
            <a:extLst>
              <a:ext uri="{FF2B5EF4-FFF2-40B4-BE49-F238E27FC236}">
                <a16:creationId xmlns:a16="http://schemas.microsoft.com/office/drawing/2014/main" id="{FA6BC025-4B08-D248-8A2E-4B1EEAC8E1CA}"/>
              </a:ext>
            </a:extLst>
          </p:cNvPr>
          <p:cNvCxnSpPr/>
          <p:nvPr/>
        </p:nvCxnSpPr>
        <p:spPr>
          <a:xfrm>
            <a:off x="810228" y="3825467"/>
            <a:ext cx="7523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4" name="TextBox 3">
            <a:extLst>
              <a:ext uri="{FF2B5EF4-FFF2-40B4-BE49-F238E27FC236}">
                <a16:creationId xmlns:a16="http://schemas.microsoft.com/office/drawing/2014/main" id="{B585A27D-3788-414A-BCD9-CEFA21C70D8A}"/>
              </a:ext>
            </a:extLst>
          </p:cNvPr>
          <p:cNvSpPr txBox="1"/>
          <p:nvPr/>
        </p:nvSpPr>
        <p:spPr>
          <a:xfrm>
            <a:off x="416689" y="1504454"/>
            <a:ext cx="8472670" cy="1415837"/>
          </a:xfrm>
          <a:prstGeom prst="rect">
            <a:avLst/>
          </a:prstGeom>
          <a:noFill/>
        </p:spPr>
        <p:txBody>
          <a:bodyPr wrap="square" rtlCol="0">
            <a:spAutoFit/>
          </a:bodyPr>
          <a:lstStyle/>
          <a:p>
            <a:pPr algn="r" rtl="1">
              <a:lnSpc>
                <a:spcPts val="2080"/>
              </a:lnSpc>
            </a:pPr>
            <a:r>
              <a:rPr lang="fa-IR">
                <a:effectLst/>
                <a:latin typeface="Alexandria Medium" pitchFamily="2" charset="-78"/>
                <a:cs typeface="Alexandria Medium" pitchFamily="2" charset="-78"/>
              </a:rPr>
              <a:t>با این حال، </a:t>
            </a:r>
            <a:r>
              <a:rPr lang="en-US">
                <a:latin typeface="Alexandria Medium" pitchFamily="2" charset="-78"/>
                <a:cs typeface="Alexandria Medium" pitchFamily="2" charset="-78"/>
              </a:rPr>
              <a:t>UseCase</a:t>
            </a:r>
            <a:r>
              <a:rPr lang="fa-IR">
                <a:latin typeface="Alexandria Medium" pitchFamily="2" charset="-78"/>
                <a:cs typeface="Alexandria Medium" pitchFamily="2" charset="-78"/>
              </a:rPr>
              <a:t>ها </a:t>
            </a:r>
            <a:r>
              <a:rPr lang="fa-IR">
                <a:effectLst/>
                <a:latin typeface="Alexandria Medium" pitchFamily="2" charset="-78"/>
                <a:cs typeface="Alexandria Medium" pitchFamily="2" charset="-78"/>
              </a:rPr>
              <a:t>بیشتر </a:t>
            </a:r>
            <a:r>
              <a:rPr lang="fa-IR">
                <a:solidFill>
                  <a:srgbClr val="105569"/>
                </a:solidFill>
                <a:effectLst/>
                <a:latin typeface="Alexandria Medium" pitchFamily="2" charset="-78"/>
                <a:cs typeface="Alexandria Medium" pitchFamily="2" charset="-78"/>
              </a:rPr>
              <a:t>ساختار یافته </a:t>
            </a:r>
            <a:r>
              <a:rPr lang="fa-IR">
                <a:effectLst/>
                <a:latin typeface="Alexandria Medium" pitchFamily="2" charset="-78"/>
                <a:cs typeface="Alexandria Medium" pitchFamily="2" charset="-78"/>
              </a:rPr>
              <a:t>و </a:t>
            </a:r>
            <a:r>
              <a:rPr lang="fa-IR">
                <a:solidFill>
                  <a:srgbClr val="105569"/>
                </a:solidFill>
                <a:effectLst/>
                <a:latin typeface="Alexandria Medium" pitchFamily="2" charset="-78"/>
                <a:cs typeface="Alexandria Medium" pitchFamily="2" charset="-78"/>
              </a:rPr>
              <a:t>رسمی</a:t>
            </a:r>
            <a:r>
              <a:rPr lang="fa-IR">
                <a:effectLst/>
                <a:latin typeface="Alexandria Medium" pitchFamily="2" charset="-78"/>
                <a:cs typeface="Alexandria Medium" pitchFamily="2" charset="-78"/>
              </a:rPr>
              <a:t> هستند. آنها توسط تیمی از تحلیلگران تولید می شوند.</a:t>
            </a:r>
          </a:p>
          <a:p>
            <a:pPr algn="r" rtl="1">
              <a:lnSpc>
                <a:spcPts val="2080"/>
              </a:lnSpc>
            </a:pPr>
            <a:r>
              <a:rPr lang="fa-IR">
                <a:effectLst/>
                <a:latin typeface="Alexandria Medium" pitchFamily="2" charset="-78"/>
                <a:cs typeface="Alexandria Medium" pitchFamily="2" charset="-78"/>
              </a:rPr>
              <a:t> از طرف دیگر  </a:t>
            </a:r>
            <a:r>
              <a:rPr lang="en-US">
                <a:solidFill>
                  <a:srgbClr val="105569"/>
                </a:solidFill>
                <a:latin typeface="Alexandria Medium" pitchFamily="2" charset="-78"/>
                <a:cs typeface="Alexandria Medium" pitchFamily="2" charset="-78"/>
              </a:rPr>
              <a:t>UserStory</a:t>
            </a:r>
            <a:r>
              <a:rPr lang="fa-IR">
                <a:effectLst/>
                <a:latin typeface="Alexandria Medium" pitchFamily="2" charset="-78"/>
                <a:cs typeface="Alexandria Medium" pitchFamily="2" charset="-78"/>
              </a:rPr>
              <a:t> باید توسط خود کاربران نوشته شود. آنها باید سناریویی را نشان دهند که کاربران</a:t>
            </a:r>
            <a:r>
              <a:rPr lang="en-US">
                <a:effectLst/>
                <a:latin typeface="Alexandria Medium" pitchFamily="2" charset="-78"/>
                <a:cs typeface="Alexandria Medium" pitchFamily="2" charset="-78"/>
              </a:rPr>
              <a:t> </a:t>
            </a:r>
            <a:r>
              <a:rPr lang="fa-IR">
                <a:effectLst/>
                <a:latin typeface="Alexandria Medium" pitchFamily="2" charset="-78"/>
                <a:cs typeface="Alexandria Medium" pitchFamily="2" charset="-78"/>
              </a:rPr>
              <a:t>خود با استفاده از سیستمی که قرار است تولید شود می بینند</a:t>
            </a:r>
            <a:r>
              <a:rPr lang="en-US">
                <a:effectLst/>
                <a:latin typeface="Alexandria Medium" pitchFamily="2" charset="-78"/>
                <a:cs typeface="Alexandria Medium" pitchFamily="2" charset="-78"/>
              </a:rPr>
              <a:t>.</a:t>
            </a:r>
            <a:endParaRPr lang="fa-IR">
              <a:effectLst/>
              <a:latin typeface="Alexandria Medium" pitchFamily="2" charset="-78"/>
              <a:cs typeface="Alexandria Medium" pitchFamily="2" charset="-78"/>
            </a:endParaRPr>
          </a:p>
          <a:p>
            <a:pPr algn="r" rtl="1">
              <a:lnSpc>
                <a:spcPts val="2080"/>
              </a:lnSpc>
            </a:pPr>
            <a:r>
              <a:rPr lang="fa-IR">
                <a:effectLst/>
                <a:latin typeface="Alexandria Medium" pitchFamily="2" charset="-78"/>
                <a:cs typeface="Alexandria Medium" pitchFamily="2" charset="-78"/>
              </a:rPr>
              <a:t>ایده پشت این کار این است که کاربران ابتدا نیازهایی را که برایشان مهم است ارائه دهند</a:t>
            </a:r>
            <a:r>
              <a:rPr lang="en-US">
                <a:effectLst/>
                <a:latin typeface="Alexandria Medium" pitchFamily="2" charset="-78"/>
                <a:cs typeface="Alexandria Medium" pitchFamily="2" charset="-78"/>
              </a:rPr>
              <a:t> </a:t>
            </a:r>
            <a:r>
              <a:rPr lang="fa-IR">
                <a:effectLst/>
                <a:latin typeface="Alexandria Medium" pitchFamily="2" charset="-78"/>
                <a:cs typeface="Alexandria Medium" pitchFamily="2" charset="-78"/>
              </a:rPr>
              <a:t>تا جزئیات بعداً یادآوری شود.</a:t>
            </a:r>
            <a:endParaRPr lang="en-US">
              <a:effectLst/>
              <a:latin typeface="Alexandria Medium" pitchFamily="2" charset="-78"/>
              <a:cs typeface="Alexandria Medium" pitchFamily="2" charset="-78"/>
            </a:endParaRPr>
          </a:p>
        </p:txBody>
      </p:sp>
      <p:sp>
        <p:nvSpPr>
          <p:cNvPr id="6" name="TextBox 5">
            <a:extLst>
              <a:ext uri="{FF2B5EF4-FFF2-40B4-BE49-F238E27FC236}">
                <a16:creationId xmlns:a16="http://schemas.microsoft.com/office/drawing/2014/main" id="{379F781C-9653-6D44-9247-751CD563E1AC}"/>
              </a:ext>
            </a:extLst>
          </p:cNvPr>
          <p:cNvSpPr txBox="1"/>
          <p:nvPr/>
        </p:nvSpPr>
        <p:spPr>
          <a:xfrm>
            <a:off x="370389" y="398061"/>
            <a:ext cx="8472671" cy="318677"/>
          </a:xfrm>
          <a:prstGeom prst="rect">
            <a:avLst/>
          </a:prstGeom>
          <a:noFill/>
        </p:spPr>
        <p:txBody>
          <a:bodyPr wrap="square">
            <a:spAutoFit/>
          </a:bodyPr>
          <a:lstStyle/>
          <a:p>
            <a:pPr marR="0" algn="r" rtl="1">
              <a:lnSpc>
                <a:spcPts val="1880"/>
              </a:lnSpc>
              <a:spcBef>
                <a:spcPts val="0"/>
              </a:spcBef>
              <a:spcAft>
                <a:spcPts val="0"/>
              </a:spcAft>
              <a:buClr>
                <a:srgbClr val="000000"/>
              </a:buClr>
              <a:buFont typeface="Arial"/>
            </a:pPr>
            <a:r>
              <a:rPr lang="fa-IR" b="1">
                <a:effectLst/>
                <a:latin typeface="Alexandria Medium" pitchFamily="2" charset="-78"/>
                <a:cs typeface="Alexandria Medium" pitchFamily="2" charset="-78"/>
              </a:rPr>
              <a:t>جامعه </a:t>
            </a:r>
            <a:r>
              <a:rPr lang="fa-IR" b="1">
                <a:latin typeface="Alexandria Medium" pitchFamily="2" charset="-78"/>
                <a:cs typeface="Alexandria Medium" pitchFamily="2" charset="-78"/>
              </a:rPr>
              <a:t>تولید </a:t>
            </a:r>
            <a:r>
              <a:rPr lang="fa-IR" b="1">
                <a:effectLst/>
                <a:latin typeface="Alexandria Medium" pitchFamily="2" charset="-78"/>
                <a:cs typeface="Alexandria Medium" pitchFamily="2" charset="-78"/>
              </a:rPr>
              <a:t>چابک (اجایل) معمولاً یک استراتژی تخمینی را اتخاذ می کند که بر اساس </a:t>
            </a:r>
            <a:r>
              <a:rPr lang="en-US" b="1">
                <a:effectLst/>
                <a:latin typeface="Alexandria Medium" pitchFamily="2" charset="-78"/>
                <a:cs typeface="Alexandria Medium" pitchFamily="2" charset="-78"/>
              </a:rPr>
              <a:t> </a:t>
            </a:r>
            <a:r>
              <a:rPr lang="en-US" b="1">
                <a:latin typeface="Alexandria Medium" pitchFamily="2" charset="-78"/>
                <a:cs typeface="Alexandria Medium" pitchFamily="2" charset="-78"/>
              </a:rPr>
              <a:t>Story Points </a:t>
            </a:r>
            <a:r>
              <a:rPr lang="fa-IR" b="1">
                <a:effectLst/>
                <a:latin typeface="Alexandria Medium" pitchFamily="2" charset="-78"/>
                <a:cs typeface="Alexandria Medium" pitchFamily="2" charset="-78"/>
              </a:rPr>
              <a:t>است. </a:t>
            </a:r>
            <a:endParaRPr lang="en-US" b="1"/>
          </a:p>
        </p:txBody>
      </p:sp>
      <p:sp>
        <p:nvSpPr>
          <p:cNvPr id="8" name="TextBox 7">
            <a:extLst>
              <a:ext uri="{FF2B5EF4-FFF2-40B4-BE49-F238E27FC236}">
                <a16:creationId xmlns:a16="http://schemas.microsoft.com/office/drawing/2014/main" id="{329F4DDC-A34D-7B4B-8A6F-9EB8934A6374}"/>
              </a:ext>
            </a:extLst>
          </p:cNvPr>
          <p:cNvSpPr txBox="1"/>
          <p:nvPr/>
        </p:nvSpPr>
        <p:spPr>
          <a:xfrm>
            <a:off x="937550" y="863801"/>
            <a:ext cx="7905510" cy="563039"/>
          </a:xfrm>
          <a:prstGeom prst="rect">
            <a:avLst/>
          </a:prstGeom>
          <a:noFill/>
        </p:spPr>
        <p:txBody>
          <a:bodyPr wrap="square">
            <a:spAutoFit/>
          </a:bodyPr>
          <a:lstStyle/>
          <a:p>
            <a:pPr algn="r" rtl="1">
              <a:lnSpc>
                <a:spcPts val="1880"/>
              </a:lnSpc>
            </a:pPr>
            <a:r>
              <a:rPr lang="fa-IR">
                <a:solidFill>
                  <a:srgbClr val="105569"/>
                </a:solidFill>
                <a:effectLst/>
                <a:latin typeface="Alexandria Medium" pitchFamily="2" charset="-78"/>
                <a:cs typeface="Alexandria Medium" pitchFamily="2" charset="-78"/>
              </a:rPr>
              <a:t>همانطور که قبلاً بحث کردیم، </a:t>
            </a:r>
            <a:r>
              <a:rPr lang="en-US">
                <a:solidFill>
                  <a:srgbClr val="105569"/>
                </a:solidFill>
                <a:effectLst/>
                <a:latin typeface="Alexandria Medium" pitchFamily="2" charset="-78"/>
                <a:cs typeface="Alexandria Medium" pitchFamily="2" charset="-78"/>
              </a:rPr>
              <a:t>UserStory</a:t>
            </a:r>
            <a:r>
              <a:rPr lang="fa-IR">
                <a:solidFill>
                  <a:srgbClr val="105569"/>
                </a:solidFill>
                <a:effectLst/>
                <a:latin typeface="Alexandria Medium" pitchFamily="2" charset="-78"/>
                <a:cs typeface="Alexandria Medium" pitchFamily="2" charset="-78"/>
              </a:rPr>
              <a:t>یک سناریوی استفاده از یک سیستم است و تا حدودی شبیه یک </a:t>
            </a:r>
            <a:r>
              <a:rPr lang="en-US">
                <a:solidFill>
                  <a:srgbClr val="105569"/>
                </a:solidFill>
                <a:effectLst/>
                <a:latin typeface="Alexandria Medium" pitchFamily="2" charset="-78"/>
                <a:cs typeface="Alexandria Medium" pitchFamily="2" charset="-78"/>
              </a:rPr>
              <a:t> UseCase</a:t>
            </a:r>
            <a:r>
              <a:rPr lang="fa-IR">
                <a:solidFill>
                  <a:srgbClr val="105569"/>
                </a:solidFill>
                <a:effectLst/>
                <a:latin typeface="Alexandria Medium" pitchFamily="2" charset="-78"/>
                <a:cs typeface="Alexandria Medium" pitchFamily="2" charset="-78"/>
              </a:rPr>
              <a:t>است. </a:t>
            </a:r>
            <a:endParaRPr lang="en-US">
              <a:solidFill>
                <a:srgbClr val="105569"/>
              </a:solidFill>
              <a:effectLst/>
              <a:latin typeface="Alexandria Medium" pitchFamily="2" charset="-78"/>
              <a:cs typeface="Alexandria Medium" pitchFamily="2" charset="-78"/>
            </a:endParaRPr>
          </a:p>
        </p:txBody>
      </p:sp>
      <p:sp>
        <p:nvSpPr>
          <p:cNvPr id="9" name="TextBox 8">
            <a:extLst>
              <a:ext uri="{FF2B5EF4-FFF2-40B4-BE49-F238E27FC236}">
                <a16:creationId xmlns:a16="http://schemas.microsoft.com/office/drawing/2014/main" id="{96804D1A-0632-394C-B537-5ECCB05CF8DB}"/>
              </a:ext>
            </a:extLst>
          </p:cNvPr>
          <p:cNvSpPr txBox="1"/>
          <p:nvPr/>
        </p:nvSpPr>
        <p:spPr>
          <a:xfrm>
            <a:off x="416689" y="3036043"/>
            <a:ext cx="8472671" cy="1354923"/>
          </a:xfrm>
          <a:prstGeom prst="rect">
            <a:avLst/>
          </a:prstGeom>
          <a:noFill/>
        </p:spPr>
        <p:txBody>
          <a:bodyPr wrap="square" rtlCol="0">
            <a:spAutoFit/>
          </a:bodyPr>
          <a:lstStyle/>
          <a:p>
            <a:pPr algn="r" rtl="1">
              <a:lnSpc>
                <a:spcPts val="1980"/>
              </a:lnSpc>
            </a:pPr>
            <a:r>
              <a:rPr lang="fa-IR">
                <a:latin typeface="Alexandria Medium" pitchFamily="2" charset="-78"/>
                <a:cs typeface="Alexandria Medium" pitchFamily="2" charset="-78"/>
              </a:rPr>
              <a:t>یک </a:t>
            </a:r>
            <a:r>
              <a:rPr lang="en-US">
                <a:latin typeface="Alexandria Medium" pitchFamily="2" charset="-78"/>
                <a:cs typeface="Alexandria Medium" pitchFamily="2" charset="-78"/>
              </a:rPr>
              <a:t> </a:t>
            </a:r>
            <a:r>
              <a:rPr lang="en-US">
                <a:solidFill>
                  <a:srgbClr val="105569"/>
                </a:solidFill>
                <a:latin typeface="Alexandria Medium" pitchFamily="2" charset="-78"/>
                <a:cs typeface="Alexandria Medium" pitchFamily="2" charset="-78"/>
              </a:rPr>
              <a:t>UserStory</a:t>
            </a:r>
            <a:r>
              <a:rPr lang="fa-IR">
                <a:latin typeface="Alexandria Medium" pitchFamily="2" charset="-78"/>
                <a:cs typeface="Alexandria Medium" pitchFamily="2" charset="-78"/>
              </a:rPr>
              <a:t>یک روز کاری ایده آل است (6 تا 8 ساعت متمرکز و اختصاص داده شده به یک پروژه).</a:t>
            </a:r>
          </a:p>
          <a:p>
            <a:pPr algn="r" rtl="1">
              <a:lnSpc>
                <a:spcPts val="1980"/>
              </a:lnSpc>
            </a:pPr>
            <a:r>
              <a:rPr lang="fa-IR">
                <a:latin typeface="Alexandria Medium" pitchFamily="2" charset="-78"/>
                <a:cs typeface="Alexandria Medium" pitchFamily="2" charset="-78"/>
              </a:rPr>
              <a:t>سپس تلاش تخمینی برای هر </a:t>
            </a:r>
            <a:r>
              <a:rPr lang="en-US">
                <a:latin typeface="Alexandria Medium" pitchFamily="2" charset="-78"/>
                <a:cs typeface="Alexandria Medium" pitchFamily="2" charset="-78"/>
              </a:rPr>
              <a:t> </a:t>
            </a:r>
            <a:r>
              <a:rPr lang="en-US">
                <a:solidFill>
                  <a:srgbClr val="105569"/>
                </a:solidFill>
                <a:latin typeface="Alexandria Medium" pitchFamily="2" charset="-78"/>
                <a:cs typeface="Alexandria Medium" pitchFamily="2" charset="-78"/>
              </a:rPr>
              <a:t>UserStory </a:t>
            </a:r>
            <a:r>
              <a:rPr lang="fa-IR">
                <a:latin typeface="Alexandria Medium" pitchFamily="2" charset="-78"/>
                <a:cs typeface="Alexandria Medium" pitchFamily="2" charset="-78"/>
              </a:rPr>
              <a:t>یا مورد استفاده از نظر </a:t>
            </a:r>
            <a:r>
              <a:rPr lang="en-US">
                <a:latin typeface="Alexandria Medium" pitchFamily="2" charset="-78"/>
                <a:cs typeface="Alexandria Medium" pitchFamily="2" charset="-78"/>
              </a:rPr>
              <a:t> </a:t>
            </a:r>
            <a:r>
              <a:rPr lang="en-US">
                <a:solidFill>
                  <a:srgbClr val="105569"/>
                </a:solidFill>
                <a:latin typeface="Alexandria Medium" pitchFamily="2" charset="-78"/>
                <a:cs typeface="Alexandria Medium" pitchFamily="2" charset="-78"/>
              </a:rPr>
              <a:t>StoryPoints</a:t>
            </a:r>
            <a:r>
              <a:rPr lang="fa-IR">
                <a:latin typeface="Alexandria Medium" pitchFamily="2" charset="-78"/>
                <a:cs typeface="Alexandria Medium" pitchFamily="2" charset="-78"/>
              </a:rPr>
              <a:t>محاسبه می شود. </a:t>
            </a:r>
            <a:endParaRPr lang="en-US">
              <a:latin typeface="Alexandria Medium" pitchFamily="2" charset="-78"/>
              <a:cs typeface="Alexandria Medium" pitchFamily="2" charset="-78"/>
            </a:endParaRPr>
          </a:p>
          <a:p>
            <a:pPr algn="r" rtl="1">
              <a:lnSpc>
                <a:spcPts val="1980"/>
              </a:lnSpc>
            </a:pPr>
            <a:r>
              <a:rPr lang="fa-IR">
                <a:latin typeface="Alexandria Medium" pitchFamily="2" charset="-78"/>
                <a:cs typeface="Alexandria Medium" pitchFamily="2" charset="-78"/>
              </a:rPr>
              <a:t>سوالی که تیم باید به آن پاسخ دهد این است: «چند روز ایده‌آل افراد برای توسعه یک داستان کاربر معین طول می‌کشند؟» اگر پاسخ </a:t>
            </a:r>
            <a:r>
              <a:rPr lang="en-US">
                <a:latin typeface="Alexandria Medium" pitchFamily="2" charset="-78"/>
                <a:cs typeface="Alexandria Medium" pitchFamily="2" charset="-78"/>
              </a:rPr>
              <a:t> </a:t>
            </a:r>
            <a:r>
              <a:rPr lang="en-US">
                <a:solidFill>
                  <a:srgbClr val="105569"/>
                </a:solidFill>
                <a:latin typeface="Alexandria Medium" pitchFamily="2" charset="-78"/>
                <a:cs typeface="Alexandria Medium" pitchFamily="2" charset="-78"/>
              </a:rPr>
              <a:t>x</a:t>
            </a:r>
            <a:r>
              <a:rPr lang="en-US">
                <a:latin typeface="Alexandria Medium" pitchFamily="2" charset="-78"/>
                <a:cs typeface="Alexandria Medium" pitchFamily="2" charset="-78"/>
              </a:rPr>
              <a:t> </a:t>
            </a:r>
            <a:r>
              <a:rPr lang="fa-IR">
                <a:latin typeface="Alexandria Medium" pitchFamily="2" charset="-78"/>
                <a:cs typeface="Alexandria Medium" pitchFamily="2" charset="-78"/>
              </a:rPr>
              <a:t>نفر باشد </a:t>
            </a:r>
            <a:r>
              <a:rPr lang="en-US">
                <a:latin typeface="Alexandria Medium" pitchFamily="2" charset="-78"/>
                <a:cs typeface="Alexandria Medium" pitchFamily="2" charset="-78"/>
              </a:rPr>
              <a:t> </a:t>
            </a:r>
            <a:r>
              <a:rPr lang="en-US">
                <a:solidFill>
                  <a:srgbClr val="105569"/>
                </a:solidFill>
                <a:latin typeface="Alexandria Medium" pitchFamily="2" charset="-78"/>
                <a:cs typeface="Alexandria Medium" pitchFamily="2" charset="-78"/>
              </a:rPr>
              <a:t>y</a:t>
            </a:r>
            <a:r>
              <a:rPr lang="fa-IR">
                <a:latin typeface="Alexandria Medium" pitchFamily="2" charset="-78"/>
                <a:cs typeface="Alexandria Medium" pitchFamily="2" charset="-78"/>
              </a:rPr>
              <a:t>روز طول می کشد، تعداد نقاط داستان </a:t>
            </a:r>
            <a:r>
              <a:rPr lang="en-US">
                <a:latin typeface="Alexandria Medium" pitchFamily="2" charset="-78"/>
                <a:cs typeface="Alexandria Medium" pitchFamily="2" charset="-78"/>
              </a:rPr>
              <a:t> </a:t>
            </a:r>
            <a:r>
              <a:rPr lang="en-US">
                <a:solidFill>
                  <a:srgbClr val="105569"/>
                </a:solidFill>
                <a:latin typeface="Alexandria Medium" pitchFamily="2" charset="-78"/>
                <a:cs typeface="Alexandria Medium" pitchFamily="2" charset="-78"/>
              </a:rPr>
              <a:t>x</a:t>
            </a:r>
            <a:r>
              <a:rPr lang="en-US">
                <a:solidFill>
                  <a:schemeClr val="tx1"/>
                </a:solidFill>
                <a:latin typeface="Alexandria Medium" pitchFamily="2" charset="-78"/>
                <a:cs typeface="Alexandria Medium" pitchFamily="2" charset="-78"/>
              </a:rPr>
              <a:t> × </a:t>
            </a:r>
            <a:r>
              <a:rPr lang="en-US">
                <a:solidFill>
                  <a:srgbClr val="105569"/>
                </a:solidFill>
                <a:latin typeface="Alexandria Medium" pitchFamily="2" charset="-78"/>
                <a:cs typeface="Alexandria Medium" pitchFamily="2" charset="-78"/>
              </a:rPr>
              <a:t>y </a:t>
            </a:r>
            <a:r>
              <a:rPr lang="fa-IR">
                <a:latin typeface="Alexandria Medium" pitchFamily="2" charset="-78"/>
                <a:cs typeface="Alexandria Medium" pitchFamily="2" charset="-78"/>
              </a:rPr>
              <a:t>است.</a:t>
            </a:r>
            <a:endParaRPr lang="en-US">
              <a:latin typeface="Alexandria Medium" pitchFamily="2" charset="-78"/>
              <a:cs typeface="Alexandria Medium" pitchFamily="2" charset="-78"/>
            </a:endParaRPr>
          </a:p>
          <a:p>
            <a:pPr algn="r" rtl="1">
              <a:lnSpc>
                <a:spcPts val="1980"/>
              </a:lnSpc>
            </a:pPr>
            <a:r>
              <a:rPr lang="fa-IR">
                <a:latin typeface="Alexandria Medium" pitchFamily="2" charset="-78"/>
                <a:cs typeface="Alexandria Medium" pitchFamily="2" charset="-78"/>
              </a:rPr>
              <a:t> تخصیص </a:t>
            </a:r>
            <a:r>
              <a:rPr lang="en-US">
                <a:latin typeface="Alexandria Medium" pitchFamily="2" charset="-78"/>
                <a:cs typeface="Alexandria Medium" pitchFamily="2" charset="-78"/>
              </a:rPr>
              <a:t> </a:t>
            </a:r>
            <a:r>
              <a:rPr lang="en-US">
                <a:solidFill>
                  <a:srgbClr val="105569"/>
                </a:solidFill>
                <a:latin typeface="Alexandria Medium" pitchFamily="2" charset="-78"/>
                <a:cs typeface="Alexandria Medium" pitchFamily="2" charset="-78"/>
              </a:rPr>
              <a:t>StoryPoints</a:t>
            </a:r>
            <a:r>
              <a:rPr lang="fa-IR">
                <a:latin typeface="Alexandria Medium" pitchFamily="2" charset="-78"/>
                <a:cs typeface="Alexandria Medium" pitchFamily="2" charset="-78"/>
              </a:rPr>
              <a:t>ذهنی است و به همین دلیل است که یک </a:t>
            </a:r>
            <a:r>
              <a:rPr lang="fa-IR">
                <a:solidFill>
                  <a:srgbClr val="C00000"/>
                </a:solidFill>
                <a:latin typeface="Alexandria Medium" pitchFamily="2" charset="-78"/>
                <a:cs typeface="Alexandria Medium" pitchFamily="2" charset="-78"/>
              </a:rPr>
              <a:t>تکنیک ناپارامتریک </a:t>
            </a:r>
            <a:r>
              <a:rPr lang="fa-IR">
                <a:latin typeface="Alexandria Medium" pitchFamily="2" charset="-78"/>
                <a:cs typeface="Alexandria Medium" pitchFamily="2" charset="-78"/>
              </a:rPr>
              <a:t>در نظر گرفته می شود.</a:t>
            </a:r>
            <a:endParaRPr lang="en-US">
              <a:latin typeface="Alexandria Medium" pitchFamily="2" charset="-78"/>
              <a:cs typeface="Alexandria Medium" pitchFamily="2" charset="-78"/>
            </a:endParaRPr>
          </a:p>
        </p:txBody>
      </p:sp>
      <p:cxnSp>
        <p:nvCxnSpPr>
          <p:cNvPr id="10" name="Straight Arrow Connector 9">
            <a:extLst>
              <a:ext uri="{FF2B5EF4-FFF2-40B4-BE49-F238E27FC236}">
                <a16:creationId xmlns:a16="http://schemas.microsoft.com/office/drawing/2014/main" id="{2AA7A16A-11E1-614F-AEB9-6252C6A35336}"/>
              </a:ext>
            </a:extLst>
          </p:cNvPr>
          <p:cNvCxnSpPr>
            <a:cxnSpLocks/>
          </p:cNvCxnSpPr>
          <p:nvPr/>
        </p:nvCxnSpPr>
        <p:spPr>
          <a:xfrm>
            <a:off x="370389" y="4390966"/>
            <a:ext cx="0" cy="503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2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3500"/>
                            </p:stCondLst>
                            <p:childTnLst>
                              <p:par>
                                <p:cTn id="13" presetID="10" presetClass="entr" presetSubtype="0" fill="hold" grpId="0" nodeType="afterEffect">
                                  <p:stCondLst>
                                    <p:cond delay="45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8500"/>
                            </p:stCondLst>
                            <p:childTnLst>
                              <p:par>
                                <p:cTn id="17" presetID="10" presetClass="entr" presetSubtype="0" fill="hold" grpId="0" nodeType="afterEffect">
                                  <p:stCondLst>
                                    <p:cond delay="95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2"/>
          <p:cNvSpPr txBox="1">
            <a:spLocks noGrp="1"/>
          </p:cNvSpPr>
          <p:nvPr>
            <p:ph type="title"/>
          </p:nvPr>
        </p:nvSpPr>
        <p:spPr>
          <a:xfrm>
            <a:off x="715050" y="82799"/>
            <a:ext cx="7713900" cy="548700"/>
          </a:xfrm>
          <a:prstGeom prst="rect">
            <a:avLst/>
          </a:prstGeom>
          <a:ln>
            <a:noFill/>
          </a:ln>
        </p:spPr>
        <p:txBody>
          <a:bodyPr spcFirstLastPara="1" wrap="square" lIns="91425" tIns="91425" rIns="91425" bIns="91425" anchor="t" anchorCtr="0">
            <a:noAutofit/>
          </a:bodyPr>
          <a:lstStyle/>
          <a:p>
            <a:pPr algn="ctr" rtl="1"/>
            <a:r>
              <a:rPr lang="en-US" sz="2400">
                <a:solidFill>
                  <a:srgbClr val="2B5B6B"/>
                </a:solidFill>
                <a:effectLst/>
                <a:latin typeface="Alexandria Medium" pitchFamily="2" charset="-78"/>
                <a:cs typeface="Alexandria Medium" pitchFamily="2" charset="-78"/>
              </a:rPr>
              <a:t> </a:t>
            </a:r>
            <a:r>
              <a:rPr lang="fa-IR" sz="2400">
                <a:solidFill>
                  <a:srgbClr val="2B5B6B"/>
                </a:solidFill>
                <a:effectLst/>
                <a:latin typeface="Alexandria Medium" pitchFamily="2" charset="-78"/>
                <a:cs typeface="Alexandria Medium" pitchFamily="2" charset="-78"/>
              </a:rPr>
              <a:t>دو روش برای تخمین </a:t>
            </a:r>
            <a:r>
              <a:rPr lang="en-US" sz="2400">
                <a:solidFill>
                  <a:srgbClr val="2B5B6B"/>
                </a:solidFill>
                <a:latin typeface="Alexandria Medium" pitchFamily="2" charset="-78"/>
                <a:cs typeface="Alexandria Medium" pitchFamily="2" charset="-78"/>
              </a:rPr>
              <a:t>StoryPoint</a:t>
            </a:r>
            <a:endParaRPr lang="en-US" sz="3200">
              <a:effectLst/>
              <a:latin typeface="Alexandria Medium" pitchFamily="2" charset="-78"/>
              <a:cs typeface="Alexandria Medium" pitchFamily="2" charset="-78"/>
            </a:endParaRPr>
          </a:p>
        </p:txBody>
      </p:sp>
      <p:sp>
        <p:nvSpPr>
          <p:cNvPr id="534" name="Google Shape;534;p62"/>
          <p:cNvSpPr txBox="1"/>
          <p:nvPr/>
        </p:nvSpPr>
        <p:spPr>
          <a:xfrm>
            <a:off x="715125" y="2082800"/>
            <a:ext cx="3740700" cy="367192"/>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a:solidFill>
                  <a:srgbClr val="7F0000"/>
                </a:solidFill>
                <a:effectLst/>
                <a:latin typeface="Alexandria Medium" pitchFamily="2" charset="-78"/>
                <a:cs typeface="Alexandria Medium" pitchFamily="2" charset="-78"/>
              </a:rPr>
              <a:t>Selecting from the whole set of stories </a:t>
            </a:r>
            <a:endParaRPr lang="en-US" sz="1800">
              <a:effectLst/>
              <a:latin typeface="Alexandria Medium" pitchFamily="2" charset="-78"/>
              <a:cs typeface="Alexandria Medium" pitchFamily="2" charset="-78"/>
            </a:endParaRPr>
          </a:p>
        </p:txBody>
      </p:sp>
      <p:sp>
        <p:nvSpPr>
          <p:cNvPr id="535" name="Google Shape;535;p62"/>
          <p:cNvSpPr txBox="1"/>
          <p:nvPr/>
        </p:nvSpPr>
        <p:spPr>
          <a:xfrm>
            <a:off x="4688326" y="2098364"/>
            <a:ext cx="3740700" cy="337442"/>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a:solidFill>
                  <a:srgbClr val="7F0000"/>
                </a:solidFill>
                <a:effectLst/>
                <a:latin typeface="Alexandria Medium" pitchFamily="2" charset="-78"/>
                <a:cs typeface="Alexandria Medium" pitchFamily="2" charset="-78"/>
              </a:rPr>
              <a:t>Planning poker </a:t>
            </a:r>
            <a:endParaRPr lang="en-US" sz="1800">
              <a:effectLst/>
              <a:latin typeface="Alexandria Medium" pitchFamily="2" charset="-78"/>
              <a:cs typeface="Alexandria Medium" pitchFamily="2" charset="-78"/>
            </a:endParaRPr>
          </a:p>
        </p:txBody>
      </p:sp>
      <p:sp>
        <p:nvSpPr>
          <p:cNvPr id="536" name="Google Shape;536;p62"/>
          <p:cNvSpPr txBox="1"/>
          <p:nvPr/>
        </p:nvSpPr>
        <p:spPr>
          <a:xfrm>
            <a:off x="715075" y="2633588"/>
            <a:ext cx="3740700" cy="2127598"/>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274320" lvl="0" indent="-213359" algn="l" rtl="0">
              <a:spcBef>
                <a:spcPts val="0"/>
              </a:spcBef>
              <a:spcAft>
                <a:spcPts val="0"/>
              </a:spcAft>
              <a:buClr>
                <a:schemeClr val="lt2"/>
              </a:buClr>
              <a:buSzPts val="1200"/>
              <a:buFont typeface="Albert Sans"/>
              <a:buChar char="■"/>
            </a:pPr>
            <a:endParaRPr sz="1200">
              <a:solidFill>
                <a:schemeClr val="dk1"/>
              </a:solidFill>
              <a:latin typeface="Albert Sans"/>
              <a:ea typeface="Albert Sans"/>
              <a:cs typeface="Albert Sans"/>
              <a:sym typeface="Albert Sans"/>
            </a:endParaRPr>
          </a:p>
        </p:txBody>
      </p:sp>
      <p:sp>
        <p:nvSpPr>
          <p:cNvPr id="537" name="Google Shape;537;p62"/>
          <p:cNvSpPr txBox="1"/>
          <p:nvPr/>
        </p:nvSpPr>
        <p:spPr>
          <a:xfrm>
            <a:off x="4688325" y="2633587"/>
            <a:ext cx="3740700" cy="2125527"/>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274320" lvl="0" indent="-213359" algn="l" rtl="0">
              <a:spcBef>
                <a:spcPts val="0"/>
              </a:spcBef>
              <a:spcAft>
                <a:spcPts val="0"/>
              </a:spcAft>
              <a:buClr>
                <a:schemeClr val="lt2"/>
              </a:buClr>
              <a:buSzPts val="1200"/>
              <a:buFont typeface="Albert Sans"/>
              <a:buChar char="■"/>
            </a:pPr>
            <a:endParaRPr sz="1200">
              <a:solidFill>
                <a:schemeClr val="dk1"/>
              </a:solidFill>
              <a:latin typeface="Albert Sans"/>
              <a:ea typeface="Albert Sans"/>
              <a:cs typeface="Albert Sans"/>
              <a:sym typeface="Albert Sans"/>
            </a:endParaRPr>
          </a:p>
        </p:txBody>
      </p:sp>
      <p:sp>
        <p:nvSpPr>
          <p:cNvPr id="538" name="Google Shape;538;p62"/>
          <p:cNvSpPr txBox="1"/>
          <p:nvPr/>
        </p:nvSpPr>
        <p:spPr>
          <a:xfrm>
            <a:off x="715050" y="680190"/>
            <a:ext cx="7713950" cy="1097810"/>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ما دیده‌ایم که آزمایشگاه پل از یک روش تخمینی استفاده می‌کند که یک </a:t>
            </a:r>
            <a:r>
              <a:rPr lang="en-US" sz="1000">
                <a:solidFill>
                  <a:schemeClr val="tx1">
                    <a:lumMod val="90000"/>
                    <a:lumOff val="10000"/>
                  </a:schemeClr>
                </a:solidFill>
                <a:latin typeface="Alexandria Medium" pitchFamily="2" charset="-78"/>
                <a:cs typeface="Alexandria Medium" pitchFamily="2" charset="-78"/>
              </a:rPr>
              <a:t>ن</a:t>
            </a:r>
            <a:r>
              <a:rPr lang="fa-IR" sz="1000">
                <a:solidFill>
                  <a:schemeClr val="tx1">
                    <a:lumMod val="90000"/>
                    <a:lumOff val="10000"/>
                  </a:schemeClr>
                </a:solidFill>
                <a:latin typeface="Alexandria Medium" pitchFamily="2" charset="-78"/>
                <a:cs typeface="Alexandria Medium" pitchFamily="2" charset="-78"/>
              </a:rPr>
              <a:t>وع</a:t>
            </a:r>
            <a:r>
              <a:rPr lang="fa-IR" sz="1000">
                <a:solidFill>
                  <a:schemeClr val="tx1">
                    <a:lumMod val="90000"/>
                    <a:lumOff val="10000"/>
                  </a:schemeClr>
                </a:solidFill>
                <a:effectLst/>
                <a:latin typeface="Alexandria Medium" pitchFamily="2" charset="-78"/>
                <a:cs typeface="Alexandria Medium" pitchFamily="2" charset="-78"/>
              </a:rPr>
              <a:t> از متخصصان کاربر است.</a:t>
            </a:r>
            <a:endParaRPr lang="en-US" sz="1000">
              <a:solidFill>
                <a:schemeClr val="tx1">
                  <a:lumMod val="90000"/>
                  <a:lumOff val="10000"/>
                </a:schemeClr>
              </a:solidFill>
              <a:effectLst/>
              <a:latin typeface="Alexandria Medium" pitchFamily="2" charset="-78"/>
              <a:cs typeface="Alexandria Medium" pitchFamily="2" charset="-78"/>
            </a:endParaRP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 </a:t>
            </a:r>
            <a:r>
              <a:rPr lang="fa-IR" sz="1000">
                <a:solidFill>
                  <a:srgbClr val="C00000"/>
                </a:solidFill>
                <a:effectLst/>
                <a:latin typeface="Alexandria Medium" pitchFamily="2" charset="-78"/>
                <a:cs typeface="Alexandria Medium" pitchFamily="2" charset="-78"/>
              </a:rPr>
              <a:t>تفاوت</a:t>
            </a:r>
            <a:r>
              <a:rPr lang="fa-IR" sz="1000">
                <a:solidFill>
                  <a:schemeClr val="tx1">
                    <a:lumMod val="90000"/>
                    <a:lumOff val="10000"/>
                  </a:schemeClr>
                </a:solidFill>
                <a:effectLst/>
                <a:latin typeface="Alexandria Medium" pitchFamily="2" charset="-78"/>
                <a:cs typeface="Alexandria Medium" pitchFamily="2" charset="-78"/>
              </a:rPr>
              <a:t> این است که کارشناس به تنهایی تخمین نمی زند، تخمین با یک یا چند تیم اجایل انجام می شود. </a:t>
            </a: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تیم های احایل آزادند تا از تکنیک تخمینی که ترجیح می دهند استفاده کنند، با توجه به اینکه نتیجه را در </a:t>
            </a:r>
            <a:r>
              <a:rPr lang="en-US" sz="1000">
                <a:solidFill>
                  <a:schemeClr val="tx1">
                    <a:lumMod val="90000"/>
                    <a:lumOff val="10000"/>
                  </a:schemeClr>
                </a:solidFill>
                <a:effectLst/>
                <a:latin typeface="Alexandria Medium" pitchFamily="2" charset="-78"/>
                <a:cs typeface="Alexandria Medium" pitchFamily="2" charset="-78"/>
              </a:rPr>
              <a:t> </a:t>
            </a:r>
            <a:r>
              <a:rPr lang="en-US" sz="1000" b="1">
                <a:solidFill>
                  <a:schemeClr val="bg2">
                    <a:lumMod val="25000"/>
                  </a:schemeClr>
                </a:solidFill>
                <a:latin typeface="Alexandria Medium" pitchFamily="2" charset="-78"/>
                <a:cs typeface="Alexandria Medium" pitchFamily="2" charset="-78"/>
              </a:rPr>
              <a:t>StoryPoint</a:t>
            </a:r>
            <a:r>
              <a:rPr lang="fa-IR" sz="1000">
                <a:solidFill>
                  <a:schemeClr val="tx1">
                    <a:lumMod val="90000"/>
                    <a:lumOff val="10000"/>
                  </a:schemeClr>
                </a:solidFill>
                <a:effectLst/>
                <a:latin typeface="Alexandria Medium" pitchFamily="2" charset="-78"/>
                <a:cs typeface="Alexandria Medium" pitchFamily="2" charset="-78"/>
              </a:rPr>
              <a:t>ارائه می دهند.</a:t>
            </a:r>
            <a:endParaRPr lang="en-US" sz="1000">
              <a:solidFill>
                <a:schemeClr val="tx1">
                  <a:lumMod val="90000"/>
                  <a:lumOff val="10000"/>
                </a:schemeClr>
              </a:solidFill>
              <a:effectLst/>
              <a:latin typeface="Alexandria Medium" pitchFamily="2" charset="-78"/>
              <a:cs typeface="Alexandria Medium" pitchFamily="2" charset="-78"/>
            </a:endParaRP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 </a:t>
            </a:r>
            <a:r>
              <a:rPr lang="fa-IR" sz="1050">
                <a:solidFill>
                  <a:srgbClr val="0269AE"/>
                </a:solidFill>
                <a:effectLst/>
                <a:latin typeface="Alexandria Medium" pitchFamily="2" charset="-78"/>
                <a:cs typeface="Alexandria Medium" pitchFamily="2" charset="-78"/>
              </a:rPr>
              <a:t>دو مورد از این تکنیک ها در زیر بخش های زیر ارائه شده است.</a:t>
            </a:r>
            <a:endParaRPr lang="en-US" sz="1050">
              <a:solidFill>
                <a:srgbClr val="0269AE"/>
              </a:solidFill>
              <a:effectLst/>
              <a:latin typeface="Alexandria Medium" pitchFamily="2" charset="-78"/>
              <a:cs typeface="Alexandria Medium" pitchFamily="2" charset="-78"/>
            </a:endParaRPr>
          </a:p>
        </p:txBody>
      </p:sp>
      <p:cxnSp>
        <p:nvCxnSpPr>
          <p:cNvPr id="539" name="Google Shape;539;p62"/>
          <p:cNvCxnSpPr>
            <a:cxnSpLocks/>
            <a:stCxn id="538" idx="2"/>
            <a:endCxn id="534" idx="0"/>
          </p:cNvCxnSpPr>
          <p:nvPr/>
        </p:nvCxnSpPr>
        <p:spPr>
          <a:xfrm rot="5400000">
            <a:off x="3426350" y="937125"/>
            <a:ext cx="304800" cy="198655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540" name="Google Shape;540;p62"/>
          <p:cNvCxnSpPr>
            <a:cxnSpLocks/>
            <a:stCxn id="538" idx="2"/>
            <a:endCxn id="535" idx="0"/>
          </p:cNvCxnSpPr>
          <p:nvPr/>
        </p:nvCxnSpPr>
        <p:spPr>
          <a:xfrm rot="16200000" flipH="1">
            <a:off x="5405168" y="944856"/>
            <a:ext cx="320364" cy="1986651"/>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541" name="Google Shape;541;p62"/>
          <p:cNvCxnSpPr>
            <a:cxnSpLocks/>
            <a:stCxn id="534" idx="2"/>
            <a:endCxn id="536" idx="0"/>
          </p:cNvCxnSpPr>
          <p:nvPr/>
        </p:nvCxnSpPr>
        <p:spPr>
          <a:xfrm rot="5400000">
            <a:off x="2493652" y="2541765"/>
            <a:ext cx="183596" cy="5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542" name="Google Shape;542;p62"/>
          <p:cNvCxnSpPr>
            <a:cxnSpLocks/>
            <a:stCxn id="535" idx="2"/>
            <a:endCxn id="537" idx="0"/>
          </p:cNvCxnSpPr>
          <p:nvPr/>
        </p:nvCxnSpPr>
        <p:spPr>
          <a:xfrm rot="5400000">
            <a:off x="6459786" y="2534696"/>
            <a:ext cx="197781" cy="1"/>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543" name="Google Shape;543;p62"/>
          <p:cNvCxnSpPr>
            <a:cxnSpLocks/>
            <a:stCxn id="534" idx="3"/>
            <a:endCxn id="535" idx="1"/>
          </p:cNvCxnSpPr>
          <p:nvPr/>
        </p:nvCxnSpPr>
        <p:spPr>
          <a:xfrm>
            <a:off x="4455825" y="2266396"/>
            <a:ext cx="232501" cy="689"/>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544" name="Google Shape;544;p62"/>
          <p:cNvCxnSpPr>
            <a:cxnSpLocks/>
            <a:stCxn id="536" idx="3"/>
            <a:endCxn id="537" idx="1"/>
          </p:cNvCxnSpPr>
          <p:nvPr/>
        </p:nvCxnSpPr>
        <p:spPr>
          <a:xfrm flipV="1">
            <a:off x="4455775" y="3696351"/>
            <a:ext cx="232550" cy="1036"/>
          </a:xfrm>
          <a:prstGeom prst="bentConnector3">
            <a:avLst>
              <a:gd name="adj1" fmla="val 50000"/>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500"/>
                                        <p:tgtEl>
                                          <p:spTgt spid="53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38"/>
                                        </p:tgtEl>
                                        <p:attrNameLst>
                                          <p:attrName>style.visibility</p:attrName>
                                        </p:attrNameLst>
                                      </p:cBhvr>
                                      <p:to>
                                        <p:strVal val="visible"/>
                                      </p:to>
                                    </p:set>
                                    <p:animEffect transition="in" filter="fade">
                                      <p:cBhvr>
                                        <p:cTn id="11" dur="500"/>
                                        <p:tgtEl>
                                          <p:spTgt spid="53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39"/>
                                        </p:tgtEl>
                                        <p:attrNameLst>
                                          <p:attrName>style.visibility</p:attrName>
                                        </p:attrNameLst>
                                      </p:cBhvr>
                                      <p:to>
                                        <p:strVal val="visible"/>
                                      </p:to>
                                    </p:set>
                                    <p:animEffect transition="in" filter="fade">
                                      <p:cBhvr>
                                        <p:cTn id="15" dur="500"/>
                                        <p:tgtEl>
                                          <p:spTgt spid="539"/>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540"/>
                                        </p:tgtEl>
                                        <p:attrNameLst>
                                          <p:attrName>style.visibility</p:attrName>
                                        </p:attrNameLst>
                                      </p:cBhvr>
                                      <p:to>
                                        <p:strVal val="visible"/>
                                      </p:to>
                                    </p:set>
                                    <p:animEffect transition="in" filter="fade">
                                      <p:cBhvr>
                                        <p:cTn id="19" dur="500"/>
                                        <p:tgtEl>
                                          <p:spTgt spid="540"/>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34"/>
                                        </p:tgtEl>
                                        <p:attrNameLst>
                                          <p:attrName>style.visibility</p:attrName>
                                        </p:attrNameLst>
                                      </p:cBhvr>
                                      <p:to>
                                        <p:strVal val="visible"/>
                                      </p:to>
                                    </p:set>
                                    <p:animEffect transition="in" filter="fade">
                                      <p:cBhvr>
                                        <p:cTn id="23" dur="500"/>
                                        <p:tgtEl>
                                          <p:spTgt spid="534"/>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535"/>
                                        </p:tgtEl>
                                        <p:attrNameLst>
                                          <p:attrName>style.visibility</p:attrName>
                                        </p:attrNameLst>
                                      </p:cBhvr>
                                      <p:to>
                                        <p:strVal val="visible"/>
                                      </p:to>
                                    </p:set>
                                    <p:animEffect transition="in" filter="fade">
                                      <p:cBhvr>
                                        <p:cTn id="27" dur="500"/>
                                        <p:tgtEl>
                                          <p:spTgt spid="535"/>
                                        </p:tgtEl>
                                      </p:cBhvr>
                                    </p:animEffect>
                                  </p:childTnLst>
                                </p:cTn>
                              </p:par>
                            </p:childTnLst>
                          </p:cTn>
                        </p:par>
                        <p:par>
                          <p:cTn id="28" fill="hold">
                            <p:stCondLst>
                              <p:cond delay="3500"/>
                            </p:stCondLst>
                            <p:childTnLst>
                              <p:par>
                                <p:cTn id="29" presetID="10" presetClass="entr" presetSubtype="0" fill="hold" grpId="0" nodeType="afterEffect">
                                  <p:stCondLst>
                                    <p:cond delay="0"/>
                                  </p:stCondLst>
                                  <p:childTnLst>
                                    <p:set>
                                      <p:cBhvr>
                                        <p:cTn id="30" dur="1" fill="hold">
                                          <p:stCondLst>
                                            <p:cond delay="0"/>
                                          </p:stCondLst>
                                        </p:cTn>
                                        <p:tgtEl>
                                          <p:spTgt spid="537"/>
                                        </p:tgtEl>
                                        <p:attrNameLst>
                                          <p:attrName>style.visibility</p:attrName>
                                        </p:attrNameLst>
                                      </p:cBhvr>
                                      <p:to>
                                        <p:strVal val="visible"/>
                                      </p:to>
                                    </p:set>
                                    <p:animEffect transition="in" filter="fade">
                                      <p:cBhvr>
                                        <p:cTn id="31" dur="500"/>
                                        <p:tgtEl>
                                          <p:spTgt spid="537"/>
                                        </p:tgtEl>
                                      </p:cBhvr>
                                    </p:animEffect>
                                  </p:childTnLst>
                                </p:cTn>
                              </p:par>
                            </p:childTnLst>
                          </p:cTn>
                        </p:par>
                        <p:par>
                          <p:cTn id="32" fill="hold">
                            <p:stCondLst>
                              <p:cond delay="4000"/>
                            </p:stCondLst>
                            <p:childTnLst>
                              <p:par>
                                <p:cTn id="33" presetID="10" presetClass="entr" presetSubtype="0" fill="hold" grpId="0" nodeType="afterEffect">
                                  <p:stCondLst>
                                    <p:cond delay="0"/>
                                  </p:stCondLst>
                                  <p:childTnLst>
                                    <p:set>
                                      <p:cBhvr>
                                        <p:cTn id="34" dur="1" fill="hold">
                                          <p:stCondLst>
                                            <p:cond delay="0"/>
                                          </p:stCondLst>
                                        </p:cTn>
                                        <p:tgtEl>
                                          <p:spTgt spid="536"/>
                                        </p:tgtEl>
                                        <p:attrNameLst>
                                          <p:attrName>style.visibility</p:attrName>
                                        </p:attrNameLst>
                                      </p:cBhvr>
                                      <p:to>
                                        <p:strVal val="visible"/>
                                      </p:to>
                                    </p:set>
                                    <p:animEffect transition="in" filter="fade">
                                      <p:cBhvr>
                                        <p:cTn id="35" dur="500"/>
                                        <p:tgtEl>
                                          <p:spTgt spid="536"/>
                                        </p:tgtEl>
                                      </p:cBhvr>
                                    </p:animEffect>
                                  </p:childTnLst>
                                </p:cTn>
                              </p:par>
                            </p:childTnLst>
                          </p:cTn>
                        </p:par>
                        <p:par>
                          <p:cTn id="36" fill="hold">
                            <p:stCondLst>
                              <p:cond delay="4500"/>
                            </p:stCondLst>
                            <p:childTnLst>
                              <p:par>
                                <p:cTn id="37" presetID="10" presetClass="entr" presetSubtype="0" fill="hold" nodeType="afterEffect">
                                  <p:stCondLst>
                                    <p:cond delay="0"/>
                                  </p:stCondLst>
                                  <p:childTnLst>
                                    <p:set>
                                      <p:cBhvr>
                                        <p:cTn id="38" dur="1" fill="hold">
                                          <p:stCondLst>
                                            <p:cond delay="0"/>
                                          </p:stCondLst>
                                        </p:cTn>
                                        <p:tgtEl>
                                          <p:spTgt spid="541"/>
                                        </p:tgtEl>
                                        <p:attrNameLst>
                                          <p:attrName>style.visibility</p:attrName>
                                        </p:attrNameLst>
                                      </p:cBhvr>
                                      <p:to>
                                        <p:strVal val="visible"/>
                                      </p:to>
                                    </p:set>
                                    <p:animEffect transition="in" filter="fade">
                                      <p:cBhvr>
                                        <p:cTn id="39" dur="500"/>
                                        <p:tgtEl>
                                          <p:spTgt spid="541"/>
                                        </p:tgtEl>
                                      </p:cBhvr>
                                    </p:animEffect>
                                  </p:childTnLst>
                                </p:cTn>
                              </p:par>
                            </p:childTnLst>
                          </p:cTn>
                        </p:par>
                        <p:par>
                          <p:cTn id="40" fill="hold">
                            <p:stCondLst>
                              <p:cond delay="5000"/>
                            </p:stCondLst>
                            <p:childTnLst>
                              <p:par>
                                <p:cTn id="41" presetID="10" presetClass="entr" presetSubtype="0" fill="hold" nodeType="afterEffect">
                                  <p:stCondLst>
                                    <p:cond delay="0"/>
                                  </p:stCondLst>
                                  <p:childTnLst>
                                    <p:set>
                                      <p:cBhvr>
                                        <p:cTn id="42" dur="1" fill="hold">
                                          <p:stCondLst>
                                            <p:cond delay="0"/>
                                          </p:stCondLst>
                                        </p:cTn>
                                        <p:tgtEl>
                                          <p:spTgt spid="542"/>
                                        </p:tgtEl>
                                        <p:attrNameLst>
                                          <p:attrName>style.visibility</p:attrName>
                                        </p:attrNameLst>
                                      </p:cBhvr>
                                      <p:to>
                                        <p:strVal val="visible"/>
                                      </p:to>
                                    </p:set>
                                    <p:animEffect transition="in" filter="fade">
                                      <p:cBhvr>
                                        <p:cTn id="43" dur="500"/>
                                        <p:tgtEl>
                                          <p:spTgt spid="542"/>
                                        </p:tgtEl>
                                      </p:cBhvr>
                                    </p:animEffect>
                                  </p:childTnLst>
                                </p:cTn>
                              </p:par>
                            </p:childTnLst>
                          </p:cTn>
                        </p:par>
                        <p:par>
                          <p:cTn id="44" fill="hold">
                            <p:stCondLst>
                              <p:cond delay="5500"/>
                            </p:stCondLst>
                            <p:childTnLst>
                              <p:par>
                                <p:cTn id="45" presetID="10" presetClass="entr" presetSubtype="0" fill="hold" nodeType="afterEffect">
                                  <p:stCondLst>
                                    <p:cond delay="0"/>
                                  </p:stCondLst>
                                  <p:childTnLst>
                                    <p:set>
                                      <p:cBhvr>
                                        <p:cTn id="46" dur="1" fill="hold">
                                          <p:stCondLst>
                                            <p:cond delay="0"/>
                                          </p:stCondLst>
                                        </p:cTn>
                                        <p:tgtEl>
                                          <p:spTgt spid="543"/>
                                        </p:tgtEl>
                                        <p:attrNameLst>
                                          <p:attrName>style.visibility</p:attrName>
                                        </p:attrNameLst>
                                      </p:cBhvr>
                                      <p:to>
                                        <p:strVal val="visible"/>
                                      </p:to>
                                    </p:set>
                                    <p:animEffect transition="in" filter="fade">
                                      <p:cBhvr>
                                        <p:cTn id="47" dur="500"/>
                                        <p:tgtEl>
                                          <p:spTgt spid="543"/>
                                        </p:tgtEl>
                                      </p:cBhvr>
                                    </p:animEffect>
                                  </p:childTnLst>
                                </p:cTn>
                              </p:par>
                            </p:childTnLst>
                          </p:cTn>
                        </p:par>
                        <p:par>
                          <p:cTn id="48" fill="hold">
                            <p:stCondLst>
                              <p:cond delay="6000"/>
                            </p:stCondLst>
                            <p:childTnLst>
                              <p:par>
                                <p:cTn id="49" presetID="10" presetClass="entr" presetSubtype="0" fill="hold" nodeType="afterEffect">
                                  <p:stCondLst>
                                    <p:cond delay="0"/>
                                  </p:stCondLst>
                                  <p:childTnLst>
                                    <p:set>
                                      <p:cBhvr>
                                        <p:cTn id="50" dur="1" fill="hold">
                                          <p:stCondLst>
                                            <p:cond delay="0"/>
                                          </p:stCondLst>
                                        </p:cTn>
                                        <p:tgtEl>
                                          <p:spTgt spid="544"/>
                                        </p:tgtEl>
                                        <p:attrNameLst>
                                          <p:attrName>style.visibility</p:attrName>
                                        </p:attrNameLst>
                                      </p:cBhvr>
                                      <p:to>
                                        <p:strVal val="visible"/>
                                      </p:to>
                                    </p:set>
                                    <p:animEffect transition="in" filter="fade">
                                      <p:cBhvr>
                                        <p:cTn id="51" dur="500"/>
                                        <p:tgtEl>
                                          <p:spTgt spid="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 grpId="0"/>
      <p:bldP spid="534" grpId="0" animBg="1"/>
      <p:bldP spid="535" grpId="0" animBg="1"/>
      <p:bldP spid="536" grpId="0" animBg="1"/>
      <p:bldP spid="537" grpId="0" animBg="1"/>
      <p:bldP spid="53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2"/>
          <p:cNvSpPr txBox="1">
            <a:spLocks noGrp="1"/>
          </p:cNvSpPr>
          <p:nvPr>
            <p:ph type="title"/>
          </p:nvPr>
        </p:nvSpPr>
        <p:spPr>
          <a:xfrm>
            <a:off x="715050" y="82799"/>
            <a:ext cx="7713900" cy="548700"/>
          </a:xfrm>
          <a:prstGeom prst="rect">
            <a:avLst/>
          </a:prstGeom>
          <a:ln>
            <a:noFill/>
          </a:ln>
        </p:spPr>
        <p:txBody>
          <a:bodyPr spcFirstLastPara="1" wrap="square" lIns="91425" tIns="91425" rIns="91425" bIns="91425" anchor="t" anchorCtr="0">
            <a:noAutofit/>
          </a:bodyPr>
          <a:lstStyle/>
          <a:p>
            <a:pPr algn="ctr" rtl="1"/>
            <a:r>
              <a:rPr lang="en-US" sz="2400">
                <a:solidFill>
                  <a:srgbClr val="2B5B6B"/>
                </a:solidFill>
                <a:effectLst/>
                <a:latin typeface="Alexandria Medium" pitchFamily="2" charset="-78"/>
                <a:cs typeface="Alexandria Medium" pitchFamily="2" charset="-78"/>
              </a:rPr>
              <a:t> </a:t>
            </a:r>
            <a:r>
              <a:rPr lang="fa-IR" sz="2400">
                <a:solidFill>
                  <a:srgbClr val="2B5B6B"/>
                </a:solidFill>
                <a:effectLst/>
                <a:latin typeface="Alexandria Medium" pitchFamily="2" charset="-78"/>
                <a:cs typeface="Alexandria Medium" pitchFamily="2" charset="-78"/>
              </a:rPr>
              <a:t>دو روش برای تخمین </a:t>
            </a:r>
            <a:r>
              <a:rPr lang="en-US" sz="2400">
                <a:solidFill>
                  <a:srgbClr val="2B5B6B"/>
                </a:solidFill>
                <a:latin typeface="Alexandria Medium" pitchFamily="2" charset="-78"/>
                <a:cs typeface="Alexandria Medium" pitchFamily="2" charset="-78"/>
              </a:rPr>
              <a:t>StoryPoint</a:t>
            </a:r>
            <a:endParaRPr lang="en-US" sz="3200">
              <a:effectLst/>
              <a:latin typeface="Alexandria Medium" pitchFamily="2" charset="-78"/>
              <a:cs typeface="Alexandria Medium" pitchFamily="2" charset="-78"/>
            </a:endParaRPr>
          </a:p>
        </p:txBody>
      </p:sp>
      <p:sp>
        <p:nvSpPr>
          <p:cNvPr id="534" name="Google Shape;534;p62"/>
          <p:cNvSpPr txBox="1"/>
          <p:nvPr/>
        </p:nvSpPr>
        <p:spPr>
          <a:xfrm>
            <a:off x="715125" y="2082800"/>
            <a:ext cx="3740700" cy="367192"/>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a:solidFill>
                  <a:srgbClr val="7F0000"/>
                </a:solidFill>
                <a:effectLst/>
                <a:latin typeface="Alexandria Medium" pitchFamily="2" charset="-78"/>
                <a:cs typeface="Alexandria Medium" pitchFamily="2" charset="-78"/>
              </a:rPr>
              <a:t>Selecting from the whole set of stories </a:t>
            </a:r>
            <a:endParaRPr lang="en-US" sz="1800">
              <a:effectLst/>
              <a:latin typeface="Alexandria Medium" pitchFamily="2" charset="-78"/>
              <a:cs typeface="Alexandria Medium" pitchFamily="2" charset="-78"/>
            </a:endParaRPr>
          </a:p>
        </p:txBody>
      </p:sp>
      <p:sp>
        <p:nvSpPr>
          <p:cNvPr id="536" name="Google Shape;536;p62"/>
          <p:cNvSpPr txBox="1"/>
          <p:nvPr/>
        </p:nvSpPr>
        <p:spPr>
          <a:xfrm>
            <a:off x="715075" y="2571751"/>
            <a:ext cx="3740700" cy="2355318"/>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274320" lvl="0" indent="-213359" algn="l" rtl="0">
              <a:spcBef>
                <a:spcPts val="0"/>
              </a:spcBef>
              <a:spcAft>
                <a:spcPts val="0"/>
              </a:spcAft>
              <a:buClr>
                <a:schemeClr val="lt2"/>
              </a:buClr>
              <a:buSzPts val="1200"/>
              <a:buFont typeface="Albert Sans"/>
              <a:buChar char="■"/>
            </a:pPr>
            <a:endParaRPr sz="1050">
              <a:solidFill>
                <a:schemeClr val="dk1"/>
              </a:solidFill>
              <a:latin typeface="Alexandria Medium" pitchFamily="2" charset="-78"/>
              <a:ea typeface="Albert Sans"/>
              <a:cs typeface="Alexandria Medium" pitchFamily="2" charset="-78"/>
              <a:sym typeface="Albert Sans"/>
            </a:endParaRPr>
          </a:p>
        </p:txBody>
      </p:sp>
      <p:sp>
        <p:nvSpPr>
          <p:cNvPr id="538" name="Google Shape;538;p62"/>
          <p:cNvSpPr txBox="1"/>
          <p:nvPr/>
        </p:nvSpPr>
        <p:spPr>
          <a:xfrm>
            <a:off x="715050" y="680190"/>
            <a:ext cx="7713950" cy="1097810"/>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ما دیده‌ایم که آزمایشگاه پل از یک روش تخمینی استفاده می‌کند که یک </a:t>
            </a:r>
            <a:r>
              <a:rPr lang="en-US" sz="1000">
                <a:solidFill>
                  <a:schemeClr val="tx1">
                    <a:lumMod val="90000"/>
                    <a:lumOff val="10000"/>
                  </a:schemeClr>
                </a:solidFill>
                <a:latin typeface="Alexandria Medium" pitchFamily="2" charset="-78"/>
                <a:cs typeface="Alexandria Medium" pitchFamily="2" charset="-78"/>
              </a:rPr>
              <a:t>ن</a:t>
            </a:r>
            <a:r>
              <a:rPr lang="fa-IR" sz="1000">
                <a:solidFill>
                  <a:schemeClr val="tx1">
                    <a:lumMod val="90000"/>
                    <a:lumOff val="10000"/>
                  </a:schemeClr>
                </a:solidFill>
                <a:latin typeface="Alexandria Medium" pitchFamily="2" charset="-78"/>
                <a:cs typeface="Alexandria Medium" pitchFamily="2" charset="-78"/>
              </a:rPr>
              <a:t>وع</a:t>
            </a:r>
            <a:r>
              <a:rPr lang="fa-IR" sz="1000">
                <a:solidFill>
                  <a:schemeClr val="tx1">
                    <a:lumMod val="90000"/>
                    <a:lumOff val="10000"/>
                  </a:schemeClr>
                </a:solidFill>
                <a:effectLst/>
                <a:latin typeface="Alexandria Medium" pitchFamily="2" charset="-78"/>
                <a:cs typeface="Alexandria Medium" pitchFamily="2" charset="-78"/>
              </a:rPr>
              <a:t> از متخصصان کاربر است.</a:t>
            </a:r>
            <a:endParaRPr lang="en-US" sz="1000">
              <a:solidFill>
                <a:schemeClr val="tx1">
                  <a:lumMod val="90000"/>
                  <a:lumOff val="10000"/>
                </a:schemeClr>
              </a:solidFill>
              <a:effectLst/>
              <a:latin typeface="Alexandria Medium" pitchFamily="2" charset="-78"/>
              <a:cs typeface="Alexandria Medium" pitchFamily="2" charset="-78"/>
            </a:endParaRP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 </a:t>
            </a:r>
            <a:r>
              <a:rPr lang="fa-IR" sz="1000">
                <a:solidFill>
                  <a:srgbClr val="C00000"/>
                </a:solidFill>
                <a:effectLst/>
                <a:latin typeface="Alexandria Medium" pitchFamily="2" charset="-78"/>
                <a:cs typeface="Alexandria Medium" pitchFamily="2" charset="-78"/>
              </a:rPr>
              <a:t>تفاوت</a:t>
            </a:r>
            <a:r>
              <a:rPr lang="fa-IR" sz="1000">
                <a:solidFill>
                  <a:schemeClr val="tx1">
                    <a:lumMod val="90000"/>
                    <a:lumOff val="10000"/>
                  </a:schemeClr>
                </a:solidFill>
                <a:effectLst/>
                <a:latin typeface="Alexandria Medium" pitchFamily="2" charset="-78"/>
                <a:cs typeface="Alexandria Medium" pitchFamily="2" charset="-78"/>
              </a:rPr>
              <a:t> این است که کارشناس به تنهایی تخمین نمی زند، تخمین با یک یا چند تیم اجایل انجام می شود. </a:t>
            </a: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تیم های احایل آزادند تا از تکنیک تخمینی که ترجیح می دهند استفاده کنند، با توجه به اینکه نتیجه را در </a:t>
            </a:r>
            <a:r>
              <a:rPr lang="en-US" sz="1000">
                <a:solidFill>
                  <a:schemeClr val="tx1">
                    <a:lumMod val="90000"/>
                    <a:lumOff val="10000"/>
                  </a:schemeClr>
                </a:solidFill>
                <a:effectLst/>
                <a:latin typeface="Alexandria Medium" pitchFamily="2" charset="-78"/>
                <a:cs typeface="Alexandria Medium" pitchFamily="2" charset="-78"/>
              </a:rPr>
              <a:t> </a:t>
            </a:r>
            <a:r>
              <a:rPr lang="en-US" sz="1000" b="1">
                <a:solidFill>
                  <a:schemeClr val="bg2">
                    <a:lumMod val="25000"/>
                  </a:schemeClr>
                </a:solidFill>
                <a:latin typeface="Alexandria Medium" pitchFamily="2" charset="-78"/>
                <a:cs typeface="Alexandria Medium" pitchFamily="2" charset="-78"/>
              </a:rPr>
              <a:t>StoryPoint</a:t>
            </a:r>
            <a:r>
              <a:rPr lang="fa-IR" sz="1000">
                <a:solidFill>
                  <a:schemeClr val="tx1">
                    <a:lumMod val="90000"/>
                    <a:lumOff val="10000"/>
                  </a:schemeClr>
                </a:solidFill>
                <a:effectLst/>
                <a:latin typeface="Alexandria Medium" pitchFamily="2" charset="-78"/>
                <a:cs typeface="Alexandria Medium" pitchFamily="2" charset="-78"/>
              </a:rPr>
              <a:t>ارائه می دهند.</a:t>
            </a:r>
            <a:endParaRPr lang="en-US" sz="1000">
              <a:solidFill>
                <a:schemeClr val="tx1">
                  <a:lumMod val="90000"/>
                  <a:lumOff val="10000"/>
                </a:schemeClr>
              </a:solidFill>
              <a:effectLst/>
              <a:latin typeface="Alexandria Medium" pitchFamily="2" charset="-78"/>
              <a:cs typeface="Alexandria Medium" pitchFamily="2" charset="-78"/>
            </a:endParaRP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 </a:t>
            </a:r>
            <a:r>
              <a:rPr lang="fa-IR" sz="1050">
                <a:solidFill>
                  <a:srgbClr val="0269AE"/>
                </a:solidFill>
                <a:effectLst/>
                <a:latin typeface="Alexandria Medium" pitchFamily="2" charset="-78"/>
                <a:cs typeface="Alexandria Medium" pitchFamily="2" charset="-78"/>
              </a:rPr>
              <a:t>دو مورد از این تکنیک ها در زیر بخش های زیر ارائه شده است.</a:t>
            </a:r>
            <a:endParaRPr lang="en-US" sz="1050">
              <a:solidFill>
                <a:srgbClr val="0269AE"/>
              </a:solidFill>
              <a:effectLst/>
              <a:latin typeface="Alexandria Medium" pitchFamily="2" charset="-78"/>
              <a:cs typeface="Alexandria Medium" pitchFamily="2" charset="-78"/>
            </a:endParaRPr>
          </a:p>
        </p:txBody>
      </p:sp>
      <p:cxnSp>
        <p:nvCxnSpPr>
          <p:cNvPr id="539" name="Google Shape;539;p62"/>
          <p:cNvCxnSpPr>
            <a:cxnSpLocks/>
            <a:stCxn id="538" idx="2"/>
            <a:endCxn id="534" idx="0"/>
          </p:cNvCxnSpPr>
          <p:nvPr/>
        </p:nvCxnSpPr>
        <p:spPr>
          <a:xfrm rot="5400000">
            <a:off x="3426350" y="937125"/>
            <a:ext cx="304800" cy="198655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541" name="Google Shape;541;p62"/>
          <p:cNvCxnSpPr>
            <a:cxnSpLocks/>
            <a:stCxn id="534" idx="2"/>
            <a:endCxn id="536" idx="0"/>
          </p:cNvCxnSpPr>
          <p:nvPr/>
        </p:nvCxnSpPr>
        <p:spPr>
          <a:xfrm rot="5400000">
            <a:off x="2524571" y="2510846"/>
            <a:ext cx="121759" cy="50"/>
          </a:xfrm>
          <a:prstGeom prst="bentConnector3">
            <a:avLst>
              <a:gd name="adj1" fmla="val 50000"/>
            </a:avLst>
          </a:prstGeom>
          <a:noFill/>
          <a:ln w="9525" cap="flat" cmpd="sng">
            <a:solidFill>
              <a:schemeClr val="dk1"/>
            </a:solidFill>
            <a:prstDash val="solid"/>
            <a:round/>
            <a:headEnd type="none" w="med" len="med"/>
            <a:tailEnd type="none" w="med" len="med"/>
          </a:ln>
        </p:spPr>
      </p:cxnSp>
      <p:pic>
        <p:nvPicPr>
          <p:cNvPr id="4" name="Picture 3">
            <a:extLst>
              <a:ext uri="{FF2B5EF4-FFF2-40B4-BE49-F238E27FC236}">
                <a16:creationId xmlns:a16="http://schemas.microsoft.com/office/drawing/2014/main" id="{1D4CF5D0-9A26-C545-B8E7-A7B8DE136C5B}"/>
              </a:ext>
            </a:extLst>
          </p:cNvPr>
          <p:cNvPicPr>
            <a:picLocks noChangeAspect="1"/>
          </p:cNvPicPr>
          <p:nvPr/>
        </p:nvPicPr>
        <p:blipFill>
          <a:blip r:embed="rId3"/>
          <a:stretch>
            <a:fillRect/>
          </a:stretch>
        </p:blipFill>
        <p:spPr>
          <a:xfrm>
            <a:off x="4640700" y="2059939"/>
            <a:ext cx="3856671" cy="984720"/>
          </a:xfrm>
          <a:prstGeom prst="rect">
            <a:avLst/>
          </a:prstGeom>
        </p:spPr>
      </p:pic>
      <p:sp>
        <p:nvSpPr>
          <p:cNvPr id="5" name="TextBox 4">
            <a:extLst>
              <a:ext uri="{FF2B5EF4-FFF2-40B4-BE49-F238E27FC236}">
                <a16:creationId xmlns:a16="http://schemas.microsoft.com/office/drawing/2014/main" id="{22496836-191E-2B4E-B14C-4CA8FDB03739}"/>
              </a:ext>
            </a:extLst>
          </p:cNvPr>
          <p:cNvSpPr txBox="1"/>
          <p:nvPr/>
        </p:nvSpPr>
        <p:spPr>
          <a:xfrm>
            <a:off x="715050" y="2632630"/>
            <a:ext cx="3657253" cy="2233560"/>
          </a:xfrm>
          <a:prstGeom prst="rect">
            <a:avLst/>
          </a:prstGeom>
          <a:noFill/>
        </p:spPr>
        <p:txBody>
          <a:bodyPr wrap="square" rtlCol="0">
            <a:spAutoFit/>
          </a:bodyPr>
          <a:lstStyle/>
          <a:p>
            <a:pPr algn="r" rtl="1">
              <a:lnSpc>
                <a:spcPts val="1400"/>
              </a:lnSpc>
            </a:pPr>
            <a:r>
              <a:rPr lang="fa-IR" sz="1000">
                <a:solidFill>
                  <a:schemeClr val="bg2">
                    <a:lumMod val="50000"/>
                  </a:schemeClr>
                </a:solidFill>
                <a:latin typeface="Alexandria Medium" pitchFamily="2" charset="-78"/>
                <a:cs typeface="Alexandria Medium" pitchFamily="2" charset="-78"/>
              </a:rPr>
              <a:t>وقتی از این تکنیک استفاده می‌شود، نام همه تاریخچه‌ها (</a:t>
            </a:r>
            <a:r>
              <a:rPr lang="en-US" sz="1000">
                <a:solidFill>
                  <a:schemeClr val="bg2">
                    <a:lumMod val="50000"/>
                  </a:schemeClr>
                </a:solidFill>
                <a:latin typeface="Alexandria Medium" pitchFamily="2" charset="-78"/>
                <a:cs typeface="Alexandria Medium" pitchFamily="2" charset="-78"/>
              </a:rPr>
              <a:t>Use-case</a:t>
            </a:r>
            <a:r>
              <a:rPr lang="fa-IR" sz="1000">
                <a:solidFill>
                  <a:schemeClr val="bg2">
                    <a:lumMod val="50000"/>
                  </a:schemeClr>
                </a:solidFill>
                <a:latin typeface="Alexandria Medium" pitchFamily="2" charset="-78"/>
                <a:cs typeface="Alexandria Medium" pitchFamily="2" charset="-78"/>
              </a:rPr>
              <a:t>) در برچسب‌ها نوشته می‌شود و روی جدول قرار می‌گیرد که همه تیم ممکن است آنها را ببیند. </a:t>
            </a:r>
            <a:endParaRPr lang="en-US" sz="1000">
              <a:solidFill>
                <a:schemeClr val="bg2">
                  <a:lumMod val="50000"/>
                </a:schemeClr>
              </a:solidFill>
              <a:latin typeface="Alexandria Medium" pitchFamily="2" charset="-78"/>
              <a:cs typeface="Alexandria Medium" pitchFamily="2" charset="-78"/>
            </a:endParaRPr>
          </a:p>
          <a:p>
            <a:pPr algn="r" rtl="1">
              <a:lnSpc>
                <a:spcPts val="1400"/>
              </a:lnSpc>
            </a:pPr>
            <a:r>
              <a:rPr lang="fa-IR" sz="1000">
                <a:solidFill>
                  <a:srgbClr val="C00000"/>
                </a:solidFill>
                <a:latin typeface="Alexandria Medium" pitchFamily="2" charset="-78"/>
                <a:cs typeface="Alexandria Medium" pitchFamily="2" charset="-78"/>
              </a:rPr>
              <a:t>اولین گام </a:t>
            </a:r>
            <a:r>
              <a:rPr lang="fa-IR" sz="1000">
                <a:latin typeface="Alexandria Medium" pitchFamily="2" charset="-78"/>
                <a:cs typeface="Alexandria Medium" pitchFamily="2" charset="-78"/>
              </a:rPr>
              <a:t>الگوریتم حذف </a:t>
            </a:r>
            <a:r>
              <a:rPr lang="fa-IR" sz="1000">
                <a:solidFill>
                  <a:schemeClr val="tx1">
                    <a:lumMod val="75000"/>
                    <a:lumOff val="25000"/>
                  </a:schemeClr>
                </a:solidFill>
                <a:latin typeface="Alexandria Medium" pitchFamily="2" charset="-78"/>
                <a:cs typeface="Alexandria Medium" pitchFamily="2" charset="-78"/>
              </a:rPr>
              <a:t>استوری ها </a:t>
            </a:r>
            <a:r>
              <a:rPr lang="fa-IR" sz="1000">
                <a:latin typeface="Alexandria Medium" pitchFamily="2" charset="-78"/>
                <a:cs typeface="Alexandria Medium" pitchFamily="2" charset="-78"/>
              </a:rPr>
              <a:t>یا </a:t>
            </a:r>
            <a:r>
              <a:rPr lang="fa-IR" sz="1000">
                <a:solidFill>
                  <a:schemeClr val="tx1">
                    <a:lumMod val="75000"/>
                    <a:lumOff val="25000"/>
                  </a:schemeClr>
                </a:solidFill>
                <a:latin typeface="Alexandria Medium" pitchFamily="2" charset="-78"/>
                <a:cs typeface="Alexandria Medium" pitchFamily="2" charset="-78"/>
              </a:rPr>
              <a:t>(</a:t>
            </a:r>
            <a:r>
              <a:rPr lang="en-US" sz="1000">
                <a:solidFill>
                  <a:schemeClr val="tx1">
                    <a:lumMod val="75000"/>
                    <a:lumOff val="25000"/>
                  </a:schemeClr>
                </a:solidFill>
                <a:latin typeface="Alexandria Medium" pitchFamily="2" charset="-78"/>
                <a:cs typeface="Alexandria Medium" pitchFamily="2" charset="-78"/>
              </a:rPr>
              <a:t>Use-case</a:t>
            </a:r>
            <a:r>
              <a:rPr lang="fa-IR" sz="1000">
                <a:solidFill>
                  <a:schemeClr val="tx1">
                    <a:lumMod val="75000"/>
                    <a:lumOff val="25000"/>
                  </a:schemeClr>
                </a:solidFill>
                <a:latin typeface="Alexandria Medium" pitchFamily="2" charset="-78"/>
                <a:cs typeface="Alexandria Medium" pitchFamily="2" charset="-78"/>
              </a:rPr>
              <a:t>) </a:t>
            </a:r>
            <a:r>
              <a:rPr lang="fa-IR" sz="1000">
                <a:latin typeface="Alexandria Medium" pitchFamily="2" charset="-78"/>
                <a:cs typeface="Alexandria Medium" pitchFamily="2" charset="-78"/>
              </a:rPr>
              <a:t>است که توسط یک توسعه دهنده در کمتر از یک روز امکان پذیر است، یعنی یک </a:t>
            </a:r>
            <a:r>
              <a:rPr lang="en-US" sz="1000">
                <a:solidFill>
                  <a:srgbClr val="0269AE"/>
                </a:solidFill>
                <a:latin typeface="Alexandria Medium" pitchFamily="2" charset="-78"/>
                <a:cs typeface="Alexandria Medium" pitchFamily="2" charset="-78"/>
              </a:rPr>
              <a:t>UserStory</a:t>
            </a:r>
            <a:r>
              <a:rPr lang="en-US" sz="1000">
                <a:solidFill>
                  <a:srgbClr val="105569"/>
                </a:solidFill>
                <a:latin typeface="Alexandria Medium" pitchFamily="2" charset="-78"/>
                <a:cs typeface="Alexandria Medium" pitchFamily="2" charset="-78"/>
              </a:rPr>
              <a:t> </a:t>
            </a:r>
            <a:r>
              <a:rPr lang="fa-IR" sz="1000">
                <a:latin typeface="Alexandria Medium" pitchFamily="2" charset="-78"/>
                <a:cs typeface="Alexandria Medium" pitchFamily="2" charset="-78"/>
              </a:rPr>
              <a:t>یا </a:t>
            </a:r>
            <a:r>
              <a:rPr lang="fa-IR" sz="1000">
                <a:solidFill>
                  <a:srgbClr val="0269AE"/>
                </a:solidFill>
                <a:latin typeface="Alexandria Medium" pitchFamily="2" charset="-78"/>
                <a:cs typeface="Alexandria Medium" pitchFamily="2" charset="-78"/>
              </a:rPr>
              <a:t>(</a:t>
            </a:r>
            <a:r>
              <a:rPr lang="en-US" sz="1000">
                <a:solidFill>
                  <a:srgbClr val="0269AE"/>
                </a:solidFill>
                <a:latin typeface="Alexandria Medium" pitchFamily="2" charset="-78"/>
                <a:cs typeface="Alexandria Medium" pitchFamily="2" charset="-78"/>
              </a:rPr>
              <a:t>Use-case</a:t>
            </a:r>
            <a:r>
              <a:rPr lang="fa-IR" sz="1000">
                <a:solidFill>
                  <a:srgbClr val="0269AE"/>
                </a:solidFill>
                <a:latin typeface="Alexandria Medium" pitchFamily="2" charset="-78"/>
                <a:cs typeface="Alexandria Medium" pitchFamily="2" charset="-78"/>
              </a:rPr>
              <a:t>) </a:t>
            </a:r>
            <a:r>
              <a:rPr lang="fa-IR" sz="1000">
                <a:latin typeface="Alexandria Medium" pitchFamily="2" charset="-78"/>
                <a:cs typeface="Alexandria Medium" pitchFamily="2" charset="-78"/>
              </a:rPr>
              <a:t>با کمتر از یک </a:t>
            </a:r>
            <a:r>
              <a:rPr lang="en-US" sz="1000">
                <a:solidFill>
                  <a:srgbClr val="105569"/>
                </a:solidFill>
                <a:latin typeface="Alexandria Medium" pitchFamily="2" charset="-78"/>
                <a:cs typeface="Alexandria Medium" pitchFamily="2" charset="-78"/>
              </a:rPr>
              <a:t>StoryPoint</a:t>
            </a:r>
            <a:r>
              <a:rPr lang="fa-IR" sz="1000">
                <a:latin typeface="Alexandria Medium" pitchFamily="2" charset="-78"/>
                <a:cs typeface="Alexandria Medium" pitchFamily="2" charset="-78"/>
              </a:rPr>
              <a:t>.</a:t>
            </a:r>
            <a:endParaRPr lang="en-US" sz="1000">
              <a:latin typeface="Alexandria Medium" pitchFamily="2" charset="-78"/>
              <a:cs typeface="Alexandria Medium" pitchFamily="2" charset="-78"/>
            </a:endParaRPr>
          </a:p>
          <a:p>
            <a:pPr algn="r" rtl="1">
              <a:lnSpc>
                <a:spcPts val="1400"/>
              </a:lnSpc>
            </a:pPr>
            <a:r>
              <a:rPr lang="fa-IR" sz="1000">
                <a:latin typeface="Alexandria Medium" pitchFamily="2" charset="-78"/>
                <a:cs typeface="Alexandria Medium" pitchFamily="2" charset="-78"/>
              </a:rPr>
              <a:t> آن </a:t>
            </a:r>
            <a:r>
              <a:rPr lang="en-US" sz="1000">
                <a:latin typeface="Alexandria Medium" pitchFamily="2" charset="-78"/>
                <a:cs typeface="Alexandria Medium" pitchFamily="2" charset="-78"/>
              </a:rPr>
              <a:t>Stroy</a:t>
            </a:r>
            <a:r>
              <a:rPr lang="fa-IR" sz="1000">
                <a:latin typeface="Alexandria Medium" pitchFamily="2" charset="-78"/>
                <a:cs typeface="Alexandria Medium" pitchFamily="2" charset="-78"/>
              </a:rPr>
              <a:t>ها برای اینکه بعداً به یکی از خودشان یا </a:t>
            </a:r>
            <a:r>
              <a:rPr lang="en-US" sz="1000">
                <a:latin typeface="Alexandria Medium" pitchFamily="2" charset="-78"/>
                <a:cs typeface="Alexandria Medium" pitchFamily="2" charset="-78"/>
              </a:rPr>
              <a:t>Story</a:t>
            </a:r>
            <a:r>
              <a:rPr lang="fa-IR" sz="1000">
                <a:latin typeface="Alexandria Medium" pitchFamily="2" charset="-78"/>
                <a:cs typeface="Alexandria Medium" pitchFamily="2" charset="-78"/>
              </a:rPr>
              <a:t>‌های مرتبط اما پیچیده‌تر ملحق شوند، جدا می‌شوند.</a:t>
            </a:r>
          </a:p>
          <a:p>
            <a:pPr algn="r" rtl="1">
              <a:lnSpc>
                <a:spcPts val="1400"/>
              </a:lnSpc>
            </a:pPr>
            <a:r>
              <a:rPr lang="fa-IR" sz="1000">
                <a:solidFill>
                  <a:srgbClr val="C00000"/>
                </a:solidFill>
                <a:latin typeface="Alexandria Medium" pitchFamily="2" charset="-78"/>
                <a:cs typeface="Alexandria Medium" pitchFamily="2" charset="-78"/>
              </a:rPr>
              <a:t>گام دوم </a:t>
            </a:r>
            <a:r>
              <a:rPr lang="fa-IR" sz="1000">
                <a:latin typeface="Alexandria Medium" pitchFamily="2" charset="-78"/>
                <a:cs typeface="Alexandria Medium" pitchFamily="2" charset="-78"/>
              </a:rPr>
              <a:t>حذف</a:t>
            </a:r>
            <a:r>
              <a:rPr lang="fa-IR" sz="1000">
                <a:solidFill>
                  <a:srgbClr val="0269AE"/>
                </a:solidFill>
                <a:latin typeface="Alexandria Medium" pitchFamily="2" charset="-78"/>
                <a:cs typeface="Alexandria Medium" pitchFamily="2" charset="-78"/>
              </a:rPr>
              <a:t> </a:t>
            </a:r>
            <a:r>
              <a:rPr lang="en-US" sz="1000">
                <a:solidFill>
                  <a:srgbClr val="0269AE"/>
                </a:solidFill>
                <a:latin typeface="Alexandria Medium" pitchFamily="2" charset="-78"/>
                <a:cs typeface="Alexandria Medium" pitchFamily="2" charset="-78"/>
              </a:rPr>
              <a:t>Stroy</a:t>
            </a:r>
            <a:r>
              <a:rPr lang="fa-IR" sz="1000">
                <a:solidFill>
                  <a:srgbClr val="0269AE"/>
                </a:solidFill>
                <a:latin typeface="Alexandria Medium" pitchFamily="2" charset="-78"/>
                <a:cs typeface="Alexandria Medium" pitchFamily="2" charset="-78"/>
              </a:rPr>
              <a:t> هایی</a:t>
            </a:r>
            <a:r>
              <a:rPr lang="fa-IR" sz="1000">
                <a:latin typeface="Alexandria Medium" pitchFamily="2" charset="-78"/>
                <a:cs typeface="Alexandria Medium" pitchFamily="2" charset="-78"/>
              </a:rPr>
              <a:t> است که در کمتر یا بیشتر یک روز توسط یک توسعه دهنده امکان پذیر است. آن </a:t>
            </a:r>
            <a:r>
              <a:rPr lang="en-US" sz="1000">
                <a:latin typeface="Alexandria Medium" pitchFamily="2" charset="-78"/>
                <a:cs typeface="Alexandria Medium" pitchFamily="2" charset="-78"/>
              </a:rPr>
              <a:t>Story</a:t>
            </a:r>
            <a:r>
              <a:rPr lang="fa-IR" sz="1000">
                <a:latin typeface="Alexandria Medium" pitchFamily="2" charset="-78"/>
                <a:cs typeface="Alexandria Medium" pitchFamily="2" charset="-78"/>
              </a:rPr>
              <a:t>ها به </a:t>
            </a:r>
            <a:r>
              <a:rPr kumimoji="0" lang="en-US" altLang="en-US" sz="1000" b="0" i="0" u="none" strike="noStrike" cap="none" normalizeH="0" baseline="0">
                <a:ln>
                  <a:noFill/>
                </a:ln>
                <a:solidFill>
                  <a:srgbClr val="105569"/>
                </a:solidFill>
                <a:effectLst/>
                <a:latin typeface="Alexandria Medium" pitchFamily="2" charset="-78"/>
                <a:ea typeface="Arial" panose="020B0604020202020204" pitchFamily="34" charset="0"/>
                <a:cs typeface="Alexandria Medium" pitchFamily="2" charset="-78"/>
              </a:rPr>
              <a:t>StoryPoint</a:t>
            </a:r>
            <a:r>
              <a:rPr lang="fa-IR" sz="1000">
                <a:latin typeface="Alexandria Medium" pitchFamily="2" charset="-78"/>
                <a:cs typeface="Alexandria Medium" pitchFamily="2" charset="-78"/>
              </a:rPr>
              <a:t> نسبت داده می شوند و از </a:t>
            </a:r>
            <a:r>
              <a:rPr lang="en-US" sz="1000">
                <a:latin typeface="Alexandria Medium" pitchFamily="2" charset="-78"/>
                <a:cs typeface="Alexandria Medium" pitchFamily="2" charset="-78"/>
              </a:rPr>
              <a:t>Story</a:t>
            </a:r>
            <a:r>
              <a:rPr lang="fa-IR" sz="1000">
                <a:latin typeface="Alexandria Medium" pitchFamily="2" charset="-78"/>
                <a:cs typeface="Alexandria Medium" pitchFamily="2" charset="-78"/>
              </a:rPr>
              <a:t> های پیچیده تری که در جدول باقی می مانند جدا می شوند.</a:t>
            </a:r>
          </a:p>
        </p:txBody>
      </p:sp>
      <p:sp>
        <p:nvSpPr>
          <p:cNvPr id="10" name="TextBox 9">
            <a:extLst>
              <a:ext uri="{FF2B5EF4-FFF2-40B4-BE49-F238E27FC236}">
                <a16:creationId xmlns:a16="http://schemas.microsoft.com/office/drawing/2014/main" id="{E04DA4EB-CDE9-9E4A-8DD3-B06E6278E2C3}"/>
              </a:ext>
            </a:extLst>
          </p:cNvPr>
          <p:cNvSpPr txBox="1"/>
          <p:nvPr/>
        </p:nvSpPr>
        <p:spPr>
          <a:xfrm>
            <a:off x="4572000" y="3166418"/>
            <a:ext cx="3925371" cy="1618007"/>
          </a:xfrm>
          <a:prstGeom prst="rect">
            <a:avLst/>
          </a:prstGeom>
          <a:noFill/>
        </p:spPr>
        <p:txBody>
          <a:bodyPr wrap="square" rtlCol="0">
            <a:spAutoFit/>
          </a:bodyPr>
          <a:lstStyle/>
          <a:p>
            <a:pPr algn="r" rtl="1">
              <a:lnSpc>
                <a:spcPts val="1520"/>
              </a:lnSpc>
            </a:pPr>
            <a:r>
              <a:rPr lang="fa-IR" sz="1100">
                <a:latin typeface="Alexandria Medium" pitchFamily="2" charset="-78"/>
                <a:cs typeface="Alexandria Medium" pitchFamily="2" charset="-78"/>
              </a:rPr>
              <a:t>تیم ممکن است از مقیاس های دیگری مانند 1، 2، 4، 8، 16، ... استفاده کند. </a:t>
            </a:r>
            <a:endParaRPr lang="en-US" sz="1100">
              <a:latin typeface="Alexandria Medium" pitchFamily="2" charset="-78"/>
              <a:cs typeface="Alexandria Medium" pitchFamily="2" charset="-78"/>
            </a:endParaRPr>
          </a:p>
          <a:p>
            <a:pPr algn="r" rtl="1">
              <a:lnSpc>
                <a:spcPts val="1520"/>
              </a:lnSpc>
            </a:pPr>
            <a:r>
              <a:rPr lang="fa-IR" sz="1100">
                <a:solidFill>
                  <a:srgbClr val="C00000"/>
                </a:solidFill>
                <a:latin typeface="Alexandria Medium" pitchFamily="2" charset="-78"/>
                <a:cs typeface="Alexandria Medium" pitchFamily="2" charset="-78"/>
              </a:rPr>
              <a:t>نکته مهم </a:t>
            </a:r>
            <a:r>
              <a:rPr lang="fa-IR" sz="1100">
                <a:latin typeface="Alexandria Medium" pitchFamily="2" charset="-78"/>
                <a:cs typeface="Alexandria Medium" pitchFamily="2" charset="-78"/>
              </a:rPr>
              <a:t>این است که آنها درک کنند که ایده در اینجا رسیدن به ارزش نیست، بلکه شناسایی </a:t>
            </a:r>
            <a:r>
              <a:rPr lang="en-US" sz="1100">
                <a:latin typeface="Alexandria Medium" pitchFamily="2" charset="-78"/>
                <a:cs typeface="Alexandria Medium" pitchFamily="2" charset="-78"/>
              </a:rPr>
              <a:t>Stroy</a:t>
            </a:r>
            <a:r>
              <a:rPr lang="fa-IR" sz="1100">
                <a:latin typeface="Alexandria Medium" pitchFamily="2" charset="-78"/>
                <a:cs typeface="Alexandria Medium" pitchFamily="2" charset="-78"/>
              </a:rPr>
              <a:t>هایی است که از نظر داستان مشابه هستند. تلاش برای توسعه این ایده مبتنی بر این واقعیت است که یک انسان معمولاً نمی داند وزن یک اسب بالغ چقدر است، اما می داند که وزن آن بیشتر از یک سگ و کمتر از یک فیل است.</a:t>
            </a:r>
            <a:endParaRPr lang="en-US" sz="1100">
              <a:latin typeface="Alexandria Medium" pitchFamily="2" charset="-78"/>
              <a:cs typeface="Alexandria Medium" pitchFamily="2" charset="-78"/>
            </a:endParaRPr>
          </a:p>
        </p:txBody>
      </p:sp>
    </p:spTree>
    <p:extLst>
      <p:ext uri="{BB962C8B-B14F-4D97-AF65-F5344CB8AC3E}">
        <p14:creationId xmlns:p14="http://schemas.microsoft.com/office/powerpoint/2010/main" val="1241145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2500"/>
                            </p:stCondLst>
                            <p:childTnLst>
                              <p:par>
                                <p:cTn id="9" presetID="10" presetClass="entr" presetSubtype="0" fill="hold" grpId="0" nodeType="afterEffect">
                                  <p:stCondLst>
                                    <p:cond delay="20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2"/>
          <p:cNvSpPr txBox="1">
            <a:spLocks noGrp="1"/>
          </p:cNvSpPr>
          <p:nvPr>
            <p:ph type="title"/>
          </p:nvPr>
        </p:nvSpPr>
        <p:spPr>
          <a:xfrm>
            <a:off x="715050" y="82799"/>
            <a:ext cx="7713900" cy="548700"/>
          </a:xfrm>
          <a:prstGeom prst="rect">
            <a:avLst/>
          </a:prstGeom>
          <a:ln>
            <a:noFill/>
          </a:ln>
        </p:spPr>
        <p:txBody>
          <a:bodyPr spcFirstLastPara="1" wrap="square" lIns="91425" tIns="91425" rIns="91425" bIns="91425" anchor="t" anchorCtr="0">
            <a:noAutofit/>
          </a:bodyPr>
          <a:lstStyle/>
          <a:p>
            <a:pPr algn="ctr" rtl="1"/>
            <a:r>
              <a:rPr lang="en-US" sz="2400">
                <a:solidFill>
                  <a:srgbClr val="2B5B6B"/>
                </a:solidFill>
                <a:effectLst/>
                <a:latin typeface="Alexandria Medium" pitchFamily="2" charset="-78"/>
                <a:cs typeface="Alexandria Medium" pitchFamily="2" charset="-78"/>
              </a:rPr>
              <a:t> </a:t>
            </a:r>
            <a:r>
              <a:rPr lang="fa-IR" sz="2400">
                <a:solidFill>
                  <a:srgbClr val="2B5B6B"/>
                </a:solidFill>
                <a:effectLst/>
                <a:latin typeface="Alexandria Medium" pitchFamily="2" charset="-78"/>
                <a:cs typeface="Alexandria Medium" pitchFamily="2" charset="-78"/>
              </a:rPr>
              <a:t>دو روش برای تخمین </a:t>
            </a:r>
            <a:r>
              <a:rPr lang="en-US" sz="2400">
                <a:solidFill>
                  <a:srgbClr val="2B5B6B"/>
                </a:solidFill>
                <a:latin typeface="Alexandria Medium" pitchFamily="2" charset="-78"/>
                <a:cs typeface="Alexandria Medium" pitchFamily="2" charset="-78"/>
              </a:rPr>
              <a:t>StoryPoint</a:t>
            </a:r>
            <a:endParaRPr lang="en-US" sz="3200">
              <a:effectLst/>
              <a:latin typeface="Alexandria Medium" pitchFamily="2" charset="-78"/>
              <a:cs typeface="Alexandria Medium" pitchFamily="2" charset="-78"/>
            </a:endParaRPr>
          </a:p>
        </p:txBody>
      </p:sp>
      <p:sp>
        <p:nvSpPr>
          <p:cNvPr id="535" name="Google Shape;535;p62"/>
          <p:cNvSpPr txBox="1"/>
          <p:nvPr/>
        </p:nvSpPr>
        <p:spPr>
          <a:xfrm>
            <a:off x="4688325" y="2098364"/>
            <a:ext cx="3867095" cy="337442"/>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a:solidFill>
                  <a:srgbClr val="7F0000"/>
                </a:solidFill>
                <a:effectLst/>
                <a:latin typeface="Alexandria Medium" pitchFamily="2" charset="-78"/>
                <a:cs typeface="Alexandria Medium" pitchFamily="2" charset="-78"/>
              </a:rPr>
              <a:t>Planning poker </a:t>
            </a:r>
            <a:endParaRPr lang="en-US" sz="1800">
              <a:effectLst/>
              <a:latin typeface="Alexandria Medium" pitchFamily="2" charset="-78"/>
              <a:cs typeface="Alexandria Medium" pitchFamily="2" charset="-78"/>
            </a:endParaRPr>
          </a:p>
        </p:txBody>
      </p:sp>
      <p:sp>
        <p:nvSpPr>
          <p:cNvPr id="537" name="Google Shape;537;p62"/>
          <p:cNvSpPr txBox="1"/>
          <p:nvPr/>
        </p:nvSpPr>
        <p:spPr>
          <a:xfrm>
            <a:off x="4688325" y="2633587"/>
            <a:ext cx="3867095" cy="2243213"/>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274320" lvl="0" indent="-213359" algn="l" rtl="0">
              <a:spcBef>
                <a:spcPts val="0"/>
              </a:spcBef>
              <a:spcAft>
                <a:spcPts val="0"/>
              </a:spcAft>
              <a:buClr>
                <a:schemeClr val="lt2"/>
              </a:buClr>
              <a:buSzPts val="1200"/>
              <a:buFont typeface="Albert Sans"/>
              <a:buChar char="■"/>
            </a:pPr>
            <a:endParaRPr sz="1200">
              <a:solidFill>
                <a:schemeClr val="dk1"/>
              </a:solidFill>
              <a:latin typeface="Albert Sans"/>
              <a:ea typeface="Albert Sans"/>
              <a:cs typeface="Albert Sans"/>
              <a:sym typeface="Albert Sans"/>
            </a:endParaRPr>
          </a:p>
        </p:txBody>
      </p:sp>
      <p:sp>
        <p:nvSpPr>
          <p:cNvPr id="538" name="Google Shape;538;p62"/>
          <p:cNvSpPr txBox="1"/>
          <p:nvPr/>
        </p:nvSpPr>
        <p:spPr>
          <a:xfrm>
            <a:off x="715050" y="680190"/>
            <a:ext cx="7713950" cy="1097810"/>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ما دیده‌ایم که آزمایشگاه پل از یک روش تخمینی استفاده می‌کند که یک </a:t>
            </a:r>
            <a:r>
              <a:rPr lang="en-US" sz="1000">
                <a:solidFill>
                  <a:schemeClr val="tx1">
                    <a:lumMod val="90000"/>
                    <a:lumOff val="10000"/>
                  </a:schemeClr>
                </a:solidFill>
                <a:latin typeface="Alexandria Medium" pitchFamily="2" charset="-78"/>
                <a:cs typeface="Alexandria Medium" pitchFamily="2" charset="-78"/>
              </a:rPr>
              <a:t>ن</a:t>
            </a:r>
            <a:r>
              <a:rPr lang="fa-IR" sz="1000">
                <a:solidFill>
                  <a:schemeClr val="tx1">
                    <a:lumMod val="90000"/>
                    <a:lumOff val="10000"/>
                  </a:schemeClr>
                </a:solidFill>
                <a:latin typeface="Alexandria Medium" pitchFamily="2" charset="-78"/>
                <a:cs typeface="Alexandria Medium" pitchFamily="2" charset="-78"/>
              </a:rPr>
              <a:t>وع</a:t>
            </a:r>
            <a:r>
              <a:rPr lang="fa-IR" sz="1000">
                <a:solidFill>
                  <a:schemeClr val="tx1">
                    <a:lumMod val="90000"/>
                    <a:lumOff val="10000"/>
                  </a:schemeClr>
                </a:solidFill>
                <a:effectLst/>
                <a:latin typeface="Alexandria Medium" pitchFamily="2" charset="-78"/>
                <a:cs typeface="Alexandria Medium" pitchFamily="2" charset="-78"/>
              </a:rPr>
              <a:t> از متخصصان کاربر است.</a:t>
            </a:r>
            <a:endParaRPr lang="en-US" sz="1000">
              <a:solidFill>
                <a:schemeClr val="tx1">
                  <a:lumMod val="90000"/>
                  <a:lumOff val="10000"/>
                </a:schemeClr>
              </a:solidFill>
              <a:effectLst/>
              <a:latin typeface="Alexandria Medium" pitchFamily="2" charset="-78"/>
              <a:cs typeface="Alexandria Medium" pitchFamily="2" charset="-78"/>
            </a:endParaRP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 </a:t>
            </a:r>
            <a:r>
              <a:rPr lang="fa-IR" sz="1000">
                <a:solidFill>
                  <a:srgbClr val="C00000"/>
                </a:solidFill>
                <a:effectLst/>
                <a:latin typeface="Alexandria Medium" pitchFamily="2" charset="-78"/>
                <a:cs typeface="Alexandria Medium" pitchFamily="2" charset="-78"/>
              </a:rPr>
              <a:t>تفاوت</a:t>
            </a:r>
            <a:r>
              <a:rPr lang="fa-IR" sz="1000">
                <a:solidFill>
                  <a:schemeClr val="tx1">
                    <a:lumMod val="90000"/>
                    <a:lumOff val="10000"/>
                  </a:schemeClr>
                </a:solidFill>
                <a:effectLst/>
                <a:latin typeface="Alexandria Medium" pitchFamily="2" charset="-78"/>
                <a:cs typeface="Alexandria Medium" pitchFamily="2" charset="-78"/>
              </a:rPr>
              <a:t> این است که کارشناس به تنهایی تخمین نمی زند، تخمین با یک یا چند تیم اجایل انجام می شود. </a:t>
            </a: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تیم های احایل آزادند تا از تکنیک تخمینی که ترجیح می دهند استفاده کنند، با توجه به اینکه نتیجه را در </a:t>
            </a:r>
            <a:r>
              <a:rPr lang="en-US" sz="1000">
                <a:solidFill>
                  <a:schemeClr val="tx1">
                    <a:lumMod val="90000"/>
                    <a:lumOff val="10000"/>
                  </a:schemeClr>
                </a:solidFill>
                <a:effectLst/>
                <a:latin typeface="Alexandria Medium" pitchFamily="2" charset="-78"/>
                <a:cs typeface="Alexandria Medium" pitchFamily="2" charset="-78"/>
              </a:rPr>
              <a:t> </a:t>
            </a:r>
            <a:r>
              <a:rPr lang="en-US" sz="1000" b="1">
                <a:solidFill>
                  <a:schemeClr val="bg2">
                    <a:lumMod val="25000"/>
                  </a:schemeClr>
                </a:solidFill>
                <a:latin typeface="Alexandria Medium" pitchFamily="2" charset="-78"/>
                <a:cs typeface="Alexandria Medium" pitchFamily="2" charset="-78"/>
              </a:rPr>
              <a:t>StoryPoint</a:t>
            </a:r>
            <a:r>
              <a:rPr lang="fa-IR" sz="1000">
                <a:solidFill>
                  <a:schemeClr val="tx1">
                    <a:lumMod val="90000"/>
                    <a:lumOff val="10000"/>
                  </a:schemeClr>
                </a:solidFill>
                <a:effectLst/>
                <a:latin typeface="Alexandria Medium" pitchFamily="2" charset="-78"/>
                <a:cs typeface="Alexandria Medium" pitchFamily="2" charset="-78"/>
              </a:rPr>
              <a:t>ارائه می دهند.</a:t>
            </a:r>
            <a:endParaRPr lang="en-US" sz="1000">
              <a:solidFill>
                <a:schemeClr val="tx1">
                  <a:lumMod val="90000"/>
                  <a:lumOff val="10000"/>
                </a:schemeClr>
              </a:solidFill>
              <a:effectLst/>
              <a:latin typeface="Alexandria Medium" pitchFamily="2" charset="-78"/>
              <a:cs typeface="Alexandria Medium" pitchFamily="2" charset="-78"/>
            </a:endParaRPr>
          </a:p>
          <a:p>
            <a:pPr marR="0" algn="ctr" rtl="1">
              <a:lnSpc>
                <a:spcPts val="1620"/>
              </a:lnSpc>
              <a:spcBef>
                <a:spcPts val="0"/>
              </a:spcBef>
              <a:spcAft>
                <a:spcPts val="0"/>
              </a:spcAft>
              <a:buClr>
                <a:srgbClr val="000000"/>
              </a:buClr>
              <a:buFont typeface="Arial"/>
            </a:pPr>
            <a:r>
              <a:rPr lang="fa-IR" sz="1000">
                <a:solidFill>
                  <a:schemeClr val="tx1">
                    <a:lumMod val="90000"/>
                    <a:lumOff val="10000"/>
                  </a:schemeClr>
                </a:solidFill>
                <a:effectLst/>
                <a:latin typeface="Alexandria Medium" pitchFamily="2" charset="-78"/>
                <a:cs typeface="Alexandria Medium" pitchFamily="2" charset="-78"/>
              </a:rPr>
              <a:t> </a:t>
            </a:r>
            <a:r>
              <a:rPr lang="fa-IR" sz="1050">
                <a:solidFill>
                  <a:srgbClr val="0269AE"/>
                </a:solidFill>
                <a:effectLst/>
                <a:latin typeface="Alexandria Medium" pitchFamily="2" charset="-78"/>
                <a:cs typeface="Alexandria Medium" pitchFamily="2" charset="-78"/>
              </a:rPr>
              <a:t>دو مورد از این تکنیک ها در زیر بخش های زیر ارائه شده است.</a:t>
            </a:r>
            <a:endParaRPr lang="en-US" sz="1050">
              <a:solidFill>
                <a:srgbClr val="0269AE"/>
              </a:solidFill>
              <a:effectLst/>
              <a:latin typeface="Alexandria Medium" pitchFamily="2" charset="-78"/>
              <a:cs typeface="Alexandria Medium" pitchFamily="2" charset="-78"/>
            </a:endParaRPr>
          </a:p>
        </p:txBody>
      </p:sp>
      <p:cxnSp>
        <p:nvCxnSpPr>
          <p:cNvPr id="540" name="Google Shape;540;p62"/>
          <p:cNvCxnSpPr>
            <a:cxnSpLocks/>
            <a:stCxn id="538" idx="2"/>
            <a:endCxn id="535" idx="0"/>
          </p:cNvCxnSpPr>
          <p:nvPr/>
        </p:nvCxnSpPr>
        <p:spPr>
          <a:xfrm rot="16200000" flipH="1">
            <a:off x="5436767" y="913258"/>
            <a:ext cx="320364" cy="2049848"/>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542" name="Google Shape;542;p62"/>
          <p:cNvCxnSpPr>
            <a:cxnSpLocks/>
          </p:cNvCxnSpPr>
          <p:nvPr/>
        </p:nvCxnSpPr>
        <p:spPr>
          <a:xfrm rot="5400000">
            <a:off x="6529334" y="2534695"/>
            <a:ext cx="191431" cy="6352"/>
          </a:xfrm>
          <a:prstGeom prst="bentConnector3">
            <a:avLst>
              <a:gd name="adj1" fmla="val 103074"/>
            </a:avLst>
          </a:prstGeom>
          <a:noFill/>
          <a:ln w="9525"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D48BDF6E-47EA-094D-89E2-10D590F54026}"/>
              </a:ext>
            </a:extLst>
          </p:cNvPr>
          <p:cNvSpPr txBox="1"/>
          <p:nvPr/>
        </p:nvSpPr>
        <p:spPr>
          <a:xfrm>
            <a:off x="430583" y="2389650"/>
            <a:ext cx="3829166" cy="1916166"/>
          </a:xfrm>
          <a:prstGeom prst="rect">
            <a:avLst/>
          </a:prstGeom>
          <a:noFill/>
        </p:spPr>
        <p:txBody>
          <a:bodyPr wrap="square" rtlCol="0">
            <a:spAutoFit/>
          </a:bodyPr>
          <a:lstStyle/>
          <a:p>
            <a:pPr algn="r" rtl="1">
              <a:lnSpc>
                <a:spcPts val="1560"/>
              </a:lnSpc>
            </a:pPr>
            <a:r>
              <a:rPr lang="fa-IR" sz="900">
                <a:solidFill>
                  <a:srgbClr val="105569"/>
                </a:solidFill>
                <a:latin typeface="Alexandria Medium" pitchFamily="2" charset="-78"/>
                <a:cs typeface="Alexandria Medium" pitchFamily="2" charset="-78"/>
              </a:rPr>
              <a:t> اگر یک یا چند نفر مخالفت زیادی داشته باشند، مثلاً 3، 2، 3، 20، 3، 5، 2، که در آن "20" از میانگین اعداد دیگر فاصله زیادی دارد، آنگاه عضوی که مخالف باید توضیح دهد که چرا این کار را انجام داده است، و تیم درباره معتبر بودن یا نبودن دلایل بحث خواهد کرد. سپس دور دوم انجام می شود و مقادیر مشابه بیشتری انتظار می رود. اگر اختلاف دوباره اتفاق بیفتد، تیم ممکن است دوباره بحث کند و رای دهد. ادامه بحث پس از دور دوم ممکن است خسته کننده و بی فایده باشد. سپس، اگر شبه توافقی به دست نیامد، تعداد امتیازهای کاربر ممکن است به صورت زیر محاسبه شود:</a:t>
            </a:r>
            <a:endParaRPr lang="en-US" sz="900">
              <a:solidFill>
                <a:srgbClr val="105569"/>
              </a:solidFill>
              <a:latin typeface="Alexandria Medium" pitchFamily="2" charset="-78"/>
              <a:cs typeface="Alexandria Medium" pitchFamily="2" charset="-78"/>
            </a:endParaRPr>
          </a:p>
        </p:txBody>
      </p:sp>
      <p:sp>
        <p:nvSpPr>
          <p:cNvPr id="3" name="TextBox 2">
            <a:extLst>
              <a:ext uri="{FF2B5EF4-FFF2-40B4-BE49-F238E27FC236}">
                <a16:creationId xmlns:a16="http://schemas.microsoft.com/office/drawing/2014/main" id="{286C908B-89C1-4A4F-957B-7017F77A9311}"/>
              </a:ext>
            </a:extLst>
          </p:cNvPr>
          <p:cNvSpPr txBox="1"/>
          <p:nvPr/>
        </p:nvSpPr>
        <p:spPr>
          <a:xfrm>
            <a:off x="4688325" y="2754631"/>
            <a:ext cx="3867095" cy="2001125"/>
          </a:xfrm>
          <a:prstGeom prst="rect">
            <a:avLst/>
          </a:prstGeom>
          <a:noFill/>
        </p:spPr>
        <p:txBody>
          <a:bodyPr wrap="square" rtlCol="0">
            <a:spAutoFit/>
          </a:bodyPr>
          <a:lstStyle/>
          <a:p>
            <a:pPr algn="r" rtl="1">
              <a:lnSpc>
                <a:spcPts val="1460"/>
              </a:lnSpc>
            </a:pPr>
            <a:r>
              <a:rPr lang="fa-IR" sz="1050">
                <a:latin typeface="Alexandria Medium" pitchFamily="2" charset="-78"/>
                <a:cs typeface="Alexandria Medium" pitchFamily="2" charset="-78"/>
              </a:rPr>
              <a:t>راه دیگر برای تخمین تلاش برای یک </a:t>
            </a:r>
            <a:r>
              <a:rPr lang="en-US" sz="1050">
                <a:latin typeface="Alexandria Medium" pitchFamily="2" charset="-78"/>
                <a:cs typeface="Alexandria Medium" pitchFamily="2" charset="-78"/>
              </a:rPr>
              <a:t> </a:t>
            </a:r>
            <a:r>
              <a:rPr lang="en-US" sz="1050">
                <a:solidFill>
                  <a:srgbClr val="0269AE"/>
                </a:solidFill>
                <a:latin typeface="Alexandria Medium" pitchFamily="2" charset="-78"/>
                <a:cs typeface="Alexandria Medium" pitchFamily="2" charset="-78"/>
              </a:rPr>
              <a:t>UserStory </a:t>
            </a:r>
            <a:r>
              <a:rPr lang="fa-IR" sz="1050">
                <a:latin typeface="Alexandria Medium" pitchFamily="2" charset="-78"/>
                <a:cs typeface="Alexandria Medium" pitchFamily="2" charset="-78"/>
              </a:rPr>
              <a:t>یا </a:t>
            </a:r>
            <a:r>
              <a:rPr kumimoji="0" lang="en-US" altLang="en-US" sz="1050" b="0" i="0" u="none" strike="noStrike" cap="none" normalizeH="0" baseline="0">
                <a:ln>
                  <a:noFill/>
                </a:ln>
                <a:solidFill>
                  <a:srgbClr val="0269AE"/>
                </a:solidFill>
                <a:effectLst/>
                <a:latin typeface="Alexandria Medium" pitchFamily="2" charset="-78"/>
                <a:ea typeface="Arial" panose="020B0604020202020204" pitchFamily="34" charset="0"/>
                <a:cs typeface="Alexandria Medium" pitchFamily="2" charset="-78"/>
              </a:rPr>
              <a:t>Use-case</a:t>
            </a:r>
            <a:r>
              <a:rPr kumimoji="0" lang="en-US" altLang="en-US" sz="900" b="0" i="0" u="none" strike="noStrike" cap="none" normalizeH="0" baseline="0">
                <a:ln>
                  <a:noFill/>
                </a:ln>
                <a:solidFill>
                  <a:schemeClr val="tx1"/>
                </a:solidFill>
                <a:effectLst/>
              </a:rPr>
              <a:t> </a:t>
            </a:r>
            <a:endParaRPr kumimoji="0" lang="en-US" altLang="en-US" sz="2000" b="0" i="0" u="none" strike="noStrike" cap="none" normalizeH="0" baseline="0">
              <a:ln>
                <a:noFill/>
              </a:ln>
              <a:solidFill>
                <a:schemeClr val="tx1"/>
              </a:solidFill>
              <a:effectLst/>
              <a:latin typeface="Arial" panose="020B0604020202020204" pitchFamily="34" charset="0"/>
            </a:endParaRPr>
          </a:p>
          <a:p>
            <a:pPr algn="r" rtl="1">
              <a:lnSpc>
                <a:spcPts val="1460"/>
              </a:lnSpc>
            </a:pPr>
            <a:r>
              <a:rPr lang="fa-IR" sz="1050">
                <a:latin typeface="Alexandria Medium" pitchFamily="2" charset="-78"/>
                <a:cs typeface="Alexandria Medium" pitchFamily="2" charset="-78"/>
              </a:rPr>
              <a:t> این است که به هر یک از اعضای تیم مجموعه‌ای از کارت‌هایی بدهید که نشان‌دهنده اعداد در مقیاس گرد شده فیبوناچی و رای دادن است. </a:t>
            </a:r>
            <a:endParaRPr lang="en-US" sz="1050">
              <a:latin typeface="Alexandria Medium" pitchFamily="2" charset="-78"/>
              <a:cs typeface="Alexandria Medium" pitchFamily="2" charset="-78"/>
            </a:endParaRPr>
          </a:p>
          <a:p>
            <a:pPr algn="r" rtl="1">
              <a:lnSpc>
                <a:spcPts val="1460"/>
              </a:lnSpc>
            </a:pPr>
            <a:r>
              <a:rPr lang="fa-IR" sz="1050">
                <a:solidFill>
                  <a:schemeClr val="bg1">
                    <a:lumMod val="25000"/>
                  </a:schemeClr>
                </a:solidFill>
                <a:latin typeface="Alexandria Medium" pitchFamily="2" charset="-78"/>
                <a:cs typeface="Alexandria Medium" pitchFamily="2" charset="-78"/>
              </a:rPr>
              <a:t>فرآیند رای گیری به این صورت انجام می شود</a:t>
            </a:r>
            <a:r>
              <a:rPr lang="fa-IR" sz="1050">
                <a:latin typeface="Alexandria Medium" pitchFamily="2" charset="-78"/>
                <a:cs typeface="Alexandria Medium" pitchFamily="2" charset="-78"/>
              </a:rPr>
              <a:t>: یک </a:t>
            </a:r>
            <a:r>
              <a:rPr lang="en-US" sz="1050">
                <a:solidFill>
                  <a:srgbClr val="0269AE"/>
                </a:solidFill>
                <a:latin typeface="Alexandria Medium" pitchFamily="2" charset="-78"/>
                <a:cs typeface="Alexandria Medium" pitchFamily="2" charset="-78"/>
              </a:rPr>
              <a:t>UserStory</a:t>
            </a:r>
            <a:r>
              <a:rPr lang="fa-IR" sz="1050">
                <a:latin typeface="Alexandria Medium" pitchFamily="2" charset="-78"/>
                <a:cs typeface="Alexandria Medium" pitchFamily="2" charset="-78"/>
              </a:rPr>
              <a:t> یا </a:t>
            </a:r>
            <a:r>
              <a:rPr lang="en-US" sz="1050">
                <a:latin typeface="Alexandria Medium" pitchFamily="2" charset="-78"/>
                <a:cs typeface="Alexandria Medium" pitchFamily="2" charset="-78"/>
              </a:rPr>
              <a:t> </a:t>
            </a:r>
            <a:r>
              <a:rPr kumimoji="0" lang="en-US" altLang="en-US" sz="1050" b="0" i="0" u="none" strike="noStrike" cap="none" normalizeH="0" baseline="0">
                <a:ln>
                  <a:noFill/>
                </a:ln>
                <a:solidFill>
                  <a:srgbClr val="0269AE"/>
                </a:solidFill>
                <a:effectLst/>
                <a:latin typeface="Alexandria Medium" pitchFamily="2" charset="-78"/>
                <a:ea typeface="Arial" panose="020B0604020202020204" pitchFamily="34" charset="0"/>
                <a:cs typeface="Alexandria Medium" pitchFamily="2" charset="-78"/>
              </a:rPr>
              <a:t>Use-case</a:t>
            </a:r>
            <a:r>
              <a:rPr kumimoji="0" lang="en-US" altLang="en-US" sz="900" b="0" i="0" u="none" strike="noStrike" cap="none" normalizeH="0" baseline="0">
                <a:ln>
                  <a:noFill/>
                </a:ln>
                <a:solidFill>
                  <a:schemeClr val="tx1"/>
                </a:solidFill>
                <a:effectLst/>
              </a:rPr>
              <a:t> </a:t>
            </a:r>
            <a:r>
              <a:rPr lang="fa-IR" sz="1050">
                <a:latin typeface="Alexandria Medium" pitchFamily="2" charset="-78"/>
                <a:cs typeface="Alexandria Medium" pitchFamily="2" charset="-78"/>
              </a:rPr>
              <a:t>از پشته یا لیست انتخاب شده و توسط تیم ارائه و مورد بحث قرار می گیرد. سپس، هر یک از اعضای تیم یک کارت را روی میز قرار می دهد که شماره آن برای سایر اعضا پنهان است. وقتی همه کارت های خود را گذاشتند، همه آنها باز هستند. </a:t>
            </a:r>
            <a:endParaRPr lang="en-US" sz="1050">
              <a:latin typeface="Alexandria Medium" pitchFamily="2" charset="-78"/>
              <a:cs typeface="Alexandria Medium" pitchFamily="2" charset="-78"/>
            </a:endParaRPr>
          </a:p>
        </p:txBody>
      </p:sp>
      <p:sp>
        <p:nvSpPr>
          <p:cNvPr id="7" name="TextBox 6">
            <a:extLst>
              <a:ext uri="{FF2B5EF4-FFF2-40B4-BE49-F238E27FC236}">
                <a16:creationId xmlns:a16="http://schemas.microsoft.com/office/drawing/2014/main" id="{9A9FECC7-8346-0F4F-B08E-B57816741E34}"/>
              </a:ext>
            </a:extLst>
          </p:cNvPr>
          <p:cNvSpPr txBox="1"/>
          <p:nvPr/>
        </p:nvSpPr>
        <p:spPr>
          <a:xfrm>
            <a:off x="430583" y="1910223"/>
            <a:ext cx="3828971" cy="479427"/>
          </a:xfrm>
          <a:prstGeom prst="rect">
            <a:avLst/>
          </a:prstGeom>
          <a:noFill/>
        </p:spPr>
        <p:txBody>
          <a:bodyPr wrap="square" rtlCol="0">
            <a:spAutoFit/>
          </a:bodyPr>
          <a:lstStyle/>
          <a:p>
            <a:pPr algn="r" rtl="1">
              <a:lnSpc>
                <a:spcPts val="1620"/>
              </a:lnSpc>
            </a:pPr>
            <a:r>
              <a:rPr lang="fa-IR" sz="900">
                <a:latin typeface="Alexandria Medium" pitchFamily="2" charset="-78"/>
                <a:cs typeface="Alexandria Medium" pitchFamily="2" charset="-78"/>
              </a:rPr>
              <a:t>اگر آنها کم و بیش موافقت کردند، به عنوان مثال، 3، 5، 3، 3، 3، 2، 3، میانگین گرد شده آنها به عنوان امتیاز کاربر آنها تخصیص داده می شود.</a:t>
            </a:r>
            <a:endParaRPr lang="en-US" sz="900"/>
          </a:p>
        </p:txBody>
      </p:sp>
      <p:sp>
        <p:nvSpPr>
          <p:cNvPr id="15" name="TextBox 14">
            <a:extLst>
              <a:ext uri="{FF2B5EF4-FFF2-40B4-BE49-F238E27FC236}">
                <a16:creationId xmlns:a16="http://schemas.microsoft.com/office/drawing/2014/main" id="{85AF7B94-57E4-034E-B7BD-3D47E36E89BF}"/>
              </a:ext>
            </a:extLst>
          </p:cNvPr>
          <p:cNvSpPr txBox="1"/>
          <p:nvPr/>
        </p:nvSpPr>
        <p:spPr>
          <a:xfrm>
            <a:off x="897913" y="4075536"/>
            <a:ext cx="4350123" cy="307777"/>
          </a:xfrm>
          <a:prstGeom prst="rect">
            <a:avLst/>
          </a:prstGeom>
          <a:noFill/>
        </p:spPr>
        <p:txBody>
          <a:bodyPr wrap="square" rtlCol="0">
            <a:spAutoFit/>
          </a:bodyPr>
          <a:lstStyle/>
          <a:p>
            <a:r>
              <a:rPr lang="en-US">
                <a:latin typeface="Alexandria Medium" pitchFamily="2" charset="-78"/>
                <a:cs typeface="Alexandria Medium" pitchFamily="2" charset="-78"/>
              </a:rPr>
              <a:t>UP = (W</a:t>
            </a:r>
            <a:r>
              <a:rPr lang="en-US" sz="600">
                <a:latin typeface="Alexandria Medium" pitchFamily="2" charset="-78"/>
                <a:cs typeface="Alexandria Medium" pitchFamily="2" charset="-78"/>
              </a:rPr>
              <a:t>MAX</a:t>
            </a:r>
            <a:r>
              <a:rPr lang="en-US">
                <a:latin typeface="Alexandria Medium" pitchFamily="2" charset="-78"/>
                <a:cs typeface="Alexandria Medium" pitchFamily="2" charset="-78"/>
              </a:rPr>
              <a:t> + W</a:t>
            </a:r>
            <a:r>
              <a:rPr lang="en-US" sz="700">
                <a:latin typeface="Alexandria Medium" pitchFamily="2" charset="-78"/>
                <a:cs typeface="Alexandria Medium" pitchFamily="2" charset="-78"/>
              </a:rPr>
              <a:t>MIN</a:t>
            </a:r>
            <a:r>
              <a:rPr lang="en-US">
                <a:latin typeface="Alexandria Medium" pitchFamily="2" charset="-78"/>
                <a:cs typeface="Alexandria Medium" pitchFamily="2" charset="-78"/>
              </a:rPr>
              <a:t> + 4 x W</a:t>
            </a:r>
            <a:r>
              <a:rPr lang="en-US" sz="500">
                <a:latin typeface="Alexandria Medium" pitchFamily="2" charset="-78"/>
                <a:cs typeface="Alexandria Medium" pitchFamily="2" charset="-78"/>
              </a:rPr>
              <a:t>AVERAGE</a:t>
            </a:r>
            <a:r>
              <a:rPr lang="en-US">
                <a:latin typeface="Alexandria Medium" pitchFamily="2" charset="-78"/>
                <a:cs typeface="Alexandria Medium" pitchFamily="2" charset="-78"/>
              </a:rPr>
              <a:t>) / 6</a:t>
            </a:r>
          </a:p>
        </p:txBody>
      </p:sp>
      <p:cxnSp>
        <p:nvCxnSpPr>
          <p:cNvPr id="19" name="Elbow Connector 18">
            <a:extLst>
              <a:ext uri="{FF2B5EF4-FFF2-40B4-BE49-F238E27FC236}">
                <a16:creationId xmlns:a16="http://schemas.microsoft.com/office/drawing/2014/main" id="{AD5231F9-30E2-0647-843D-C85284E18AD1}"/>
              </a:ext>
            </a:extLst>
          </p:cNvPr>
          <p:cNvCxnSpPr>
            <a:stCxn id="537" idx="1"/>
            <a:endCxn id="7" idx="3"/>
          </p:cNvCxnSpPr>
          <p:nvPr/>
        </p:nvCxnSpPr>
        <p:spPr>
          <a:xfrm rot="10800000">
            <a:off x="4259555" y="2149938"/>
            <a:ext cx="428771" cy="160525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E0D5432-E2A4-CA42-8A11-2673F5AB1FFD}"/>
              </a:ext>
            </a:extLst>
          </p:cNvPr>
          <p:cNvSpPr txBox="1"/>
          <p:nvPr/>
        </p:nvSpPr>
        <p:spPr>
          <a:xfrm>
            <a:off x="278101" y="4353088"/>
            <a:ext cx="3981453" cy="614527"/>
          </a:xfrm>
          <a:prstGeom prst="rect">
            <a:avLst/>
          </a:prstGeom>
          <a:noFill/>
        </p:spPr>
        <p:txBody>
          <a:bodyPr wrap="square" rtlCol="0">
            <a:spAutoFit/>
          </a:bodyPr>
          <a:lstStyle/>
          <a:p>
            <a:pPr algn="r" rtl="1">
              <a:lnSpc>
                <a:spcPts val="1380"/>
              </a:lnSpc>
            </a:pPr>
            <a:r>
              <a:rPr lang="en-US" sz="800">
                <a:solidFill>
                  <a:schemeClr val="bg2">
                    <a:lumMod val="50000"/>
                  </a:schemeClr>
                </a:solidFill>
                <a:latin typeface="Alexandria Medium" pitchFamily="2" charset="-78"/>
                <a:cs typeface="Alexandria Medium" pitchFamily="2" charset="-78"/>
              </a:rPr>
              <a:t>UP </a:t>
            </a:r>
            <a:r>
              <a:rPr lang="fa-IR" sz="800">
                <a:solidFill>
                  <a:schemeClr val="bg2">
                    <a:lumMod val="50000"/>
                  </a:schemeClr>
                </a:solidFill>
                <a:latin typeface="Alexandria Medium" pitchFamily="2" charset="-78"/>
                <a:cs typeface="Alexandria Medium" pitchFamily="2" charset="-78"/>
              </a:rPr>
              <a:t>تعداد امتیازهای کاربر اختصاص داده شده به </a:t>
            </a:r>
            <a:r>
              <a:rPr lang="en-US" sz="800">
                <a:solidFill>
                  <a:srgbClr val="0269AE"/>
                </a:solidFill>
                <a:latin typeface="Alexandria Medium" pitchFamily="2" charset="-78"/>
                <a:cs typeface="Alexandria Medium" pitchFamily="2" charset="-78"/>
              </a:rPr>
              <a:t>UserStory</a:t>
            </a:r>
            <a:r>
              <a:rPr lang="fa-IR" sz="800">
                <a:solidFill>
                  <a:schemeClr val="bg2">
                    <a:lumMod val="50000"/>
                  </a:schemeClr>
                </a:solidFill>
                <a:latin typeface="Alexandria Medium" pitchFamily="2" charset="-78"/>
                <a:cs typeface="Alexandria Medium" pitchFamily="2" charset="-78"/>
              </a:rPr>
              <a:t> یا </a:t>
            </a:r>
            <a:r>
              <a:rPr kumimoji="0" lang="en-US" altLang="en-US" sz="800" b="0" i="0" u="none" strike="noStrike" cap="none" normalizeH="0" baseline="0">
                <a:ln>
                  <a:noFill/>
                </a:ln>
                <a:solidFill>
                  <a:srgbClr val="0269AE"/>
                </a:solidFill>
                <a:effectLst/>
                <a:latin typeface="Alexandria Medium" pitchFamily="2" charset="-78"/>
                <a:ea typeface="Arial" panose="020B0604020202020204" pitchFamily="34" charset="0"/>
                <a:cs typeface="Alexandria Medium" pitchFamily="2" charset="-78"/>
              </a:rPr>
              <a:t>Use-case</a:t>
            </a:r>
            <a:r>
              <a:rPr kumimoji="0" lang="en-US" altLang="en-US" sz="600" b="0" i="0" u="none" strike="noStrike" cap="none" normalizeH="0" baseline="0">
                <a:ln>
                  <a:noFill/>
                </a:ln>
                <a:solidFill>
                  <a:schemeClr val="tx1"/>
                </a:solidFill>
                <a:effectLst/>
              </a:rPr>
              <a:t> </a:t>
            </a:r>
            <a:r>
              <a:rPr lang="fa-IR" sz="800">
                <a:solidFill>
                  <a:schemeClr val="bg2">
                    <a:lumMod val="50000"/>
                  </a:schemeClr>
                </a:solidFill>
                <a:latin typeface="Alexandria Medium" pitchFamily="2" charset="-78"/>
                <a:cs typeface="Alexandria Medium" pitchFamily="2" charset="-78"/>
              </a:rPr>
              <a:t>است، </a:t>
            </a:r>
            <a:r>
              <a:rPr lang="en-US" sz="800">
                <a:solidFill>
                  <a:schemeClr val="bg2">
                    <a:lumMod val="50000"/>
                  </a:schemeClr>
                </a:solidFill>
                <a:latin typeface="Alexandria Medium" pitchFamily="2" charset="-78"/>
                <a:cs typeface="Alexandria Medium" pitchFamily="2" charset="-78"/>
              </a:rPr>
              <a:t>Wmax </a:t>
            </a:r>
            <a:r>
              <a:rPr lang="fa-IR" sz="800">
                <a:solidFill>
                  <a:schemeClr val="bg2">
                    <a:lumMod val="50000"/>
                  </a:schemeClr>
                </a:solidFill>
                <a:latin typeface="Alexandria Medium" pitchFamily="2" charset="-78"/>
                <a:cs typeface="Alexandria Medium" pitchFamily="2" charset="-78"/>
              </a:rPr>
              <a:t>مقدار حداکثر حدس توسط تیم، </a:t>
            </a:r>
            <a:r>
              <a:rPr lang="en-US" sz="800">
                <a:solidFill>
                  <a:schemeClr val="bg2">
                    <a:lumMod val="50000"/>
                  </a:schemeClr>
                </a:solidFill>
                <a:latin typeface="Alexandria Medium" pitchFamily="2" charset="-78"/>
                <a:cs typeface="Alexandria Medium" pitchFamily="2" charset="-78"/>
              </a:rPr>
              <a:t>Wmin </a:t>
            </a:r>
            <a:r>
              <a:rPr lang="fa-IR" sz="800">
                <a:solidFill>
                  <a:schemeClr val="bg2">
                    <a:lumMod val="50000"/>
                  </a:schemeClr>
                </a:solidFill>
                <a:latin typeface="Alexandria Medium" pitchFamily="2" charset="-78"/>
                <a:cs typeface="Alexandria Medium" pitchFamily="2" charset="-78"/>
              </a:rPr>
              <a:t>مقدار حداقل حدس توسط تیم و </a:t>
            </a:r>
            <a:r>
              <a:rPr lang="en-US" sz="800">
                <a:solidFill>
                  <a:schemeClr val="bg2">
                    <a:lumMod val="50000"/>
                  </a:schemeClr>
                </a:solidFill>
                <a:latin typeface="Alexandria Medium" pitchFamily="2" charset="-78"/>
                <a:cs typeface="Alexandria Medium" pitchFamily="2" charset="-78"/>
              </a:rPr>
              <a:t>Waverage </a:t>
            </a:r>
            <a:r>
              <a:rPr lang="fa-IR" sz="800">
                <a:solidFill>
                  <a:schemeClr val="bg2">
                    <a:lumMod val="50000"/>
                  </a:schemeClr>
                </a:solidFill>
                <a:latin typeface="Alexandria Medium" pitchFamily="2" charset="-78"/>
                <a:cs typeface="Alexandria Medium" pitchFamily="2" charset="-78"/>
              </a:rPr>
              <a:t>میانگین حدس های دیگر توسط تیم</a:t>
            </a:r>
            <a:r>
              <a:rPr lang="en-US" sz="800">
                <a:solidFill>
                  <a:schemeClr val="bg2">
                    <a:lumMod val="50000"/>
                  </a:schemeClr>
                </a:solidFill>
                <a:latin typeface="Alexandria Medium" pitchFamily="2" charset="-78"/>
                <a:cs typeface="Alexandria Medium" pitchFamily="2" charset="-78"/>
              </a:rPr>
              <a:t> </a:t>
            </a:r>
            <a:r>
              <a:rPr lang="fa-IR" sz="800">
                <a:solidFill>
                  <a:schemeClr val="bg2">
                    <a:lumMod val="50000"/>
                  </a:schemeClr>
                </a:solidFill>
                <a:latin typeface="Alexandria Medium" pitchFamily="2" charset="-78"/>
                <a:cs typeface="Alexandria Medium" pitchFamily="2" charset="-78"/>
              </a:rPr>
              <a:t>است</a:t>
            </a:r>
            <a:endParaRPr lang="en-US" sz="800">
              <a:solidFill>
                <a:schemeClr val="bg2">
                  <a:lumMod val="50000"/>
                </a:schemeClr>
              </a:solidFill>
              <a:latin typeface="Alexandria Medium" pitchFamily="2" charset="-78"/>
              <a:cs typeface="Alexandria Medium" pitchFamily="2" charset="-78"/>
            </a:endParaRPr>
          </a:p>
        </p:txBody>
      </p:sp>
    </p:spTree>
    <p:extLst>
      <p:ext uri="{BB962C8B-B14F-4D97-AF65-F5344CB8AC3E}">
        <p14:creationId xmlns:p14="http://schemas.microsoft.com/office/powerpoint/2010/main" val="283415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15" grpId="0"/>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2" name="TextBox 1">
            <a:extLst>
              <a:ext uri="{FF2B5EF4-FFF2-40B4-BE49-F238E27FC236}">
                <a16:creationId xmlns:a16="http://schemas.microsoft.com/office/drawing/2014/main" id="{D6343E6C-A94B-9247-8373-B8AB02F0DE1B}"/>
              </a:ext>
            </a:extLst>
          </p:cNvPr>
          <p:cNvSpPr txBox="1"/>
          <p:nvPr/>
        </p:nvSpPr>
        <p:spPr>
          <a:xfrm>
            <a:off x="2030628" y="438912"/>
            <a:ext cx="4862229" cy="307777"/>
          </a:xfrm>
          <a:prstGeom prst="rect">
            <a:avLst/>
          </a:prstGeom>
          <a:noFill/>
        </p:spPr>
        <p:txBody>
          <a:bodyPr wrap="none" rtlCol="0">
            <a:spAutoFit/>
          </a:bodyPr>
          <a:lstStyle/>
          <a:p>
            <a:pPr algn="r" rtl="1"/>
            <a:r>
              <a:rPr lang="fa-IR" b="1">
                <a:latin typeface="Alexandria Medium" pitchFamily="2" charset="-78"/>
                <a:cs typeface="Alexandria Medium" pitchFamily="2" charset="-78"/>
              </a:rPr>
              <a:t>هنگام تخمین </a:t>
            </a:r>
            <a:r>
              <a:rPr lang="en-US" sz="1400" b="1">
                <a:solidFill>
                  <a:srgbClr val="105569"/>
                </a:solidFill>
                <a:latin typeface="Alexandria Medium" pitchFamily="2" charset="-78"/>
                <a:cs typeface="Alexandria Medium" pitchFamily="2" charset="-78"/>
              </a:rPr>
              <a:t>StoryPoint</a:t>
            </a:r>
            <a:r>
              <a:rPr lang="fa-IR" b="1">
                <a:latin typeface="Alexandria Medium" pitchFamily="2" charset="-78"/>
                <a:cs typeface="Alexandria Medium" pitchFamily="2" charset="-78"/>
              </a:rPr>
              <a:t> چه چیزهایی را باید در نظر گرفت؟</a:t>
            </a:r>
            <a:endParaRPr lang="en-US" b="1">
              <a:latin typeface="Alexandria Medium" pitchFamily="2" charset="-78"/>
              <a:cs typeface="Alexandria Medium" pitchFamily="2" charset="-78"/>
            </a:endParaRPr>
          </a:p>
        </p:txBody>
      </p:sp>
      <p:pic>
        <p:nvPicPr>
          <p:cNvPr id="3" name="Google Shape;659;p70">
            <a:extLst>
              <a:ext uri="{FF2B5EF4-FFF2-40B4-BE49-F238E27FC236}">
                <a16:creationId xmlns:a16="http://schemas.microsoft.com/office/drawing/2014/main" id="{F75A932B-B2AB-5E45-B57A-CFD8ACCEFEF9}"/>
              </a:ext>
            </a:extLst>
          </p:cNvPr>
          <p:cNvPicPr preferRelativeResize="0"/>
          <p:nvPr/>
        </p:nvPicPr>
        <p:blipFill rotWithShape="1">
          <a:blip r:embed="rId3">
            <a:alphaModFix/>
          </a:blip>
          <a:srcRect l="7417" t="9339" r="7417" b="15160"/>
          <a:stretch/>
        </p:blipFill>
        <p:spPr>
          <a:xfrm>
            <a:off x="6837210" y="-933240"/>
            <a:ext cx="3588878" cy="2067095"/>
          </a:xfrm>
          <a:prstGeom prst="rect">
            <a:avLst/>
          </a:prstGeom>
          <a:noFill/>
          <a:ln>
            <a:noFill/>
          </a:ln>
        </p:spPr>
      </p:pic>
      <p:pic>
        <p:nvPicPr>
          <p:cNvPr id="4" name="Google Shape;659;p70">
            <a:extLst>
              <a:ext uri="{FF2B5EF4-FFF2-40B4-BE49-F238E27FC236}">
                <a16:creationId xmlns:a16="http://schemas.microsoft.com/office/drawing/2014/main" id="{F50D0B5E-6252-9F44-B978-B9D966987685}"/>
              </a:ext>
            </a:extLst>
          </p:cNvPr>
          <p:cNvPicPr preferRelativeResize="0"/>
          <p:nvPr/>
        </p:nvPicPr>
        <p:blipFill rotWithShape="1">
          <a:blip r:embed="rId3">
            <a:alphaModFix/>
          </a:blip>
          <a:srcRect l="7417" t="9339" r="7417" b="15160"/>
          <a:stretch/>
        </p:blipFill>
        <p:spPr>
          <a:xfrm rot="8436498">
            <a:off x="8119447" y="4472699"/>
            <a:ext cx="1820080" cy="1341600"/>
          </a:xfrm>
          <a:prstGeom prst="rect">
            <a:avLst/>
          </a:prstGeom>
          <a:noFill/>
          <a:ln>
            <a:noFill/>
          </a:ln>
        </p:spPr>
      </p:pic>
      <p:sp>
        <p:nvSpPr>
          <p:cNvPr id="5" name="TextBox 4">
            <a:extLst>
              <a:ext uri="{FF2B5EF4-FFF2-40B4-BE49-F238E27FC236}">
                <a16:creationId xmlns:a16="http://schemas.microsoft.com/office/drawing/2014/main" id="{218B105D-AF83-3E43-B807-94FEBD5173CC}"/>
              </a:ext>
            </a:extLst>
          </p:cNvPr>
          <p:cNvSpPr txBox="1"/>
          <p:nvPr/>
        </p:nvSpPr>
        <p:spPr>
          <a:xfrm>
            <a:off x="1128755" y="755833"/>
            <a:ext cx="6592824" cy="540597"/>
          </a:xfrm>
          <a:prstGeom prst="rect">
            <a:avLst/>
          </a:prstGeom>
          <a:noFill/>
        </p:spPr>
        <p:txBody>
          <a:bodyPr wrap="square" rtlCol="0">
            <a:spAutoFit/>
          </a:bodyPr>
          <a:lstStyle/>
          <a:p>
            <a:pPr algn="r" rtl="1">
              <a:lnSpc>
                <a:spcPts val="1780"/>
              </a:lnSpc>
            </a:pPr>
            <a:r>
              <a:rPr lang="fa-IR">
                <a:solidFill>
                  <a:srgbClr val="0269AE"/>
                </a:solidFill>
                <a:latin typeface="Alexandria Medium" pitchFamily="2" charset="-78"/>
                <a:cs typeface="Alexandria Medium" pitchFamily="2" charset="-78"/>
              </a:rPr>
              <a:t>تیم معمولا تلاش یک جزء سیستم را بر اساس تجربه خود در پروژه های مشابه گذشته ارزیابی می کند. تکلیف بر اساس </a:t>
            </a:r>
            <a:r>
              <a:rPr lang="fa-IR">
                <a:solidFill>
                  <a:srgbClr val="105569"/>
                </a:solidFill>
                <a:latin typeface="Alexandria Medium" pitchFamily="2" charset="-78"/>
                <a:cs typeface="Alexandria Medium" pitchFamily="2" charset="-78"/>
              </a:rPr>
              <a:t>تلاش</a:t>
            </a:r>
            <a:r>
              <a:rPr lang="fa-IR">
                <a:solidFill>
                  <a:srgbClr val="0269AE"/>
                </a:solidFill>
                <a:latin typeface="Alexandria Medium" pitchFamily="2" charset="-78"/>
                <a:cs typeface="Alexandria Medium" pitchFamily="2" charset="-78"/>
              </a:rPr>
              <a:t>، </a:t>
            </a:r>
            <a:r>
              <a:rPr lang="fa-IR">
                <a:solidFill>
                  <a:srgbClr val="105569"/>
                </a:solidFill>
                <a:latin typeface="Alexandria Medium" pitchFamily="2" charset="-78"/>
                <a:cs typeface="Alexandria Medium" pitchFamily="2" charset="-78"/>
              </a:rPr>
              <a:t>پیچیدگی</a:t>
            </a:r>
            <a:r>
              <a:rPr lang="fa-IR">
                <a:solidFill>
                  <a:srgbClr val="0269AE"/>
                </a:solidFill>
                <a:latin typeface="Alexandria Medium" pitchFamily="2" charset="-78"/>
                <a:cs typeface="Alexandria Medium" pitchFamily="2" charset="-78"/>
              </a:rPr>
              <a:t> و </a:t>
            </a:r>
            <a:r>
              <a:rPr lang="fa-IR">
                <a:solidFill>
                  <a:srgbClr val="105569"/>
                </a:solidFill>
                <a:latin typeface="Alexandria Medium" pitchFamily="2" charset="-78"/>
                <a:cs typeface="Alexandria Medium" pitchFamily="2" charset="-78"/>
              </a:rPr>
              <a:t>ریسک</a:t>
            </a:r>
            <a:r>
              <a:rPr lang="fa-IR">
                <a:solidFill>
                  <a:srgbClr val="0269AE"/>
                </a:solidFill>
                <a:latin typeface="Alexandria Medium" pitchFamily="2" charset="-78"/>
                <a:cs typeface="Alexandria Medium" pitchFamily="2" charset="-78"/>
              </a:rPr>
              <a:t> انجام می شود:</a:t>
            </a:r>
            <a:endParaRPr lang="en-US">
              <a:solidFill>
                <a:srgbClr val="0269AE"/>
              </a:solidFill>
              <a:latin typeface="Alexandria Medium" pitchFamily="2" charset="-78"/>
              <a:cs typeface="Alexandria Medium" pitchFamily="2" charset="-78"/>
            </a:endParaRPr>
          </a:p>
        </p:txBody>
      </p:sp>
      <p:sp>
        <p:nvSpPr>
          <p:cNvPr id="7" name="TextBox 6">
            <a:extLst>
              <a:ext uri="{FF2B5EF4-FFF2-40B4-BE49-F238E27FC236}">
                <a16:creationId xmlns:a16="http://schemas.microsoft.com/office/drawing/2014/main" id="{8C4173AD-1AC9-5148-92F3-36DAC36D2EE5}"/>
              </a:ext>
            </a:extLst>
          </p:cNvPr>
          <p:cNvSpPr txBox="1"/>
          <p:nvPr/>
        </p:nvSpPr>
        <p:spPr>
          <a:xfrm>
            <a:off x="3762543" y="1530608"/>
            <a:ext cx="5212080" cy="523220"/>
          </a:xfrm>
          <a:prstGeom prst="rect">
            <a:avLst/>
          </a:prstGeom>
          <a:noFill/>
        </p:spPr>
        <p:txBody>
          <a:bodyPr wrap="square">
            <a:spAutoFit/>
          </a:bodyPr>
          <a:lstStyle/>
          <a:p>
            <a:r>
              <a:rPr lang="fa-IR" sz="2800">
                <a:solidFill>
                  <a:srgbClr val="105569"/>
                </a:solidFill>
                <a:latin typeface="Alexandria Medium" pitchFamily="2" charset="-78"/>
                <a:cs typeface="Alexandria Medium" pitchFamily="2" charset="-78"/>
              </a:rPr>
              <a:t>تلاش</a:t>
            </a:r>
            <a:endParaRPr lang="en-US" sz="2800"/>
          </a:p>
        </p:txBody>
      </p:sp>
      <p:sp>
        <p:nvSpPr>
          <p:cNvPr id="9" name="TextBox 8">
            <a:extLst>
              <a:ext uri="{FF2B5EF4-FFF2-40B4-BE49-F238E27FC236}">
                <a16:creationId xmlns:a16="http://schemas.microsoft.com/office/drawing/2014/main" id="{0D226D82-398C-3E45-B17A-3CEC176A57DE}"/>
              </a:ext>
            </a:extLst>
          </p:cNvPr>
          <p:cNvSpPr txBox="1"/>
          <p:nvPr/>
        </p:nvSpPr>
        <p:spPr>
          <a:xfrm>
            <a:off x="3685032" y="2524823"/>
            <a:ext cx="5618988" cy="461665"/>
          </a:xfrm>
          <a:prstGeom prst="rect">
            <a:avLst/>
          </a:prstGeom>
          <a:noFill/>
        </p:spPr>
        <p:txBody>
          <a:bodyPr wrap="square">
            <a:spAutoFit/>
          </a:bodyPr>
          <a:lstStyle/>
          <a:p>
            <a:r>
              <a:rPr lang="fa-IR" sz="2400">
                <a:solidFill>
                  <a:srgbClr val="105569"/>
                </a:solidFill>
                <a:latin typeface="Alexandria Medium" pitchFamily="2" charset="-78"/>
                <a:cs typeface="Alexandria Medium" pitchFamily="2" charset="-78"/>
              </a:rPr>
              <a:t>پیچیدگی</a:t>
            </a:r>
            <a:endParaRPr lang="en-US"/>
          </a:p>
        </p:txBody>
      </p:sp>
      <p:sp>
        <p:nvSpPr>
          <p:cNvPr id="11" name="TextBox 10">
            <a:extLst>
              <a:ext uri="{FF2B5EF4-FFF2-40B4-BE49-F238E27FC236}">
                <a16:creationId xmlns:a16="http://schemas.microsoft.com/office/drawing/2014/main" id="{D1D6CB9C-837E-7D45-B165-6922C20F1D20}"/>
              </a:ext>
            </a:extLst>
          </p:cNvPr>
          <p:cNvSpPr txBox="1"/>
          <p:nvPr/>
        </p:nvSpPr>
        <p:spPr>
          <a:xfrm>
            <a:off x="3762543" y="3472147"/>
            <a:ext cx="5719572" cy="523220"/>
          </a:xfrm>
          <a:prstGeom prst="rect">
            <a:avLst/>
          </a:prstGeom>
          <a:noFill/>
        </p:spPr>
        <p:txBody>
          <a:bodyPr wrap="square">
            <a:spAutoFit/>
          </a:bodyPr>
          <a:lstStyle/>
          <a:p>
            <a:r>
              <a:rPr lang="fa-IR" sz="2800">
                <a:solidFill>
                  <a:srgbClr val="105569"/>
                </a:solidFill>
                <a:latin typeface="Alexandria Medium" pitchFamily="2" charset="-78"/>
                <a:cs typeface="Alexandria Medium" pitchFamily="2" charset="-78"/>
              </a:rPr>
              <a:t>ریـسک</a:t>
            </a:r>
            <a:endParaRPr lang="en-US" sz="3200"/>
          </a:p>
        </p:txBody>
      </p:sp>
      <p:sp>
        <p:nvSpPr>
          <p:cNvPr id="12" name="TextBox 11">
            <a:extLst>
              <a:ext uri="{FF2B5EF4-FFF2-40B4-BE49-F238E27FC236}">
                <a16:creationId xmlns:a16="http://schemas.microsoft.com/office/drawing/2014/main" id="{DA032473-9889-9746-B7A0-9C0C50E6C3A2}"/>
              </a:ext>
            </a:extLst>
          </p:cNvPr>
          <p:cNvSpPr txBox="1"/>
          <p:nvPr/>
        </p:nvSpPr>
        <p:spPr>
          <a:xfrm>
            <a:off x="2557818" y="2004844"/>
            <a:ext cx="4837176" cy="307777"/>
          </a:xfrm>
          <a:prstGeom prst="rect">
            <a:avLst/>
          </a:prstGeom>
          <a:noFill/>
        </p:spPr>
        <p:txBody>
          <a:bodyPr wrap="square" rtlCol="0">
            <a:spAutoFit/>
          </a:bodyPr>
          <a:lstStyle/>
          <a:p>
            <a:r>
              <a:rPr lang="fa-IR">
                <a:latin typeface="Alexandria Medium" pitchFamily="2" charset="-78"/>
                <a:cs typeface="Alexandria Medium" pitchFamily="2" charset="-78"/>
              </a:rPr>
              <a:t>چند خط کد یا نقاط تابع باید در نظر گرفته شود؟</a:t>
            </a:r>
            <a:endParaRPr lang="en-US">
              <a:latin typeface="Alexandria Medium" pitchFamily="2" charset="-78"/>
              <a:cs typeface="Alexandria Medium" pitchFamily="2" charset="-78"/>
            </a:endParaRPr>
          </a:p>
        </p:txBody>
      </p:sp>
      <p:sp>
        <p:nvSpPr>
          <p:cNvPr id="13" name="TextBox 12">
            <a:extLst>
              <a:ext uri="{FF2B5EF4-FFF2-40B4-BE49-F238E27FC236}">
                <a16:creationId xmlns:a16="http://schemas.microsoft.com/office/drawing/2014/main" id="{C7247792-7B86-234B-9206-9ED5960EA954}"/>
              </a:ext>
            </a:extLst>
          </p:cNvPr>
          <p:cNvSpPr txBox="1"/>
          <p:nvPr/>
        </p:nvSpPr>
        <p:spPr>
          <a:xfrm>
            <a:off x="1842516" y="2967215"/>
            <a:ext cx="5458968" cy="307777"/>
          </a:xfrm>
          <a:prstGeom prst="rect">
            <a:avLst/>
          </a:prstGeom>
          <a:noFill/>
        </p:spPr>
        <p:txBody>
          <a:bodyPr wrap="square" rtlCol="0">
            <a:spAutoFit/>
          </a:bodyPr>
          <a:lstStyle/>
          <a:p>
            <a:r>
              <a:rPr lang="fa-IR">
                <a:latin typeface="Alexandria Medium" pitchFamily="2" charset="-78"/>
                <a:cs typeface="Alexandria Medium" pitchFamily="2" charset="-78"/>
              </a:rPr>
              <a:t>تجزیه و تحلیل، پیاده سازی و آزمایش مؤلفه چقدر دشوار است؟</a:t>
            </a:r>
            <a:endParaRPr lang="en-US">
              <a:latin typeface="Alexandria Medium" pitchFamily="2" charset="-78"/>
              <a:cs typeface="Alexandria Medium" pitchFamily="2" charset="-78"/>
            </a:endParaRPr>
          </a:p>
        </p:txBody>
      </p:sp>
      <p:sp>
        <p:nvSpPr>
          <p:cNvPr id="14" name="TextBox 13">
            <a:extLst>
              <a:ext uri="{FF2B5EF4-FFF2-40B4-BE49-F238E27FC236}">
                <a16:creationId xmlns:a16="http://schemas.microsoft.com/office/drawing/2014/main" id="{CD5F2336-A90C-1347-9121-14894AE41C5D}"/>
              </a:ext>
            </a:extLst>
          </p:cNvPr>
          <p:cNvSpPr txBox="1"/>
          <p:nvPr/>
        </p:nvSpPr>
        <p:spPr>
          <a:xfrm>
            <a:off x="2075565" y="3929586"/>
            <a:ext cx="4153878" cy="307777"/>
          </a:xfrm>
          <a:prstGeom prst="rect">
            <a:avLst/>
          </a:prstGeom>
          <a:noFill/>
        </p:spPr>
        <p:txBody>
          <a:bodyPr wrap="square" rtlCol="0">
            <a:spAutoFit/>
          </a:bodyPr>
          <a:lstStyle/>
          <a:p>
            <a:pPr algn="r" rtl="1"/>
            <a:r>
              <a:rPr lang="fa-IR">
                <a:latin typeface="Alexandria Medium" pitchFamily="2" charset="-78"/>
                <a:cs typeface="Alexandria Medium" pitchFamily="2" charset="-78"/>
              </a:rPr>
              <a:t>تیم چقدر جزء</a:t>
            </a:r>
            <a:r>
              <a:rPr lang="en-US">
                <a:latin typeface="Alexandria Medium" pitchFamily="2" charset="-78"/>
                <a:cs typeface="Alexandria Medium" pitchFamily="2" charset="-78"/>
              </a:rPr>
              <a:t>(Component) </a:t>
            </a:r>
            <a:r>
              <a:rPr lang="fa-IR">
                <a:latin typeface="Alexandria Medium" pitchFamily="2" charset="-78"/>
                <a:cs typeface="Alexandria Medium" pitchFamily="2" charset="-78"/>
              </a:rPr>
              <a:t> را درک می کند؟</a:t>
            </a:r>
            <a:endParaRPr lang="en-US">
              <a:latin typeface="Alexandria Medium" pitchFamily="2" charset="-78"/>
              <a:cs typeface="Alexandria Medium" pitchFamily="2" charset="-78"/>
            </a:endParaRPr>
          </a:p>
        </p:txBody>
      </p:sp>
      <p:cxnSp>
        <p:nvCxnSpPr>
          <p:cNvPr id="15" name="Elbow Connector 14">
            <a:extLst>
              <a:ext uri="{FF2B5EF4-FFF2-40B4-BE49-F238E27FC236}">
                <a16:creationId xmlns:a16="http://schemas.microsoft.com/office/drawing/2014/main" id="{58D96AA2-D3EE-2F47-80DF-37FA437ED0F8}"/>
              </a:ext>
            </a:extLst>
          </p:cNvPr>
          <p:cNvCxnSpPr>
            <a:cxnSpLocks/>
          </p:cNvCxnSpPr>
          <p:nvPr/>
        </p:nvCxnSpPr>
        <p:spPr>
          <a:xfrm rot="10800000" flipV="1">
            <a:off x="7800860" y="604698"/>
            <a:ext cx="496148"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2" grpId="0"/>
      <p:bldP spid="13"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2" name="TextBox 1">
            <a:extLst>
              <a:ext uri="{FF2B5EF4-FFF2-40B4-BE49-F238E27FC236}">
                <a16:creationId xmlns:a16="http://schemas.microsoft.com/office/drawing/2014/main" id="{4F156C26-9FB9-D64D-95DD-C38A1F67816C}"/>
              </a:ext>
            </a:extLst>
          </p:cNvPr>
          <p:cNvSpPr txBox="1"/>
          <p:nvPr/>
        </p:nvSpPr>
        <p:spPr>
          <a:xfrm>
            <a:off x="128548" y="94366"/>
            <a:ext cx="2193229" cy="523220"/>
          </a:xfrm>
          <a:prstGeom prst="rect">
            <a:avLst/>
          </a:prstGeom>
          <a:noFill/>
        </p:spPr>
        <p:txBody>
          <a:bodyPr wrap="none" rtlCol="0">
            <a:spAutoFit/>
          </a:bodyPr>
          <a:lstStyle/>
          <a:p>
            <a:r>
              <a:rPr lang="en-US" sz="1600">
                <a:solidFill>
                  <a:srgbClr val="2D2D2D"/>
                </a:solidFill>
                <a:effectLst/>
                <a:latin typeface="Alexandria Medium" pitchFamily="2" charset="-78"/>
                <a:cs typeface="Alexandria Medium" pitchFamily="2" charset="-78"/>
              </a:rPr>
              <a:t>Distributed system </a:t>
            </a:r>
            <a:endParaRPr lang="en-US" sz="1200">
              <a:effectLst/>
              <a:latin typeface="Alexandria Medium" pitchFamily="2" charset="-78"/>
              <a:cs typeface="Alexandria Medium" pitchFamily="2" charset="-78"/>
            </a:endParaRPr>
          </a:p>
          <a:p>
            <a:endParaRPr lang="en-US" sz="1200">
              <a:latin typeface="Alexandria Medium" pitchFamily="2" charset="-78"/>
              <a:cs typeface="Alexandria Medium" pitchFamily="2" charset="-78"/>
            </a:endParaRPr>
          </a:p>
        </p:txBody>
      </p:sp>
      <p:sp>
        <p:nvSpPr>
          <p:cNvPr id="3" name="TextBox 2">
            <a:extLst>
              <a:ext uri="{FF2B5EF4-FFF2-40B4-BE49-F238E27FC236}">
                <a16:creationId xmlns:a16="http://schemas.microsoft.com/office/drawing/2014/main" id="{05DEEA50-B89A-CD42-B9D1-F0FB1909649E}"/>
              </a:ext>
            </a:extLst>
          </p:cNvPr>
          <p:cNvSpPr txBox="1"/>
          <p:nvPr/>
        </p:nvSpPr>
        <p:spPr>
          <a:xfrm>
            <a:off x="2137660" y="57790"/>
            <a:ext cx="255198" cy="400110"/>
          </a:xfrm>
          <a:prstGeom prst="rect">
            <a:avLst/>
          </a:prstGeom>
          <a:noFill/>
        </p:spPr>
        <p:txBody>
          <a:bodyPr wrap="none" rtlCol="0">
            <a:spAutoFit/>
          </a:bodyPr>
          <a:lstStyle/>
          <a:p>
            <a:r>
              <a:rPr lang="en-US" sz="2000">
                <a:latin typeface="Alexandria Medium" pitchFamily="2" charset="-78"/>
                <a:cs typeface="Alexandria Medium" pitchFamily="2" charset="-78"/>
              </a:rPr>
              <a:t>|</a:t>
            </a:r>
          </a:p>
        </p:txBody>
      </p:sp>
      <p:cxnSp>
        <p:nvCxnSpPr>
          <p:cNvPr id="33" name="Elbow Connector 32">
            <a:extLst>
              <a:ext uri="{FF2B5EF4-FFF2-40B4-BE49-F238E27FC236}">
                <a16:creationId xmlns:a16="http://schemas.microsoft.com/office/drawing/2014/main" id="{A5BFF273-DA21-A445-97A0-0CC6B6A7257E}"/>
              </a:ext>
            </a:extLst>
          </p:cNvPr>
          <p:cNvCxnSpPr>
            <a:cxnSpLocks/>
          </p:cNvCxnSpPr>
          <p:nvPr/>
        </p:nvCxnSpPr>
        <p:spPr>
          <a:xfrm rot="10800000" flipV="1">
            <a:off x="8315641" y="178882"/>
            <a:ext cx="496148"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6689D5C-A605-9D4C-AC8B-65C8141C48A6}"/>
              </a:ext>
            </a:extLst>
          </p:cNvPr>
          <p:cNvSpPr txBox="1"/>
          <p:nvPr/>
        </p:nvSpPr>
        <p:spPr>
          <a:xfrm>
            <a:off x="2327337" y="119345"/>
            <a:ext cx="2060689" cy="307777"/>
          </a:xfrm>
          <a:prstGeom prst="rect">
            <a:avLst/>
          </a:prstGeom>
          <a:noFill/>
        </p:spPr>
        <p:txBody>
          <a:bodyPr wrap="square" rtlCol="0">
            <a:spAutoFit/>
          </a:bodyPr>
          <a:lstStyle/>
          <a:p>
            <a:r>
              <a:rPr lang="fa-IR">
                <a:latin typeface="Alexandria Medium" pitchFamily="2" charset="-78"/>
                <a:cs typeface="Alexandria Medium" pitchFamily="2" charset="-78"/>
              </a:rPr>
              <a:t>سیستم توزیع شده</a:t>
            </a:r>
            <a:endParaRPr lang="en-US">
              <a:latin typeface="Alexandria Medium" pitchFamily="2" charset="-78"/>
              <a:cs typeface="Alexandria Medium" pitchFamily="2" charset="-78"/>
            </a:endParaRPr>
          </a:p>
        </p:txBody>
      </p:sp>
      <p:pic>
        <p:nvPicPr>
          <p:cNvPr id="6" name="Picture 5">
            <a:extLst>
              <a:ext uri="{FF2B5EF4-FFF2-40B4-BE49-F238E27FC236}">
                <a16:creationId xmlns:a16="http://schemas.microsoft.com/office/drawing/2014/main" id="{1DEAF0EF-3784-EC45-BA0B-0EECF51AB9D9}"/>
              </a:ext>
            </a:extLst>
          </p:cNvPr>
          <p:cNvPicPr>
            <a:picLocks noChangeAspect="1"/>
          </p:cNvPicPr>
          <p:nvPr/>
        </p:nvPicPr>
        <p:blipFill>
          <a:blip r:embed="rId3"/>
          <a:stretch>
            <a:fillRect/>
          </a:stretch>
        </p:blipFill>
        <p:spPr>
          <a:xfrm>
            <a:off x="211943" y="473293"/>
            <a:ext cx="4656223" cy="2828390"/>
          </a:xfrm>
          <a:prstGeom prst="rect">
            <a:avLst/>
          </a:prstGeom>
        </p:spPr>
      </p:pic>
      <p:sp>
        <p:nvSpPr>
          <p:cNvPr id="8" name="TextBox 7">
            <a:extLst>
              <a:ext uri="{FF2B5EF4-FFF2-40B4-BE49-F238E27FC236}">
                <a16:creationId xmlns:a16="http://schemas.microsoft.com/office/drawing/2014/main" id="{53F95CAD-5A5F-514C-982F-DA8D93DF3755}"/>
              </a:ext>
            </a:extLst>
          </p:cNvPr>
          <p:cNvSpPr txBox="1"/>
          <p:nvPr/>
        </p:nvSpPr>
        <p:spPr>
          <a:xfrm>
            <a:off x="5361942" y="839494"/>
            <a:ext cx="4031873" cy="230832"/>
          </a:xfrm>
          <a:prstGeom prst="rect">
            <a:avLst/>
          </a:prstGeom>
          <a:noFill/>
        </p:spPr>
        <p:txBody>
          <a:bodyPr wrap="square" rtlCol="0">
            <a:spAutoFit/>
          </a:bodyPr>
          <a:lstStyle/>
          <a:p>
            <a:r>
              <a:rPr lang="fa-IR" sz="900">
                <a:latin typeface="Alexandria Medium" pitchFamily="2" charset="-78"/>
                <a:cs typeface="Alexandria Medium" pitchFamily="2" charset="-78"/>
              </a:rPr>
              <a:t>برنامه هر جنبه مربوط به پردازش توزیع شده را نادیده می گیرد.</a:t>
            </a:r>
            <a:endParaRPr lang="en-US" sz="900">
              <a:latin typeface="Alexandria Medium" pitchFamily="2" charset="-78"/>
              <a:cs typeface="Alexandria Medium" pitchFamily="2" charset="-78"/>
            </a:endParaRPr>
          </a:p>
        </p:txBody>
      </p:sp>
      <p:sp>
        <p:nvSpPr>
          <p:cNvPr id="9" name="TextBox 8">
            <a:extLst>
              <a:ext uri="{FF2B5EF4-FFF2-40B4-BE49-F238E27FC236}">
                <a16:creationId xmlns:a16="http://schemas.microsoft.com/office/drawing/2014/main" id="{36F8AAFB-137B-CF45-9618-E786BA5D91F3}"/>
              </a:ext>
            </a:extLst>
          </p:cNvPr>
          <p:cNvSpPr txBox="1"/>
          <p:nvPr/>
        </p:nvSpPr>
        <p:spPr>
          <a:xfrm>
            <a:off x="4601091" y="1091350"/>
            <a:ext cx="4031873" cy="579005"/>
          </a:xfrm>
          <a:prstGeom prst="rect">
            <a:avLst/>
          </a:prstGeom>
          <a:noFill/>
        </p:spPr>
        <p:txBody>
          <a:bodyPr wrap="square" rtlCol="0">
            <a:spAutoFit/>
          </a:bodyPr>
          <a:lstStyle/>
          <a:p>
            <a:pPr marR="0" algn="r" rtl="1">
              <a:lnSpc>
                <a:spcPts val="1300"/>
              </a:lnSpc>
              <a:spcBef>
                <a:spcPts val="0"/>
              </a:spcBef>
              <a:spcAft>
                <a:spcPts val="0"/>
              </a:spcAft>
              <a:buClr>
                <a:srgbClr val="000000"/>
              </a:buClr>
              <a:buFont typeface="Arial"/>
            </a:pPr>
            <a:r>
              <a:rPr lang="fa-IR" sz="900">
                <a:solidFill>
                  <a:srgbClr val="0269AE"/>
                </a:solidFill>
                <a:latin typeface="Alexandria Medium" pitchFamily="2" charset="-78"/>
                <a:cs typeface="Alexandria Medium" pitchFamily="2" charset="-78"/>
              </a:rPr>
              <a:t>این برنامه داده‌هایی را تولید می‌کند که توسط رایانه‌های دیگر با مداخله انسانی پردازش می‌شوند (به عنوان مثال، صفحات گسترده یا فایل‌های از پیش فرمت‌شده ارسال شده توسط رسانه یا ایمیل).</a:t>
            </a:r>
            <a:endParaRPr lang="en-US" sz="900">
              <a:solidFill>
                <a:srgbClr val="0269AE"/>
              </a:solidFill>
              <a:latin typeface="Alexandria Medium" pitchFamily="2" charset="-78"/>
              <a:cs typeface="Alexandria Medium" pitchFamily="2" charset="-78"/>
            </a:endParaRPr>
          </a:p>
        </p:txBody>
      </p:sp>
      <p:cxnSp>
        <p:nvCxnSpPr>
          <p:cNvPr id="11" name="Straight Connector 10">
            <a:extLst>
              <a:ext uri="{FF2B5EF4-FFF2-40B4-BE49-F238E27FC236}">
                <a16:creationId xmlns:a16="http://schemas.microsoft.com/office/drawing/2014/main" id="{F5962856-EDC9-0C45-949A-4B60B2DE7BBD}"/>
              </a:ext>
            </a:extLst>
          </p:cNvPr>
          <p:cNvCxnSpPr/>
          <p:nvPr/>
        </p:nvCxnSpPr>
        <p:spPr>
          <a:xfrm>
            <a:off x="4792786" y="1106554"/>
            <a:ext cx="38401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7B0533F-B02F-8C4C-B85E-17D737A1BE5D}"/>
              </a:ext>
            </a:extLst>
          </p:cNvPr>
          <p:cNvCxnSpPr>
            <a:cxnSpLocks/>
          </p:cNvCxnSpPr>
          <p:nvPr/>
        </p:nvCxnSpPr>
        <p:spPr>
          <a:xfrm>
            <a:off x="4792786" y="1670388"/>
            <a:ext cx="38401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12BC82-D09B-6F43-8F8E-C5E57E39354B}"/>
              </a:ext>
            </a:extLst>
          </p:cNvPr>
          <p:cNvCxnSpPr>
            <a:cxnSpLocks/>
          </p:cNvCxnSpPr>
          <p:nvPr/>
        </p:nvCxnSpPr>
        <p:spPr>
          <a:xfrm>
            <a:off x="4792786" y="2077620"/>
            <a:ext cx="3840178"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9369913-A789-FB4C-8A6B-CEF0D450B01C}"/>
              </a:ext>
            </a:extLst>
          </p:cNvPr>
          <p:cNvSpPr txBox="1"/>
          <p:nvPr/>
        </p:nvSpPr>
        <p:spPr>
          <a:xfrm>
            <a:off x="5413357" y="1695543"/>
            <a:ext cx="3219607" cy="369332"/>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900">
                <a:latin typeface="Alexandria Medium" pitchFamily="2" charset="-78"/>
                <a:cs typeface="Alexandria Medium" pitchFamily="2" charset="-78"/>
              </a:rPr>
              <a:t>داده های برنامه به طور خودکار برای پردازش در رایانه های دیگر آماده و منتقل می شوند.</a:t>
            </a:r>
            <a:endParaRPr lang="en-US" sz="900">
              <a:latin typeface="Alexandria Medium" pitchFamily="2" charset="-78"/>
              <a:cs typeface="Alexandria Medium" pitchFamily="2" charset="-78"/>
            </a:endParaRPr>
          </a:p>
        </p:txBody>
      </p:sp>
      <p:cxnSp>
        <p:nvCxnSpPr>
          <p:cNvPr id="16" name="Straight Connector 15">
            <a:extLst>
              <a:ext uri="{FF2B5EF4-FFF2-40B4-BE49-F238E27FC236}">
                <a16:creationId xmlns:a16="http://schemas.microsoft.com/office/drawing/2014/main" id="{79E7C94F-2DF3-4543-BDD3-4587F3E898B8}"/>
              </a:ext>
            </a:extLst>
          </p:cNvPr>
          <p:cNvCxnSpPr>
            <a:cxnSpLocks/>
          </p:cNvCxnSpPr>
          <p:nvPr/>
        </p:nvCxnSpPr>
        <p:spPr>
          <a:xfrm>
            <a:off x="4792786" y="2477358"/>
            <a:ext cx="38401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147527E-AB10-4244-AA5C-118CAB015B54}"/>
              </a:ext>
            </a:extLst>
          </p:cNvPr>
          <p:cNvCxnSpPr>
            <a:cxnSpLocks/>
          </p:cNvCxnSpPr>
          <p:nvPr/>
        </p:nvCxnSpPr>
        <p:spPr>
          <a:xfrm>
            <a:off x="4792786" y="2884591"/>
            <a:ext cx="384017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33A8E0F-DD6C-3B43-9DDB-AFA77759647E}"/>
              </a:ext>
            </a:extLst>
          </p:cNvPr>
          <p:cNvSpPr txBox="1"/>
          <p:nvPr/>
        </p:nvSpPr>
        <p:spPr>
          <a:xfrm>
            <a:off x="5413357" y="2087783"/>
            <a:ext cx="3219607" cy="369332"/>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900">
                <a:solidFill>
                  <a:srgbClr val="0269AE"/>
                </a:solidFill>
                <a:latin typeface="Alexandria Medium" pitchFamily="2" charset="-78"/>
                <a:cs typeface="Alexandria Medium" pitchFamily="2" charset="-78"/>
              </a:rPr>
              <a:t>پردازش برنامه توزیع می شود و داده ها فقط در یک جهت منتقل می شوند.</a:t>
            </a:r>
            <a:endParaRPr lang="en-US" sz="900">
              <a:solidFill>
                <a:srgbClr val="0269AE"/>
              </a:solidFill>
              <a:latin typeface="Alexandria Medium" pitchFamily="2" charset="-78"/>
              <a:cs typeface="Alexandria Medium" pitchFamily="2" charset="-78"/>
            </a:endParaRPr>
          </a:p>
        </p:txBody>
      </p:sp>
      <p:sp>
        <p:nvSpPr>
          <p:cNvPr id="18" name="TextBox 17">
            <a:extLst>
              <a:ext uri="{FF2B5EF4-FFF2-40B4-BE49-F238E27FC236}">
                <a16:creationId xmlns:a16="http://schemas.microsoft.com/office/drawing/2014/main" id="{C268B42A-0F85-DC4D-AB2C-967BB750B389}"/>
              </a:ext>
            </a:extLst>
          </p:cNvPr>
          <p:cNvSpPr txBox="1"/>
          <p:nvPr/>
        </p:nvSpPr>
        <p:spPr>
          <a:xfrm>
            <a:off x="5413357" y="2457115"/>
            <a:ext cx="3219607" cy="400110"/>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1000">
                <a:latin typeface="Alexandria Medium" pitchFamily="2" charset="-78"/>
                <a:cs typeface="Alexandria Medium" pitchFamily="2" charset="-78"/>
              </a:rPr>
              <a:t>پردازش برنامه توزیع می شود و داده ها در هر دو جهت منتقل می شوند.</a:t>
            </a:r>
            <a:endParaRPr lang="en-US" sz="1000">
              <a:latin typeface="Alexandria Medium" pitchFamily="2" charset="-78"/>
              <a:cs typeface="Alexandria Medium" pitchFamily="2" charset="-78"/>
            </a:endParaRPr>
          </a:p>
        </p:txBody>
      </p:sp>
      <p:sp>
        <p:nvSpPr>
          <p:cNvPr id="19" name="TextBox 18">
            <a:extLst>
              <a:ext uri="{FF2B5EF4-FFF2-40B4-BE49-F238E27FC236}">
                <a16:creationId xmlns:a16="http://schemas.microsoft.com/office/drawing/2014/main" id="{C49DBCF8-30D0-C944-9087-8B7E633A2D09}"/>
              </a:ext>
            </a:extLst>
          </p:cNvPr>
          <p:cNvSpPr txBox="1"/>
          <p:nvPr/>
        </p:nvSpPr>
        <p:spPr>
          <a:xfrm>
            <a:off x="4930394" y="2904463"/>
            <a:ext cx="3702570" cy="400110"/>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1000">
                <a:solidFill>
                  <a:srgbClr val="0269AE"/>
                </a:solidFill>
                <a:latin typeface="Alexandria Medium" pitchFamily="2" charset="-78"/>
                <a:cs typeface="Alexandria Medium" pitchFamily="2" charset="-78"/>
              </a:rPr>
              <a:t>فرآیندهای برنامه باید در مناسب ترین هسته پردازشی یا رایانه ای که به صورت پویا تعیین می شود، اجرا شوند.</a:t>
            </a:r>
            <a:endParaRPr lang="en-US" sz="1000">
              <a:solidFill>
                <a:srgbClr val="0269AE"/>
              </a:solidFill>
              <a:latin typeface="Alexandria Medium" pitchFamily="2" charset="-78"/>
              <a:cs typeface="Alexandria Medium" pitchFamily="2" charset="-78"/>
            </a:endParaRPr>
          </a:p>
        </p:txBody>
      </p:sp>
      <p:sp>
        <p:nvSpPr>
          <p:cNvPr id="20" name="TextBox 19">
            <a:extLst>
              <a:ext uri="{FF2B5EF4-FFF2-40B4-BE49-F238E27FC236}">
                <a16:creationId xmlns:a16="http://schemas.microsoft.com/office/drawing/2014/main" id="{3C3B5DD7-7141-9049-9402-965A6AAE614D}"/>
              </a:ext>
            </a:extLst>
          </p:cNvPr>
          <p:cNvSpPr txBox="1"/>
          <p:nvPr/>
        </p:nvSpPr>
        <p:spPr>
          <a:xfrm>
            <a:off x="1318904" y="3451112"/>
            <a:ext cx="4589718" cy="230832"/>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900">
                <a:solidFill>
                  <a:schemeClr val="bg1">
                    <a:lumMod val="50000"/>
                  </a:schemeClr>
                </a:solidFill>
                <a:latin typeface="Alexandria Medium" pitchFamily="2" charset="-78"/>
                <a:cs typeface="Alexandria Medium" pitchFamily="2" charset="-78"/>
              </a:rPr>
              <a:t>برنامه از پردازش توزیع شده غافل می‌شود، که نشان‌دهنده‌ی یک معماری متمرکز است.</a:t>
            </a:r>
            <a:endParaRPr lang="en-US" sz="900">
              <a:solidFill>
                <a:schemeClr val="bg1">
                  <a:lumMod val="50000"/>
                </a:schemeClr>
              </a:solidFill>
              <a:latin typeface="Alexandria Medium" pitchFamily="2" charset="-78"/>
              <a:cs typeface="Alexandria Medium" pitchFamily="2" charset="-78"/>
            </a:endParaRPr>
          </a:p>
        </p:txBody>
      </p:sp>
      <p:sp>
        <p:nvSpPr>
          <p:cNvPr id="21" name="TextBox 20">
            <a:extLst>
              <a:ext uri="{FF2B5EF4-FFF2-40B4-BE49-F238E27FC236}">
                <a16:creationId xmlns:a16="http://schemas.microsoft.com/office/drawing/2014/main" id="{53075974-B64B-C844-8C9E-512F083E08F6}"/>
              </a:ext>
            </a:extLst>
          </p:cNvPr>
          <p:cNvSpPr txBox="1"/>
          <p:nvPr/>
        </p:nvSpPr>
        <p:spPr>
          <a:xfrm>
            <a:off x="4375799" y="3711801"/>
            <a:ext cx="3936729" cy="369332"/>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900">
                <a:solidFill>
                  <a:srgbClr val="0E692F"/>
                </a:solidFill>
                <a:latin typeface="Alexandria Medium" pitchFamily="2" charset="-78"/>
                <a:cs typeface="Alexandria Medium" pitchFamily="2" charset="-78"/>
              </a:rPr>
              <a:t>داده‌های توسط برنامه تولید شده توسط سایر رایانه‌ها با مداخله انسانی پردازش می‌شوند، که به یک معماری متمرکز اشاره دارد.</a:t>
            </a:r>
            <a:endParaRPr lang="en-US" sz="900">
              <a:solidFill>
                <a:srgbClr val="0E692F"/>
              </a:solidFill>
              <a:latin typeface="Alexandria Medium" pitchFamily="2" charset="-78"/>
              <a:cs typeface="Alexandria Medium" pitchFamily="2" charset="-78"/>
            </a:endParaRPr>
          </a:p>
        </p:txBody>
      </p:sp>
      <p:cxnSp>
        <p:nvCxnSpPr>
          <p:cNvPr id="23" name="Straight Connector 22">
            <a:extLst>
              <a:ext uri="{FF2B5EF4-FFF2-40B4-BE49-F238E27FC236}">
                <a16:creationId xmlns:a16="http://schemas.microsoft.com/office/drawing/2014/main" id="{9D3B2ECD-24ED-4E46-913A-2BD68116E04B}"/>
              </a:ext>
            </a:extLst>
          </p:cNvPr>
          <p:cNvCxnSpPr>
            <a:cxnSpLocks/>
          </p:cNvCxnSpPr>
          <p:nvPr/>
        </p:nvCxnSpPr>
        <p:spPr>
          <a:xfrm>
            <a:off x="4792786" y="3284378"/>
            <a:ext cx="3840178"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9CBAF79-FD4D-CA44-9147-D585CD5B8199}"/>
              </a:ext>
            </a:extLst>
          </p:cNvPr>
          <p:cNvSpPr txBox="1"/>
          <p:nvPr/>
        </p:nvSpPr>
        <p:spPr>
          <a:xfrm>
            <a:off x="4412198" y="4153014"/>
            <a:ext cx="3936729" cy="369332"/>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900">
                <a:solidFill>
                  <a:srgbClr val="C00000"/>
                </a:solidFill>
                <a:latin typeface="Alexandria Medium" pitchFamily="2" charset="-78"/>
                <a:cs typeface="Alexandria Medium" pitchFamily="2" charset="-78"/>
              </a:rPr>
              <a:t> داده‌های برنامه به صورت خودکار برای پردازش آماده و منتقل می‌شوند در کامپیوترهای دیگر، که به یک معماری توزیع شده اشاره دارد.</a:t>
            </a:r>
            <a:endParaRPr lang="en-US" sz="900">
              <a:solidFill>
                <a:srgbClr val="C00000"/>
              </a:solidFill>
              <a:latin typeface="Alexandria Medium" pitchFamily="2" charset="-78"/>
              <a:cs typeface="Alexandria Medium" pitchFamily="2" charset="-78"/>
            </a:endParaRPr>
          </a:p>
        </p:txBody>
      </p:sp>
      <p:sp>
        <p:nvSpPr>
          <p:cNvPr id="24" name="TextBox 23">
            <a:extLst>
              <a:ext uri="{FF2B5EF4-FFF2-40B4-BE49-F238E27FC236}">
                <a16:creationId xmlns:a16="http://schemas.microsoft.com/office/drawing/2014/main" id="{D7F653A4-36E4-A44E-93AA-0445217232CC}"/>
              </a:ext>
            </a:extLst>
          </p:cNvPr>
          <p:cNvSpPr txBox="1"/>
          <p:nvPr/>
        </p:nvSpPr>
        <p:spPr>
          <a:xfrm>
            <a:off x="5743684" y="3443417"/>
            <a:ext cx="880369" cy="246221"/>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1000" b="1">
                <a:latin typeface="Alexandria Medium" pitchFamily="2" charset="-78"/>
                <a:cs typeface="Alexandria Medium" pitchFamily="2" charset="-78"/>
              </a:rPr>
              <a:t>سناریو صفر </a:t>
            </a:r>
            <a:endParaRPr lang="en-US" sz="1000" b="1">
              <a:latin typeface="Alexandria Medium" pitchFamily="2" charset="-78"/>
              <a:cs typeface="Alexandria Medium" pitchFamily="2" charset="-78"/>
            </a:endParaRPr>
          </a:p>
        </p:txBody>
      </p:sp>
      <p:sp>
        <p:nvSpPr>
          <p:cNvPr id="26" name="TextBox 25">
            <a:extLst>
              <a:ext uri="{FF2B5EF4-FFF2-40B4-BE49-F238E27FC236}">
                <a16:creationId xmlns:a16="http://schemas.microsoft.com/office/drawing/2014/main" id="{506F4EDF-E30D-7246-92E5-E5D4B21A01D3}"/>
              </a:ext>
            </a:extLst>
          </p:cNvPr>
          <p:cNvSpPr txBox="1"/>
          <p:nvPr/>
        </p:nvSpPr>
        <p:spPr>
          <a:xfrm>
            <a:off x="8225208" y="3761251"/>
            <a:ext cx="785793" cy="246221"/>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1000" b="1">
                <a:latin typeface="Alexandria Medium" pitchFamily="2" charset="-78"/>
                <a:cs typeface="Alexandria Medium" pitchFamily="2" charset="-78"/>
              </a:rPr>
              <a:t>سناریو یک </a:t>
            </a:r>
            <a:endParaRPr lang="en-US" sz="1000" b="1">
              <a:latin typeface="Alexandria Medium" pitchFamily="2" charset="-78"/>
              <a:cs typeface="Alexandria Medium" pitchFamily="2" charset="-78"/>
            </a:endParaRPr>
          </a:p>
        </p:txBody>
      </p:sp>
      <p:sp>
        <p:nvSpPr>
          <p:cNvPr id="27" name="TextBox 26">
            <a:extLst>
              <a:ext uri="{FF2B5EF4-FFF2-40B4-BE49-F238E27FC236}">
                <a16:creationId xmlns:a16="http://schemas.microsoft.com/office/drawing/2014/main" id="{3BBEBA80-ADB0-4E4C-AB3E-908A9346D802}"/>
              </a:ext>
            </a:extLst>
          </p:cNvPr>
          <p:cNvSpPr txBox="1"/>
          <p:nvPr/>
        </p:nvSpPr>
        <p:spPr>
          <a:xfrm>
            <a:off x="8262201" y="4164441"/>
            <a:ext cx="766557" cy="246221"/>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1000" b="1">
                <a:latin typeface="Alexandria Medium" pitchFamily="2" charset="-78"/>
                <a:cs typeface="Alexandria Medium" pitchFamily="2" charset="-78"/>
              </a:rPr>
              <a:t>سناریو دو </a:t>
            </a:r>
            <a:endParaRPr lang="en-US" sz="1000" b="1">
              <a:latin typeface="Alexandria Medium" pitchFamily="2" charset="-78"/>
              <a:cs typeface="Alexandria Medium" pitchFamily="2" charset="-78"/>
            </a:endParaRPr>
          </a:p>
        </p:txBody>
      </p:sp>
      <p:sp>
        <p:nvSpPr>
          <p:cNvPr id="28" name="TextBox 27">
            <a:extLst>
              <a:ext uri="{FF2B5EF4-FFF2-40B4-BE49-F238E27FC236}">
                <a16:creationId xmlns:a16="http://schemas.microsoft.com/office/drawing/2014/main" id="{0A8175AE-6A35-2F45-9003-7DAD27B3C217}"/>
              </a:ext>
            </a:extLst>
          </p:cNvPr>
          <p:cNvSpPr txBox="1"/>
          <p:nvPr/>
        </p:nvSpPr>
        <p:spPr>
          <a:xfrm>
            <a:off x="8247784" y="4632687"/>
            <a:ext cx="816249" cy="246221"/>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1000" b="1">
                <a:latin typeface="Alexandria Medium" pitchFamily="2" charset="-78"/>
                <a:cs typeface="Alexandria Medium" pitchFamily="2" charset="-78"/>
              </a:rPr>
              <a:t>سناریو سه </a:t>
            </a:r>
            <a:endParaRPr lang="en-US" sz="1000" b="1">
              <a:latin typeface="Alexandria Medium" pitchFamily="2" charset="-78"/>
              <a:cs typeface="Alexandria Medium" pitchFamily="2" charset="-78"/>
            </a:endParaRPr>
          </a:p>
        </p:txBody>
      </p:sp>
      <p:sp>
        <p:nvSpPr>
          <p:cNvPr id="29" name="TextBox 28">
            <a:extLst>
              <a:ext uri="{FF2B5EF4-FFF2-40B4-BE49-F238E27FC236}">
                <a16:creationId xmlns:a16="http://schemas.microsoft.com/office/drawing/2014/main" id="{A58A67BA-5946-E141-B74F-F4FED41C1ACC}"/>
              </a:ext>
            </a:extLst>
          </p:cNvPr>
          <p:cNvSpPr txBox="1"/>
          <p:nvPr/>
        </p:nvSpPr>
        <p:spPr>
          <a:xfrm>
            <a:off x="3191491" y="3874377"/>
            <a:ext cx="1028477" cy="246221"/>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1000" b="1">
                <a:latin typeface="Alexandria Medium" pitchFamily="2" charset="-78"/>
                <a:cs typeface="Alexandria Medium" pitchFamily="2" charset="-78"/>
              </a:rPr>
              <a:t>سناریو چهارم </a:t>
            </a:r>
            <a:endParaRPr lang="en-US" sz="1000" b="1">
              <a:latin typeface="Alexandria Medium" pitchFamily="2" charset="-78"/>
              <a:cs typeface="Alexandria Medium" pitchFamily="2" charset="-78"/>
            </a:endParaRPr>
          </a:p>
        </p:txBody>
      </p:sp>
      <p:sp>
        <p:nvSpPr>
          <p:cNvPr id="30" name="TextBox 29">
            <a:extLst>
              <a:ext uri="{FF2B5EF4-FFF2-40B4-BE49-F238E27FC236}">
                <a16:creationId xmlns:a16="http://schemas.microsoft.com/office/drawing/2014/main" id="{6ED386F7-8725-C349-A89A-3C7B11EE9275}"/>
              </a:ext>
            </a:extLst>
          </p:cNvPr>
          <p:cNvSpPr txBox="1"/>
          <p:nvPr/>
        </p:nvSpPr>
        <p:spPr>
          <a:xfrm>
            <a:off x="3232021" y="4312661"/>
            <a:ext cx="961314" cy="246221"/>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1000" b="1">
                <a:latin typeface="Alexandria Medium" pitchFamily="2" charset="-78"/>
                <a:cs typeface="Alexandria Medium" pitchFamily="2" charset="-78"/>
              </a:rPr>
              <a:t>سناریو پنجم </a:t>
            </a:r>
            <a:endParaRPr lang="en-US" sz="1000" b="1">
              <a:latin typeface="Alexandria Medium" pitchFamily="2" charset="-78"/>
              <a:cs typeface="Alexandria Medium" pitchFamily="2" charset="-78"/>
            </a:endParaRPr>
          </a:p>
        </p:txBody>
      </p:sp>
      <p:sp>
        <p:nvSpPr>
          <p:cNvPr id="25" name="TextBox 24">
            <a:extLst>
              <a:ext uri="{FF2B5EF4-FFF2-40B4-BE49-F238E27FC236}">
                <a16:creationId xmlns:a16="http://schemas.microsoft.com/office/drawing/2014/main" id="{45DC8036-EF49-B547-A5F9-8093B04285EC}"/>
              </a:ext>
            </a:extLst>
          </p:cNvPr>
          <p:cNvSpPr txBox="1"/>
          <p:nvPr/>
        </p:nvSpPr>
        <p:spPr>
          <a:xfrm>
            <a:off x="4930394" y="4566143"/>
            <a:ext cx="3408889" cy="369332"/>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900">
                <a:solidFill>
                  <a:schemeClr val="bg2">
                    <a:lumMod val="25000"/>
                  </a:schemeClr>
                </a:solidFill>
                <a:latin typeface="Alexandria Medium" pitchFamily="2" charset="-78"/>
                <a:cs typeface="Alexandria Medium" pitchFamily="2" charset="-78"/>
              </a:rPr>
              <a:t>پردازش برنامه توزیع شده است، اما داده‌ها فقط به یک سمت منتقل می‌شوند، که به یک معماری جزئیاً توزیع شده اشاره دارد.</a:t>
            </a:r>
            <a:endParaRPr lang="en-US" sz="900">
              <a:solidFill>
                <a:schemeClr val="bg2">
                  <a:lumMod val="25000"/>
                </a:schemeClr>
              </a:solidFill>
              <a:latin typeface="Alexandria Medium" pitchFamily="2" charset="-78"/>
              <a:cs typeface="Alexandria Medium" pitchFamily="2" charset="-78"/>
            </a:endParaRPr>
          </a:p>
        </p:txBody>
      </p:sp>
      <p:sp>
        <p:nvSpPr>
          <p:cNvPr id="36" name="TextBox 35">
            <a:extLst>
              <a:ext uri="{FF2B5EF4-FFF2-40B4-BE49-F238E27FC236}">
                <a16:creationId xmlns:a16="http://schemas.microsoft.com/office/drawing/2014/main" id="{33FDBF41-10AF-284C-ACB1-F1113FCB4245}"/>
              </a:ext>
            </a:extLst>
          </p:cNvPr>
          <p:cNvSpPr txBox="1"/>
          <p:nvPr/>
        </p:nvSpPr>
        <p:spPr>
          <a:xfrm>
            <a:off x="26634" y="3810338"/>
            <a:ext cx="3402871" cy="369332"/>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900">
                <a:solidFill>
                  <a:srgbClr val="716BE3"/>
                </a:solidFill>
                <a:latin typeface="Alexandria Medium" pitchFamily="2" charset="-78"/>
                <a:cs typeface="Alexandria Medium" pitchFamily="2" charset="-78"/>
              </a:rPr>
              <a:t>پردازش برنامه توزیع شده است و داده‌ها به هر دو سمت منتقل می‌شوند، که به یک معماری کاملاً توزیع شده اشاره دارد.</a:t>
            </a:r>
            <a:endParaRPr lang="en-US" sz="900">
              <a:solidFill>
                <a:srgbClr val="716BE3"/>
              </a:solidFill>
              <a:latin typeface="Alexandria Medium" pitchFamily="2" charset="-78"/>
              <a:cs typeface="Alexandria Medium" pitchFamily="2" charset="-78"/>
            </a:endParaRPr>
          </a:p>
        </p:txBody>
      </p:sp>
      <p:sp>
        <p:nvSpPr>
          <p:cNvPr id="40" name="TextBox 39">
            <a:extLst>
              <a:ext uri="{FF2B5EF4-FFF2-40B4-BE49-F238E27FC236}">
                <a16:creationId xmlns:a16="http://schemas.microsoft.com/office/drawing/2014/main" id="{265EAB2A-0070-D249-9A58-7DF39B5E77FF}"/>
              </a:ext>
            </a:extLst>
          </p:cNvPr>
          <p:cNvSpPr txBox="1"/>
          <p:nvPr/>
        </p:nvSpPr>
        <p:spPr>
          <a:xfrm>
            <a:off x="5354576" y="382498"/>
            <a:ext cx="3261562" cy="461665"/>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1200">
                <a:solidFill>
                  <a:schemeClr val="bg1">
                    <a:lumMod val="25000"/>
                  </a:schemeClr>
                </a:solidFill>
                <a:latin typeface="Alexandria Medium" pitchFamily="2" charset="-78"/>
                <a:cs typeface="Alexandria Medium" pitchFamily="2" charset="-78"/>
              </a:rPr>
              <a:t>آیا معماری سیستم متمرکز است یا توزیع شده؟</a:t>
            </a:r>
            <a:endParaRPr lang="en-US" sz="1200">
              <a:solidFill>
                <a:schemeClr val="bg1">
                  <a:lumMod val="25000"/>
                </a:schemeClr>
              </a:solidFill>
              <a:latin typeface="Alexandria Medium" pitchFamily="2" charset="-78"/>
              <a:cs typeface="Alexandria Medium" pitchFamily="2" charset="-78"/>
            </a:endParaRPr>
          </a:p>
        </p:txBody>
      </p:sp>
      <p:sp>
        <p:nvSpPr>
          <p:cNvPr id="37" name="TextBox 36">
            <a:extLst>
              <a:ext uri="{FF2B5EF4-FFF2-40B4-BE49-F238E27FC236}">
                <a16:creationId xmlns:a16="http://schemas.microsoft.com/office/drawing/2014/main" id="{20826F11-904F-9B4C-8F93-082E2F594BD5}"/>
              </a:ext>
            </a:extLst>
          </p:cNvPr>
          <p:cNvSpPr txBox="1"/>
          <p:nvPr/>
        </p:nvSpPr>
        <p:spPr>
          <a:xfrm>
            <a:off x="115242" y="4250677"/>
            <a:ext cx="3349603" cy="507831"/>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900">
                <a:solidFill>
                  <a:srgbClr val="DAA300"/>
                </a:solidFill>
                <a:latin typeface="Alexandria Medium" pitchFamily="2" charset="-78"/>
                <a:cs typeface="Alexandria Medium" pitchFamily="2" charset="-78"/>
              </a:rPr>
              <a:t> فرآیندهای برنامه باید در هسته یا کامپیوتر مناسب‌تری اجرا شوند که به صورت پویا تعیین می‌شود، که به یک معماری توزیع شده اشاره دارد.</a:t>
            </a:r>
            <a:endParaRPr lang="en-US" sz="900">
              <a:solidFill>
                <a:srgbClr val="DAA300"/>
              </a:solidFill>
              <a:latin typeface="Alexandria Medium" pitchFamily="2" charset="-78"/>
              <a:cs typeface="Alexandria Medium" pitchFamily="2" charset="-78"/>
            </a:endParaRPr>
          </a:p>
        </p:txBody>
      </p:sp>
      <p:sp>
        <p:nvSpPr>
          <p:cNvPr id="38" name="Rectangle 37">
            <a:extLst>
              <a:ext uri="{FF2B5EF4-FFF2-40B4-BE49-F238E27FC236}">
                <a16:creationId xmlns:a16="http://schemas.microsoft.com/office/drawing/2014/main" id="{13E36E07-B1AA-0B46-823E-93275C0EFC57}"/>
              </a:ext>
            </a:extLst>
          </p:cNvPr>
          <p:cNvSpPr/>
          <p:nvPr/>
        </p:nvSpPr>
        <p:spPr>
          <a:xfrm>
            <a:off x="-556558" y="-221954"/>
            <a:ext cx="9937512" cy="5758248"/>
          </a:xfrm>
          <a:prstGeom prst="rect">
            <a:avLst/>
          </a:prstGeom>
          <a:solidFill>
            <a:srgbClr val="135669">
              <a:alpha val="89020"/>
            </a:srgb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algn="ctr" rtl="0">
              <a:lnSpc>
                <a:spcPct val="100000"/>
              </a:lnSpc>
              <a:spcBef>
                <a:spcPts val="0"/>
              </a:spcBef>
              <a:spcAft>
                <a:spcPts val="0"/>
              </a:spcAft>
              <a:buClr>
                <a:srgbClr val="000000"/>
              </a:buClr>
              <a:buFont typeface="Arial"/>
            </a:pPr>
            <a:endParaRPr lang="en-US"/>
          </a:p>
        </p:txBody>
      </p:sp>
      <p:sp>
        <p:nvSpPr>
          <p:cNvPr id="39" name="TextBox 38">
            <a:extLst>
              <a:ext uri="{FF2B5EF4-FFF2-40B4-BE49-F238E27FC236}">
                <a16:creationId xmlns:a16="http://schemas.microsoft.com/office/drawing/2014/main" id="{4B557508-2679-0B46-9ACC-0A601CBF1120}"/>
              </a:ext>
            </a:extLst>
          </p:cNvPr>
          <p:cNvSpPr txBox="1"/>
          <p:nvPr/>
        </p:nvSpPr>
        <p:spPr>
          <a:xfrm>
            <a:off x="1009761" y="2164160"/>
            <a:ext cx="6367148" cy="591829"/>
          </a:xfrm>
          <a:prstGeom prst="rect">
            <a:avLst/>
          </a:prstGeom>
          <a:noFill/>
        </p:spPr>
        <p:txBody>
          <a:bodyPr wrap="square" rtlCol="0">
            <a:spAutoFit/>
          </a:bodyPr>
          <a:lstStyle/>
          <a:p>
            <a:pPr algn="ctr" rtl="1">
              <a:lnSpc>
                <a:spcPts val="2020"/>
              </a:lnSpc>
            </a:pPr>
            <a:r>
              <a:rPr lang="fa-IR" sz="1600" b="1">
                <a:solidFill>
                  <a:schemeClr val="bg1"/>
                </a:solidFill>
                <a:latin typeface="Alexandria Medium" pitchFamily="2" charset="-78"/>
                <a:cs typeface="Alexandria Medium" pitchFamily="2" charset="-78"/>
              </a:rPr>
              <a:t>به طور کلی، بر اساس این سناریوها، معماری سیستم به نظر می‌رسد توزیع شده است، به ویژه در سناریوهای ۲، ۴ و ۵.</a:t>
            </a:r>
            <a:endParaRPr lang="en-US" sz="1600" b="1">
              <a:solidFill>
                <a:schemeClr val="bg1"/>
              </a:solidFill>
              <a:latin typeface="Alexandria Medium" pitchFamily="2" charset="-78"/>
              <a:cs typeface="Alexandria Medium"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par>
                          <p:cTn id="52" fill="hold">
                            <p:stCondLst>
                              <p:cond delay="6000"/>
                            </p:stCondLst>
                            <p:childTnLst>
                              <p:par>
                                <p:cTn id="53" presetID="9" presetClass="entr" presetSubtype="0" fill="hold" grpId="0" nodeType="after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dissolve">
                                      <p:cBhvr>
                                        <p:cTn id="55" dur="500"/>
                                        <p:tgtEl>
                                          <p:spTgt spid="40"/>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childTnLst>
                                </p:cTn>
                              </p:par>
                            </p:childTnLst>
                          </p:cTn>
                        </p:par>
                        <p:par>
                          <p:cTn id="80" fill="hold">
                            <p:stCondLst>
                              <p:cond delay="9500"/>
                            </p:stCondLst>
                            <p:childTnLst>
                              <p:par>
                                <p:cTn id="81" presetID="10" presetClass="entr" presetSubtype="0" fill="hold" grpId="0" nodeType="after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childTnLst>
                          </p:cTn>
                        </p:par>
                        <p:par>
                          <p:cTn id="84" fill="hold">
                            <p:stCondLst>
                              <p:cond delay="10000"/>
                            </p:stCondLst>
                            <p:childTnLst>
                              <p:par>
                                <p:cTn id="85" presetID="10" presetClass="entr" presetSubtype="0" fill="hold" grpId="0" nodeType="after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childTnLst>
                                </p:cTn>
                              </p:par>
                            </p:childTnLst>
                          </p:cTn>
                        </p:par>
                        <p:par>
                          <p:cTn id="88" fill="hold">
                            <p:stCondLst>
                              <p:cond delay="10500"/>
                            </p:stCondLst>
                            <p:childTnLst>
                              <p:par>
                                <p:cTn id="89" presetID="10" presetClass="entr" presetSubtype="0" fill="hold" grpId="0" nodeType="after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childTnLst>
                                </p:cTn>
                              </p:par>
                            </p:childTnLst>
                          </p:cTn>
                        </p:par>
                        <p:par>
                          <p:cTn id="92" fill="hold">
                            <p:stCondLst>
                              <p:cond delay="11000"/>
                            </p:stCondLst>
                            <p:childTnLst>
                              <p:par>
                                <p:cTn id="93" presetID="10" presetClass="entr" presetSubtype="0" fill="hold" grpId="0" nodeType="after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500"/>
                                        <p:tgtEl>
                                          <p:spTgt spid="27"/>
                                        </p:tgtEl>
                                      </p:cBhvr>
                                    </p:animEffect>
                                  </p:childTnLst>
                                </p:cTn>
                              </p:par>
                            </p:childTnLst>
                          </p:cTn>
                        </p:par>
                        <p:par>
                          <p:cTn id="96" fill="hold">
                            <p:stCondLst>
                              <p:cond delay="11500"/>
                            </p:stCondLst>
                            <p:childTnLst>
                              <p:par>
                                <p:cTn id="97" presetID="10" presetClass="entr" presetSubtype="0" fill="hold" grpId="0" nodeType="after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childTnLst>
                          </p:cTn>
                        </p:par>
                        <p:par>
                          <p:cTn id="100" fill="hold">
                            <p:stCondLst>
                              <p:cond delay="12000"/>
                            </p:stCondLst>
                            <p:childTnLst>
                              <p:par>
                                <p:cTn id="101" presetID="10" presetClass="entr" presetSubtype="0" fill="hold" grpId="0" nodeType="after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childTnLst>
                          </p:cTn>
                        </p:par>
                        <p:par>
                          <p:cTn id="104" fill="hold">
                            <p:stCondLst>
                              <p:cond delay="12500"/>
                            </p:stCondLst>
                            <p:childTnLst>
                              <p:par>
                                <p:cTn id="105" presetID="10" presetClass="entr" presetSubtype="0" fill="hold" grpId="0" nodeType="after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500"/>
                                        <p:tgtEl>
                                          <p:spTgt spid="30"/>
                                        </p:tgtEl>
                                      </p:cBhvr>
                                    </p:animEffect>
                                  </p:childTnLst>
                                </p:cTn>
                              </p:par>
                            </p:childTnLst>
                          </p:cTn>
                        </p:par>
                        <p:par>
                          <p:cTn id="108" fill="hold">
                            <p:stCondLst>
                              <p:cond delay="13000"/>
                            </p:stCondLst>
                            <p:childTnLst>
                              <p:par>
                                <p:cTn id="109" presetID="10" presetClass="entr" presetSubtype="0" fill="hold" grpId="0" nodeType="after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500"/>
                                        <p:tgtEl>
                                          <p:spTgt spid="25"/>
                                        </p:tgtEl>
                                      </p:cBhvr>
                                    </p:animEffect>
                                  </p:childTnLst>
                                </p:cTn>
                              </p:par>
                            </p:childTnLst>
                          </p:cTn>
                        </p:par>
                        <p:par>
                          <p:cTn id="112" fill="hold">
                            <p:stCondLst>
                              <p:cond delay="13500"/>
                            </p:stCondLst>
                            <p:childTnLst>
                              <p:par>
                                <p:cTn id="113" presetID="10" presetClass="entr" presetSubtype="0" fill="hold" grpId="0" nodeType="after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5" dur="500"/>
                                        <p:tgtEl>
                                          <p:spTgt spid="36"/>
                                        </p:tgtEl>
                                      </p:cBhvr>
                                    </p:animEffect>
                                  </p:childTnLst>
                                </p:cTn>
                              </p:par>
                            </p:childTnLst>
                          </p:cTn>
                        </p:par>
                        <p:par>
                          <p:cTn id="116" fill="hold">
                            <p:stCondLst>
                              <p:cond delay="14000"/>
                            </p:stCondLst>
                            <p:childTnLst>
                              <p:par>
                                <p:cTn id="117" presetID="10" presetClass="entr" presetSubtype="0" fill="hold" grpId="0" nodeType="afterEffect">
                                  <p:stCondLst>
                                    <p:cond delay="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9" dur="500"/>
                                        <p:tgtEl>
                                          <p:spTgt spid="37"/>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38"/>
                                        </p:tgtEl>
                                        <p:attrNameLst>
                                          <p:attrName>style.visibility</p:attrName>
                                        </p:attrNameLst>
                                      </p:cBhvr>
                                      <p:to>
                                        <p:strVal val="visible"/>
                                      </p:to>
                                    </p:set>
                                    <p:animEffect transition="in" filter="fade">
                                      <p:cBhvr>
                                        <p:cTn id="124" dur="500"/>
                                        <p:tgtEl>
                                          <p:spTgt spid="38"/>
                                        </p:tgtEl>
                                      </p:cBhvr>
                                    </p:animEffect>
                                  </p:childTnLst>
                                </p:cTn>
                              </p:par>
                            </p:childTnLst>
                          </p:cTn>
                        </p:par>
                        <p:par>
                          <p:cTn id="125" fill="hold">
                            <p:stCondLst>
                              <p:cond delay="500"/>
                            </p:stCondLst>
                            <p:childTnLst>
                              <p:par>
                                <p:cTn id="126" presetID="9" presetClass="entr" presetSubtype="0" fill="hold" grpId="0" nodeType="afterEffect">
                                  <p:stCondLst>
                                    <p:cond delay="0"/>
                                  </p:stCondLst>
                                  <p:childTnLst>
                                    <p:set>
                                      <p:cBhvr>
                                        <p:cTn id="127" dur="1" fill="hold">
                                          <p:stCondLst>
                                            <p:cond delay="0"/>
                                          </p:stCondLst>
                                        </p:cTn>
                                        <p:tgtEl>
                                          <p:spTgt spid="39"/>
                                        </p:tgtEl>
                                        <p:attrNameLst>
                                          <p:attrName>style.visibility</p:attrName>
                                        </p:attrNameLst>
                                      </p:cBhvr>
                                      <p:to>
                                        <p:strVal val="visible"/>
                                      </p:to>
                                    </p:set>
                                    <p:animEffect transition="in" filter="dissolve">
                                      <p:cBhvr>
                                        <p:cTn id="128" dur="500"/>
                                        <p:tgtEl>
                                          <p:spTgt spid="39"/>
                                        </p:tgtEl>
                                      </p:cBhvr>
                                    </p:animEffect>
                                  </p:childTnLst>
                                </p:cTn>
                              </p:par>
                            </p:childTnLst>
                          </p:cTn>
                        </p:par>
                        <p:par>
                          <p:cTn id="129" fill="hold">
                            <p:stCondLst>
                              <p:cond delay="1000"/>
                            </p:stCondLst>
                            <p:childTnLst>
                              <p:par>
                                <p:cTn id="130" presetID="10" presetClass="entr" presetSubtype="0" fill="hold" nodeType="after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9" grpId="0"/>
      <p:bldP spid="12" grpId="0"/>
      <p:bldP spid="15" grpId="0"/>
      <p:bldP spid="18" grpId="0"/>
      <p:bldP spid="19" grpId="0"/>
      <p:bldP spid="20" grpId="0"/>
      <p:bldP spid="21" grpId="0"/>
      <p:bldP spid="22" grpId="0"/>
      <p:bldP spid="24" grpId="0"/>
      <p:bldP spid="26" grpId="0"/>
      <p:bldP spid="27" grpId="0"/>
      <p:bldP spid="28" grpId="0"/>
      <p:bldP spid="29" grpId="0"/>
      <p:bldP spid="30" grpId="0"/>
      <p:bldP spid="25" grpId="0"/>
      <p:bldP spid="36" grpId="0"/>
      <p:bldP spid="40" grpId="0"/>
      <p:bldP spid="37" grpId="0"/>
      <p:bldP spid="38" grpId="0" animBg="1"/>
      <p:bldP spid="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pic>
        <p:nvPicPr>
          <p:cNvPr id="3" name="Picture 2">
            <a:extLst>
              <a:ext uri="{FF2B5EF4-FFF2-40B4-BE49-F238E27FC236}">
                <a16:creationId xmlns:a16="http://schemas.microsoft.com/office/drawing/2014/main" id="{0096870B-D856-C842-B177-C3F80629CAA7}"/>
              </a:ext>
            </a:extLst>
          </p:cNvPr>
          <p:cNvPicPr>
            <a:picLocks noChangeAspect="1"/>
          </p:cNvPicPr>
          <p:nvPr/>
        </p:nvPicPr>
        <p:blipFill>
          <a:blip r:embed="rId3"/>
          <a:stretch>
            <a:fillRect/>
          </a:stretch>
        </p:blipFill>
        <p:spPr>
          <a:xfrm>
            <a:off x="184863" y="444843"/>
            <a:ext cx="4300639" cy="3107458"/>
          </a:xfrm>
          <a:prstGeom prst="rect">
            <a:avLst/>
          </a:prstGeom>
        </p:spPr>
      </p:pic>
      <p:sp>
        <p:nvSpPr>
          <p:cNvPr id="4" name="TextBox 3">
            <a:extLst>
              <a:ext uri="{FF2B5EF4-FFF2-40B4-BE49-F238E27FC236}">
                <a16:creationId xmlns:a16="http://schemas.microsoft.com/office/drawing/2014/main" id="{0BEBB9BF-D5A5-4A40-8C05-C70ADC7683F5}"/>
              </a:ext>
            </a:extLst>
          </p:cNvPr>
          <p:cNvSpPr txBox="1"/>
          <p:nvPr/>
        </p:nvSpPr>
        <p:spPr>
          <a:xfrm>
            <a:off x="105787" y="69669"/>
            <a:ext cx="5737468" cy="538609"/>
          </a:xfrm>
          <a:prstGeom prst="rect">
            <a:avLst/>
          </a:prstGeom>
          <a:noFill/>
        </p:spPr>
        <p:txBody>
          <a:bodyPr wrap="none" rtlCol="0">
            <a:spAutoFit/>
          </a:bodyPr>
          <a:lstStyle/>
          <a:p>
            <a:pPr algn="l"/>
            <a:r>
              <a:rPr lang="en-US" b="1">
                <a:solidFill>
                  <a:srgbClr val="2D2D2D"/>
                </a:solidFill>
                <a:effectLst/>
                <a:latin typeface="Alexandria Medium" pitchFamily="2" charset="-78"/>
                <a:cs typeface="Alexandria Medium" pitchFamily="2" charset="-78"/>
              </a:rPr>
              <a:t>Response time, performance objectives  </a:t>
            </a:r>
            <a:r>
              <a:rPr lang="en-US" sz="1800" b="1">
                <a:solidFill>
                  <a:srgbClr val="2D2D2D"/>
                </a:solidFill>
                <a:effectLst/>
                <a:latin typeface="Alexandria Medium" pitchFamily="2" charset="-78"/>
                <a:cs typeface="Alexandria Medium" pitchFamily="2" charset="-78"/>
              </a:rPr>
              <a:t>|</a:t>
            </a:r>
            <a:r>
              <a:rPr lang="en-US" b="1">
                <a:solidFill>
                  <a:srgbClr val="2D2D2D"/>
                </a:solidFill>
                <a:effectLst/>
                <a:latin typeface="Alexandria Medium" pitchFamily="2" charset="-78"/>
                <a:cs typeface="Alexandria Medium" pitchFamily="2" charset="-78"/>
              </a:rPr>
              <a:t> </a:t>
            </a:r>
            <a:r>
              <a:rPr lang="fa-IR" sz="1200" b="1">
                <a:solidFill>
                  <a:srgbClr val="2D2D2D"/>
                </a:solidFill>
                <a:effectLst/>
                <a:latin typeface="Alexandria Medium" pitchFamily="2" charset="-78"/>
                <a:cs typeface="Alexandria Medium" pitchFamily="2" charset="-78"/>
              </a:rPr>
              <a:t>زمان پاسخ، اهداف عملکرد</a:t>
            </a:r>
            <a:endParaRPr lang="en-US" sz="1100" b="1">
              <a:effectLst/>
              <a:latin typeface="Alexandria Medium" pitchFamily="2" charset="-78"/>
              <a:cs typeface="Alexandria Medium" pitchFamily="2" charset="-78"/>
            </a:endParaRPr>
          </a:p>
          <a:p>
            <a:pPr marR="0" algn="l">
              <a:lnSpc>
                <a:spcPct val="100000"/>
              </a:lnSpc>
              <a:spcBef>
                <a:spcPts val="0"/>
              </a:spcBef>
              <a:spcAft>
                <a:spcPts val="0"/>
              </a:spcAft>
              <a:buClr>
                <a:srgbClr val="000000"/>
              </a:buClr>
              <a:buFont typeface="Arial"/>
            </a:pPr>
            <a:endParaRPr lang="en-US" sz="1100" b="1">
              <a:latin typeface="Alexandria Medium" pitchFamily="2" charset="-78"/>
              <a:cs typeface="Alexandria Medium" pitchFamily="2" charset="-78"/>
            </a:endParaRPr>
          </a:p>
        </p:txBody>
      </p:sp>
      <p:cxnSp>
        <p:nvCxnSpPr>
          <p:cNvPr id="5" name="Straight Connector 4">
            <a:extLst>
              <a:ext uri="{FF2B5EF4-FFF2-40B4-BE49-F238E27FC236}">
                <a16:creationId xmlns:a16="http://schemas.microsoft.com/office/drawing/2014/main" id="{7E24FD87-4842-914E-B3CD-FA17FCFC292E}"/>
              </a:ext>
            </a:extLst>
          </p:cNvPr>
          <p:cNvCxnSpPr>
            <a:cxnSpLocks/>
          </p:cNvCxnSpPr>
          <p:nvPr/>
        </p:nvCxnSpPr>
        <p:spPr>
          <a:xfrm>
            <a:off x="4412350" y="1033272"/>
            <a:ext cx="372581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9F1A389-605A-3645-8745-673BD2261962}"/>
              </a:ext>
            </a:extLst>
          </p:cNvPr>
          <p:cNvSpPr txBox="1"/>
          <p:nvPr/>
        </p:nvSpPr>
        <p:spPr>
          <a:xfrm>
            <a:off x="4403206" y="695422"/>
            <a:ext cx="4078224" cy="261610"/>
          </a:xfrm>
          <a:prstGeom prst="rect">
            <a:avLst/>
          </a:prstGeom>
          <a:noFill/>
        </p:spPr>
        <p:txBody>
          <a:bodyPr wrap="square" rtlCol="0">
            <a:spAutoFit/>
          </a:bodyPr>
          <a:lstStyle/>
          <a:p>
            <a:r>
              <a:rPr lang="fa-IR" sz="1100">
                <a:latin typeface="Alexandria Medium" pitchFamily="2" charset="-78"/>
                <a:cs typeface="Alexandria Medium" pitchFamily="2" charset="-78"/>
              </a:rPr>
              <a:t>هیچ الزام عملکرد خاصی توسط مشتری تعریف نشده است.</a:t>
            </a:r>
            <a:endParaRPr lang="en-US" sz="1100">
              <a:latin typeface="Alexandria Medium" pitchFamily="2" charset="-78"/>
              <a:cs typeface="Alexandria Medium" pitchFamily="2" charset="-78"/>
            </a:endParaRPr>
          </a:p>
        </p:txBody>
      </p:sp>
      <p:cxnSp>
        <p:nvCxnSpPr>
          <p:cNvPr id="13" name="Straight Connector 12">
            <a:extLst>
              <a:ext uri="{FF2B5EF4-FFF2-40B4-BE49-F238E27FC236}">
                <a16:creationId xmlns:a16="http://schemas.microsoft.com/office/drawing/2014/main" id="{B3BE5A40-8110-9E44-BA66-8060B8834BAF}"/>
              </a:ext>
            </a:extLst>
          </p:cNvPr>
          <p:cNvCxnSpPr>
            <a:cxnSpLocks/>
          </p:cNvCxnSpPr>
          <p:nvPr/>
        </p:nvCxnSpPr>
        <p:spPr>
          <a:xfrm>
            <a:off x="4430638" y="1405128"/>
            <a:ext cx="3725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E367670-6A2D-A245-84DF-A2FA4B9F7692}"/>
              </a:ext>
            </a:extLst>
          </p:cNvPr>
          <p:cNvCxnSpPr>
            <a:cxnSpLocks/>
          </p:cNvCxnSpPr>
          <p:nvPr/>
        </p:nvCxnSpPr>
        <p:spPr>
          <a:xfrm>
            <a:off x="4430638" y="1944624"/>
            <a:ext cx="3725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E266F76-8347-7943-A037-C8FCED039D2B}"/>
              </a:ext>
            </a:extLst>
          </p:cNvPr>
          <p:cNvCxnSpPr>
            <a:cxnSpLocks/>
          </p:cNvCxnSpPr>
          <p:nvPr/>
        </p:nvCxnSpPr>
        <p:spPr>
          <a:xfrm>
            <a:off x="4403206" y="2605278"/>
            <a:ext cx="3725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57C6973-A827-4744-AC1A-211D89BA8223}"/>
              </a:ext>
            </a:extLst>
          </p:cNvPr>
          <p:cNvCxnSpPr>
            <a:cxnSpLocks/>
          </p:cNvCxnSpPr>
          <p:nvPr/>
        </p:nvCxnSpPr>
        <p:spPr>
          <a:xfrm>
            <a:off x="4412350" y="2977896"/>
            <a:ext cx="37258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D0F45C7-6E6E-814A-A917-CC1672CCBD16}"/>
              </a:ext>
            </a:extLst>
          </p:cNvPr>
          <p:cNvCxnSpPr>
            <a:cxnSpLocks/>
          </p:cNvCxnSpPr>
          <p:nvPr/>
        </p:nvCxnSpPr>
        <p:spPr>
          <a:xfrm>
            <a:off x="4430638" y="3508248"/>
            <a:ext cx="372581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BAF39A-AB2A-2046-898B-C1FEDB5449C2}"/>
              </a:ext>
            </a:extLst>
          </p:cNvPr>
          <p:cNvSpPr txBox="1"/>
          <p:nvPr/>
        </p:nvSpPr>
        <p:spPr>
          <a:xfrm>
            <a:off x="4430638" y="1023974"/>
            <a:ext cx="3739158" cy="400110"/>
          </a:xfrm>
          <a:prstGeom prst="rect">
            <a:avLst/>
          </a:prstGeom>
          <a:noFill/>
        </p:spPr>
        <p:txBody>
          <a:bodyPr wrap="square" rtlCol="0">
            <a:spAutoFit/>
          </a:bodyPr>
          <a:lstStyle/>
          <a:p>
            <a:pPr algn="r"/>
            <a:r>
              <a:rPr lang="fa-IR" sz="1000">
                <a:solidFill>
                  <a:srgbClr val="0269AE"/>
                </a:solidFill>
                <a:latin typeface="Alexandria Medium" pitchFamily="2" charset="-78"/>
                <a:cs typeface="Alexandria Medium" pitchFamily="2" charset="-78"/>
              </a:rPr>
              <a:t>الزامات عملکرد ایجاد و بازنگری شد، اما هیچ اقدام خاصی نباید انجام شود.</a:t>
            </a:r>
            <a:endParaRPr lang="en-US" sz="1000">
              <a:solidFill>
                <a:srgbClr val="0269AE"/>
              </a:solidFill>
              <a:latin typeface="Alexandria Medium" pitchFamily="2" charset="-78"/>
              <a:cs typeface="Alexandria Medium" pitchFamily="2" charset="-78"/>
            </a:endParaRPr>
          </a:p>
        </p:txBody>
      </p:sp>
      <p:sp>
        <p:nvSpPr>
          <p:cNvPr id="19" name="TextBox 18">
            <a:extLst>
              <a:ext uri="{FF2B5EF4-FFF2-40B4-BE49-F238E27FC236}">
                <a16:creationId xmlns:a16="http://schemas.microsoft.com/office/drawing/2014/main" id="{20D30333-DC67-9B45-8085-2A9A29DBDFBE}"/>
              </a:ext>
            </a:extLst>
          </p:cNvPr>
          <p:cNvSpPr txBox="1"/>
          <p:nvPr/>
        </p:nvSpPr>
        <p:spPr>
          <a:xfrm>
            <a:off x="4522317" y="1403117"/>
            <a:ext cx="3684294" cy="543995"/>
          </a:xfrm>
          <a:prstGeom prst="rect">
            <a:avLst/>
          </a:prstGeom>
          <a:noFill/>
        </p:spPr>
        <p:txBody>
          <a:bodyPr wrap="square" rtlCol="0">
            <a:spAutoFit/>
          </a:bodyPr>
          <a:lstStyle/>
          <a:p>
            <a:pPr algn="r">
              <a:lnSpc>
                <a:spcPts val="1180"/>
              </a:lnSpc>
            </a:pPr>
            <a:r>
              <a:rPr lang="fa-IR" sz="900">
                <a:latin typeface="Alexandria Medium" pitchFamily="2" charset="-78"/>
                <a:cs typeface="Alexandria Medium" pitchFamily="2" charset="-78"/>
              </a:rPr>
              <a:t>زمان پاسخگویی و نرخ انتقال در ساعات اوج مصرف بسیار مهم است. هیچ طراحی خاصی برای استفاده از هسته پردازنده لازم نیست. آخرین مهلت برای اکثر فرآیندها روز بعد است.</a:t>
            </a:r>
            <a:endParaRPr lang="en-US" sz="900">
              <a:latin typeface="Alexandria Medium" pitchFamily="2" charset="-78"/>
              <a:cs typeface="Alexandria Medium" pitchFamily="2" charset="-78"/>
            </a:endParaRPr>
          </a:p>
        </p:txBody>
      </p:sp>
      <p:sp>
        <p:nvSpPr>
          <p:cNvPr id="20" name="TextBox 19">
            <a:extLst>
              <a:ext uri="{FF2B5EF4-FFF2-40B4-BE49-F238E27FC236}">
                <a16:creationId xmlns:a16="http://schemas.microsoft.com/office/drawing/2014/main" id="{81526580-5BE4-1B4D-8B01-0D72210D0FDA}"/>
              </a:ext>
            </a:extLst>
          </p:cNvPr>
          <p:cNvSpPr txBox="1"/>
          <p:nvPr/>
        </p:nvSpPr>
        <p:spPr>
          <a:xfrm>
            <a:off x="4755119" y="1926336"/>
            <a:ext cx="3438144" cy="697883"/>
          </a:xfrm>
          <a:prstGeom prst="rect">
            <a:avLst/>
          </a:prstGeom>
          <a:noFill/>
        </p:spPr>
        <p:txBody>
          <a:bodyPr wrap="square" rtlCol="0">
            <a:spAutoFit/>
          </a:bodyPr>
          <a:lstStyle/>
          <a:p>
            <a:pPr algn="r">
              <a:lnSpc>
                <a:spcPts val="1180"/>
              </a:lnSpc>
            </a:pPr>
            <a:r>
              <a:rPr lang="fa-IR" sz="900">
                <a:solidFill>
                  <a:srgbClr val="0269AE"/>
                </a:solidFill>
                <a:latin typeface="Alexandria Medium" pitchFamily="2" charset="-78"/>
                <a:cs typeface="Alexandria Medium" pitchFamily="2" charset="-78"/>
              </a:rPr>
              <a:t>زمان پاسخگویی و نرخ انتقال در ساعات تجاری بسیار مهم است. هیچ طراحی خاصی برای استفاده از هسته پردازنده لازم نیست. الزامات مربوط به ضرب الاجل برای ارتباط با سیستم های واسط محدود کننده است.</a:t>
            </a:r>
            <a:endParaRPr lang="en-US" sz="900">
              <a:solidFill>
                <a:srgbClr val="0269AE"/>
              </a:solidFill>
              <a:latin typeface="Alexandria Medium" pitchFamily="2" charset="-78"/>
              <a:cs typeface="Alexandria Medium" pitchFamily="2" charset="-78"/>
            </a:endParaRPr>
          </a:p>
        </p:txBody>
      </p:sp>
      <p:sp>
        <p:nvSpPr>
          <p:cNvPr id="21" name="TextBox 20">
            <a:extLst>
              <a:ext uri="{FF2B5EF4-FFF2-40B4-BE49-F238E27FC236}">
                <a16:creationId xmlns:a16="http://schemas.microsoft.com/office/drawing/2014/main" id="{4193BA17-0E4B-7844-811C-1B959CFBBA67}"/>
              </a:ext>
            </a:extLst>
          </p:cNvPr>
          <p:cNvSpPr txBox="1"/>
          <p:nvPr/>
        </p:nvSpPr>
        <p:spPr>
          <a:xfrm>
            <a:off x="4983719" y="2597388"/>
            <a:ext cx="3209544" cy="369332"/>
          </a:xfrm>
          <a:prstGeom prst="rect">
            <a:avLst/>
          </a:prstGeom>
          <a:noFill/>
        </p:spPr>
        <p:txBody>
          <a:bodyPr wrap="square" rtlCol="0">
            <a:spAutoFit/>
          </a:bodyPr>
          <a:lstStyle/>
          <a:p>
            <a:pPr algn="r"/>
            <a:r>
              <a:rPr lang="fa-IR" sz="900">
                <a:latin typeface="Alexandria Medium" pitchFamily="2" charset="-78"/>
                <a:cs typeface="Alexandria Medium" pitchFamily="2" charset="-78"/>
              </a:rPr>
              <a:t>علاوه بر 3، الزامات عملکرد به اندازه کافی برای نیاز به وظایف تجزیه و تحلیل عملکرد در طول طراحی محدود است.</a:t>
            </a:r>
            <a:endParaRPr lang="en-US" sz="900">
              <a:latin typeface="Alexandria Medium" pitchFamily="2" charset="-78"/>
              <a:cs typeface="Alexandria Medium" pitchFamily="2" charset="-78"/>
            </a:endParaRPr>
          </a:p>
        </p:txBody>
      </p:sp>
      <p:sp>
        <p:nvSpPr>
          <p:cNvPr id="22" name="TextBox 21">
            <a:extLst>
              <a:ext uri="{FF2B5EF4-FFF2-40B4-BE49-F238E27FC236}">
                <a16:creationId xmlns:a16="http://schemas.microsoft.com/office/drawing/2014/main" id="{3004169B-E966-8F44-9DC6-ECAE9120AAC5}"/>
              </a:ext>
            </a:extLst>
          </p:cNvPr>
          <p:cNvSpPr txBox="1"/>
          <p:nvPr/>
        </p:nvSpPr>
        <p:spPr>
          <a:xfrm>
            <a:off x="4613019" y="2981187"/>
            <a:ext cx="3593592" cy="543995"/>
          </a:xfrm>
          <a:prstGeom prst="rect">
            <a:avLst/>
          </a:prstGeom>
          <a:noFill/>
        </p:spPr>
        <p:txBody>
          <a:bodyPr wrap="square" rtlCol="0">
            <a:spAutoFit/>
          </a:bodyPr>
          <a:lstStyle/>
          <a:p>
            <a:pPr algn="r">
              <a:lnSpc>
                <a:spcPts val="1180"/>
              </a:lnSpc>
            </a:pPr>
            <a:r>
              <a:rPr lang="fa-IR" sz="900">
                <a:solidFill>
                  <a:srgbClr val="0269AE"/>
                </a:solidFill>
                <a:latin typeface="Alexandria Medium" pitchFamily="2" charset="-78"/>
                <a:cs typeface="Alexandria Medium" pitchFamily="2" charset="-78"/>
              </a:rPr>
              <a:t>علاوه بر 4، ابزارهای تجزیه و تحلیل عملکرد باید در طول طراحی، توسعه و یا پیاده‌سازی مورد استفاده قرار گیرد تا نیازهای عملکرد مشتری برآورده شود.</a:t>
            </a:r>
            <a:endParaRPr lang="en-US" sz="900">
              <a:solidFill>
                <a:srgbClr val="0269AE"/>
              </a:solidFill>
              <a:latin typeface="Alexandria Medium" pitchFamily="2" charset="-78"/>
              <a:cs typeface="Alexandria Medium" pitchFamily="2" charset="-78"/>
            </a:endParaRPr>
          </a:p>
        </p:txBody>
      </p:sp>
      <p:sp>
        <p:nvSpPr>
          <p:cNvPr id="23" name="TextBox 22">
            <a:extLst>
              <a:ext uri="{FF2B5EF4-FFF2-40B4-BE49-F238E27FC236}">
                <a16:creationId xmlns:a16="http://schemas.microsoft.com/office/drawing/2014/main" id="{41A852E8-9843-3A42-BB00-21050DEB4E16}"/>
              </a:ext>
            </a:extLst>
          </p:cNvPr>
          <p:cNvSpPr txBox="1"/>
          <p:nvPr/>
        </p:nvSpPr>
        <p:spPr>
          <a:xfrm>
            <a:off x="5468351" y="428782"/>
            <a:ext cx="4197096" cy="215444"/>
          </a:xfrm>
          <a:prstGeom prst="rect">
            <a:avLst/>
          </a:prstGeom>
          <a:noFill/>
        </p:spPr>
        <p:txBody>
          <a:bodyPr wrap="square" rtlCol="0">
            <a:spAutoFit/>
          </a:bodyPr>
          <a:lstStyle/>
          <a:p>
            <a:r>
              <a:rPr lang="fa-IR" sz="800">
                <a:solidFill>
                  <a:schemeClr val="bg1">
                    <a:lumMod val="25000"/>
                  </a:schemeClr>
                </a:solidFill>
                <a:latin typeface="Alexandria Medium" pitchFamily="2" charset="-78"/>
                <a:cs typeface="Alexandria Medium" pitchFamily="2" charset="-78"/>
              </a:rPr>
              <a:t>اهمیت زمان پاسخگویی اپلیکیشن برای کاربرانش چیست؟</a:t>
            </a:r>
            <a:endParaRPr lang="en-US" sz="800">
              <a:solidFill>
                <a:schemeClr val="bg1">
                  <a:lumMod val="25000"/>
                </a:schemeClr>
              </a:solidFill>
              <a:latin typeface="Alexandria Medium" pitchFamily="2" charset="-78"/>
              <a:cs typeface="Alexandria Medium" pitchFamily="2" charset="-78"/>
            </a:endParaRPr>
          </a:p>
        </p:txBody>
      </p:sp>
      <p:cxnSp>
        <p:nvCxnSpPr>
          <p:cNvPr id="26" name="Straight Connector 25">
            <a:extLst>
              <a:ext uri="{FF2B5EF4-FFF2-40B4-BE49-F238E27FC236}">
                <a16:creationId xmlns:a16="http://schemas.microsoft.com/office/drawing/2014/main" id="{F475BE4F-271D-964F-81F9-FAB71B8B5FCF}"/>
              </a:ext>
            </a:extLst>
          </p:cNvPr>
          <p:cNvCxnSpPr>
            <a:cxnSpLocks/>
          </p:cNvCxnSpPr>
          <p:nvPr/>
        </p:nvCxnSpPr>
        <p:spPr>
          <a:xfrm>
            <a:off x="4425698" y="628986"/>
            <a:ext cx="3725810"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50BED2C-4A58-054B-99AC-A520A17B67A7}"/>
              </a:ext>
            </a:extLst>
          </p:cNvPr>
          <p:cNvSpPr txBox="1"/>
          <p:nvPr/>
        </p:nvSpPr>
        <p:spPr>
          <a:xfrm>
            <a:off x="4352902" y="3683788"/>
            <a:ext cx="4078225" cy="338554"/>
          </a:xfrm>
          <a:prstGeom prst="rect">
            <a:avLst/>
          </a:prstGeom>
          <a:noFill/>
        </p:spPr>
        <p:txBody>
          <a:bodyPr wrap="square" rtlCol="0">
            <a:spAutoFit/>
          </a:bodyPr>
          <a:lstStyle/>
          <a:p>
            <a:pPr algn="r" rtl="1"/>
            <a:r>
              <a:rPr lang="fa-IR" sz="800">
                <a:solidFill>
                  <a:srgbClr val="C00000"/>
                </a:solidFill>
                <a:latin typeface="Alexandria Medium" pitchFamily="2" charset="-78"/>
                <a:cs typeface="Alexandria Medium" pitchFamily="2" charset="-78"/>
              </a:rPr>
              <a:t> هیچ نیاز ویژه‌ای به کارایی مشخص توسط مشتری تعریف نشده است که نشان دهنده این است که زمان پاسخ برنامه برای کاربران ممکن است یک عامل مهم نباشد.</a:t>
            </a:r>
            <a:endParaRPr lang="en-US" sz="800">
              <a:solidFill>
                <a:srgbClr val="C00000"/>
              </a:solidFill>
              <a:latin typeface="Alexandria Medium" pitchFamily="2" charset="-78"/>
              <a:cs typeface="Alexandria Medium" pitchFamily="2" charset="-78"/>
            </a:endParaRPr>
          </a:p>
        </p:txBody>
      </p:sp>
      <p:sp>
        <p:nvSpPr>
          <p:cNvPr id="28" name="TextBox 27">
            <a:extLst>
              <a:ext uri="{FF2B5EF4-FFF2-40B4-BE49-F238E27FC236}">
                <a16:creationId xmlns:a16="http://schemas.microsoft.com/office/drawing/2014/main" id="{BE7E3EE3-A2CF-3245-881E-410B9C20C23B}"/>
              </a:ext>
            </a:extLst>
          </p:cNvPr>
          <p:cNvSpPr txBox="1"/>
          <p:nvPr/>
        </p:nvSpPr>
        <p:spPr>
          <a:xfrm>
            <a:off x="4398503" y="4043337"/>
            <a:ext cx="4078225" cy="338554"/>
          </a:xfrm>
          <a:prstGeom prst="rect">
            <a:avLst/>
          </a:prstGeom>
          <a:noFill/>
        </p:spPr>
        <p:txBody>
          <a:bodyPr wrap="square" rtlCol="0">
            <a:spAutoFit/>
          </a:bodyPr>
          <a:lstStyle/>
          <a:p>
            <a:pPr algn="r" rtl="1"/>
            <a:r>
              <a:rPr lang="fa-IR" sz="800">
                <a:solidFill>
                  <a:srgbClr val="DBA400"/>
                </a:solidFill>
                <a:latin typeface="Alexandria Medium" pitchFamily="2" charset="-78"/>
                <a:cs typeface="Alexandria Medium" pitchFamily="2" charset="-78"/>
              </a:rPr>
              <a:t>الزامات کارایی تعریف شده و بازنگری شده است، اما هیچ اقدام خاصی لازم نیست که نشان می‌دهد زمان پاسخ ممکن است مدنظر باشد اما اولویت اصلی ندارد.</a:t>
            </a:r>
            <a:endParaRPr lang="en-US" sz="800">
              <a:solidFill>
                <a:srgbClr val="DBA400"/>
              </a:solidFill>
              <a:latin typeface="Alexandria Medium" pitchFamily="2" charset="-78"/>
              <a:cs typeface="Alexandria Medium" pitchFamily="2" charset="-78"/>
            </a:endParaRPr>
          </a:p>
        </p:txBody>
      </p:sp>
      <p:sp>
        <p:nvSpPr>
          <p:cNvPr id="29" name="TextBox 28">
            <a:extLst>
              <a:ext uri="{FF2B5EF4-FFF2-40B4-BE49-F238E27FC236}">
                <a16:creationId xmlns:a16="http://schemas.microsoft.com/office/drawing/2014/main" id="{8B69DB77-F917-3545-BBF1-4028BE2B8E06}"/>
              </a:ext>
            </a:extLst>
          </p:cNvPr>
          <p:cNvSpPr txBox="1"/>
          <p:nvPr/>
        </p:nvSpPr>
        <p:spPr>
          <a:xfrm>
            <a:off x="4352902" y="4407848"/>
            <a:ext cx="4123825" cy="338554"/>
          </a:xfrm>
          <a:prstGeom prst="rect">
            <a:avLst/>
          </a:prstGeom>
          <a:noFill/>
        </p:spPr>
        <p:txBody>
          <a:bodyPr wrap="square" rtlCol="0">
            <a:spAutoFit/>
          </a:bodyPr>
          <a:lstStyle/>
          <a:p>
            <a:pPr algn="r" rtl="1"/>
            <a:r>
              <a:rPr lang="fa-IR" sz="800">
                <a:solidFill>
                  <a:srgbClr val="0E692F"/>
                </a:solidFill>
                <a:latin typeface="Alexandria Medium" pitchFamily="2" charset="-78"/>
                <a:cs typeface="Alexandria Medium" pitchFamily="2" charset="-78"/>
              </a:rPr>
              <a:t>زمان پاسخ و نرخ انتقال در ساعات پیک بسیار حیاتی است، اما طراحی خاصی برای استفاده از هسته پردازشی لازم نیست که نشان دهنده اهمیت متوسطی بر زمان پاسخ است.</a:t>
            </a:r>
            <a:endParaRPr lang="en-US" sz="800">
              <a:solidFill>
                <a:srgbClr val="0E692F"/>
              </a:solidFill>
              <a:latin typeface="Alexandria Medium" pitchFamily="2" charset="-78"/>
              <a:cs typeface="Alexandria Medium" pitchFamily="2" charset="-78"/>
            </a:endParaRPr>
          </a:p>
        </p:txBody>
      </p:sp>
      <p:sp>
        <p:nvSpPr>
          <p:cNvPr id="30" name="TextBox 29">
            <a:extLst>
              <a:ext uri="{FF2B5EF4-FFF2-40B4-BE49-F238E27FC236}">
                <a16:creationId xmlns:a16="http://schemas.microsoft.com/office/drawing/2014/main" id="{DCE27944-AF8C-2B43-AF0F-786F4F2EA211}"/>
              </a:ext>
            </a:extLst>
          </p:cNvPr>
          <p:cNvSpPr txBox="1"/>
          <p:nvPr/>
        </p:nvSpPr>
        <p:spPr>
          <a:xfrm>
            <a:off x="-109796" y="3638060"/>
            <a:ext cx="3940945" cy="461665"/>
          </a:xfrm>
          <a:prstGeom prst="rect">
            <a:avLst/>
          </a:prstGeom>
          <a:noFill/>
        </p:spPr>
        <p:txBody>
          <a:bodyPr wrap="square" rtlCol="0">
            <a:spAutoFit/>
          </a:bodyPr>
          <a:lstStyle/>
          <a:p>
            <a:pPr algn="r" rtl="1"/>
            <a:r>
              <a:rPr lang="fa-IR" sz="800">
                <a:solidFill>
                  <a:srgbClr val="0E692F"/>
                </a:solidFill>
                <a:latin typeface="Alexandria Medium" pitchFamily="2" charset="-78"/>
                <a:cs typeface="Alexandria Medium" pitchFamily="2" charset="-78"/>
              </a:rPr>
              <a:t>زمان پاسخ و نرخ انتقال در ساعات پیک بسیار حیاتی است، اما طراحی خاصی برای استفاده از هسته پردازشی لازم نیست که نشان دهنده اهمیت متوسطی بر زمان پاسخ است.</a:t>
            </a:r>
            <a:endParaRPr lang="en-US" sz="800">
              <a:solidFill>
                <a:srgbClr val="0E692F"/>
              </a:solidFill>
              <a:latin typeface="Alexandria Medium" pitchFamily="2" charset="-78"/>
              <a:cs typeface="Alexandria Medium" pitchFamily="2" charset="-78"/>
            </a:endParaRPr>
          </a:p>
        </p:txBody>
      </p:sp>
      <p:sp>
        <p:nvSpPr>
          <p:cNvPr id="31" name="TextBox 30">
            <a:extLst>
              <a:ext uri="{FF2B5EF4-FFF2-40B4-BE49-F238E27FC236}">
                <a16:creationId xmlns:a16="http://schemas.microsoft.com/office/drawing/2014/main" id="{21E07C99-5F74-5043-B5A7-57D6442A741C}"/>
              </a:ext>
            </a:extLst>
          </p:cNvPr>
          <p:cNvSpPr txBox="1"/>
          <p:nvPr/>
        </p:nvSpPr>
        <p:spPr>
          <a:xfrm>
            <a:off x="75067" y="4104892"/>
            <a:ext cx="3756082" cy="461665"/>
          </a:xfrm>
          <a:prstGeom prst="rect">
            <a:avLst/>
          </a:prstGeom>
          <a:noFill/>
        </p:spPr>
        <p:txBody>
          <a:bodyPr wrap="square" rtlCol="0">
            <a:spAutoFit/>
          </a:bodyPr>
          <a:lstStyle/>
          <a:p>
            <a:pPr algn="r" rtl="1"/>
            <a:r>
              <a:rPr lang="fa-IR" sz="800">
                <a:solidFill>
                  <a:srgbClr val="0269AE"/>
                </a:solidFill>
                <a:latin typeface="Alexandria Medium" pitchFamily="2" charset="-78"/>
                <a:cs typeface="Alexandria Medium" pitchFamily="2" charset="-78"/>
              </a:rPr>
              <a:t>به علاوه به سناریو ۳، الزامات کارایی به اندازه کافی محدود کننده هستند که وظایف تجزیه و تحلیل عملکرد در طراحی مورد نیاز هستند، که نشان از اهمیت بالاتر زمان پاسخ است.</a:t>
            </a:r>
            <a:endParaRPr lang="en-US" sz="800">
              <a:solidFill>
                <a:srgbClr val="0269AE"/>
              </a:solidFill>
              <a:latin typeface="Alexandria Medium" pitchFamily="2" charset="-78"/>
              <a:cs typeface="Alexandria Medium" pitchFamily="2" charset="-78"/>
            </a:endParaRPr>
          </a:p>
        </p:txBody>
      </p:sp>
      <p:sp>
        <p:nvSpPr>
          <p:cNvPr id="34" name="TextBox 33">
            <a:extLst>
              <a:ext uri="{FF2B5EF4-FFF2-40B4-BE49-F238E27FC236}">
                <a16:creationId xmlns:a16="http://schemas.microsoft.com/office/drawing/2014/main" id="{EE9779CB-6F20-D145-86C2-03BCA26B2318}"/>
              </a:ext>
            </a:extLst>
          </p:cNvPr>
          <p:cNvSpPr txBox="1"/>
          <p:nvPr/>
        </p:nvSpPr>
        <p:spPr>
          <a:xfrm>
            <a:off x="75067" y="4581325"/>
            <a:ext cx="3756082" cy="338554"/>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sz="800">
                <a:solidFill>
                  <a:srgbClr val="135669"/>
                </a:solidFill>
                <a:latin typeface="Alexandria Medium" pitchFamily="2" charset="-78"/>
                <a:cs typeface="Alexandria Medium" pitchFamily="2" charset="-78"/>
              </a:rPr>
              <a:t>به طور کلی، اهمیت زمان پاسخ برای کاربران با پیشرفت سناریوها از ۰ تا ۵ افزایش می‌یابد، با سناریو ۵ که نشان‌دهنده بالاترین سطح اهمیت است.</a:t>
            </a:r>
          </a:p>
        </p:txBody>
      </p:sp>
      <p:sp>
        <p:nvSpPr>
          <p:cNvPr id="35" name="TextBox 34">
            <a:extLst>
              <a:ext uri="{FF2B5EF4-FFF2-40B4-BE49-F238E27FC236}">
                <a16:creationId xmlns:a16="http://schemas.microsoft.com/office/drawing/2014/main" id="{2A1BA91E-F10C-3748-9791-8301350915F2}"/>
              </a:ext>
            </a:extLst>
          </p:cNvPr>
          <p:cNvSpPr txBox="1"/>
          <p:nvPr/>
        </p:nvSpPr>
        <p:spPr>
          <a:xfrm>
            <a:off x="8330425" y="3742862"/>
            <a:ext cx="713657" cy="215444"/>
          </a:xfrm>
          <a:prstGeom prst="rect">
            <a:avLst/>
          </a:prstGeom>
          <a:noFill/>
        </p:spPr>
        <p:txBody>
          <a:bodyPr wrap="none" rtlCol="0">
            <a:spAutoFit/>
          </a:bodyPr>
          <a:lstStyle/>
          <a:p>
            <a:r>
              <a:rPr lang="en-US" sz="800">
                <a:latin typeface="Alexandria Medium" pitchFamily="2" charset="-78"/>
                <a:cs typeface="Alexandria Medium" pitchFamily="2" charset="-78"/>
              </a:rPr>
              <a:t>س</a:t>
            </a:r>
            <a:r>
              <a:rPr lang="fa-IR" sz="800">
                <a:latin typeface="Alexandria Medium" pitchFamily="2" charset="-78"/>
                <a:cs typeface="Alexandria Medium" pitchFamily="2" charset="-78"/>
              </a:rPr>
              <a:t>ناریو صفر</a:t>
            </a:r>
            <a:endParaRPr lang="en-US" sz="800">
              <a:latin typeface="Alexandria Medium" pitchFamily="2" charset="-78"/>
              <a:cs typeface="Alexandria Medium" pitchFamily="2" charset="-78"/>
            </a:endParaRPr>
          </a:p>
        </p:txBody>
      </p:sp>
      <p:sp>
        <p:nvSpPr>
          <p:cNvPr id="36" name="TextBox 35">
            <a:extLst>
              <a:ext uri="{FF2B5EF4-FFF2-40B4-BE49-F238E27FC236}">
                <a16:creationId xmlns:a16="http://schemas.microsoft.com/office/drawing/2014/main" id="{CC1AA1A2-24B7-6045-B7BC-6845EA32F513}"/>
              </a:ext>
            </a:extLst>
          </p:cNvPr>
          <p:cNvSpPr txBox="1"/>
          <p:nvPr/>
        </p:nvSpPr>
        <p:spPr>
          <a:xfrm>
            <a:off x="8404163" y="4104892"/>
            <a:ext cx="639919" cy="215444"/>
          </a:xfrm>
          <a:prstGeom prst="rect">
            <a:avLst/>
          </a:prstGeom>
          <a:noFill/>
        </p:spPr>
        <p:txBody>
          <a:bodyPr wrap="none" rtlCol="0">
            <a:spAutoFit/>
          </a:bodyPr>
          <a:lstStyle/>
          <a:p>
            <a:r>
              <a:rPr lang="en-US" sz="800">
                <a:latin typeface="Alexandria Medium" pitchFamily="2" charset="-78"/>
                <a:cs typeface="Alexandria Medium" pitchFamily="2" charset="-78"/>
              </a:rPr>
              <a:t>س</a:t>
            </a:r>
            <a:r>
              <a:rPr lang="fa-IR" sz="800">
                <a:latin typeface="Alexandria Medium" pitchFamily="2" charset="-78"/>
                <a:cs typeface="Alexandria Medium" pitchFamily="2" charset="-78"/>
              </a:rPr>
              <a:t>ناریو یک</a:t>
            </a:r>
            <a:endParaRPr lang="en-US" sz="800">
              <a:latin typeface="Alexandria Medium" pitchFamily="2" charset="-78"/>
              <a:cs typeface="Alexandria Medium" pitchFamily="2" charset="-78"/>
            </a:endParaRPr>
          </a:p>
        </p:txBody>
      </p:sp>
      <p:sp>
        <p:nvSpPr>
          <p:cNvPr id="37" name="TextBox 36">
            <a:extLst>
              <a:ext uri="{FF2B5EF4-FFF2-40B4-BE49-F238E27FC236}">
                <a16:creationId xmlns:a16="http://schemas.microsoft.com/office/drawing/2014/main" id="{27EB6856-3A4F-A04F-BF06-87EDC0A24B40}"/>
              </a:ext>
            </a:extLst>
          </p:cNvPr>
          <p:cNvSpPr txBox="1"/>
          <p:nvPr/>
        </p:nvSpPr>
        <p:spPr>
          <a:xfrm>
            <a:off x="8420193" y="4443446"/>
            <a:ext cx="623889" cy="215444"/>
          </a:xfrm>
          <a:prstGeom prst="rect">
            <a:avLst/>
          </a:prstGeom>
          <a:noFill/>
        </p:spPr>
        <p:txBody>
          <a:bodyPr wrap="none" rtlCol="0">
            <a:spAutoFit/>
          </a:bodyPr>
          <a:lstStyle/>
          <a:p>
            <a:r>
              <a:rPr lang="en-US" sz="800">
                <a:latin typeface="Alexandria Medium" pitchFamily="2" charset="-78"/>
                <a:cs typeface="Alexandria Medium" pitchFamily="2" charset="-78"/>
              </a:rPr>
              <a:t>س</a:t>
            </a:r>
            <a:r>
              <a:rPr lang="fa-IR" sz="800">
                <a:latin typeface="Alexandria Medium" pitchFamily="2" charset="-78"/>
                <a:cs typeface="Alexandria Medium" pitchFamily="2" charset="-78"/>
              </a:rPr>
              <a:t>ناریو دو</a:t>
            </a:r>
            <a:endParaRPr lang="en-US" sz="800">
              <a:latin typeface="Alexandria Medium" pitchFamily="2" charset="-78"/>
              <a:cs typeface="Alexandria Medium" pitchFamily="2" charset="-78"/>
            </a:endParaRPr>
          </a:p>
        </p:txBody>
      </p:sp>
      <p:sp>
        <p:nvSpPr>
          <p:cNvPr id="38" name="TextBox 37">
            <a:extLst>
              <a:ext uri="{FF2B5EF4-FFF2-40B4-BE49-F238E27FC236}">
                <a16:creationId xmlns:a16="http://schemas.microsoft.com/office/drawing/2014/main" id="{E710C190-C88B-894A-978F-5380F6EFA4B6}"/>
              </a:ext>
            </a:extLst>
          </p:cNvPr>
          <p:cNvSpPr txBox="1"/>
          <p:nvPr/>
        </p:nvSpPr>
        <p:spPr>
          <a:xfrm>
            <a:off x="3749070" y="3713803"/>
            <a:ext cx="662361" cy="215444"/>
          </a:xfrm>
          <a:prstGeom prst="rect">
            <a:avLst/>
          </a:prstGeom>
          <a:noFill/>
        </p:spPr>
        <p:txBody>
          <a:bodyPr wrap="none" rtlCol="0">
            <a:spAutoFit/>
          </a:bodyPr>
          <a:lstStyle/>
          <a:p>
            <a:r>
              <a:rPr lang="en-US" sz="800">
                <a:latin typeface="Alexandria Medium" pitchFamily="2" charset="-78"/>
                <a:cs typeface="Alexandria Medium" pitchFamily="2" charset="-78"/>
              </a:rPr>
              <a:t>س</a:t>
            </a:r>
            <a:r>
              <a:rPr lang="fa-IR" sz="800">
                <a:latin typeface="Alexandria Medium" pitchFamily="2" charset="-78"/>
                <a:cs typeface="Alexandria Medium" pitchFamily="2" charset="-78"/>
              </a:rPr>
              <a:t>ناریو سه</a:t>
            </a:r>
            <a:endParaRPr lang="en-US" sz="800">
              <a:latin typeface="Alexandria Medium" pitchFamily="2" charset="-78"/>
              <a:cs typeface="Alexandria Medium" pitchFamily="2" charset="-78"/>
            </a:endParaRPr>
          </a:p>
        </p:txBody>
      </p:sp>
      <p:sp>
        <p:nvSpPr>
          <p:cNvPr id="39" name="TextBox 38">
            <a:extLst>
              <a:ext uri="{FF2B5EF4-FFF2-40B4-BE49-F238E27FC236}">
                <a16:creationId xmlns:a16="http://schemas.microsoft.com/office/drawing/2014/main" id="{7958CC93-78B0-FF45-8BB1-324F92011916}"/>
              </a:ext>
            </a:extLst>
          </p:cNvPr>
          <p:cNvSpPr txBox="1"/>
          <p:nvPr/>
        </p:nvSpPr>
        <p:spPr>
          <a:xfrm>
            <a:off x="3705839" y="4184998"/>
            <a:ext cx="704039" cy="215444"/>
          </a:xfrm>
          <a:prstGeom prst="rect">
            <a:avLst/>
          </a:prstGeom>
          <a:noFill/>
        </p:spPr>
        <p:txBody>
          <a:bodyPr wrap="none" rtlCol="0">
            <a:spAutoFit/>
          </a:bodyPr>
          <a:lstStyle/>
          <a:p>
            <a:r>
              <a:rPr lang="en-US" sz="800">
                <a:latin typeface="Alexandria Medium" pitchFamily="2" charset="-78"/>
                <a:cs typeface="Alexandria Medium" pitchFamily="2" charset="-78"/>
              </a:rPr>
              <a:t>س</a:t>
            </a:r>
            <a:r>
              <a:rPr lang="fa-IR" sz="800">
                <a:latin typeface="Alexandria Medium" pitchFamily="2" charset="-78"/>
                <a:cs typeface="Alexandria Medium" pitchFamily="2" charset="-78"/>
              </a:rPr>
              <a:t>ناریو چهار</a:t>
            </a:r>
            <a:endParaRPr lang="en-US" sz="800">
              <a:latin typeface="Alexandria Medium" pitchFamily="2" charset="-78"/>
              <a:cs typeface="Alexandria Medium" pitchFamily="2" charset="-78"/>
            </a:endParaRPr>
          </a:p>
        </p:txBody>
      </p:sp>
      <p:sp>
        <p:nvSpPr>
          <p:cNvPr id="40" name="TextBox 39">
            <a:extLst>
              <a:ext uri="{FF2B5EF4-FFF2-40B4-BE49-F238E27FC236}">
                <a16:creationId xmlns:a16="http://schemas.microsoft.com/office/drawing/2014/main" id="{FEAD2B88-0D62-1646-8B44-3416C1A58D20}"/>
              </a:ext>
            </a:extLst>
          </p:cNvPr>
          <p:cNvSpPr txBox="1"/>
          <p:nvPr/>
        </p:nvSpPr>
        <p:spPr>
          <a:xfrm>
            <a:off x="3758472" y="4637642"/>
            <a:ext cx="655949" cy="215444"/>
          </a:xfrm>
          <a:prstGeom prst="rect">
            <a:avLst/>
          </a:prstGeom>
          <a:noFill/>
        </p:spPr>
        <p:txBody>
          <a:bodyPr wrap="none" rtlCol="0">
            <a:spAutoFit/>
          </a:bodyPr>
          <a:lstStyle/>
          <a:p>
            <a:r>
              <a:rPr lang="en-US" sz="800">
                <a:latin typeface="Alexandria Medium" pitchFamily="2" charset="-78"/>
                <a:cs typeface="Alexandria Medium" pitchFamily="2" charset="-78"/>
              </a:rPr>
              <a:t>س</a:t>
            </a:r>
            <a:r>
              <a:rPr lang="fa-IR" sz="800">
                <a:latin typeface="Alexandria Medium" pitchFamily="2" charset="-78"/>
                <a:cs typeface="Alexandria Medium" pitchFamily="2" charset="-78"/>
              </a:rPr>
              <a:t>ناریو پنج</a:t>
            </a:r>
            <a:endParaRPr lang="en-US" sz="800">
              <a:latin typeface="Alexandria Medium" pitchFamily="2" charset="-78"/>
              <a:cs typeface="Alexandria Medium" pitchFamily="2" charset="-78"/>
            </a:endParaRPr>
          </a:p>
        </p:txBody>
      </p:sp>
      <p:cxnSp>
        <p:nvCxnSpPr>
          <p:cNvPr id="41" name="Elbow Connector 40">
            <a:extLst>
              <a:ext uri="{FF2B5EF4-FFF2-40B4-BE49-F238E27FC236}">
                <a16:creationId xmlns:a16="http://schemas.microsoft.com/office/drawing/2014/main" id="{CD91333D-25F0-504F-82B8-876FDAFC80D3}"/>
              </a:ext>
            </a:extLst>
          </p:cNvPr>
          <p:cNvCxnSpPr>
            <a:cxnSpLocks/>
          </p:cNvCxnSpPr>
          <p:nvPr/>
        </p:nvCxnSpPr>
        <p:spPr>
          <a:xfrm rot="10800000" flipV="1">
            <a:off x="8404163" y="266126"/>
            <a:ext cx="414656" cy="32261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3000"/>
                            </p:stCondLst>
                            <p:childTnLst>
                              <p:par>
                                <p:cTn id="25" presetID="10"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4000"/>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4500"/>
                            </p:stCondLst>
                            <p:childTnLst>
                              <p:par>
                                <p:cTn id="37" presetID="10" presetClass="entr" presetSubtype="0"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5000"/>
                            </p:stCondLst>
                            <p:childTnLst>
                              <p:par>
                                <p:cTn id="41" presetID="10" presetClass="entr" presetSubtype="0"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55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60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6500"/>
                            </p:stCondLst>
                            <p:childTnLst>
                              <p:par>
                                <p:cTn id="53" presetID="10" presetClass="entr" presetSubtype="0"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7000"/>
                            </p:stCondLst>
                            <p:childTnLst>
                              <p:par>
                                <p:cTn id="57" presetID="10" presetClass="entr" presetSubtype="0"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75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8000"/>
                            </p:stCondLst>
                            <p:childTnLst>
                              <p:par>
                                <p:cTn id="65" presetID="10" presetClass="entr" presetSubtype="0" fill="hold" nodeType="after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par>
                          <p:cTn id="68" fill="hold">
                            <p:stCondLst>
                              <p:cond delay="8500"/>
                            </p:stCondLst>
                            <p:childTnLst>
                              <p:par>
                                <p:cTn id="69" presetID="10" presetClass="entr" presetSubtype="0" fill="hold" grpId="0" nodeType="after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childTnLst>
                          </p:cTn>
                        </p:par>
                        <p:par>
                          <p:cTn id="72" fill="hold">
                            <p:stCondLst>
                              <p:cond delay="9000"/>
                            </p:stCondLst>
                            <p:childTnLst>
                              <p:par>
                                <p:cTn id="73" presetID="10" presetClass="entr" presetSubtype="0" fill="hold" grpId="0" nodeType="after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childTnLst>
                          </p:cTn>
                        </p:par>
                        <p:par>
                          <p:cTn id="76" fill="hold">
                            <p:stCondLst>
                              <p:cond delay="9500"/>
                            </p:stCondLst>
                            <p:childTnLst>
                              <p:par>
                                <p:cTn id="77" presetID="10" presetClass="entr" presetSubtype="0"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childTnLst>
                          </p:cTn>
                        </p:par>
                        <p:par>
                          <p:cTn id="80" fill="hold">
                            <p:stCondLst>
                              <p:cond delay="10000"/>
                            </p:stCondLst>
                            <p:childTnLst>
                              <p:par>
                                <p:cTn id="81" presetID="10" presetClass="entr" presetSubtype="0" fill="hold" grpId="0" nodeType="after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childTnLst>
                          </p:cTn>
                        </p:par>
                        <p:par>
                          <p:cTn id="84" fill="hold">
                            <p:stCondLst>
                              <p:cond delay="10500"/>
                            </p:stCondLst>
                            <p:childTnLst>
                              <p:par>
                                <p:cTn id="85" presetID="10" presetClass="entr" presetSubtype="0"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par>
                          <p:cTn id="88" fill="hold">
                            <p:stCondLst>
                              <p:cond delay="11000"/>
                            </p:stCondLst>
                            <p:childTnLst>
                              <p:par>
                                <p:cTn id="89" presetID="10" presetClass="entr" presetSubtype="0" fill="hold" grpId="0" nodeType="after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childTnLst>
                          </p:cTn>
                        </p:par>
                        <p:par>
                          <p:cTn id="92" fill="hold">
                            <p:stCondLst>
                              <p:cond delay="11500"/>
                            </p:stCondLst>
                            <p:childTnLst>
                              <p:par>
                                <p:cTn id="93" presetID="10" presetClass="entr" presetSubtype="0" fill="hold" grpId="0" nodeType="after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childTnLst>
                          </p:cTn>
                        </p:par>
                        <p:par>
                          <p:cTn id="96" fill="hold">
                            <p:stCondLst>
                              <p:cond delay="12000"/>
                            </p:stCondLst>
                            <p:childTnLst>
                              <p:par>
                                <p:cTn id="97" presetID="10" presetClass="entr" presetSubtype="0" fill="hold" grpId="0" nodeType="after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500"/>
                                        <p:tgtEl>
                                          <p:spTgt spid="36"/>
                                        </p:tgtEl>
                                      </p:cBhvr>
                                    </p:animEffect>
                                  </p:childTnLst>
                                </p:cTn>
                              </p:par>
                            </p:childTnLst>
                          </p:cTn>
                        </p:par>
                        <p:par>
                          <p:cTn id="100" fill="hold">
                            <p:stCondLst>
                              <p:cond delay="12500"/>
                            </p:stCondLst>
                            <p:childTnLst>
                              <p:par>
                                <p:cTn id="101" presetID="10" presetClass="entr" presetSubtype="0" fill="hold" grpId="0" nodeType="after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childTnLst>
                          </p:cTn>
                        </p:par>
                        <p:par>
                          <p:cTn id="104" fill="hold">
                            <p:stCondLst>
                              <p:cond delay="13000"/>
                            </p:stCondLst>
                            <p:childTnLst>
                              <p:par>
                                <p:cTn id="105" presetID="10" presetClass="entr" presetSubtype="0" fill="hold" grpId="0" nodeType="after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childTnLst>
                          </p:cTn>
                        </p:par>
                        <p:par>
                          <p:cTn id="108" fill="hold">
                            <p:stCondLst>
                              <p:cond delay="13500"/>
                            </p:stCondLst>
                            <p:childTnLst>
                              <p:par>
                                <p:cTn id="109" presetID="10" presetClass="entr" presetSubtype="0" fill="hold" grpId="0" nodeType="after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00"/>
                                        <p:tgtEl>
                                          <p:spTgt spid="39"/>
                                        </p:tgtEl>
                                      </p:cBhvr>
                                    </p:animEffect>
                                  </p:childTnLst>
                                </p:cTn>
                              </p:par>
                            </p:childTnLst>
                          </p:cTn>
                        </p:par>
                        <p:par>
                          <p:cTn id="112" fill="hold">
                            <p:stCondLst>
                              <p:cond delay="14000"/>
                            </p:stCondLst>
                            <p:childTnLst>
                              <p:par>
                                <p:cTn id="113" presetID="10" presetClass="entr" presetSubtype="0" fill="hold" grpId="0" nodeType="after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500"/>
                                        <p:tgtEl>
                                          <p:spTgt spid="40"/>
                                        </p:tgtEl>
                                      </p:cBhvr>
                                    </p:animEffect>
                                  </p:childTnLst>
                                </p:cTn>
                              </p:par>
                            </p:childTnLst>
                          </p:cTn>
                        </p:par>
                        <p:par>
                          <p:cTn id="116" fill="hold">
                            <p:stCondLst>
                              <p:cond delay="14500"/>
                            </p:stCondLst>
                            <p:childTnLst>
                              <p:par>
                                <p:cTn id="117" presetID="10" presetClass="entr" presetSubtype="0" fill="hold" nodeType="after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8" grpId="0"/>
      <p:bldP spid="19" grpId="0"/>
      <p:bldP spid="20" grpId="0"/>
      <p:bldP spid="21" grpId="0"/>
      <p:bldP spid="22" grpId="0"/>
      <p:bldP spid="23" grpId="0"/>
      <p:bldP spid="27" grpId="0"/>
      <p:bldP spid="28" grpId="0"/>
      <p:bldP spid="29" grpId="0"/>
      <p:bldP spid="30" grpId="0"/>
      <p:bldP spid="31" grpId="0"/>
      <p:bldP spid="34" grpId="0"/>
      <p:bldP spid="35" grpId="0"/>
      <p:bldP spid="36" grpId="0"/>
      <p:bldP spid="37" grpId="0"/>
      <p:bldP spid="38" grpId="0"/>
      <p:bldP spid="39" grpId="0"/>
      <p:bldP spid="4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4" name="TextBox 3">
            <a:extLst>
              <a:ext uri="{FF2B5EF4-FFF2-40B4-BE49-F238E27FC236}">
                <a16:creationId xmlns:a16="http://schemas.microsoft.com/office/drawing/2014/main" id="{0BEBB9BF-D5A5-4A40-8C05-C70ADC7683F5}"/>
              </a:ext>
            </a:extLst>
          </p:cNvPr>
          <p:cNvSpPr txBox="1"/>
          <p:nvPr/>
        </p:nvSpPr>
        <p:spPr>
          <a:xfrm>
            <a:off x="105787" y="95795"/>
            <a:ext cx="3326552" cy="492443"/>
          </a:xfrm>
          <a:prstGeom prst="rect">
            <a:avLst/>
          </a:prstGeom>
          <a:noFill/>
        </p:spPr>
        <p:txBody>
          <a:bodyPr wrap="none" rtlCol="0">
            <a:spAutoFit/>
          </a:bodyPr>
          <a:lstStyle/>
          <a:p>
            <a:r>
              <a:rPr lang="en-US" b="1">
                <a:solidFill>
                  <a:srgbClr val="2D2D2D"/>
                </a:solidFill>
                <a:effectLst/>
                <a:latin typeface="Alexandria Medium" pitchFamily="2" charset="-78"/>
                <a:cs typeface="Alexandria Medium" pitchFamily="2" charset="-78"/>
              </a:rPr>
              <a:t>End-user efficiency  </a:t>
            </a:r>
            <a:r>
              <a:rPr lang="en-US" sz="1600" b="1">
                <a:solidFill>
                  <a:srgbClr val="2D2D2D"/>
                </a:solidFill>
                <a:effectLst/>
                <a:latin typeface="Alexandria Medium" pitchFamily="2" charset="-78"/>
                <a:cs typeface="Alexandria Medium" pitchFamily="2" charset="-78"/>
              </a:rPr>
              <a:t>| </a:t>
            </a:r>
            <a:r>
              <a:rPr lang="en-US" b="1">
                <a:solidFill>
                  <a:srgbClr val="2D2D2D"/>
                </a:solidFill>
                <a:effectLst/>
                <a:latin typeface="Alexandria Medium" pitchFamily="2" charset="-78"/>
                <a:cs typeface="Alexandria Medium" pitchFamily="2" charset="-78"/>
              </a:rPr>
              <a:t> </a:t>
            </a:r>
            <a:r>
              <a:rPr lang="fa-IR" sz="1200" b="1">
                <a:solidFill>
                  <a:srgbClr val="2D2D2D"/>
                </a:solidFill>
                <a:effectLst/>
                <a:latin typeface="Alexandria Medium" pitchFamily="2" charset="-78"/>
                <a:cs typeface="Alexandria Medium" pitchFamily="2" charset="-78"/>
              </a:rPr>
              <a:t>کارایی کاربر نهایی</a:t>
            </a:r>
            <a:endParaRPr lang="en-US" sz="1000" b="1">
              <a:effectLst/>
              <a:latin typeface="Alexandria Medium" pitchFamily="2" charset="-78"/>
              <a:cs typeface="Alexandria Medium" pitchFamily="2" charset="-78"/>
            </a:endParaRPr>
          </a:p>
          <a:p>
            <a:pPr marR="0" algn="l" rtl="0">
              <a:lnSpc>
                <a:spcPct val="100000"/>
              </a:lnSpc>
              <a:spcBef>
                <a:spcPts val="0"/>
              </a:spcBef>
              <a:spcAft>
                <a:spcPts val="0"/>
              </a:spcAft>
              <a:buClr>
                <a:srgbClr val="000000"/>
              </a:buClr>
              <a:buFont typeface="Arial"/>
            </a:pPr>
            <a:endParaRPr lang="en-US" sz="1000" b="1">
              <a:latin typeface="Alexandria Medium" pitchFamily="2" charset="-78"/>
              <a:cs typeface="Alexandria Medium" pitchFamily="2" charset="-78"/>
            </a:endParaRPr>
          </a:p>
        </p:txBody>
      </p:sp>
      <p:pic>
        <p:nvPicPr>
          <p:cNvPr id="5" name="Picture 4">
            <a:extLst>
              <a:ext uri="{FF2B5EF4-FFF2-40B4-BE49-F238E27FC236}">
                <a16:creationId xmlns:a16="http://schemas.microsoft.com/office/drawing/2014/main" id="{B4FE80CB-DEB1-FD48-AEC5-4AFA2B515963}"/>
              </a:ext>
            </a:extLst>
          </p:cNvPr>
          <p:cNvPicPr>
            <a:picLocks noChangeAspect="1"/>
          </p:cNvPicPr>
          <p:nvPr/>
        </p:nvPicPr>
        <p:blipFill>
          <a:blip r:embed="rId3"/>
          <a:stretch>
            <a:fillRect/>
          </a:stretch>
        </p:blipFill>
        <p:spPr>
          <a:xfrm>
            <a:off x="181384" y="478970"/>
            <a:ext cx="4493020" cy="2940886"/>
          </a:xfrm>
          <a:prstGeom prst="rect">
            <a:avLst/>
          </a:prstGeom>
        </p:spPr>
      </p:pic>
      <p:cxnSp>
        <p:nvCxnSpPr>
          <p:cNvPr id="3" name="Straight Connector 2">
            <a:extLst>
              <a:ext uri="{FF2B5EF4-FFF2-40B4-BE49-F238E27FC236}">
                <a16:creationId xmlns:a16="http://schemas.microsoft.com/office/drawing/2014/main" id="{BBA9B7AB-20B2-D248-9BB0-029BFAE0C0BF}"/>
              </a:ext>
            </a:extLst>
          </p:cNvPr>
          <p:cNvCxnSpPr/>
          <p:nvPr/>
        </p:nvCxnSpPr>
        <p:spPr>
          <a:xfrm>
            <a:off x="4637828" y="832104"/>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FEF1D25-FB31-EA4F-BA95-1B3597B27988}"/>
              </a:ext>
            </a:extLst>
          </p:cNvPr>
          <p:cNvCxnSpPr/>
          <p:nvPr/>
        </p:nvCxnSpPr>
        <p:spPr>
          <a:xfrm>
            <a:off x="4637828" y="1011936"/>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5C8C247-7ADA-7644-A90C-ECDB58A4A83C}"/>
              </a:ext>
            </a:extLst>
          </p:cNvPr>
          <p:cNvCxnSpPr/>
          <p:nvPr/>
        </p:nvCxnSpPr>
        <p:spPr>
          <a:xfrm>
            <a:off x="4637828" y="1249680"/>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A206E69-6155-DF40-93D4-036EB12D2CB3}"/>
              </a:ext>
            </a:extLst>
          </p:cNvPr>
          <p:cNvCxnSpPr/>
          <p:nvPr/>
        </p:nvCxnSpPr>
        <p:spPr>
          <a:xfrm>
            <a:off x="4637828" y="1496568"/>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54F14A-CA9E-E54C-8292-97670A785CEF}"/>
              </a:ext>
            </a:extLst>
          </p:cNvPr>
          <p:cNvCxnSpPr/>
          <p:nvPr/>
        </p:nvCxnSpPr>
        <p:spPr>
          <a:xfrm>
            <a:off x="4637828" y="1731264"/>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ECBFE4-B965-224B-BC7E-07F9D561DB03}"/>
              </a:ext>
            </a:extLst>
          </p:cNvPr>
          <p:cNvCxnSpPr/>
          <p:nvPr/>
        </p:nvCxnSpPr>
        <p:spPr>
          <a:xfrm>
            <a:off x="4637828" y="2130552"/>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AB37A4-EC04-8348-867D-FA1B467569DD}"/>
              </a:ext>
            </a:extLst>
          </p:cNvPr>
          <p:cNvCxnSpPr/>
          <p:nvPr/>
        </p:nvCxnSpPr>
        <p:spPr>
          <a:xfrm>
            <a:off x="4637828" y="2676144"/>
            <a:ext cx="3207724"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F205B4A-DFA9-4742-A743-6B05C7D43403}"/>
              </a:ext>
            </a:extLst>
          </p:cNvPr>
          <p:cNvSpPr txBox="1"/>
          <p:nvPr/>
        </p:nvSpPr>
        <p:spPr>
          <a:xfrm>
            <a:off x="5524796" y="988070"/>
            <a:ext cx="3410712" cy="261610"/>
          </a:xfrm>
          <a:prstGeom prst="rect">
            <a:avLst/>
          </a:prstGeom>
          <a:noFill/>
        </p:spPr>
        <p:txBody>
          <a:bodyPr wrap="square" rtlCol="0">
            <a:spAutoFit/>
          </a:bodyPr>
          <a:lstStyle/>
          <a:p>
            <a:r>
              <a:rPr lang="fa-IR" sz="1050">
                <a:latin typeface="Alexandria Medium" pitchFamily="2" charset="-78"/>
                <a:cs typeface="Alexandria Medium" pitchFamily="2" charset="-78"/>
              </a:rPr>
              <a:t>برنامه به هیچ یک از موارد زیر نیاز ندارد.</a:t>
            </a:r>
            <a:endParaRPr lang="en-US" sz="1050">
              <a:latin typeface="Alexandria Medium" pitchFamily="2" charset="-78"/>
              <a:cs typeface="Alexandria Medium" pitchFamily="2" charset="-78"/>
            </a:endParaRPr>
          </a:p>
        </p:txBody>
      </p:sp>
      <p:sp>
        <p:nvSpPr>
          <p:cNvPr id="14" name="TextBox 13">
            <a:extLst>
              <a:ext uri="{FF2B5EF4-FFF2-40B4-BE49-F238E27FC236}">
                <a16:creationId xmlns:a16="http://schemas.microsoft.com/office/drawing/2014/main" id="{47E80B4C-8162-984B-98A9-4A84E32D9368}"/>
              </a:ext>
            </a:extLst>
          </p:cNvPr>
          <p:cNvSpPr txBox="1"/>
          <p:nvPr/>
        </p:nvSpPr>
        <p:spPr>
          <a:xfrm>
            <a:off x="5052647" y="1219236"/>
            <a:ext cx="2924198" cy="261610"/>
          </a:xfrm>
          <a:prstGeom prst="rect">
            <a:avLst/>
          </a:prstGeom>
          <a:noFill/>
        </p:spPr>
        <p:txBody>
          <a:bodyPr wrap="none" rtlCol="0">
            <a:spAutoFit/>
          </a:bodyPr>
          <a:lstStyle/>
          <a:p>
            <a:r>
              <a:rPr lang="fa-IR" sz="1100">
                <a:solidFill>
                  <a:srgbClr val="0269AE"/>
                </a:solidFill>
                <a:latin typeface="Alexandria Medium" pitchFamily="2" charset="-78"/>
                <a:cs typeface="Alexandria Medium" pitchFamily="2" charset="-78"/>
              </a:rPr>
              <a:t>برنامه به یک تا سه مورد از موارد زیر نیاز دارد.</a:t>
            </a:r>
            <a:endParaRPr lang="en-US" sz="1100">
              <a:solidFill>
                <a:srgbClr val="0269AE"/>
              </a:solidFill>
              <a:latin typeface="Alexandria Medium" pitchFamily="2" charset="-78"/>
              <a:cs typeface="Alexandria Medium" pitchFamily="2" charset="-78"/>
            </a:endParaRPr>
          </a:p>
        </p:txBody>
      </p:sp>
      <p:sp>
        <p:nvSpPr>
          <p:cNvPr id="15" name="TextBox 14">
            <a:extLst>
              <a:ext uri="{FF2B5EF4-FFF2-40B4-BE49-F238E27FC236}">
                <a16:creationId xmlns:a16="http://schemas.microsoft.com/office/drawing/2014/main" id="{8CEA3408-4B2E-7649-BE57-552BDB268C3F}"/>
              </a:ext>
            </a:extLst>
          </p:cNvPr>
          <p:cNvSpPr txBox="1"/>
          <p:nvPr/>
        </p:nvSpPr>
        <p:spPr>
          <a:xfrm>
            <a:off x="4979495" y="1473484"/>
            <a:ext cx="3337560" cy="261610"/>
          </a:xfrm>
          <a:prstGeom prst="rect">
            <a:avLst/>
          </a:prstGeom>
          <a:noFill/>
        </p:spPr>
        <p:txBody>
          <a:bodyPr wrap="square" rtlCol="0">
            <a:spAutoFit/>
          </a:bodyPr>
          <a:lstStyle/>
          <a:p>
            <a:r>
              <a:rPr lang="fa-IR" sz="1100">
                <a:latin typeface="Alexandria Medium" pitchFamily="2" charset="-78"/>
                <a:cs typeface="Alexandria Medium" pitchFamily="2" charset="-78"/>
              </a:rPr>
              <a:t>برنامه به چهار تا پنج مورد از موارد زیر نیاز دارد.</a:t>
            </a:r>
            <a:endParaRPr lang="en-US" sz="1100">
              <a:latin typeface="Alexandria Medium" pitchFamily="2" charset="-78"/>
              <a:cs typeface="Alexandria Medium" pitchFamily="2" charset="-78"/>
            </a:endParaRPr>
          </a:p>
        </p:txBody>
      </p:sp>
      <p:sp>
        <p:nvSpPr>
          <p:cNvPr id="16" name="TextBox 15">
            <a:extLst>
              <a:ext uri="{FF2B5EF4-FFF2-40B4-BE49-F238E27FC236}">
                <a16:creationId xmlns:a16="http://schemas.microsoft.com/office/drawing/2014/main" id="{37A3BC18-1630-D94B-B4C3-E608177E1B3A}"/>
              </a:ext>
            </a:extLst>
          </p:cNvPr>
          <p:cNvSpPr txBox="1"/>
          <p:nvPr/>
        </p:nvSpPr>
        <p:spPr>
          <a:xfrm>
            <a:off x="4554622" y="427441"/>
            <a:ext cx="3410712" cy="415498"/>
          </a:xfrm>
          <a:prstGeom prst="rect">
            <a:avLst/>
          </a:prstGeom>
          <a:noFill/>
        </p:spPr>
        <p:txBody>
          <a:bodyPr wrap="square" rtlCol="0">
            <a:spAutoFit/>
          </a:bodyPr>
          <a:lstStyle/>
          <a:p>
            <a:pPr algn="r" rtl="1">
              <a:lnSpc>
                <a:spcPts val="1300"/>
              </a:lnSpc>
            </a:pPr>
            <a:r>
              <a:rPr lang="fa-IR" sz="800">
                <a:solidFill>
                  <a:srgbClr val="C00000"/>
                </a:solidFill>
                <a:latin typeface="Alexandria Medium" pitchFamily="2" charset="-78"/>
                <a:cs typeface="Alexandria Medium" pitchFamily="2" charset="-78"/>
              </a:rPr>
              <a:t>آیا این برنامه به گونه ای طراحی شده است که به کاربران نهایی اجازه دهد تا کار خود را انجام دهند یا برای بهبود کارایی آنها طراحی شده است؟</a:t>
            </a:r>
            <a:endParaRPr lang="en-US" sz="800">
              <a:solidFill>
                <a:srgbClr val="C00000"/>
              </a:solidFill>
              <a:latin typeface="Alexandria Medium" pitchFamily="2" charset="-78"/>
              <a:cs typeface="Alexandria Medium" pitchFamily="2" charset="-78"/>
            </a:endParaRPr>
          </a:p>
        </p:txBody>
      </p:sp>
      <p:pic>
        <p:nvPicPr>
          <p:cNvPr id="18" name="Picture 17">
            <a:extLst>
              <a:ext uri="{FF2B5EF4-FFF2-40B4-BE49-F238E27FC236}">
                <a16:creationId xmlns:a16="http://schemas.microsoft.com/office/drawing/2014/main" id="{DD93230B-EAD8-344A-B5B5-C9519D747C66}"/>
              </a:ext>
            </a:extLst>
          </p:cNvPr>
          <p:cNvPicPr>
            <a:picLocks noChangeAspect="1"/>
          </p:cNvPicPr>
          <p:nvPr/>
        </p:nvPicPr>
        <p:blipFill>
          <a:blip r:embed="rId4"/>
          <a:stretch>
            <a:fillRect/>
          </a:stretch>
        </p:blipFill>
        <p:spPr>
          <a:xfrm>
            <a:off x="4650311" y="2703376"/>
            <a:ext cx="3337560" cy="2337435"/>
          </a:xfrm>
          <a:prstGeom prst="rect">
            <a:avLst/>
          </a:prstGeom>
        </p:spPr>
      </p:pic>
      <p:sp>
        <p:nvSpPr>
          <p:cNvPr id="19" name="TextBox 18">
            <a:extLst>
              <a:ext uri="{FF2B5EF4-FFF2-40B4-BE49-F238E27FC236}">
                <a16:creationId xmlns:a16="http://schemas.microsoft.com/office/drawing/2014/main" id="{370D60A4-1227-0549-9FAA-1E4D9B7F9D9C}"/>
              </a:ext>
            </a:extLst>
          </p:cNvPr>
          <p:cNvSpPr txBox="1"/>
          <p:nvPr/>
        </p:nvSpPr>
        <p:spPr>
          <a:xfrm>
            <a:off x="4947814" y="1736837"/>
            <a:ext cx="3017520" cy="369332"/>
          </a:xfrm>
          <a:prstGeom prst="rect">
            <a:avLst/>
          </a:prstGeom>
          <a:noFill/>
        </p:spPr>
        <p:txBody>
          <a:bodyPr wrap="square" rtlCol="0">
            <a:spAutoFit/>
          </a:bodyPr>
          <a:lstStyle/>
          <a:p>
            <a:pPr algn="r" rtl="1"/>
            <a:r>
              <a:rPr lang="fa-IR" sz="900">
                <a:solidFill>
                  <a:srgbClr val="0269AE"/>
                </a:solidFill>
                <a:latin typeface="Alexandria Medium" pitchFamily="2" charset="-78"/>
                <a:cs typeface="Alexandria Medium" pitchFamily="2" charset="-78"/>
              </a:rPr>
              <a:t>برنامه به شش مورد یا بیشتر از موارد زیر نیاز دارد، اما هیچ الزامی در رابطه با کارایی کاربر وجود ندارد.</a:t>
            </a:r>
            <a:endParaRPr lang="en-US" sz="900">
              <a:solidFill>
                <a:srgbClr val="0269AE"/>
              </a:solidFill>
              <a:latin typeface="Alexandria Medium" pitchFamily="2" charset="-78"/>
              <a:cs typeface="Alexandria Medium" pitchFamily="2" charset="-78"/>
            </a:endParaRPr>
          </a:p>
        </p:txBody>
      </p:sp>
      <p:sp>
        <p:nvSpPr>
          <p:cNvPr id="20" name="TextBox 19">
            <a:extLst>
              <a:ext uri="{FF2B5EF4-FFF2-40B4-BE49-F238E27FC236}">
                <a16:creationId xmlns:a16="http://schemas.microsoft.com/office/drawing/2014/main" id="{527427B9-6312-444E-92BE-E9DD096410E6}"/>
              </a:ext>
            </a:extLst>
          </p:cNvPr>
          <p:cNvSpPr txBox="1"/>
          <p:nvPr/>
        </p:nvSpPr>
        <p:spPr>
          <a:xfrm>
            <a:off x="4607489" y="2172516"/>
            <a:ext cx="3423203" cy="505588"/>
          </a:xfrm>
          <a:prstGeom prst="rect">
            <a:avLst/>
          </a:prstGeom>
          <a:noFill/>
        </p:spPr>
        <p:txBody>
          <a:bodyPr wrap="square" rtlCol="0">
            <a:spAutoFit/>
          </a:bodyPr>
          <a:lstStyle/>
          <a:p>
            <a:pPr algn="r" rtl="1">
              <a:lnSpc>
                <a:spcPts val="1060"/>
              </a:lnSpc>
            </a:pPr>
            <a:r>
              <a:rPr lang="fa-IR" sz="800">
                <a:latin typeface="Alexandria Medium" pitchFamily="2" charset="-78"/>
                <a:cs typeface="Alexandria Medium" pitchFamily="2" charset="-78"/>
              </a:rPr>
              <a:t>این برنامه به شش مورد یا بیشتر از موارد زیر نیاز دارد و الزامات کارایی کاربر آنقدر قوی است که طراحی باید دارای ویژگی هایی برای به حداقل رساندن تایپ، به حداکثر رساندن پیش فرض ها، استفاده از الگوها و غیره باشد.</a:t>
            </a:r>
            <a:endParaRPr lang="en-US" sz="800">
              <a:latin typeface="Alexandria Medium" pitchFamily="2" charset="-78"/>
              <a:cs typeface="Alexandria Medium" pitchFamily="2" charset="-78"/>
            </a:endParaRPr>
          </a:p>
        </p:txBody>
      </p:sp>
      <p:sp>
        <p:nvSpPr>
          <p:cNvPr id="21" name="TextBox 20">
            <a:extLst>
              <a:ext uri="{FF2B5EF4-FFF2-40B4-BE49-F238E27FC236}">
                <a16:creationId xmlns:a16="http://schemas.microsoft.com/office/drawing/2014/main" id="{F11FA5DE-F786-AC4D-9896-BAB13B806088}"/>
              </a:ext>
            </a:extLst>
          </p:cNvPr>
          <p:cNvSpPr txBox="1"/>
          <p:nvPr/>
        </p:nvSpPr>
        <p:spPr>
          <a:xfrm>
            <a:off x="285954" y="3487372"/>
            <a:ext cx="4207736" cy="800476"/>
          </a:xfrm>
          <a:prstGeom prst="rect">
            <a:avLst/>
          </a:prstGeom>
          <a:noFill/>
        </p:spPr>
        <p:txBody>
          <a:bodyPr wrap="square" rtlCol="0">
            <a:spAutoFit/>
          </a:bodyPr>
          <a:lstStyle/>
          <a:p>
            <a:pPr algn="r" rtl="1">
              <a:lnSpc>
                <a:spcPts val="1420"/>
              </a:lnSpc>
            </a:pPr>
            <a:r>
              <a:rPr lang="fa-IR" sz="1100">
                <a:solidFill>
                  <a:srgbClr val="0269AE"/>
                </a:solidFill>
                <a:latin typeface="Alexandria Medium" pitchFamily="2" charset="-78"/>
                <a:cs typeface="Alexandria Medium" pitchFamily="2" charset="-78"/>
              </a:rPr>
              <a:t>برنامه به شش مورد یا بیشتر از موارد زیر نیاز دارد و الزامات کارایی کاربر به قدری قوی است که فعالیت های طراحی باید شامل ابزارها و فرآیندهای خاصی باشد تا نشان دهد که اهداف عملکرد به دست آمده اند.</a:t>
            </a:r>
            <a:endParaRPr lang="en-US" sz="1100">
              <a:solidFill>
                <a:srgbClr val="0269AE"/>
              </a:solidFill>
              <a:latin typeface="Alexandria Medium" pitchFamily="2" charset="-78"/>
              <a:cs typeface="Alexandria Medium" pitchFamily="2" charset="-78"/>
            </a:endParaRPr>
          </a:p>
        </p:txBody>
      </p:sp>
      <p:sp>
        <p:nvSpPr>
          <p:cNvPr id="22" name="TextBox 21">
            <a:extLst>
              <a:ext uri="{FF2B5EF4-FFF2-40B4-BE49-F238E27FC236}">
                <a16:creationId xmlns:a16="http://schemas.microsoft.com/office/drawing/2014/main" id="{990239F3-1245-0B42-8E18-6354D672F491}"/>
              </a:ext>
            </a:extLst>
          </p:cNvPr>
          <p:cNvSpPr txBox="1"/>
          <p:nvPr/>
        </p:nvSpPr>
        <p:spPr>
          <a:xfrm>
            <a:off x="485054" y="4541419"/>
            <a:ext cx="840295" cy="246221"/>
          </a:xfrm>
          <a:prstGeom prst="rect">
            <a:avLst/>
          </a:prstGeom>
          <a:noFill/>
        </p:spPr>
        <p:txBody>
          <a:bodyPr wrap="none" rtlCol="0">
            <a:spAutoFit/>
          </a:bodyPr>
          <a:lstStyle/>
          <a:p>
            <a:r>
              <a:rPr lang="en-US" sz="1000">
                <a:latin typeface="Alexandria Medium" pitchFamily="2" charset="-78"/>
                <a:cs typeface="Alexandria Medium" pitchFamily="2" charset="-78"/>
              </a:rPr>
              <a:t>Next Page</a:t>
            </a:r>
          </a:p>
        </p:txBody>
      </p:sp>
      <p:cxnSp>
        <p:nvCxnSpPr>
          <p:cNvPr id="24" name="Straight Arrow Connector 23">
            <a:extLst>
              <a:ext uri="{FF2B5EF4-FFF2-40B4-BE49-F238E27FC236}">
                <a16:creationId xmlns:a16="http://schemas.microsoft.com/office/drawing/2014/main" id="{655BA3FF-BAAF-4F4A-99EF-0BFCCF263BE3}"/>
              </a:ext>
            </a:extLst>
          </p:cNvPr>
          <p:cNvCxnSpPr/>
          <p:nvPr/>
        </p:nvCxnSpPr>
        <p:spPr>
          <a:xfrm flipH="1">
            <a:off x="181384" y="4666996"/>
            <a:ext cx="32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2553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56" fill="hold">
                            <p:stCondLst>
                              <p:cond delay="6500"/>
                            </p:stCondLst>
                            <p:childTnLst>
                              <p:par>
                                <p:cTn id="57" presetID="10" presetClass="entr" presetSubtype="0"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childTnLst>
                          </p:cTn>
                        </p:par>
                        <p:par>
                          <p:cTn id="72" fill="hold">
                            <p:stCondLst>
                              <p:cond delay="8500"/>
                            </p:stCondLst>
                            <p:childTnLst>
                              <p:par>
                                <p:cTn id="73" presetID="10" presetClass="entr" presetSubtype="0" fill="hold" grpId="0" nodeType="afterEffect">
                                  <p:stCondLst>
                                    <p:cond delay="100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childTnLst>
                                </p:cTn>
                              </p:par>
                            </p:childTnLst>
                          </p:cTn>
                        </p:par>
                        <p:par>
                          <p:cTn id="76" fill="hold">
                            <p:stCondLst>
                              <p:cond delay="10000"/>
                            </p:stCondLst>
                            <p:childTnLst>
                              <p:par>
                                <p:cTn id="77" presetID="10" presetClass="entr" presetSubtype="0" fill="hold"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p:bldP spid="15" grpId="0"/>
      <p:bldP spid="16" grpId="0"/>
      <p:bldP spid="19" grpId="0"/>
      <p:bldP spid="20" grpId="0"/>
      <p:bldP spid="21"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4" name="TextBox 3">
            <a:extLst>
              <a:ext uri="{FF2B5EF4-FFF2-40B4-BE49-F238E27FC236}">
                <a16:creationId xmlns:a16="http://schemas.microsoft.com/office/drawing/2014/main" id="{0BEBB9BF-D5A5-4A40-8C05-C70ADC7683F5}"/>
              </a:ext>
            </a:extLst>
          </p:cNvPr>
          <p:cNvSpPr txBox="1"/>
          <p:nvPr/>
        </p:nvSpPr>
        <p:spPr>
          <a:xfrm>
            <a:off x="105787" y="95795"/>
            <a:ext cx="3326552" cy="492443"/>
          </a:xfrm>
          <a:prstGeom prst="rect">
            <a:avLst/>
          </a:prstGeom>
          <a:noFill/>
        </p:spPr>
        <p:txBody>
          <a:bodyPr wrap="none" rtlCol="0">
            <a:spAutoFit/>
          </a:bodyPr>
          <a:lstStyle/>
          <a:p>
            <a:r>
              <a:rPr lang="en-US" b="1">
                <a:solidFill>
                  <a:srgbClr val="2D2D2D"/>
                </a:solidFill>
                <a:effectLst/>
                <a:latin typeface="Alexandria Medium" pitchFamily="2" charset="-78"/>
                <a:cs typeface="Alexandria Medium" pitchFamily="2" charset="-78"/>
              </a:rPr>
              <a:t>End-user efficiency  </a:t>
            </a:r>
            <a:r>
              <a:rPr lang="en-US" sz="1600" b="1">
                <a:solidFill>
                  <a:srgbClr val="2D2D2D"/>
                </a:solidFill>
                <a:effectLst/>
                <a:latin typeface="Alexandria Medium" pitchFamily="2" charset="-78"/>
                <a:cs typeface="Alexandria Medium" pitchFamily="2" charset="-78"/>
              </a:rPr>
              <a:t>| </a:t>
            </a:r>
            <a:r>
              <a:rPr lang="en-US" b="1">
                <a:solidFill>
                  <a:srgbClr val="2D2D2D"/>
                </a:solidFill>
                <a:effectLst/>
                <a:latin typeface="Alexandria Medium" pitchFamily="2" charset="-78"/>
                <a:cs typeface="Alexandria Medium" pitchFamily="2" charset="-78"/>
              </a:rPr>
              <a:t> </a:t>
            </a:r>
            <a:r>
              <a:rPr lang="fa-IR" sz="1200" b="1">
                <a:solidFill>
                  <a:srgbClr val="2D2D2D"/>
                </a:solidFill>
                <a:effectLst/>
                <a:latin typeface="Alexandria Medium" pitchFamily="2" charset="-78"/>
                <a:cs typeface="Alexandria Medium" pitchFamily="2" charset="-78"/>
              </a:rPr>
              <a:t>کارایی کاربر نهایی</a:t>
            </a:r>
            <a:endParaRPr lang="en-US" sz="1000" b="1">
              <a:effectLst/>
              <a:latin typeface="Alexandria Medium" pitchFamily="2" charset="-78"/>
              <a:cs typeface="Alexandria Medium" pitchFamily="2" charset="-78"/>
            </a:endParaRPr>
          </a:p>
          <a:p>
            <a:pPr marR="0" algn="l" rtl="0">
              <a:lnSpc>
                <a:spcPct val="100000"/>
              </a:lnSpc>
              <a:spcBef>
                <a:spcPts val="0"/>
              </a:spcBef>
              <a:spcAft>
                <a:spcPts val="0"/>
              </a:spcAft>
              <a:buClr>
                <a:srgbClr val="000000"/>
              </a:buClr>
              <a:buFont typeface="Arial"/>
            </a:pPr>
            <a:endParaRPr lang="en-US" sz="1000" b="1">
              <a:latin typeface="Alexandria Medium" pitchFamily="2" charset="-78"/>
              <a:cs typeface="Alexandria Medium" pitchFamily="2" charset="-78"/>
            </a:endParaRPr>
          </a:p>
        </p:txBody>
      </p:sp>
      <p:cxnSp>
        <p:nvCxnSpPr>
          <p:cNvPr id="6" name="Straight Connector 5">
            <a:extLst>
              <a:ext uri="{FF2B5EF4-FFF2-40B4-BE49-F238E27FC236}">
                <a16:creationId xmlns:a16="http://schemas.microsoft.com/office/drawing/2014/main" id="{2FEF1D25-FB31-EA4F-BA95-1B3597B27988}"/>
              </a:ext>
            </a:extLst>
          </p:cNvPr>
          <p:cNvCxnSpPr/>
          <p:nvPr/>
        </p:nvCxnSpPr>
        <p:spPr>
          <a:xfrm>
            <a:off x="4829852" y="573024"/>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5C8C247-7ADA-7644-A90C-ECDB58A4A83C}"/>
              </a:ext>
            </a:extLst>
          </p:cNvPr>
          <p:cNvCxnSpPr/>
          <p:nvPr/>
        </p:nvCxnSpPr>
        <p:spPr>
          <a:xfrm>
            <a:off x="4829852" y="810768"/>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A206E69-6155-DF40-93D4-036EB12D2CB3}"/>
              </a:ext>
            </a:extLst>
          </p:cNvPr>
          <p:cNvCxnSpPr/>
          <p:nvPr/>
        </p:nvCxnSpPr>
        <p:spPr>
          <a:xfrm>
            <a:off x="4829852" y="1057656"/>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54F14A-CA9E-E54C-8292-97670A785CEF}"/>
              </a:ext>
            </a:extLst>
          </p:cNvPr>
          <p:cNvCxnSpPr/>
          <p:nvPr/>
        </p:nvCxnSpPr>
        <p:spPr>
          <a:xfrm>
            <a:off x="4829852" y="1292352"/>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ECBFE4-B965-224B-BC7E-07F9D561DB03}"/>
              </a:ext>
            </a:extLst>
          </p:cNvPr>
          <p:cNvCxnSpPr/>
          <p:nvPr/>
        </p:nvCxnSpPr>
        <p:spPr>
          <a:xfrm>
            <a:off x="4829852" y="1691640"/>
            <a:ext cx="3207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AB37A4-EC04-8348-867D-FA1B467569DD}"/>
              </a:ext>
            </a:extLst>
          </p:cNvPr>
          <p:cNvCxnSpPr/>
          <p:nvPr/>
        </p:nvCxnSpPr>
        <p:spPr>
          <a:xfrm>
            <a:off x="4829852" y="2237232"/>
            <a:ext cx="3207724"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F205B4A-DFA9-4742-A743-6B05C7D43403}"/>
              </a:ext>
            </a:extLst>
          </p:cNvPr>
          <p:cNvSpPr txBox="1"/>
          <p:nvPr/>
        </p:nvSpPr>
        <p:spPr>
          <a:xfrm>
            <a:off x="5716820" y="549158"/>
            <a:ext cx="3410712" cy="261610"/>
          </a:xfrm>
          <a:prstGeom prst="rect">
            <a:avLst/>
          </a:prstGeom>
          <a:noFill/>
        </p:spPr>
        <p:txBody>
          <a:bodyPr wrap="square" rtlCol="0">
            <a:spAutoFit/>
          </a:bodyPr>
          <a:lstStyle/>
          <a:p>
            <a:r>
              <a:rPr lang="fa-IR" sz="1050">
                <a:latin typeface="Alexandria Medium" pitchFamily="2" charset="-78"/>
                <a:cs typeface="Alexandria Medium" pitchFamily="2" charset="-78"/>
              </a:rPr>
              <a:t>برنامه به هیچ یک از موارد زیر نیاز ندارد.</a:t>
            </a:r>
            <a:endParaRPr lang="en-US" sz="1050">
              <a:latin typeface="Alexandria Medium" pitchFamily="2" charset="-78"/>
              <a:cs typeface="Alexandria Medium" pitchFamily="2" charset="-78"/>
            </a:endParaRPr>
          </a:p>
        </p:txBody>
      </p:sp>
      <p:sp>
        <p:nvSpPr>
          <p:cNvPr id="14" name="TextBox 13">
            <a:extLst>
              <a:ext uri="{FF2B5EF4-FFF2-40B4-BE49-F238E27FC236}">
                <a16:creationId xmlns:a16="http://schemas.microsoft.com/office/drawing/2014/main" id="{47E80B4C-8162-984B-98A9-4A84E32D9368}"/>
              </a:ext>
            </a:extLst>
          </p:cNvPr>
          <p:cNvSpPr txBox="1"/>
          <p:nvPr/>
        </p:nvSpPr>
        <p:spPr>
          <a:xfrm>
            <a:off x="5244671" y="780324"/>
            <a:ext cx="2924198" cy="261610"/>
          </a:xfrm>
          <a:prstGeom prst="rect">
            <a:avLst/>
          </a:prstGeom>
          <a:noFill/>
        </p:spPr>
        <p:txBody>
          <a:bodyPr wrap="none" rtlCol="0">
            <a:spAutoFit/>
          </a:bodyPr>
          <a:lstStyle/>
          <a:p>
            <a:r>
              <a:rPr lang="fa-IR" sz="1100">
                <a:solidFill>
                  <a:srgbClr val="0269AE"/>
                </a:solidFill>
                <a:latin typeface="Alexandria Medium" pitchFamily="2" charset="-78"/>
                <a:cs typeface="Alexandria Medium" pitchFamily="2" charset="-78"/>
              </a:rPr>
              <a:t>برنامه به یک تا سه مورد از موارد زیر نیاز دارد.</a:t>
            </a:r>
            <a:endParaRPr lang="en-US" sz="1100">
              <a:solidFill>
                <a:srgbClr val="0269AE"/>
              </a:solidFill>
              <a:latin typeface="Alexandria Medium" pitchFamily="2" charset="-78"/>
              <a:cs typeface="Alexandria Medium" pitchFamily="2" charset="-78"/>
            </a:endParaRPr>
          </a:p>
        </p:txBody>
      </p:sp>
      <p:sp>
        <p:nvSpPr>
          <p:cNvPr id="15" name="TextBox 14">
            <a:extLst>
              <a:ext uri="{FF2B5EF4-FFF2-40B4-BE49-F238E27FC236}">
                <a16:creationId xmlns:a16="http://schemas.microsoft.com/office/drawing/2014/main" id="{8CEA3408-4B2E-7649-BE57-552BDB268C3F}"/>
              </a:ext>
            </a:extLst>
          </p:cNvPr>
          <p:cNvSpPr txBox="1"/>
          <p:nvPr/>
        </p:nvSpPr>
        <p:spPr>
          <a:xfrm>
            <a:off x="5171519" y="1034572"/>
            <a:ext cx="3337560" cy="261610"/>
          </a:xfrm>
          <a:prstGeom prst="rect">
            <a:avLst/>
          </a:prstGeom>
          <a:noFill/>
        </p:spPr>
        <p:txBody>
          <a:bodyPr wrap="square" rtlCol="0">
            <a:spAutoFit/>
          </a:bodyPr>
          <a:lstStyle/>
          <a:p>
            <a:r>
              <a:rPr lang="fa-IR" sz="1100">
                <a:latin typeface="Alexandria Medium" pitchFamily="2" charset="-78"/>
                <a:cs typeface="Alexandria Medium" pitchFamily="2" charset="-78"/>
              </a:rPr>
              <a:t>برنامه به چهار تا پنج مورد از موارد زیر نیاز دارد.</a:t>
            </a:r>
            <a:endParaRPr lang="en-US" sz="1100">
              <a:latin typeface="Alexandria Medium" pitchFamily="2" charset="-78"/>
              <a:cs typeface="Alexandria Medium" pitchFamily="2" charset="-78"/>
            </a:endParaRPr>
          </a:p>
        </p:txBody>
      </p:sp>
      <p:sp>
        <p:nvSpPr>
          <p:cNvPr id="16" name="TextBox 15">
            <a:extLst>
              <a:ext uri="{FF2B5EF4-FFF2-40B4-BE49-F238E27FC236}">
                <a16:creationId xmlns:a16="http://schemas.microsoft.com/office/drawing/2014/main" id="{37A3BC18-1630-D94B-B4C3-E608177E1B3A}"/>
              </a:ext>
            </a:extLst>
          </p:cNvPr>
          <p:cNvSpPr txBox="1"/>
          <p:nvPr/>
        </p:nvSpPr>
        <p:spPr>
          <a:xfrm>
            <a:off x="4728358" y="96894"/>
            <a:ext cx="3410712" cy="415498"/>
          </a:xfrm>
          <a:prstGeom prst="rect">
            <a:avLst/>
          </a:prstGeom>
          <a:noFill/>
        </p:spPr>
        <p:txBody>
          <a:bodyPr wrap="square" rtlCol="0">
            <a:spAutoFit/>
          </a:bodyPr>
          <a:lstStyle/>
          <a:p>
            <a:pPr algn="r" rtl="1">
              <a:lnSpc>
                <a:spcPts val="1300"/>
              </a:lnSpc>
            </a:pPr>
            <a:r>
              <a:rPr lang="fa-IR" sz="800">
                <a:solidFill>
                  <a:srgbClr val="C00000"/>
                </a:solidFill>
                <a:latin typeface="Alexandria Medium" pitchFamily="2" charset="-78"/>
                <a:cs typeface="Alexandria Medium" pitchFamily="2" charset="-78"/>
              </a:rPr>
              <a:t>آیا این برنامه به گونه ای طراحی شده است که به کاربران نهایی اجازه دهد تا کار خود را انجام دهند یا برای بهبود کارایی آنها طراحی شده است؟</a:t>
            </a:r>
            <a:endParaRPr lang="en-US" sz="800">
              <a:solidFill>
                <a:srgbClr val="C00000"/>
              </a:solidFill>
              <a:latin typeface="Alexandria Medium" pitchFamily="2" charset="-78"/>
              <a:cs typeface="Alexandria Medium" pitchFamily="2" charset="-78"/>
            </a:endParaRPr>
          </a:p>
        </p:txBody>
      </p:sp>
      <p:pic>
        <p:nvPicPr>
          <p:cNvPr id="18" name="Picture 17">
            <a:extLst>
              <a:ext uri="{FF2B5EF4-FFF2-40B4-BE49-F238E27FC236}">
                <a16:creationId xmlns:a16="http://schemas.microsoft.com/office/drawing/2014/main" id="{DD93230B-EAD8-344A-B5B5-C9519D747C66}"/>
              </a:ext>
            </a:extLst>
          </p:cNvPr>
          <p:cNvPicPr>
            <a:picLocks noChangeAspect="1"/>
          </p:cNvPicPr>
          <p:nvPr/>
        </p:nvPicPr>
        <p:blipFill>
          <a:blip r:embed="rId3"/>
          <a:stretch>
            <a:fillRect/>
          </a:stretch>
        </p:blipFill>
        <p:spPr>
          <a:xfrm>
            <a:off x="4728358" y="2775403"/>
            <a:ext cx="3527041" cy="2271203"/>
          </a:xfrm>
          <a:prstGeom prst="rect">
            <a:avLst/>
          </a:prstGeom>
        </p:spPr>
      </p:pic>
      <p:sp>
        <p:nvSpPr>
          <p:cNvPr id="19" name="TextBox 18">
            <a:extLst>
              <a:ext uri="{FF2B5EF4-FFF2-40B4-BE49-F238E27FC236}">
                <a16:creationId xmlns:a16="http://schemas.microsoft.com/office/drawing/2014/main" id="{370D60A4-1227-0549-9FAA-1E4D9B7F9D9C}"/>
              </a:ext>
            </a:extLst>
          </p:cNvPr>
          <p:cNvSpPr txBox="1"/>
          <p:nvPr/>
        </p:nvSpPr>
        <p:spPr>
          <a:xfrm>
            <a:off x="5139838" y="1297925"/>
            <a:ext cx="3017520" cy="369332"/>
          </a:xfrm>
          <a:prstGeom prst="rect">
            <a:avLst/>
          </a:prstGeom>
          <a:noFill/>
        </p:spPr>
        <p:txBody>
          <a:bodyPr wrap="square" rtlCol="0">
            <a:spAutoFit/>
          </a:bodyPr>
          <a:lstStyle/>
          <a:p>
            <a:pPr algn="r" rtl="1"/>
            <a:r>
              <a:rPr lang="fa-IR" sz="900">
                <a:solidFill>
                  <a:srgbClr val="0269AE"/>
                </a:solidFill>
                <a:latin typeface="Alexandria Medium" pitchFamily="2" charset="-78"/>
                <a:cs typeface="Alexandria Medium" pitchFamily="2" charset="-78"/>
              </a:rPr>
              <a:t>برنامه به شش مورد یا بیشتر از موارد زیر نیاز دارد، اما هیچ الزامی در رابطه با کارایی کاربر وجود ندارد.</a:t>
            </a:r>
            <a:endParaRPr lang="en-US" sz="900">
              <a:solidFill>
                <a:srgbClr val="0269AE"/>
              </a:solidFill>
              <a:latin typeface="Alexandria Medium" pitchFamily="2" charset="-78"/>
              <a:cs typeface="Alexandria Medium" pitchFamily="2" charset="-78"/>
            </a:endParaRPr>
          </a:p>
        </p:txBody>
      </p:sp>
      <p:sp>
        <p:nvSpPr>
          <p:cNvPr id="20" name="TextBox 19">
            <a:extLst>
              <a:ext uri="{FF2B5EF4-FFF2-40B4-BE49-F238E27FC236}">
                <a16:creationId xmlns:a16="http://schemas.microsoft.com/office/drawing/2014/main" id="{527427B9-6312-444E-92BE-E9DD096410E6}"/>
              </a:ext>
            </a:extLst>
          </p:cNvPr>
          <p:cNvSpPr txBox="1"/>
          <p:nvPr/>
        </p:nvSpPr>
        <p:spPr>
          <a:xfrm>
            <a:off x="4752058" y="1731644"/>
            <a:ext cx="3423203" cy="505588"/>
          </a:xfrm>
          <a:prstGeom prst="rect">
            <a:avLst/>
          </a:prstGeom>
          <a:noFill/>
        </p:spPr>
        <p:txBody>
          <a:bodyPr wrap="square" rtlCol="0">
            <a:spAutoFit/>
          </a:bodyPr>
          <a:lstStyle/>
          <a:p>
            <a:pPr algn="r" rtl="1">
              <a:lnSpc>
                <a:spcPts val="1060"/>
              </a:lnSpc>
            </a:pPr>
            <a:r>
              <a:rPr lang="fa-IR" sz="800">
                <a:latin typeface="Alexandria Medium" pitchFamily="2" charset="-78"/>
                <a:cs typeface="Alexandria Medium" pitchFamily="2" charset="-78"/>
              </a:rPr>
              <a:t>این برنامه به شش مورد یا بیشتر از موارد زیر نیاز دارد و الزامات کارایی کاربر آنقدر قوی است که طراحی باید دارای ویژگی هایی برای به حداقل رساندن تایپ، به حداکثر رساندن پیش فرض ها، استفاده از الگوها و غیره باشد.</a:t>
            </a:r>
            <a:endParaRPr lang="en-US" sz="800">
              <a:latin typeface="Alexandria Medium" pitchFamily="2" charset="-78"/>
              <a:cs typeface="Alexandria Medium" pitchFamily="2" charset="-78"/>
            </a:endParaRPr>
          </a:p>
        </p:txBody>
      </p:sp>
      <p:sp>
        <p:nvSpPr>
          <p:cNvPr id="2" name="TextBox 1">
            <a:extLst>
              <a:ext uri="{FF2B5EF4-FFF2-40B4-BE49-F238E27FC236}">
                <a16:creationId xmlns:a16="http://schemas.microsoft.com/office/drawing/2014/main" id="{59EA4750-04C6-6F41-9A72-395C92627DA6}"/>
              </a:ext>
            </a:extLst>
          </p:cNvPr>
          <p:cNvSpPr txBox="1"/>
          <p:nvPr/>
        </p:nvSpPr>
        <p:spPr>
          <a:xfrm>
            <a:off x="8070814" y="571630"/>
            <a:ext cx="284052" cy="284693"/>
          </a:xfrm>
          <a:prstGeom prst="rect">
            <a:avLst/>
          </a:prstGeom>
          <a:noFill/>
        </p:spPr>
        <p:txBody>
          <a:bodyPr wrap="none" rtlCol="0">
            <a:spAutoFit/>
          </a:bodyPr>
          <a:lstStyle/>
          <a:p>
            <a:pPr>
              <a:lnSpc>
                <a:spcPts val="1480"/>
              </a:lnSpc>
            </a:pPr>
            <a:r>
              <a:rPr lang="en-US"/>
              <a:t>0</a:t>
            </a:r>
          </a:p>
        </p:txBody>
      </p:sp>
      <p:sp>
        <p:nvSpPr>
          <p:cNvPr id="23" name="TextBox 22">
            <a:extLst>
              <a:ext uri="{FF2B5EF4-FFF2-40B4-BE49-F238E27FC236}">
                <a16:creationId xmlns:a16="http://schemas.microsoft.com/office/drawing/2014/main" id="{76E1E70C-219B-7546-8493-D60E0F0E4472}"/>
              </a:ext>
            </a:extLst>
          </p:cNvPr>
          <p:cNvSpPr txBox="1"/>
          <p:nvPr/>
        </p:nvSpPr>
        <p:spPr>
          <a:xfrm>
            <a:off x="8074322" y="778581"/>
            <a:ext cx="284052" cy="284693"/>
          </a:xfrm>
          <a:prstGeom prst="rect">
            <a:avLst/>
          </a:prstGeom>
          <a:noFill/>
        </p:spPr>
        <p:txBody>
          <a:bodyPr wrap="none" rtlCol="0">
            <a:spAutoFit/>
          </a:bodyPr>
          <a:lstStyle/>
          <a:p>
            <a:pPr>
              <a:lnSpc>
                <a:spcPts val="1480"/>
              </a:lnSpc>
            </a:pPr>
            <a:r>
              <a:rPr lang="en-US"/>
              <a:t>1</a:t>
            </a:r>
          </a:p>
        </p:txBody>
      </p:sp>
      <p:sp>
        <p:nvSpPr>
          <p:cNvPr id="25" name="TextBox 24">
            <a:extLst>
              <a:ext uri="{FF2B5EF4-FFF2-40B4-BE49-F238E27FC236}">
                <a16:creationId xmlns:a16="http://schemas.microsoft.com/office/drawing/2014/main" id="{293F9E7F-F75F-4E48-845E-3D8BD8F1ADBD}"/>
              </a:ext>
            </a:extLst>
          </p:cNvPr>
          <p:cNvSpPr txBox="1"/>
          <p:nvPr/>
        </p:nvSpPr>
        <p:spPr>
          <a:xfrm>
            <a:off x="8080690" y="1023030"/>
            <a:ext cx="284052" cy="284693"/>
          </a:xfrm>
          <a:prstGeom prst="rect">
            <a:avLst/>
          </a:prstGeom>
          <a:noFill/>
        </p:spPr>
        <p:txBody>
          <a:bodyPr wrap="none" rtlCol="0">
            <a:spAutoFit/>
          </a:bodyPr>
          <a:lstStyle/>
          <a:p>
            <a:pPr>
              <a:lnSpc>
                <a:spcPts val="1480"/>
              </a:lnSpc>
            </a:pPr>
            <a:r>
              <a:rPr lang="en-US"/>
              <a:t>2</a:t>
            </a:r>
          </a:p>
        </p:txBody>
      </p:sp>
      <p:sp>
        <p:nvSpPr>
          <p:cNvPr id="26" name="TextBox 25">
            <a:extLst>
              <a:ext uri="{FF2B5EF4-FFF2-40B4-BE49-F238E27FC236}">
                <a16:creationId xmlns:a16="http://schemas.microsoft.com/office/drawing/2014/main" id="{E7C07DAF-0833-104B-8DAE-6F5BA15F14E1}"/>
              </a:ext>
            </a:extLst>
          </p:cNvPr>
          <p:cNvSpPr txBox="1"/>
          <p:nvPr/>
        </p:nvSpPr>
        <p:spPr>
          <a:xfrm>
            <a:off x="8080690" y="1340244"/>
            <a:ext cx="284052" cy="284693"/>
          </a:xfrm>
          <a:prstGeom prst="rect">
            <a:avLst/>
          </a:prstGeom>
          <a:noFill/>
        </p:spPr>
        <p:txBody>
          <a:bodyPr wrap="none" rtlCol="0">
            <a:spAutoFit/>
          </a:bodyPr>
          <a:lstStyle/>
          <a:p>
            <a:pPr>
              <a:lnSpc>
                <a:spcPts val="1480"/>
              </a:lnSpc>
            </a:pPr>
            <a:r>
              <a:rPr lang="en-US"/>
              <a:t>3</a:t>
            </a:r>
          </a:p>
        </p:txBody>
      </p:sp>
      <p:sp>
        <p:nvSpPr>
          <p:cNvPr id="27" name="TextBox 26">
            <a:extLst>
              <a:ext uri="{FF2B5EF4-FFF2-40B4-BE49-F238E27FC236}">
                <a16:creationId xmlns:a16="http://schemas.microsoft.com/office/drawing/2014/main" id="{F4E19FCA-1B8F-5240-AB2E-938356BE6006}"/>
              </a:ext>
            </a:extLst>
          </p:cNvPr>
          <p:cNvSpPr txBox="1"/>
          <p:nvPr/>
        </p:nvSpPr>
        <p:spPr>
          <a:xfrm>
            <a:off x="8080690" y="1874088"/>
            <a:ext cx="284052" cy="284693"/>
          </a:xfrm>
          <a:prstGeom prst="rect">
            <a:avLst/>
          </a:prstGeom>
          <a:noFill/>
        </p:spPr>
        <p:txBody>
          <a:bodyPr wrap="none" rtlCol="0">
            <a:spAutoFit/>
          </a:bodyPr>
          <a:lstStyle/>
          <a:p>
            <a:pPr>
              <a:lnSpc>
                <a:spcPts val="1480"/>
              </a:lnSpc>
            </a:pPr>
            <a:r>
              <a:rPr lang="en-US"/>
              <a:t>4</a:t>
            </a:r>
          </a:p>
        </p:txBody>
      </p:sp>
      <p:sp>
        <p:nvSpPr>
          <p:cNvPr id="28" name="TextBox 27">
            <a:extLst>
              <a:ext uri="{FF2B5EF4-FFF2-40B4-BE49-F238E27FC236}">
                <a16:creationId xmlns:a16="http://schemas.microsoft.com/office/drawing/2014/main" id="{CAD13177-D804-2B42-BC0C-A5F41C499F70}"/>
              </a:ext>
            </a:extLst>
          </p:cNvPr>
          <p:cNvSpPr txBox="1"/>
          <p:nvPr/>
        </p:nvSpPr>
        <p:spPr>
          <a:xfrm>
            <a:off x="4645360" y="2189731"/>
            <a:ext cx="3529901" cy="617733"/>
          </a:xfrm>
          <a:prstGeom prst="rect">
            <a:avLst/>
          </a:prstGeom>
          <a:noFill/>
        </p:spPr>
        <p:txBody>
          <a:bodyPr wrap="square" rtlCol="0">
            <a:spAutoFit/>
          </a:bodyPr>
          <a:lstStyle/>
          <a:p>
            <a:pPr algn="r" rtl="1">
              <a:lnSpc>
                <a:spcPts val="1420"/>
              </a:lnSpc>
            </a:pPr>
            <a:r>
              <a:rPr lang="fa-IR" sz="800">
                <a:solidFill>
                  <a:srgbClr val="0269AE"/>
                </a:solidFill>
                <a:latin typeface="Alexandria Medium" pitchFamily="2" charset="-78"/>
                <a:cs typeface="Alexandria Medium" pitchFamily="2" charset="-78"/>
              </a:rPr>
              <a:t>برنامه به شش مورد یا بیشتر از موارد زیر نیاز دارد و الزامات کارایی کاربر به قدری قوی است که فعالیت های طراحی باید شامل ابزارها و فرآیندهای خاصی باشد تا نشان دهد که اهداف عملکرد به دست آمده اند.</a:t>
            </a:r>
            <a:endParaRPr lang="en-US" sz="800">
              <a:solidFill>
                <a:srgbClr val="0269AE"/>
              </a:solidFill>
              <a:latin typeface="Alexandria Medium" pitchFamily="2" charset="-78"/>
              <a:cs typeface="Alexandria Medium" pitchFamily="2" charset="-78"/>
            </a:endParaRPr>
          </a:p>
        </p:txBody>
      </p:sp>
      <p:sp>
        <p:nvSpPr>
          <p:cNvPr id="29" name="TextBox 28">
            <a:extLst>
              <a:ext uri="{FF2B5EF4-FFF2-40B4-BE49-F238E27FC236}">
                <a16:creationId xmlns:a16="http://schemas.microsoft.com/office/drawing/2014/main" id="{E16043EE-518B-1342-81D1-59E94F4410C6}"/>
              </a:ext>
            </a:extLst>
          </p:cNvPr>
          <p:cNvSpPr txBox="1"/>
          <p:nvPr/>
        </p:nvSpPr>
        <p:spPr>
          <a:xfrm>
            <a:off x="8070814" y="2384628"/>
            <a:ext cx="284052" cy="284693"/>
          </a:xfrm>
          <a:prstGeom prst="rect">
            <a:avLst/>
          </a:prstGeom>
          <a:noFill/>
        </p:spPr>
        <p:txBody>
          <a:bodyPr wrap="none" rtlCol="0">
            <a:spAutoFit/>
          </a:bodyPr>
          <a:lstStyle/>
          <a:p>
            <a:pPr>
              <a:lnSpc>
                <a:spcPts val="1480"/>
              </a:lnSpc>
            </a:pPr>
            <a:r>
              <a:rPr lang="en-US"/>
              <a:t>5</a:t>
            </a:r>
          </a:p>
        </p:txBody>
      </p:sp>
      <p:sp>
        <p:nvSpPr>
          <p:cNvPr id="12" name="TextBox 11">
            <a:extLst>
              <a:ext uri="{FF2B5EF4-FFF2-40B4-BE49-F238E27FC236}">
                <a16:creationId xmlns:a16="http://schemas.microsoft.com/office/drawing/2014/main" id="{D91DCA81-D0BA-7047-BA42-F3D54F585F44}"/>
              </a:ext>
            </a:extLst>
          </p:cNvPr>
          <p:cNvSpPr txBox="1"/>
          <p:nvPr/>
        </p:nvSpPr>
        <p:spPr>
          <a:xfrm>
            <a:off x="438912" y="512392"/>
            <a:ext cx="3875237" cy="3931141"/>
          </a:xfrm>
          <a:prstGeom prst="rect">
            <a:avLst/>
          </a:prstGeom>
          <a:noFill/>
        </p:spPr>
        <p:txBody>
          <a:bodyPr wrap="square" rtlCol="0">
            <a:spAutoFit/>
          </a:bodyPr>
          <a:lstStyle/>
          <a:p>
            <a:pPr algn="r" rtl="1">
              <a:lnSpc>
                <a:spcPts val="1240"/>
              </a:lnSpc>
            </a:pPr>
            <a:endParaRPr lang="fa-IR" sz="950">
              <a:latin typeface="Alexandria Medium" pitchFamily="2" charset="-78"/>
              <a:cs typeface="Alexandria Medium" pitchFamily="2" charset="-78"/>
            </a:endParaRPr>
          </a:p>
          <a:p>
            <a:pPr algn="r" rtl="1">
              <a:lnSpc>
                <a:spcPts val="1240"/>
              </a:lnSpc>
            </a:pPr>
            <a:r>
              <a:rPr lang="fa-IR" sz="950">
                <a:solidFill>
                  <a:srgbClr val="0269AE"/>
                </a:solidFill>
                <a:latin typeface="Alexandria Medium" pitchFamily="2" charset="-78"/>
                <a:cs typeface="Alexandria Medium" pitchFamily="2" charset="-78"/>
              </a:rPr>
              <a:t>سناریو </a:t>
            </a:r>
            <a:r>
              <a:rPr lang="en-US" sz="950">
                <a:solidFill>
                  <a:srgbClr val="0269AE"/>
                </a:solidFill>
                <a:latin typeface="Alexandria Medium" pitchFamily="2" charset="-78"/>
                <a:cs typeface="Alexandria Medium" pitchFamily="2" charset="-78"/>
              </a:rPr>
              <a:t>0</a:t>
            </a:r>
            <a:r>
              <a:rPr lang="fa-IR" sz="950">
                <a:solidFill>
                  <a:srgbClr val="0269AE"/>
                </a:solidFill>
                <a:latin typeface="Alexandria Medium" pitchFamily="2" charset="-78"/>
                <a:cs typeface="Alexandria Medium" pitchFamily="2" charset="-78"/>
              </a:rPr>
              <a:t>: </a:t>
            </a:r>
            <a:r>
              <a:rPr lang="fa-IR" sz="950">
                <a:latin typeface="Alexandria Medium" pitchFamily="2" charset="-78"/>
                <a:cs typeface="Alexandria Medium" pitchFamily="2" charset="-78"/>
              </a:rPr>
              <a:t>هیچ یک از موارد زیر برای ارزیابی کارایی کاربران مورد نیاز نیست، که نشان دهنده این است که برنامه طراحی شده است تا به کاربران فقط امکان انجام کارهای خود را بدهد بدون تمرکز بر بهبود کارایی آنها.</a:t>
            </a:r>
            <a:endParaRPr lang="en-US" sz="950">
              <a:latin typeface="Alexandria Medium" pitchFamily="2" charset="-78"/>
              <a:cs typeface="Alexandria Medium" pitchFamily="2" charset="-78"/>
            </a:endParaRPr>
          </a:p>
          <a:p>
            <a:pPr algn="r" rtl="1">
              <a:lnSpc>
                <a:spcPts val="1240"/>
              </a:lnSpc>
            </a:pPr>
            <a:endParaRPr lang="fa-IR" sz="950">
              <a:latin typeface="Alexandria Medium" pitchFamily="2" charset="-78"/>
              <a:cs typeface="Alexandria Medium" pitchFamily="2" charset="-78"/>
            </a:endParaRPr>
          </a:p>
          <a:p>
            <a:pPr algn="r" rtl="1">
              <a:lnSpc>
                <a:spcPts val="1240"/>
              </a:lnSpc>
            </a:pPr>
            <a:r>
              <a:rPr lang="fa-IR" sz="950">
                <a:solidFill>
                  <a:srgbClr val="0269AE"/>
                </a:solidFill>
                <a:latin typeface="Alexandria Medium" pitchFamily="2" charset="-78"/>
                <a:cs typeface="Alexandria Medium" pitchFamily="2" charset="-78"/>
              </a:rPr>
              <a:t>سناریو </a:t>
            </a:r>
            <a:r>
              <a:rPr lang="en-US" sz="950">
                <a:solidFill>
                  <a:srgbClr val="0269AE"/>
                </a:solidFill>
                <a:latin typeface="Alexandria Medium" pitchFamily="2" charset="-78"/>
                <a:cs typeface="Alexandria Medium" pitchFamily="2" charset="-78"/>
              </a:rPr>
              <a:t>1</a:t>
            </a:r>
            <a:r>
              <a:rPr lang="fa-IR" sz="950">
                <a:solidFill>
                  <a:srgbClr val="0269AE"/>
                </a:solidFill>
                <a:latin typeface="Alexandria Medium" pitchFamily="2" charset="-78"/>
                <a:cs typeface="Alexandria Medium" pitchFamily="2" charset="-78"/>
              </a:rPr>
              <a:t>: </a:t>
            </a:r>
            <a:r>
              <a:rPr lang="fa-IR" sz="950">
                <a:latin typeface="Alexandria Medium" pitchFamily="2" charset="-78"/>
                <a:cs typeface="Alexandria Medium" pitchFamily="2" charset="-78"/>
              </a:rPr>
              <a:t>نیاز به یک تا سه مورد از موارد زیر برای ارزیابی کارایی کاربران وجود دارد، که نشان می‌دهد که برنامه به یک حداقلی از ویژگی‌های بهبود کارایی کاربران توجه دارد.</a:t>
            </a:r>
            <a:endParaRPr lang="en-US" sz="950">
              <a:latin typeface="Alexandria Medium" pitchFamily="2" charset="-78"/>
              <a:cs typeface="Alexandria Medium" pitchFamily="2" charset="-78"/>
            </a:endParaRPr>
          </a:p>
          <a:p>
            <a:pPr algn="r" rtl="1">
              <a:lnSpc>
                <a:spcPts val="1240"/>
              </a:lnSpc>
            </a:pPr>
            <a:endParaRPr lang="fa-IR" sz="950">
              <a:latin typeface="Alexandria Medium" pitchFamily="2" charset="-78"/>
              <a:cs typeface="Alexandria Medium" pitchFamily="2" charset="-78"/>
            </a:endParaRPr>
          </a:p>
          <a:p>
            <a:pPr algn="r" rtl="1">
              <a:lnSpc>
                <a:spcPts val="1240"/>
              </a:lnSpc>
            </a:pPr>
            <a:r>
              <a:rPr lang="fa-IR" sz="950">
                <a:solidFill>
                  <a:srgbClr val="0269AE"/>
                </a:solidFill>
                <a:latin typeface="Alexandria Medium" pitchFamily="2" charset="-78"/>
                <a:cs typeface="Alexandria Medium" pitchFamily="2" charset="-78"/>
              </a:rPr>
              <a:t>سناریو </a:t>
            </a:r>
            <a:r>
              <a:rPr lang="en-US" sz="950">
                <a:solidFill>
                  <a:srgbClr val="0269AE"/>
                </a:solidFill>
                <a:latin typeface="Alexandria Medium" pitchFamily="2" charset="-78"/>
                <a:cs typeface="Alexandria Medium" pitchFamily="2" charset="-78"/>
              </a:rPr>
              <a:t>2</a:t>
            </a:r>
            <a:r>
              <a:rPr lang="fa-IR" sz="950">
                <a:solidFill>
                  <a:srgbClr val="0269AE"/>
                </a:solidFill>
                <a:latin typeface="Alexandria Medium" pitchFamily="2" charset="-78"/>
                <a:cs typeface="Alexandria Medium" pitchFamily="2" charset="-78"/>
              </a:rPr>
              <a:t>: </a:t>
            </a:r>
            <a:r>
              <a:rPr lang="fa-IR" sz="950">
                <a:latin typeface="Alexandria Medium" pitchFamily="2" charset="-78"/>
                <a:cs typeface="Alexandria Medium" pitchFamily="2" charset="-78"/>
              </a:rPr>
              <a:t>نیاز به چهار تا پنج مورد از موارد زیر برای ارزیابی کارایی کاربران وجود دارد، که نشان از تمرکز متوسط بر روی بهبود کارایی کاربران دارد.</a:t>
            </a:r>
            <a:endParaRPr lang="en-US" sz="950">
              <a:latin typeface="Alexandria Medium" pitchFamily="2" charset="-78"/>
              <a:cs typeface="Alexandria Medium" pitchFamily="2" charset="-78"/>
            </a:endParaRPr>
          </a:p>
          <a:p>
            <a:pPr algn="r" rtl="1">
              <a:lnSpc>
                <a:spcPts val="1240"/>
              </a:lnSpc>
            </a:pPr>
            <a:endParaRPr lang="fa-IR" sz="950">
              <a:latin typeface="Alexandria Medium" pitchFamily="2" charset="-78"/>
              <a:cs typeface="Alexandria Medium" pitchFamily="2" charset="-78"/>
            </a:endParaRPr>
          </a:p>
          <a:p>
            <a:pPr algn="r" rtl="1">
              <a:lnSpc>
                <a:spcPts val="1240"/>
              </a:lnSpc>
            </a:pPr>
            <a:r>
              <a:rPr lang="fa-IR" sz="950">
                <a:solidFill>
                  <a:srgbClr val="0269AE"/>
                </a:solidFill>
                <a:latin typeface="Alexandria Medium" pitchFamily="2" charset="-78"/>
                <a:cs typeface="Alexandria Medium" pitchFamily="2" charset="-78"/>
              </a:rPr>
              <a:t>سناریو </a:t>
            </a:r>
            <a:r>
              <a:rPr lang="en-US" sz="950">
                <a:solidFill>
                  <a:srgbClr val="0269AE"/>
                </a:solidFill>
                <a:latin typeface="Alexandria Medium" pitchFamily="2" charset="-78"/>
                <a:cs typeface="Alexandria Medium" pitchFamily="2" charset="-78"/>
              </a:rPr>
              <a:t>3</a:t>
            </a:r>
            <a:r>
              <a:rPr lang="fa-IR" sz="950">
                <a:solidFill>
                  <a:srgbClr val="0269AE"/>
                </a:solidFill>
                <a:latin typeface="Alexandria Medium" pitchFamily="2" charset="-78"/>
                <a:cs typeface="Alexandria Medium" pitchFamily="2" charset="-78"/>
              </a:rPr>
              <a:t>: </a:t>
            </a:r>
            <a:r>
              <a:rPr lang="fa-IR" sz="950">
                <a:latin typeface="Alexandria Medium" pitchFamily="2" charset="-78"/>
                <a:cs typeface="Alexandria Medium" pitchFamily="2" charset="-78"/>
              </a:rPr>
              <a:t>نیاز به شش یا بیشتر از موارد زیر برای ارزیابی کارایی کاربران وجود دارد، که نشان از تمرکز بیشتر بر روی بهبود کارایی کاربران است.</a:t>
            </a:r>
            <a:endParaRPr lang="en-US" sz="950">
              <a:latin typeface="Alexandria Medium" pitchFamily="2" charset="-78"/>
              <a:cs typeface="Alexandria Medium" pitchFamily="2" charset="-78"/>
            </a:endParaRPr>
          </a:p>
          <a:p>
            <a:pPr algn="r" rtl="1">
              <a:lnSpc>
                <a:spcPts val="1240"/>
              </a:lnSpc>
            </a:pPr>
            <a:endParaRPr lang="fa-IR" sz="950">
              <a:latin typeface="Alexandria Medium" pitchFamily="2" charset="-78"/>
              <a:cs typeface="Alexandria Medium" pitchFamily="2" charset="-78"/>
            </a:endParaRPr>
          </a:p>
          <a:p>
            <a:pPr algn="r" rtl="1">
              <a:lnSpc>
                <a:spcPts val="1240"/>
              </a:lnSpc>
            </a:pPr>
            <a:r>
              <a:rPr lang="fa-IR" sz="950">
                <a:solidFill>
                  <a:srgbClr val="0269AE"/>
                </a:solidFill>
                <a:latin typeface="Alexandria Medium" pitchFamily="2" charset="-78"/>
                <a:cs typeface="Alexandria Medium" pitchFamily="2" charset="-78"/>
              </a:rPr>
              <a:t>سناریو </a:t>
            </a:r>
            <a:r>
              <a:rPr lang="en-US" sz="950">
                <a:solidFill>
                  <a:srgbClr val="0269AE"/>
                </a:solidFill>
                <a:latin typeface="Alexandria Medium" pitchFamily="2" charset="-78"/>
                <a:cs typeface="Alexandria Medium" pitchFamily="2" charset="-78"/>
              </a:rPr>
              <a:t>4</a:t>
            </a:r>
            <a:r>
              <a:rPr lang="fa-IR" sz="950">
                <a:solidFill>
                  <a:srgbClr val="0269AE"/>
                </a:solidFill>
                <a:latin typeface="Alexandria Medium" pitchFamily="2" charset="-78"/>
                <a:cs typeface="Alexandria Medium" pitchFamily="2" charset="-78"/>
              </a:rPr>
              <a:t>: </a:t>
            </a:r>
            <a:r>
              <a:rPr lang="fa-IR" sz="950">
                <a:latin typeface="Alexandria Medium" pitchFamily="2" charset="-78"/>
                <a:cs typeface="Alexandria Medium" pitchFamily="2" charset="-78"/>
              </a:rPr>
              <a:t>نیاز به شش یا بیشتر از موارد زیر برای ارزیابی کارایی کاربران وجود دارد، و الزامات کارایی کاربر به حدی قوی است که برنامه باید ویژگی‌های خاصی را داشته باشد تا بهبود کارایی کاربران را حداکثر کند.</a:t>
            </a:r>
            <a:endParaRPr lang="en-US" sz="950">
              <a:latin typeface="Alexandria Medium" pitchFamily="2" charset="-78"/>
              <a:cs typeface="Alexandria Medium" pitchFamily="2" charset="-78"/>
            </a:endParaRPr>
          </a:p>
          <a:p>
            <a:pPr algn="r" rtl="1">
              <a:lnSpc>
                <a:spcPts val="1240"/>
              </a:lnSpc>
            </a:pPr>
            <a:endParaRPr lang="fa-IR" sz="950">
              <a:latin typeface="Alexandria Medium" pitchFamily="2" charset="-78"/>
              <a:cs typeface="Alexandria Medium" pitchFamily="2" charset="-78"/>
            </a:endParaRPr>
          </a:p>
          <a:p>
            <a:pPr algn="r" rtl="1">
              <a:lnSpc>
                <a:spcPts val="1240"/>
              </a:lnSpc>
            </a:pPr>
            <a:r>
              <a:rPr lang="fa-IR" sz="950">
                <a:solidFill>
                  <a:srgbClr val="0269AE"/>
                </a:solidFill>
                <a:latin typeface="Alexandria Medium" pitchFamily="2" charset="-78"/>
                <a:cs typeface="Alexandria Medium" pitchFamily="2" charset="-78"/>
              </a:rPr>
              <a:t>سناریو </a:t>
            </a:r>
            <a:r>
              <a:rPr lang="en-US" sz="950">
                <a:solidFill>
                  <a:srgbClr val="0269AE"/>
                </a:solidFill>
                <a:latin typeface="Alexandria Medium" pitchFamily="2" charset="-78"/>
                <a:cs typeface="Alexandria Medium" pitchFamily="2" charset="-78"/>
              </a:rPr>
              <a:t>5</a:t>
            </a:r>
            <a:r>
              <a:rPr lang="fa-IR" sz="950">
                <a:solidFill>
                  <a:srgbClr val="0269AE"/>
                </a:solidFill>
                <a:latin typeface="Alexandria Medium" pitchFamily="2" charset="-78"/>
                <a:cs typeface="Alexandria Medium" pitchFamily="2" charset="-78"/>
              </a:rPr>
              <a:t>: </a:t>
            </a:r>
            <a:r>
              <a:rPr lang="fa-IR" sz="950">
                <a:latin typeface="Alexandria Medium" pitchFamily="2" charset="-78"/>
                <a:cs typeface="Alexandria Medium" pitchFamily="2" charset="-78"/>
              </a:rPr>
              <a:t>نیاز به شش یا بیشتر از موارد زیر برای ارزیابی کارایی کاربران وجود دارد، و الزامات کارایی کاربر به حدی قوی است که فعالیت‌های طراحی باید شامل ابزارها و فرآیندهای خاص باشد تا به دستاوردهای مطلوب در کارایی کاربران برسد.</a:t>
            </a:r>
          </a:p>
          <a:p>
            <a:pPr algn="r" rtl="1">
              <a:lnSpc>
                <a:spcPts val="1240"/>
              </a:lnSpc>
            </a:pPr>
            <a:endParaRPr lang="fa-IR" sz="950">
              <a:latin typeface="Alexandria Medium" pitchFamily="2" charset="-78"/>
              <a:cs typeface="Alexandria Medium" pitchFamily="2" charset="-78"/>
            </a:endParaRPr>
          </a:p>
        </p:txBody>
      </p:sp>
      <p:sp>
        <p:nvSpPr>
          <p:cNvPr id="17" name="TextBox 16">
            <a:extLst>
              <a:ext uri="{FF2B5EF4-FFF2-40B4-BE49-F238E27FC236}">
                <a16:creationId xmlns:a16="http://schemas.microsoft.com/office/drawing/2014/main" id="{2024AF8E-6B8C-2044-A7B3-1A9D7287B343}"/>
              </a:ext>
            </a:extLst>
          </p:cNvPr>
          <p:cNvSpPr txBox="1"/>
          <p:nvPr/>
        </p:nvSpPr>
        <p:spPr>
          <a:xfrm>
            <a:off x="527217" y="4258121"/>
            <a:ext cx="3780135" cy="745973"/>
          </a:xfrm>
          <a:prstGeom prst="rect">
            <a:avLst/>
          </a:prstGeom>
          <a:noFill/>
        </p:spPr>
        <p:txBody>
          <a:bodyPr wrap="square" rtlCol="0">
            <a:spAutoFit/>
          </a:bodyPr>
          <a:lstStyle/>
          <a:p>
            <a:pPr algn="r" rtl="1">
              <a:lnSpc>
                <a:spcPts val="1280"/>
              </a:lnSpc>
            </a:pPr>
            <a:r>
              <a:rPr lang="fa-IR" sz="900">
                <a:solidFill>
                  <a:srgbClr val="0269AE"/>
                </a:solidFill>
                <a:latin typeface="Alexandria Medium" pitchFamily="2" charset="-78"/>
                <a:cs typeface="Alexandria Medium" pitchFamily="2" charset="-78"/>
              </a:rPr>
              <a:t>با پیشرفت سناریوها از ۰ تا ۵، تمرکز و اهمیت بیشتری برای بهبود کارایی کاربران در برنامه مشخص می‌شود، با سناریو ۵ که نشان‌دهنده بالاترین سطح اهمیت و تمرکز بر روی بهبود کارایی کاربران با استفاده از ابزارها و فرآیندهای طراحی خاص است.</a:t>
            </a:r>
            <a:endParaRPr lang="en-US" sz="900">
              <a:solidFill>
                <a:srgbClr val="0269AE"/>
              </a:solidFill>
              <a:latin typeface="Alexandria Medium" pitchFamily="2" charset="-78"/>
              <a:cs typeface="Alexandria Medium" pitchFamily="2" charset="-78"/>
            </a:endParaRPr>
          </a:p>
        </p:txBody>
      </p:sp>
    </p:spTree>
    <p:extLst>
      <p:ext uri="{BB962C8B-B14F-4D97-AF65-F5344CB8AC3E}">
        <p14:creationId xmlns:p14="http://schemas.microsoft.com/office/powerpoint/2010/main" val="814781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pic>
        <p:nvPicPr>
          <p:cNvPr id="660" name="Google Shape;660;p70"/>
          <p:cNvPicPr preferRelativeResize="0"/>
          <p:nvPr/>
        </p:nvPicPr>
        <p:blipFill rotWithShape="1">
          <a:blip r:embed="rId3">
            <a:alphaModFix/>
          </a:blip>
          <a:srcRect l="19590" t="6558" r="17579" b="6567"/>
          <a:stretch/>
        </p:blipFill>
        <p:spPr>
          <a:xfrm>
            <a:off x="-1200821" y="3828026"/>
            <a:ext cx="2791870" cy="1341600"/>
          </a:xfrm>
          <a:prstGeom prst="rect">
            <a:avLst/>
          </a:prstGeom>
          <a:noFill/>
          <a:ln>
            <a:noFill/>
          </a:ln>
        </p:spPr>
      </p:pic>
      <p:pic>
        <p:nvPicPr>
          <p:cNvPr id="661" name="Google Shape;661;p70"/>
          <p:cNvPicPr preferRelativeResize="0"/>
          <p:nvPr/>
        </p:nvPicPr>
        <p:blipFill>
          <a:blip r:embed="rId4">
            <a:alphaModFix/>
          </a:blip>
          <a:stretch>
            <a:fillRect/>
          </a:stretch>
        </p:blipFill>
        <p:spPr>
          <a:xfrm rot="10800000">
            <a:off x="-1745297" y="-607341"/>
            <a:ext cx="3101955" cy="1338255"/>
          </a:xfrm>
          <a:prstGeom prst="rect">
            <a:avLst/>
          </a:prstGeom>
          <a:noFill/>
          <a:ln>
            <a:noFill/>
          </a:ln>
        </p:spPr>
      </p:pic>
      <p:sp>
        <p:nvSpPr>
          <p:cNvPr id="5" name="Rectangle 4">
            <a:extLst>
              <a:ext uri="{FF2B5EF4-FFF2-40B4-BE49-F238E27FC236}">
                <a16:creationId xmlns:a16="http://schemas.microsoft.com/office/drawing/2014/main" id="{8041989F-08B5-3D47-9F79-1361FA82D887}"/>
              </a:ext>
            </a:extLst>
          </p:cNvPr>
          <p:cNvSpPr/>
          <p:nvPr/>
        </p:nvSpPr>
        <p:spPr>
          <a:xfrm>
            <a:off x="4345577" y="2116183"/>
            <a:ext cx="3091543" cy="905691"/>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8FD535E6-49C1-4343-A9D2-69E73A5B505D}"/>
              </a:ext>
            </a:extLst>
          </p:cNvPr>
          <p:cNvPicPr>
            <a:picLocks noChangeAspect="1"/>
          </p:cNvPicPr>
          <p:nvPr/>
        </p:nvPicPr>
        <p:blipFill>
          <a:blip r:embed="rId5"/>
          <a:stretch>
            <a:fillRect/>
          </a:stretch>
        </p:blipFill>
        <p:spPr>
          <a:xfrm>
            <a:off x="195114" y="408030"/>
            <a:ext cx="4368177" cy="2570299"/>
          </a:xfrm>
          <a:prstGeom prst="rect">
            <a:avLst/>
          </a:prstGeom>
        </p:spPr>
      </p:pic>
      <p:sp>
        <p:nvSpPr>
          <p:cNvPr id="7" name="TextBox 6">
            <a:extLst>
              <a:ext uri="{FF2B5EF4-FFF2-40B4-BE49-F238E27FC236}">
                <a16:creationId xmlns:a16="http://schemas.microsoft.com/office/drawing/2014/main" id="{5CAC9FF2-B90E-7A42-BB49-6E6534D2F13F}"/>
              </a:ext>
            </a:extLst>
          </p:cNvPr>
          <p:cNvSpPr txBox="1"/>
          <p:nvPr/>
        </p:nvSpPr>
        <p:spPr>
          <a:xfrm>
            <a:off x="95793" y="43545"/>
            <a:ext cx="6844937" cy="477054"/>
          </a:xfrm>
          <a:prstGeom prst="rect">
            <a:avLst/>
          </a:prstGeom>
          <a:noFill/>
        </p:spPr>
        <p:txBody>
          <a:bodyPr wrap="square" rtlCol="0">
            <a:spAutoFit/>
          </a:bodyPr>
          <a:lstStyle/>
          <a:p>
            <a:r>
              <a:rPr lang="en-US">
                <a:solidFill>
                  <a:srgbClr val="2D2D2D"/>
                </a:solidFill>
                <a:effectLst/>
                <a:latin typeface="Alexandria Medium" pitchFamily="2" charset="-78"/>
                <a:cs typeface="Alexandria Medium" pitchFamily="2" charset="-78"/>
              </a:rPr>
              <a:t>Design aiming for code reusability | </a:t>
            </a:r>
            <a:r>
              <a:rPr lang="fa-IR" sz="1100">
                <a:solidFill>
                  <a:srgbClr val="2D2D2D"/>
                </a:solidFill>
                <a:effectLst/>
                <a:latin typeface="Alexandria Medium" pitchFamily="2" charset="-78"/>
                <a:cs typeface="Alexandria Medium" pitchFamily="2" charset="-78"/>
              </a:rPr>
              <a:t>طراحی با هدف قابلیت استفاده مجدد کد</a:t>
            </a:r>
            <a:r>
              <a:rPr lang="en-US" sz="1100">
                <a:solidFill>
                  <a:srgbClr val="2D2D2D"/>
                </a:solidFill>
                <a:effectLst/>
                <a:latin typeface="Alexandria Medium" pitchFamily="2" charset="-78"/>
                <a:cs typeface="Alexandria Medium" pitchFamily="2" charset="-78"/>
              </a:rPr>
              <a:t> </a:t>
            </a:r>
            <a:endParaRPr lang="en-US" sz="1100">
              <a:effectLst/>
              <a:latin typeface="Alexandria Medium" pitchFamily="2" charset="-78"/>
              <a:cs typeface="Alexandria Medium" pitchFamily="2" charset="-78"/>
            </a:endParaRPr>
          </a:p>
          <a:p>
            <a:endParaRPr lang="en-US" sz="1100">
              <a:latin typeface="Alexandria Medium" pitchFamily="2" charset="-78"/>
              <a:cs typeface="Alexandria Medium" pitchFamily="2" charset="-78"/>
            </a:endParaRPr>
          </a:p>
        </p:txBody>
      </p:sp>
      <p:cxnSp>
        <p:nvCxnSpPr>
          <p:cNvPr id="3" name="Straight Connector 2">
            <a:extLst>
              <a:ext uri="{FF2B5EF4-FFF2-40B4-BE49-F238E27FC236}">
                <a16:creationId xmlns:a16="http://schemas.microsoft.com/office/drawing/2014/main" id="{68D7BEB8-7EC5-5341-943B-B3D1790C15B2}"/>
              </a:ext>
            </a:extLst>
          </p:cNvPr>
          <p:cNvCxnSpPr>
            <a:cxnSpLocks/>
          </p:cNvCxnSpPr>
          <p:nvPr/>
        </p:nvCxnSpPr>
        <p:spPr>
          <a:xfrm>
            <a:off x="4531392" y="935665"/>
            <a:ext cx="38683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C4BBE9C-8A08-F044-B6AA-598756C2E489}"/>
              </a:ext>
            </a:extLst>
          </p:cNvPr>
          <p:cNvCxnSpPr>
            <a:cxnSpLocks/>
          </p:cNvCxnSpPr>
          <p:nvPr/>
        </p:nvCxnSpPr>
        <p:spPr>
          <a:xfrm>
            <a:off x="4531392" y="1173126"/>
            <a:ext cx="38683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2E7007-1112-294F-AA68-07FDED00ED7C}"/>
              </a:ext>
            </a:extLst>
          </p:cNvPr>
          <p:cNvCxnSpPr>
            <a:cxnSpLocks/>
          </p:cNvCxnSpPr>
          <p:nvPr/>
        </p:nvCxnSpPr>
        <p:spPr>
          <a:xfrm>
            <a:off x="4529468" y="1396410"/>
            <a:ext cx="38596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52326FB-118F-0F4F-B76E-46C88A6EAA30}"/>
              </a:ext>
            </a:extLst>
          </p:cNvPr>
          <p:cNvCxnSpPr>
            <a:cxnSpLocks/>
          </p:cNvCxnSpPr>
          <p:nvPr/>
        </p:nvCxnSpPr>
        <p:spPr>
          <a:xfrm>
            <a:off x="4529468" y="1630326"/>
            <a:ext cx="38596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1966B3-5590-7E43-9825-4438FA09F94B}"/>
              </a:ext>
            </a:extLst>
          </p:cNvPr>
          <p:cNvCxnSpPr>
            <a:cxnSpLocks/>
          </p:cNvCxnSpPr>
          <p:nvPr/>
        </p:nvCxnSpPr>
        <p:spPr>
          <a:xfrm>
            <a:off x="4529468" y="1864243"/>
            <a:ext cx="38596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32355C0-168D-164D-AF6B-B3EC4CF13C08}"/>
              </a:ext>
            </a:extLst>
          </p:cNvPr>
          <p:cNvCxnSpPr>
            <a:cxnSpLocks/>
          </p:cNvCxnSpPr>
          <p:nvPr/>
        </p:nvCxnSpPr>
        <p:spPr>
          <a:xfrm>
            <a:off x="4531392" y="2385238"/>
            <a:ext cx="38683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A29D1FB-37BA-E64A-A212-11B63A0B205E}"/>
              </a:ext>
            </a:extLst>
          </p:cNvPr>
          <p:cNvCxnSpPr>
            <a:cxnSpLocks/>
          </p:cNvCxnSpPr>
          <p:nvPr/>
        </p:nvCxnSpPr>
        <p:spPr>
          <a:xfrm>
            <a:off x="4514347" y="2918274"/>
            <a:ext cx="3859619"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D2C8222-A9DD-AF4F-B06D-0F57BBA64F29}"/>
              </a:ext>
            </a:extLst>
          </p:cNvPr>
          <p:cNvSpPr txBox="1"/>
          <p:nvPr/>
        </p:nvSpPr>
        <p:spPr>
          <a:xfrm>
            <a:off x="4890977" y="913414"/>
            <a:ext cx="3738168" cy="246221"/>
          </a:xfrm>
          <a:prstGeom prst="rect">
            <a:avLst/>
          </a:prstGeom>
          <a:noFill/>
        </p:spPr>
        <p:txBody>
          <a:bodyPr wrap="square" rtlCol="0">
            <a:spAutoFit/>
          </a:bodyPr>
          <a:lstStyle/>
          <a:p>
            <a:r>
              <a:rPr lang="fa-IR" sz="1000">
                <a:latin typeface="Alexandria Medium" pitchFamily="2" charset="-78"/>
                <a:cs typeface="Alexandria Medium" pitchFamily="2" charset="-78"/>
              </a:rPr>
              <a:t>هیچ نگرانی در مورد تولید کد قابل استفاده مجدد وجود ندارد.</a:t>
            </a:r>
            <a:endParaRPr lang="en-US" sz="1000">
              <a:latin typeface="Alexandria Medium" pitchFamily="2" charset="-78"/>
              <a:cs typeface="Alexandria Medium" pitchFamily="2" charset="-78"/>
            </a:endParaRPr>
          </a:p>
        </p:txBody>
      </p:sp>
      <p:sp>
        <p:nvSpPr>
          <p:cNvPr id="21" name="TextBox 20">
            <a:extLst>
              <a:ext uri="{FF2B5EF4-FFF2-40B4-BE49-F238E27FC236}">
                <a16:creationId xmlns:a16="http://schemas.microsoft.com/office/drawing/2014/main" id="{294EAB1E-7E67-F642-A221-252854C2F569}"/>
              </a:ext>
            </a:extLst>
          </p:cNvPr>
          <p:cNvSpPr txBox="1"/>
          <p:nvPr/>
        </p:nvSpPr>
        <p:spPr>
          <a:xfrm>
            <a:off x="4345578" y="1166440"/>
            <a:ext cx="4186690" cy="230832"/>
          </a:xfrm>
          <a:prstGeom prst="rect">
            <a:avLst/>
          </a:prstGeom>
          <a:noFill/>
        </p:spPr>
        <p:txBody>
          <a:bodyPr wrap="square" rtlCol="0">
            <a:spAutoFit/>
          </a:bodyPr>
          <a:lstStyle/>
          <a:p>
            <a:pPr algn="r" rtl="1"/>
            <a:r>
              <a:rPr lang="fa-IR" sz="900">
                <a:solidFill>
                  <a:srgbClr val="0269AE"/>
                </a:solidFill>
                <a:latin typeface="Alexandria Medium" pitchFamily="2" charset="-78"/>
                <a:cs typeface="Alexandria Medium" pitchFamily="2" charset="-78"/>
              </a:rPr>
              <a:t>کد قابل استفاده مجدد برای استفاده در داخل همان پروژه تولید می شود.</a:t>
            </a:r>
            <a:endParaRPr lang="en-US" sz="900">
              <a:solidFill>
                <a:srgbClr val="0269AE"/>
              </a:solidFill>
              <a:latin typeface="Alexandria Medium" pitchFamily="2" charset="-78"/>
              <a:cs typeface="Alexandria Medium" pitchFamily="2" charset="-78"/>
            </a:endParaRPr>
          </a:p>
        </p:txBody>
      </p:sp>
      <p:sp>
        <p:nvSpPr>
          <p:cNvPr id="22" name="TextBox 21">
            <a:extLst>
              <a:ext uri="{FF2B5EF4-FFF2-40B4-BE49-F238E27FC236}">
                <a16:creationId xmlns:a16="http://schemas.microsoft.com/office/drawing/2014/main" id="{187088D7-75DA-5243-9E72-74C63BAA51DE}"/>
              </a:ext>
            </a:extLst>
          </p:cNvPr>
          <p:cNvSpPr txBox="1"/>
          <p:nvPr/>
        </p:nvSpPr>
        <p:spPr>
          <a:xfrm>
            <a:off x="5305648" y="1403216"/>
            <a:ext cx="3470192" cy="230832"/>
          </a:xfrm>
          <a:prstGeom prst="rect">
            <a:avLst/>
          </a:prstGeom>
          <a:noFill/>
        </p:spPr>
        <p:txBody>
          <a:bodyPr wrap="square" rtlCol="0">
            <a:spAutoFit/>
          </a:bodyPr>
          <a:lstStyle/>
          <a:p>
            <a:r>
              <a:rPr lang="fa-IR" sz="900">
                <a:effectLst/>
                <a:latin typeface="Alexandria Medium" pitchFamily="2" charset="-78"/>
                <a:cs typeface="Alexandria Medium" pitchFamily="2" charset="-78"/>
              </a:rPr>
              <a:t>کمتر از 10 درصد از برنامه باید بیشتر از نیاز کاربر را در نظر بگیرد.</a:t>
            </a:r>
            <a:endParaRPr lang="en-US" sz="900">
              <a:effectLst/>
              <a:latin typeface="Alexandria Medium" pitchFamily="2" charset="-78"/>
              <a:cs typeface="Alexandria Medium" pitchFamily="2" charset="-78"/>
            </a:endParaRPr>
          </a:p>
        </p:txBody>
      </p:sp>
      <p:sp>
        <p:nvSpPr>
          <p:cNvPr id="23" name="TextBox 22">
            <a:extLst>
              <a:ext uri="{FF2B5EF4-FFF2-40B4-BE49-F238E27FC236}">
                <a16:creationId xmlns:a16="http://schemas.microsoft.com/office/drawing/2014/main" id="{4670ED33-03F3-5347-9733-D1176E78253A}"/>
              </a:ext>
            </a:extLst>
          </p:cNvPr>
          <p:cNvSpPr txBox="1"/>
          <p:nvPr/>
        </p:nvSpPr>
        <p:spPr>
          <a:xfrm>
            <a:off x="4890977" y="1616526"/>
            <a:ext cx="3640313" cy="246221"/>
          </a:xfrm>
          <a:prstGeom prst="rect">
            <a:avLst/>
          </a:prstGeom>
          <a:noFill/>
        </p:spPr>
        <p:txBody>
          <a:bodyPr wrap="square" rtlCol="0">
            <a:spAutoFit/>
          </a:bodyPr>
          <a:lstStyle/>
          <a:p>
            <a:r>
              <a:rPr lang="fa-IR" sz="1000">
                <a:solidFill>
                  <a:srgbClr val="0269AE"/>
                </a:solidFill>
                <a:latin typeface="Alexandria Medium" pitchFamily="2" charset="-78"/>
                <a:cs typeface="Alexandria Medium" pitchFamily="2" charset="-78"/>
              </a:rPr>
              <a:t>10٪ یا بیشتر از برنامه باید بیشتر از نیاز کاربر در نظر گرفته شود.</a:t>
            </a:r>
            <a:endParaRPr lang="en-US" sz="1000">
              <a:solidFill>
                <a:srgbClr val="0269AE"/>
              </a:solidFill>
              <a:latin typeface="Alexandria Medium" pitchFamily="2" charset="-78"/>
              <a:cs typeface="Alexandria Medium" pitchFamily="2" charset="-78"/>
            </a:endParaRPr>
          </a:p>
        </p:txBody>
      </p:sp>
      <p:sp>
        <p:nvSpPr>
          <p:cNvPr id="24" name="TextBox 23">
            <a:extLst>
              <a:ext uri="{FF2B5EF4-FFF2-40B4-BE49-F238E27FC236}">
                <a16:creationId xmlns:a16="http://schemas.microsoft.com/office/drawing/2014/main" id="{735A99AF-D142-574F-B165-69A2A3E7172D}"/>
              </a:ext>
            </a:extLst>
          </p:cNvPr>
          <p:cNvSpPr txBox="1"/>
          <p:nvPr/>
        </p:nvSpPr>
        <p:spPr>
          <a:xfrm>
            <a:off x="4944141" y="1850746"/>
            <a:ext cx="3587149" cy="507831"/>
          </a:xfrm>
          <a:prstGeom prst="rect">
            <a:avLst/>
          </a:prstGeom>
          <a:noFill/>
        </p:spPr>
        <p:txBody>
          <a:bodyPr wrap="square" rtlCol="0">
            <a:spAutoFit/>
          </a:bodyPr>
          <a:lstStyle/>
          <a:p>
            <a:pPr algn="r" rtl="1"/>
            <a:r>
              <a:rPr lang="fa-IR" sz="900">
                <a:latin typeface="Alexandria Medium" pitchFamily="2" charset="-78"/>
                <a:cs typeface="Alexandria Medium" pitchFamily="2" charset="-78"/>
              </a:rPr>
              <a:t>برنامه باید به طور خاص بسته بندی و/یا مستند برای تسهیل استفاده مجدد باشد و برنامه باید توسط کاربر در سطح کد منبع قابل تنظیم باشد.</a:t>
            </a:r>
            <a:endParaRPr lang="en-US" sz="900">
              <a:latin typeface="Alexandria Medium" pitchFamily="2" charset="-78"/>
              <a:cs typeface="Alexandria Medium" pitchFamily="2" charset="-78"/>
            </a:endParaRPr>
          </a:p>
        </p:txBody>
      </p:sp>
      <p:sp>
        <p:nvSpPr>
          <p:cNvPr id="25" name="TextBox 24">
            <a:extLst>
              <a:ext uri="{FF2B5EF4-FFF2-40B4-BE49-F238E27FC236}">
                <a16:creationId xmlns:a16="http://schemas.microsoft.com/office/drawing/2014/main" id="{EDB4FA8D-7205-C14D-B995-F362FB5BC2E6}"/>
              </a:ext>
            </a:extLst>
          </p:cNvPr>
          <p:cNvSpPr txBox="1"/>
          <p:nvPr/>
        </p:nvSpPr>
        <p:spPr>
          <a:xfrm>
            <a:off x="4869713" y="2360732"/>
            <a:ext cx="3650944" cy="553998"/>
          </a:xfrm>
          <a:prstGeom prst="rect">
            <a:avLst/>
          </a:prstGeom>
          <a:noFill/>
        </p:spPr>
        <p:txBody>
          <a:bodyPr wrap="square" rtlCol="0">
            <a:spAutoFit/>
          </a:bodyPr>
          <a:lstStyle/>
          <a:p>
            <a:pPr algn="r" rtl="1"/>
            <a:r>
              <a:rPr lang="fa-IR" sz="1000">
                <a:solidFill>
                  <a:srgbClr val="0269AE"/>
                </a:solidFill>
                <a:latin typeface="Alexandria Medium" pitchFamily="2" charset="-78"/>
                <a:cs typeface="Alexandria Medium" pitchFamily="2" charset="-78"/>
              </a:rPr>
              <a:t>برنامه باید به طور خاص بسته بندی و/یا مستند شده برای تسهیل استفاده مجدد، و برنامه باید توسط کاربر با استفاده از پارامترها قابل تنظیم باشد.</a:t>
            </a:r>
            <a:endParaRPr lang="en-US" sz="1000">
              <a:solidFill>
                <a:srgbClr val="0269AE"/>
              </a:solidFill>
              <a:latin typeface="Alexandria Medium" pitchFamily="2" charset="-78"/>
              <a:cs typeface="Alexandria Medium" pitchFamily="2" charset="-78"/>
            </a:endParaRPr>
          </a:p>
        </p:txBody>
      </p:sp>
      <p:sp>
        <p:nvSpPr>
          <p:cNvPr id="26" name="TextBox 25">
            <a:extLst>
              <a:ext uri="{FF2B5EF4-FFF2-40B4-BE49-F238E27FC236}">
                <a16:creationId xmlns:a16="http://schemas.microsoft.com/office/drawing/2014/main" id="{3004F0C2-0B21-854D-8EB7-5618E697D9A2}"/>
              </a:ext>
            </a:extLst>
          </p:cNvPr>
          <p:cNvSpPr txBox="1"/>
          <p:nvPr/>
        </p:nvSpPr>
        <p:spPr>
          <a:xfrm>
            <a:off x="4662612" y="436359"/>
            <a:ext cx="3838354" cy="400110"/>
          </a:xfrm>
          <a:prstGeom prst="rect">
            <a:avLst/>
          </a:prstGeom>
          <a:noFill/>
        </p:spPr>
        <p:txBody>
          <a:bodyPr wrap="square" rtlCol="0">
            <a:spAutoFit/>
          </a:bodyPr>
          <a:lstStyle/>
          <a:p>
            <a:pPr algn="r" rtl="1"/>
            <a:r>
              <a:rPr lang="fa-IR" sz="1000">
                <a:solidFill>
                  <a:schemeClr val="bg1">
                    <a:lumMod val="25000"/>
                  </a:schemeClr>
                </a:solidFill>
                <a:effectLst/>
                <a:latin typeface="Alexandria Medium" pitchFamily="2" charset="-78"/>
                <a:cs typeface="Alexandria Medium" pitchFamily="2" charset="-78"/>
              </a:rPr>
              <a:t>آیا برنامه به گونه ای طراحی شده است که کد و مصنوعات آن بسیار قابل استفاده مجدد باشد؟</a:t>
            </a:r>
            <a:endParaRPr lang="en-US" sz="1000">
              <a:solidFill>
                <a:schemeClr val="bg1">
                  <a:lumMod val="25000"/>
                </a:schemeClr>
              </a:solidFill>
              <a:latin typeface="Alexandria Medium" pitchFamily="2" charset="-78"/>
              <a:cs typeface="Alexandria Medium" pitchFamily="2" charset="-78"/>
            </a:endParaRPr>
          </a:p>
        </p:txBody>
      </p:sp>
      <p:sp>
        <p:nvSpPr>
          <p:cNvPr id="27" name="TextBox 26">
            <a:extLst>
              <a:ext uri="{FF2B5EF4-FFF2-40B4-BE49-F238E27FC236}">
                <a16:creationId xmlns:a16="http://schemas.microsoft.com/office/drawing/2014/main" id="{7B4CC7CF-BDCD-6C42-8EB8-6BBB6A6862ED}"/>
              </a:ext>
            </a:extLst>
          </p:cNvPr>
          <p:cNvSpPr txBox="1"/>
          <p:nvPr/>
        </p:nvSpPr>
        <p:spPr>
          <a:xfrm>
            <a:off x="4563291" y="3025604"/>
            <a:ext cx="4136065" cy="1938992"/>
          </a:xfrm>
          <a:prstGeom prst="rect">
            <a:avLst/>
          </a:prstGeom>
          <a:noFill/>
        </p:spPr>
        <p:txBody>
          <a:bodyPr wrap="square" rtlCol="0">
            <a:spAutoFit/>
          </a:bodyPr>
          <a:lstStyle/>
          <a:p>
            <a:pPr algn="r" rtl="1"/>
            <a:endParaRPr lang="fa-IR" sz="1000">
              <a:latin typeface="Alexandria Medium" pitchFamily="2" charset="-78"/>
              <a:cs typeface="Alexandria Medium" pitchFamily="2" charset="-78"/>
            </a:endParaRPr>
          </a:p>
          <a:p>
            <a:pPr algn="r" rtl="1"/>
            <a:r>
              <a:rPr lang="fa-IR" sz="1000">
                <a:solidFill>
                  <a:srgbClr val="0269AE"/>
                </a:solidFill>
                <a:latin typeface="Alexandria Medium" pitchFamily="2" charset="-78"/>
                <a:cs typeface="Alexandria Medium" pitchFamily="2" charset="-78"/>
              </a:rPr>
              <a:t>سناریو </a:t>
            </a:r>
            <a:r>
              <a:rPr lang="en-US" sz="1000">
                <a:solidFill>
                  <a:srgbClr val="0269AE"/>
                </a:solidFill>
                <a:latin typeface="Alexandria Medium" pitchFamily="2" charset="-78"/>
                <a:cs typeface="Alexandria Medium" pitchFamily="2" charset="-78"/>
              </a:rPr>
              <a:t>0</a:t>
            </a:r>
            <a:r>
              <a:rPr lang="fa-IR" sz="1000">
                <a:solidFill>
                  <a:srgbClr val="0269AE"/>
                </a:solidFill>
                <a:latin typeface="Alexandria Medium" pitchFamily="2" charset="-78"/>
                <a:cs typeface="Alexandria Medium" pitchFamily="2" charset="-78"/>
              </a:rPr>
              <a:t>: </a:t>
            </a:r>
            <a:r>
              <a:rPr lang="fa-IR" sz="1000">
                <a:solidFill>
                  <a:srgbClr val="716BE3"/>
                </a:solidFill>
                <a:latin typeface="Alexandria Medium" pitchFamily="2" charset="-78"/>
                <a:cs typeface="Alexandria Medium" pitchFamily="2" charset="-78"/>
              </a:rPr>
              <a:t>نگرانی ای در مورد تولید کد قابل استفاده مجدد وجود ندارد، که نشان می‌دهد که قابلیت استفاده مجدد کد برای این برنامه اولویت ندارد.</a:t>
            </a:r>
            <a:endParaRPr lang="en-US" sz="1000">
              <a:solidFill>
                <a:srgbClr val="716BE3"/>
              </a:solidFill>
              <a:latin typeface="Alexandria Medium" pitchFamily="2" charset="-78"/>
              <a:cs typeface="Alexandria Medium" pitchFamily="2" charset="-78"/>
            </a:endParaRPr>
          </a:p>
          <a:p>
            <a:pPr marL="171450" indent="-171450" algn="r" rtl="1">
              <a:buFontTx/>
              <a:buChar char="-"/>
            </a:pPr>
            <a:endParaRPr lang="fa-IR" sz="1000">
              <a:latin typeface="Alexandria Medium" pitchFamily="2" charset="-78"/>
              <a:cs typeface="Alexandria Medium" pitchFamily="2" charset="-78"/>
            </a:endParaRPr>
          </a:p>
          <a:p>
            <a:pPr algn="r" rtl="1"/>
            <a:r>
              <a:rPr lang="fa-IR" sz="1000">
                <a:solidFill>
                  <a:srgbClr val="0269AE"/>
                </a:solidFill>
                <a:latin typeface="Alexandria Medium" pitchFamily="2" charset="-78"/>
                <a:cs typeface="Alexandria Medium" pitchFamily="2" charset="-78"/>
              </a:rPr>
              <a:t>سناریو </a:t>
            </a:r>
            <a:r>
              <a:rPr lang="en-US" sz="1000">
                <a:solidFill>
                  <a:srgbClr val="0269AE"/>
                </a:solidFill>
                <a:latin typeface="Alexandria Medium" pitchFamily="2" charset="-78"/>
                <a:cs typeface="Alexandria Medium" pitchFamily="2" charset="-78"/>
              </a:rPr>
              <a:t>1</a:t>
            </a:r>
            <a:r>
              <a:rPr lang="fa-IR" sz="1000">
                <a:solidFill>
                  <a:srgbClr val="0269AE"/>
                </a:solidFill>
                <a:latin typeface="Alexandria Medium" pitchFamily="2" charset="-78"/>
                <a:cs typeface="Alexandria Medium" pitchFamily="2" charset="-78"/>
              </a:rPr>
              <a:t>: </a:t>
            </a:r>
            <a:r>
              <a:rPr lang="fa-IR" sz="1000">
                <a:latin typeface="Alexandria Medium" pitchFamily="2" charset="-78"/>
                <a:cs typeface="Alexandria Medium" pitchFamily="2" charset="-78"/>
              </a:rPr>
              <a:t>کد قابل استفاده مجدد برای استفاده در داخل همان پروژه تولید می‌شود، که نشان از یک سطح حداقلی از قابلیت استفاده مجدد کد در محدوده پروژه است.</a:t>
            </a:r>
            <a:endParaRPr lang="en-US" sz="1000">
              <a:latin typeface="Alexandria Medium" pitchFamily="2" charset="-78"/>
              <a:cs typeface="Alexandria Medium" pitchFamily="2" charset="-78"/>
            </a:endParaRPr>
          </a:p>
          <a:p>
            <a:pPr marL="171450" indent="-171450" algn="r" rtl="1">
              <a:buFontTx/>
              <a:buChar char="-"/>
            </a:pPr>
            <a:endParaRPr lang="fa-IR" sz="1000">
              <a:latin typeface="Alexandria Medium" pitchFamily="2" charset="-78"/>
              <a:cs typeface="Alexandria Medium" pitchFamily="2" charset="-78"/>
            </a:endParaRPr>
          </a:p>
          <a:p>
            <a:pPr algn="r" rtl="1"/>
            <a:r>
              <a:rPr lang="fa-IR" sz="1000">
                <a:solidFill>
                  <a:srgbClr val="0269AE"/>
                </a:solidFill>
                <a:latin typeface="Alexandria Medium" pitchFamily="2" charset="-78"/>
                <a:cs typeface="Alexandria Medium" pitchFamily="2" charset="-78"/>
              </a:rPr>
              <a:t> سناریو </a:t>
            </a:r>
            <a:r>
              <a:rPr lang="en-US" sz="1000">
                <a:solidFill>
                  <a:srgbClr val="0269AE"/>
                </a:solidFill>
                <a:latin typeface="Alexandria Medium" pitchFamily="2" charset="-78"/>
                <a:cs typeface="Alexandria Medium" pitchFamily="2" charset="-78"/>
              </a:rPr>
              <a:t>2</a:t>
            </a:r>
            <a:r>
              <a:rPr lang="fa-IR" sz="1000">
                <a:solidFill>
                  <a:srgbClr val="0269AE"/>
                </a:solidFill>
                <a:latin typeface="Alexandria Medium" pitchFamily="2" charset="-78"/>
                <a:cs typeface="Alexandria Medium" pitchFamily="2" charset="-78"/>
              </a:rPr>
              <a:t>: </a:t>
            </a:r>
            <a:r>
              <a:rPr lang="fa-IR" sz="1000">
                <a:solidFill>
                  <a:srgbClr val="DBA400"/>
                </a:solidFill>
                <a:latin typeface="Alexandria Medium" pitchFamily="2" charset="-78"/>
                <a:cs typeface="Alexandria Medium" pitchFamily="2" charset="-78"/>
              </a:rPr>
              <a:t>کمتر از ۱۰٪ از برنامه باید بیشتر از نیازهای کاربر را در نظر بگیرد، که نشان از یک توجه محدود به قابلیت استفاده مجدد کد فراتر از نیازهای فوری کاربران است.</a:t>
            </a:r>
          </a:p>
        </p:txBody>
      </p:sp>
      <p:sp>
        <p:nvSpPr>
          <p:cNvPr id="31" name="TextBox 30">
            <a:extLst>
              <a:ext uri="{FF2B5EF4-FFF2-40B4-BE49-F238E27FC236}">
                <a16:creationId xmlns:a16="http://schemas.microsoft.com/office/drawing/2014/main" id="{8D06F4D9-7D3A-A041-A4DE-2022D867CC2B}"/>
              </a:ext>
            </a:extLst>
          </p:cNvPr>
          <p:cNvSpPr txBox="1"/>
          <p:nvPr/>
        </p:nvSpPr>
        <p:spPr>
          <a:xfrm>
            <a:off x="-68286" y="2978329"/>
            <a:ext cx="4572000" cy="2246769"/>
          </a:xfrm>
          <a:prstGeom prst="rect">
            <a:avLst/>
          </a:prstGeom>
          <a:noFill/>
        </p:spPr>
        <p:txBody>
          <a:bodyPr wrap="square">
            <a:spAutoFit/>
          </a:bodyPr>
          <a:lstStyle/>
          <a:p>
            <a:pPr algn="r" rtl="1"/>
            <a:r>
              <a:rPr lang="fa-IR" sz="1000">
                <a:solidFill>
                  <a:srgbClr val="0269AE"/>
                </a:solidFill>
                <a:latin typeface="Alexandria Medium" pitchFamily="2" charset="-78"/>
                <a:cs typeface="Alexandria Medium" pitchFamily="2" charset="-78"/>
              </a:rPr>
              <a:t>سناریو </a:t>
            </a:r>
            <a:r>
              <a:rPr lang="en-US" sz="1000">
                <a:solidFill>
                  <a:srgbClr val="0269AE"/>
                </a:solidFill>
                <a:latin typeface="Alexandria Medium" pitchFamily="2" charset="-78"/>
                <a:cs typeface="Alexandria Medium" pitchFamily="2" charset="-78"/>
              </a:rPr>
              <a:t>3</a:t>
            </a:r>
            <a:r>
              <a:rPr lang="fa-IR" sz="1000">
                <a:solidFill>
                  <a:srgbClr val="0269AE"/>
                </a:solidFill>
                <a:latin typeface="Alexandria Medium" pitchFamily="2" charset="-78"/>
                <a:cs typeface="Alexandria Medium" pitchFamily="2" charset="-78"/>
              </a:rPr>
              <a:t> </a:t>
            </a:r>
            <a:r>
              <a:rPr lang="en-US" sz="1000">
                <a:solidFill>
                  <a:srgbClr val="0269AE"/>
                </a:solidFill>
                <a:latin typeface="Alexandria Medium" pitchFamily="2" charset="-78"/>
                <a:cs typeface="Alexandria Medium" pitchFamily="2" charset="-78"/>
              </a:rPr>
              <a:t> :</a:t>
            </a:r>
            <a:r>
              <a:rPr lang="fa-IR" sz="1000">
                <a:latin typeface="Alexandria Medium" pitchFamily="2" charset="-78"/>
                <a:cs typeface="Alexandria Medium" pitchFamily="2" charset="-78"/>
              </a:rPr>
              <a:t>۱۰</a:t>
            </a:r>
            <a:r>
              <a:rPr lang="fa-IR" sz="1000">
                <a:solidFill>
                  <a:srgbClr val="C00000"/>
                </a:solidFill>
                <a:latin typeface="Alexandria Medium" pitchFamily="2" charset="-78"/>
                <a:cs typeface="Alexandria Medium" pitchFamily="2" charset="-78"/>
              </a:rPr>
              <a:t>٪ یا بیشتر از برنامه باید بیشتر از نیازهای کاربر را در نظر بگیرد، که نشان از یک سطح متوسط از توجه به قابلیت استفاده مجدد کد فراتر از نیازهای فوری کاربران است.</a:t>
            </a:r>
            <a:endParaRPr lang="en-US" sz="1000">
              <a:solidFill>
                <a:srgbClr val="C00000"/>
              </a:solidFill>
              <a:latin typeface="Alexandria Medium" pitchFamily="2" charset="-78"/>
              <a:cs typeface="Alexandria Medium" pitchFamily="2" charset="-78"/>
            </a:endParaRPr>
          </a:p>
          <a:p>
            <a:pPr marL="171450" indent="-171450" algn="r" rtl="1">
              <a:buFontTx/>
              <a:buChar char="-"/>
            </a:pPr>
            <a:endParaRPr lang="fa-IR" sz="1000">
              <a:latin typeface="Alexandria Medium" pitchFamily="2" charset="-78"/>
              <a:cs typeface="Alexandria Medium" pitchFamily="2" charset="-78"/>
            </a:endParaRPr>
          </a:p>
          <a:p>
            <a:pPr algn="r" rtl="1"/>
            <a:r>
              <a:rPr lang="fa-IR" sz="1000">
                <a:solidFill>
                  <a:srgbClr val="0269AE"/>
                </a:solidFill>
                <a:latin typeface="Alexandria Medium" pitchFamily="2" charset="-78"/>
                <a:cs typeface="Alexandria Medium" pitchFamily="2" charset="-78"/>
              </a:rPr>
              <a:t>سناریو </a:t>
            </a:r>
            <a:r>
              <a:rPr lang="en-US" sz="1000">
                <a:solidFill>
                  <a:srgbClr val="0269AE"/>
                </a:solidFill>
                <a:latin typeface="Alexandria Medium" pitchFamily="2" charset="-78"/>
                <a:cs typeface="Alexandria Medium" pitchFamily="2" charset="-78"/>
              </a:rPr>
              <a:t>4</a:t>
            </a:r>
            <a:r>
              <a:rPr lang="fa-IR" sz="1000">
                <a:solidFill>
                  <a:srgbClr val="0269AE"/>
                </a:solidFill>
                <a:latin typeface="Alexandria Medium" pitchFamily="2" charset="-78"/>
                <a:cs typeface="Alexandria Medium" pitchFamily="2" charset="-78"/>
              </a:rPr>
              <a:t>: </a:t>
            </a:r>
            <a:r>
              <a:rPr lang="fa-IR" sz="1000">
                <a:solidFill>
                  <a:srgbClr val="0E692F"/>
                </a:solidFill>
                <a:latin typeface="Alexandria Medium" pitchFamily="2" charset="-78"/>
                <a:cs typeface="Alexandria Medium" pitchFamily="2" charset="-78"/>
              </a:rPr>
              <a:t>برنامه باید به طور خاص بسته‌بندی و/یا مستنداتی برای تسهیل استفاده مجدد فراهم شود، و برنامه باید توسط کاربر در سطح کد منبع قابل سفارشی‌سازی باشد، که نشان از یک سطح بالایی از توجه به قابلیت استفاده مجدد کد با الزامات خاص بسته‌بندی و سفارشی‌سازی است.</a:t>
            </a:r>
            <a:endParaRPr lang="en-US" sz="1000">
              <a:solidFill>
                <a:srgbClr val="0E692F"/>
              </a:solidFill>
              <a:latin typeface="Alexandria Medium" pitchFamily="2" charset="-78"/>
              <a:cs typeface="Alexandria Medium" pitchFamily="2" charset="-78"/>
            </a:endParaRPr>
          </a:p>
          <a:p>
            <a:pPr marL="171450" indent="-171450" algn="r" rtl="1">
              <a:buFontTx/>
              <a:buChar char="-"/>
            </a:pPr>
            <a:endParaRPr lang="fa-IR" sz="1000">
              <a:latin typeface="Alexandria Medium" pitchFamily="2" charset="-78"/>
              <a:cs typeface="Alexandria Medium" pitchFamily="2" charset="-78"/>
            </a:endParaRPr>
          </a:p>
          <a:p>
            <a:pPr algn="r" rtl="1"/>
            <a:r>
              <a:rPr lang="fa-IR" sz="1000">
                <a:latin typeface="Alexandria Medium" pitchFamily="2" charset="-78"/>
                <a:cs typeface="Alexandria Medium" pitchFamily="2" charset="-78"/>
              </a:rPr>
              <a:t> </a:t>
            </a:r>
            <a:r>
              <a:rPr lang="fa-IR" sz="1000">
                <a:solidFill>
                  <a:srgbClr val="0269AE"/>
                </a:solidFill>
                <a:latin typeface="Alexandria Medium" pitchFamily="2" charset="-78"/>
                <a:cs typeface="Alexandria Medium" pitchFamily="2" charset="-78"/>
              </a:rPr>
              <a:t>سناریو </a:t>
            </a:r>
            <a:r>
              <a:rPr lang="en-US" sz="1000">
                <a:solidFill>
                  <a:srgbClr val="0269AE"/>
                </a:solidFill>
                <a:latin typeface="Alexandria Medium" pitchFamily="2" charset="-78"/>
                <a:cs typeface="Alexandria Medium" pitchFamily="2" charset="-78"/>
              </a:rPr>
              <a:t>5</a:t>
            </a:r>
            <a:r>
              <a:rPr lang="fa-IR" sz="1000">
                <a:solidFill>
                  <a:srgbClr val="0269AE"/>
                </a:solidFill>
                <a:latin typeface="Alexandria Medium" pitchFamily="2" charset="-78"/>
                <a:cs typeface="Alexandria Medium" pitchFamily="2" charset="-78"/>
              </a:rPr>
              <a:t>: </a:t>
            </a:r>
            <a:r>
              <a:rPr lang="fa-IR" sz="1000">
                <a:solidFill>
                  <a:srgbClr val="105569"/>
                </a:solidFill>
                <a:latin typeface="Alexandria Medium" pitchFamily="2" charset="-78"/>
                <a:cs typeface="Alexandria Medium" pitchFamily="2" charset="-78"/>
              </a:rPr>
              <a:t>برنامه باید به طور خاص بسته‌بندی و/یا مستنداتی برای تسهیل استفاده مجدد فراهم شود، و برنامه باید توسط کاربر با استفاده از پارامترها قابل سفارشی‌سازی باشد، که نشان از بالاترین سطح توجه به قابلیت استفاده مجدد کد با بسته‌بندی، مستندات و قابلیت سفارشی‌سازی کاربر است.</a:t>
            </a:r>
          </a:p>
          <a:p>
            <a:pPr algn="r" rtl="1"/>
            <a:endParaRPr lang="fa-IR" sz="1000">
              <a:latin typeface="Alexandria Medium" pitchFamily="2" charset="-78"/>
              <a:cs typeface="Alexandria Medium" pitchFamily="2" charset="-78"/>
            </a:endParaRPr>
          </a:p>
        </p:txBody>
      </p:sp>
      <p:sp>
        <p:nvSpPr>
          <p:cNvPr id="29" name="Rectangle 28">
            <a:extLst>
              <a:ext uri="{FF2B5EF4-FFF2-40B4-BE49-F238E27FC236}">
                <a16:creationId xmlns:a16="http://schemas.microsoft.com/office/drawing/2014/main" id="{B912302F-BEC9-0A46-8EC8-EA01A7B5068A}"/>
              </a:ext>
            </a:extLst>
          </p:cNvPr>
          <p:cNvSpPr/>
          <p:nvPr/>
        </p:nvSpPr>
        <p:spPr>
          <a:xfrm>
            <a:off x="-778705" y="-386823"/>
            <a:ext cx="10564837" cy="6049107"/>
          </a:xfrm>
          <a:prstGeom prst="rect">
            <a:avLst/>
          </a:prstGeom>
          <a:solidFill>
            <a:schemeClr val="accent1">
              <a:alpha val="9011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9307B22-5174-0345-936F-8980FE666320}"/>
              </a:ext>
            </a:extLst>
          </p:cNvPr>
          <p:cNvSpPr txBox="1"/>
          <p:nvPr/>
        </p:nvSpPr>
        <p:spPr>
          <a:xfrm>
            <a:off x="1561523" y="1840154"/>
            <a:ext cx="5846071" cy="1348511"/>
          </a:xfrm>
          <a:prstGeom prst="rect">
            <a:avLst/>
          </a:prstGeom>
          <a:noFill/>
        </p:spPr>
        <p:txBody>
          <a:bodyPr wrap="square" rtlCol="0">
            <a:spAutoFit/>
          </a:bodyPr>
          <a:lstStyle/>
          <a:p>
            <a:pPr algn="ctr">
              <a:lnSpc>
                <a:spcPct val="150000"/>
              </a:lnSpc>
            </a:pPr>
            <a:r>
              <a:rPr lang="fa-IR">
                <a:solidFill>
                  <a:schemeClr val="bg1"/>
                </a:solidFill>
                <a:latin typeface="Alexandria Medium" pitchFamily="2" charset="-78"/>
                <a:cs typeface="Alexandria Medium" pitchFamily="2" charset="-78"/>
              </a:rPr>
              <a:t>به طور کلی، تاکید بر قابلیت استفاده مجدد کد با پیشرفت سناریوها از ۰ تا ۵ افزایش می‌یابد، با سناریو ۵ که نشان‌دهنده بالاترین سطح توجه به قابلیت استفاده مجدد کد است.</a:t>
            </a:r>
            <a:endParaRPr lang="en-US">
              <a:solidFill>
                <a:schemeClr val="bg1"/>
              </a:solidFill>
              <a:latin typeface="Alexandria Medium" pitchFamily="2" charset="-78"/>
              <a:cs typeface="Alexandria Medium" pitchFamily="2" charset="-78"/>
            </a:endParaRPr>
          </a:p>
          <a:p>
            <a:pPr algn="ctr">
              <a:lnSpc>
                <a:spcPct val="150000"/>
              </a:lnSpc>
            </a:pPr>
            <a:endParaRPr lang="en-US">
              <a:solidFill>
                <a:schemeClr val="bg1"/>
              </a:solidFill>
              <a:latin typeface="Alexandria Medium" pitchFamily="2" charset="-78"/>
              <a:cs typeface="Alexandria Medium"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childTnLst>
                          </p:cTn>
                        </p:par>
                        <p:par>
                          <p:cTn id="72" fill="hold">
                            <p:stCondLst>
                              <p:cond delay="8500"/>
                            </p:stCondLst>
                            <p:childTnLst>
                              <p:par>
                                <p:cTn id="73" presetID="10" presetClass="entr" presetSubtype="0" fill="hold" grpId="0" nodeType="afterEffect">
                                  <p:stCondLst>
                                    <p:cond delay="50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childTnLst>
                          </p:cTn>
                        </p:par>
                        <p:par>
                          <p:cTn id="76" fill="hold">
                            <p:stCondLst>
                              <p:cond delay="9500"/>
                            </p:stCondLst>
                            <p:childTnLst>
                              <p:par>
                                <p:cTn id="77" presetID="10" presetClass="entr" presetSubtype="0" fill="hold" grpId="0" nodeType="afterEffect">
                                  <p:stCondLst>
                                    <p:cond delay="50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50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childTnLst>
                          </p:cTn>
                        </p:par>
                        <p:par>
                          <p:cTn id="85" fill="hold">
                            <p:stCondLst>
                              <p:cond delay="500"/>
                            </p:stCondLst>
                            <p:childTnLst>
                              <p:par>
                                <p:cTn id="86" presetID="10" presetClass="entr" presetSubtype="0" fill="hold" grpId="0" nodeType="afterEffect">
                                  <p:stCondLst>
                                    <p:cond delay="50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20" grpId="0"/>
      <p:bldP spid="21" grpId="0"/>
      <p:bldP spid="22" grpId="0"/>
      <p:bldP spid="23" grpId="0"/>
      <p:bldP spid="24" grpId="0"/>
      <p:bldP spid="25" grpId="0"/>
      <p:bldP spid="26" grpId="0"/>
      <p:bldP spid="27" grpId="0"/>
      <p:bldP spid="31" grpId="0"/>
      <p:bldP spid="29" grpId="0" animBg="1"/>
      <p:bldP spid="3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2" name="Google Shape;190;p35">
            <a:extLst>
              <a:ext uri="{FF2B5EF4-FFF2-40B4-BE49-F238E27FC236}">
                <a16:creationId xmlns:a16="http://schemas.microsoft.com/office/drawing/2014/main" id="{8326B9D1-E4F9-504F-A9A5-44DCFDB94545}"/>
              </a:ext>
            </a:extLst>
          </p:cNvPr>
          <p:cNvSpPr txBox="1">
            <a:spLocks/>
          </p:cNvSpPr>
          <p:nvPr/>
        </p:nvSpPr>
        <p:spPr>
          <a:xfrm>
            <a:off x="525605" y="1485681"/>
            <a:ext cx="2515983" cy="440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lexandria Medium"/>
              <a:buNone/>
              <a:defRPr sz="9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5200"/>
              <a:buFont typeface="Alexandria Medium"/>
              <a:buNone/>
              <a:defRPr sz="5200" b="0" i="0" u="none" strike="noStrike" cap="none">
                <a:solidFill>
                  <a:schemeClr val="dk1"/>
                </a:solidFill>
                <a:latin typeface="Alexandria Medium"/>
                <a:ea typeface="Alexandria Medium"/>
                <a:cs typeface="Alexandria Medium"/>
                <a:sym typeface="Alexandria Medium"/>
              </a:defRPr>
            </a:lvl9pPr>
          </a:lstStyle>
          <a:p>
            <a:r>
              <a:rPr lang="en-US" sz="1300" dirty="0" err="1"/>
              <a:t>AmirMehdi</a:t>
            </a:r>
            <a:r>
              <a:rPr lang="en-US" sz="1200" dirty="0"/>
              <a:t> </a:t>
            </a:r>
            <a:r>
              <a:rPr lang="en-US" sz="1000" dirty="0" err="1"/>
              <a:t>Shojaiekian</a:t>
            </a:r>
            <a:endParaRPr lang="en-US" sz="1200" dirty="0"/>
          </a:p>
        </p:txBody>
      </p:sp>
      <p:cxnSp>
        <p:nvCxnSpPr>
          <p:cNvPr id="3" name="Google Shape;237;p39">
            <a:hlinkClick r:id="" action="ppaction://hlinkshowjump?jump=nextslide"/>
            <a:extLst>
              <a:ext uri="{FF2B5EF4-FFF2-40B4-BE49-F238E27FC236}">
                <a16:creationId xmlns:a16="http://schemas.microsoft.com/office/drawing/2014/main" id="{2E42C44B-8726-5F45-9454-F5D814705220}"/>
              </a:ext>
            </a:extLst>
          </p:cNvPr>
          <p:cNvCxnSpPr/>
          <p:nvPr/>
        </p:nvCxnSpPr>
        <p:spPr>
          <a:xfrm>
            <a:off x="1941607" y="1760387"/>
            <a:ext cx="483300" cy="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502</TotalTime>
  <Words>4106</Words>
  <Application>Microsoft Macintosh PowerPoint</Application>
  <PresentationFormat>On-screen Show (16:9)</PresentationFormat>
  <Paragraphs>264</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NotoSans</vt:lpstr>
      <vt:lpstr>Alexandria Medium</vt:lpstr>
      <vt:lpstr>Albert Sans</vt:lpstr>
      <vt:lpstr>Arial</vt:lpstr>
      <vt:lpstr>NotoSansArabic</vt:lpstr>
      <vt:lpstr>Lead Funnel by Slidesgo</vt:lpstr>
      <vt:lpstr>Use  </vt:lpstr>
      <vt:lpstr>خلاصه ارائه</vt:lpstr>
      <vt:lpstr>کلید  واژه ها و  موضوعات  کلیدی </vt:lpstr>
      <vt:lpstr>مقدمه ای بر برآورد تلاش </vt:lpstr>
      <vt:lpstr>انگیزه تخمین تلاش در پروژه های نرم افزاری از این واقعیت ناشی می شود که از نظر تاریخی، اکثر پروژه های توسعه نرم افزار:  </vt:lpstr>
      <vt:lpstr>تکنیک های Ad hoc</vt:lpstr>
      <vt:lpstr>این رویکرد ممکن است خیلی دقیق نباشد و به شدت به تجربه شخص در برآورد تلاش نرم افزار بستگی دارد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دو روش برای تخمین StoryPoint</vt:lpstr>
      <vt:lpstr> دو روش برای تخمین StoryPoint</vt:lpstr>
      <vt:lpstr> دو روش برای تخمین StoryPoint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dc:title>
  <cp:lastModifiedBy>Microsoft Office User</cp:lastModifiedBy>
  <cp:revision>21</cp:revision>
  <dcterms:modified xsi:type="dcterms:W3CDTF">2024-05-11T08:05:14Z</dcterms:modified>
</cp:coreProperties>
</file>